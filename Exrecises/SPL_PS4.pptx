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79" r:id="rId13"/>
    <p:sldId id="280" r:id="rId14"/>
    <p:sldId id="282" r:id="rId15"/>
    <p:sldId id="281" r:id="rId16"/>
    <p:sldId id="266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0" autoAdjust="0"/>
    <p:restoredTop sz="94609"/>
  </p:normalViewPr>
  <p:slideViewPr>
    <p:cSldViewPr snapToGrid="0">
      <p:cViewPr varScale="1">
        <p:scale>
          <a:sx n="151" d="100"/>
          <a:sy n="151" d="100"/>
        </p:scale>
        <p:origin x="1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שיר בוכנר" userId="4df240f3-d5ed-4067-bb6f-b592905276ff" providerId="ADAL" clId="{21971498-7919-401B-8684-B6E1C5F981CE}"/>
    <pc:docChg chg="delSld modSld sldOrd">
      <pc:chgData name="שיר בוכנר" userId="4df240f3-d5ed-4067-bb6f-b592905276ff" providerId="ADAL" clId="{21971498-7919-401B-8684-B6E1C5F981CE}" dt="2024-01-11T11:14:47.464" v="2" actId="47"/>
      <pc:docMkLst>
        <pc:docMk/>
      </pc:docMkLst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3064554327" sldId="271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503086623" sldId="272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3611703518" sldId="273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741214067" sldId="275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1745622732" sldId="276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2054288446" sldId="277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4229346034" sldId="278"/>
        </pc:sldMkLst>
      </pc:sldChg>
      <pc:sldChg chg="del ord">
        <pc:chgData name="שיר בוכנר" userId="4df240f3-d5ed-4067-bb6f-b592905276ff" providerId="ADAL" clId="{21971498-7919-401B-8684-B6E1C5F981CE}" dt="2024-01-11T11:14:47.464" v="2" actId="47"/>
        <pc:sldMkLst>
          <pc:docMk/>
          <pc:sldMk cId="499989056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DBCE5-5BA2-AE4A-8098-4D512C309DBB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C524B-4236-FE44-BB18-4FCDB04A9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2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C524B-4236-FE44-BB18-4FCDB04A9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6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sp2 deleted and have the same pointer</a:t>
            </a:r>
          </a:p>
          <a:p>
            <a:r>
              <a:rPr lang="en-US" dirty="0"/>
              <a:t>2. Compilation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C524B-4236-FE44-BB18-4FCDB04A97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4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730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654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044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009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981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429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454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005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104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76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6619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2481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8169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7060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7222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3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E4798-7086-4342-92D0-5866AB6E609F}" type="datetimeFigureOut">
              <a:rPr lang="he-IL" smtClean="0"/>
              <a:t>י"ט.חשון.תשפ"ה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3F0476-D030-4863-A4FB-11094FB894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518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6ED6-9F39-47F2-B49A-B65059C5B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SPL – PS4</a:t>
            </a:r>
            <a:endParaRPr lang="he-IL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5E81B-FE9F-4C57-B596-BBF610C1D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C++ Advanced OOP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9501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22E7-BCA2-4C7A-96C1-04F4FD65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Overview</a:t>
            </a:r>
            <a:endParaRPr lang="he-IL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6108E-59BC-41A7-9958-EDD1D3574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212562"/>
          </a:xfrm>
        </p:spPr>
        <p:txBody>
          <a:bodyPr>
            <a:normAutofit/>
          </a:bodyPr>
          <a:lstStyle/>
          <a:p>
            <a:r>
              <a:rPr lang="en-US" sz="2400" dirty="0"/>
              <a:t>Namespaces</a:t>
            </a:r>
            <a:endParaRPr lang="he-IL" sz="2400" dirty="0"/>
          </a:p>
          <a:p>
            <a:r>
              <a:rPr lang="en-US" sz="2400" dirty="0"/>
              <a:t>Move semantics</a:t>
            </a:r>
          </a:p>
          <a:p>
            <a:r>
              <a:rPr lang="en-US" sz="2400" dirty="0"/>
              <a:t>The Rule of 5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auto</a:t>
            </a:r>
            <a:r>
              <a:rPr lang="en-US" sz="2400" dirty="0"/>
              <a:t> keyword</a:t>
            </a:r>
          </a:p>
          <a:p>
            <a:r>
              <a:rPr lang="en-US" sz="2400" dirty="0"/>
              <a:t>Smart pointers</a:t>
            </a:r>
          </a:p>
        </p:txBody>
      </p:sp>
    </p:spTree>
    <p:extLst>
      <p:ext uri="{BB962C8B-B14F-4D97-AF65-F5344CB8AC3E}">
        <p14:creationId xmlns:p14="http://schemas.microsoft.com/office/powerpoint/2010/main" val="281138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0A36-D790-0DD1-89DB-99CC666D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7994B-B3A9-9BCB-237C-E88258B6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 declarative region that provides an artificial scope to identifiers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Organize code into logical groups.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Prevent name collisions.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Declared using the </a:t>
            </a:r>
            <a:r>
              <a:rPr lang="en-US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namespace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keyword.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Accessed using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scope resolution operator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(::)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Also by using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the keywords “using” or “using namespace”</a:t>
            </a:r>
          </a:p>
          <a:p>
            <a:pPr>
              <a:lnSpc>
                <a:spcPct val="150000"/>
              </a:lnSpc>
            </a:pPr>
            <a:endParaRPr lang="en-US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8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0A36-D790-0DD1-89DB-99CC666D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Namespaces - Example</a:t>
            </a:r>
          </a:p>
        </p:txBody>
      </p:sp>
      <p:pic>
        <p:nvPicPr>
          <p:cNvPr id="10" name="Picture 9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897C1D9-A159-1F1E-D877-6091BC4EFE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6" t="8462" r="9068" b="8462"/>
          <a:stretch/>
        </p:blipFill>
        <p:spPr>
          <a:xfrm>
            <a:off x="677334" y="1600198"/>
            <a:ext cx="4726644" cy="5087817"/>
          </a:xfrm>
          <a:prstGeom prst="rect">
            <a:avLst/>
          </a:prstGeom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D158086F-3890-2258-EBE5-B4A87C5950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3799" y="4749798"/>
            <a:ext cx="4324225" cy="1143001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15">
            <a:extLst>
              <a:ext uri="{FF2B5EF4-FFF2-40B4-BE49-F238E27FC236}">
                <a16:creationId xmlns:a16="http://schemas.microsoft.com/office/drawing/2014/main" id="{35E65D3A-8104-9114-07B2-C20329034B88}"/>
              </a:ext>
            </a:extLst>
          </p:cNvPr>
          <p:cNvSpPr/>
          <p:nvPr/>
        </p:nvSpPr>
        <p:spPr>
          <a:xfrm>
            <a:off x="6739467" y="4042508"/>
            <a:ext cx="1422400" cy="1178224"/>
          </a:xfrm>
          <a:prstGeom prst="cloud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Which function gets invoked?</a:t>
            </a:r>
            <a:endParaRPr lang="en-IL" sz="12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2222D27-FDD8-E0A8-F9F2-5D05740B358B}"/>
              </a:ext>
            </a:extLst>
          </p:cNvPr>
          <p:cNvSpPr/>
          <p:nvPr/>
        </p:nvSpPr>
        <p:spPr>
          <a:xfrm>
            <a:off x="6642344" y="3899932"/>
            <a:ext cx="1616646" cy="13208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It's ambiguous, leading to a </a:t>
            </a:r>
            <a:r>
              <a:rPr lang="en-US" sz="1050" b="1" u="sng" dirty="0">
                <a:solidFill>
                  <a:schemeClr val="tx1"/>
                </a:solidFill>
              </a:rPr>
              <a:t>compilation error.</a:t>
            </a:r>
            <a:endParaRPr lang="en-IL" sz="105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3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C69-CD75-4218-56DB-EE51B2BF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767861"/>
            <a:ext cx="8596668" cy="1320800"/>
          </a:xfrm>
        </p:spPr>
        <p:txBody>
          <a:bodyPr/>
          <a:lstStyle/>
          <a:p>
            <a:r>
              <a:rPr lang="en-US" dirty="0"/>
              <a:t>Object Lifetime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1E1C-8245-3E4A-5370-6E2998B6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03" y="1870443"/>
            <a:ext cx="8596668" cy="960680"/>
          </a:xfrm>
        </p:spPr>
        <p:txBody>
          <a:bodyPr/>
          <a:lstStyle/>
          <a:p>
            <a:r>
              <a:rPr lang="en-US" dirty="0"/>
              <a:t>Begins when storage for it is obtained and it gets initialized.</a:t>
            </a:r>
          </a:p>
          <a:p>
            <a:r>
              <a:rPr lang="en-US" dirty="0"/>
              <a:t>Ends when the object is destroyed and the storage it used is freed.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4B78B8-D44A-5D70-8852-B348B038155B}"/>
              </a:ext>
            </a:extLst>
          </p:cNvPr>
          <p:cNvSpPr txBox="1">
            <a:spLocks/>
          </p:cNvSpPr>
          <p:nvPr/>
        </p:nvSpPr>
        <p:spPr>
          <a:xfrm>
            <a:off x="712503" y="28311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Value Categories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AFA84D-DE5F-1314-0949-EDCFBF21DD8B}"/>
              </a:ext>
            </a:extLst>
          </p:cNvPr>
          <p:cNvSpPr txBox="1">
            <a:spLocks/>
          </p:cNvSpPr>
          <p:nvPr/>
        </p:nvSpPr>
        <p:spPr>
          <a:xfrm>
            <a:off x="712503" y="3750655"/>
            <a:ext cx="8596668" cy="1320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lvalue</a:t>
            </a:r>
            <a:r>
              <a:rPr lang="en-US" dirty="0"/>
              <a:t> - something that can appear in the left side of an assignment expression.</a:t>
            </a:r>
          </a:p>
          <a:p>
            <a:r>
              <a:rPr lang="en-US" b="1" dirty="0" err="1"/>
              <a:t>rvalue</a:t>
            </a:r>
            <a:r>
              <a:rPr lang="en-US" dirty="0"/>
              <a:t> - something that can appear </a:t>
            </a:r>
            <a:r>
              <a:rPr lang="en-US" b="1" dirty="0"/>
              <a:t>only</a:t>
            </a:r>
            <a:r>
              <a:rPr lang="en-US" dirty="0"/>
              <a:t> in the right side of an assignment expression.</a:t>
            </a:r>
          </a:p>
        </p:txBody>
      </p:sp>
    </p:spTree>
    <p:extLst>
      <p:ext uri="{BB962C8B-B14F-4D97-AF65-F5344CB8AC3E}">
        <p14:creationId xmlns:p14="http://schemas.microsoft.com/office/powerpoint/2010/main" val="423239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C69-CD75-4218-56DB-EE51B2BF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1E1C-8245-3E4A-5370-6E2998B6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1504"/>
            <a:ext cx="8596668" cy="4213834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 err="1"/>
              <a:t>rvalue</a:t>
            </a:r>
            <a:r>
              <a:rPr lang="en-US" b="1" dirty="0"/>
              <a:t>.</a:t>
            </a:r>
          </a:p>
          <a:p>
            <a:r>
              <a:rPr lang="en-US" dirty="0"/>
              <a:t>Created temporarily in order to evaluate some expression.</a:t>
            </a:r>
          </a:p>
          <a:p>
            <a:r>
              <a:rPr lang="en-US" dirty="0"/>
              <a:t>Sometimes a mandatory - sometimes not.</a:t>
            </a:r>
          </a:p>
          <a:p>
            <a:r>
              <a:rPr lang="en-US" dirty="0"/>
              <a:t>Performance (and memory) penalty.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Temporary object lifetime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expension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(advanced topic – see lesson material).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to avoid when unnecessary?</a:t>
            </a:r>
          </a:p>
          <a:p>
            <a:pPr marL="0" indent="0">
              <a:buNone/>
            </a:pPr>
            <a:r>
              <a:rPr lang="en-US" sz="2400" dirty="0"/>
              <a:t>The “old” way: const references.</a:t>
            </a:r>
            <a:endParaRPr lang="en-US" sz="2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9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6D05E3-2DD3-6557-D37B-E786ADFB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250" y="205666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Example of Temporary Objects</a:t>
            </a:r>
          </a:p>
        </p:txBody>
      </p:sp>
      <p:pic>
        <p:nvPicPr>
          <p:cNvPr id="11" name="Picture 10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6EF2343-7FB0-F227-383B-71B6B74EA5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1" t="10731" r="13552" b="17859"/>
          <a:stretch/>
        </p:blipFill>
        <p:spPr>
          <a:xfrm>
            <a:off x="608339" y="1368205"/>
            <a:ext cx="3615319" cy="4355587"/>
          </a:xfrm>
          <a:prstGeom prst="rect">
            <a:avLst/>
          </a:prstGeom>
        </p:spPr>
      </p:pic>
      <p:sp>
        <p:nvSpPr>
          <p:cNvPr id="13" name="Oval Callout 12">
            <a:extLst>
              <a:ext uri="{FF2B5EF4-FFF2-40B4-BE49-F238E27FC236}">
                <a16:creationId xmlns:a16="http://schemas.microsoft.com/office/drawing/2014/main" id="{FA71F330-112E-217B-B65F-E1435AE6D47B}"/>
              </a:ext>
            </a:extLst>
          </p:cNvPr>
          <p:cNvSpPr/>
          <p:nvPr/>
        </p:nvSpPr>
        <p:spPr>
          <a:xfrm>
            <a:off x="4333725" y="2438400"/>
            <a:ext cx="2126342" cy="1320800"/>
          </a:xfrm>
          <a:prstGeom prst="wedgeEllipseCallout">
            <a:avLst>
              <a:gd name="adj1" fmla="val -69586"/>
              <a:gd name="adj2" fmla="val 6856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How many times is </a:t>
            </a:r>
            <a:r>
              <a:rPr lang="en-US" sz="1200" dirty="0" err="1">
                <a:solidFill>
                  <a:schemeClr val="tx1"/>
                </a:solidFill>
              </a:rPr>
              <a:t>MyClass's</a:t>
            </a:r>
            <a:r>
              <a:rPr lang="en-US" sz="1200" dirty="0">
                <a:solidFill>
                  <a:schemeClr val="tx1"/>
                </a:solidFill>
              </a:rPr>
              <a:t> copy constructor called?</a:t>
            </a:r>
            <a:endParaRPr lang="en-IL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9903C9-47B5-778C-E7CF-DC51541DC73A}"/>
              </a:ext>
            </a:extLst>
          </p:cNvPr>
          <p:cNvCxnSpPr/>
          <p:nvPr/>
        </p:nvCxnSpPr>
        <p:spPr>
          <a:xfrm>
            <a:off x="4223658" y="3547533"/>
            <a:ext cx="2472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B0D02DF-4A44-4317-80B9-0321B48889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1" t="11198" r="13358" b="12012"/>
          <a:stretch/>
        </p:blipFill>
        <p:spPr>
          <a:xfrm>
            <a:off x="6695925" y="1368205"/>
            <a:ext cx="3615319" cy="4357999"/>
          </a:xfrm>
          <a:prstGeom prst="rect">
            <a:avLst/>
          </a:prstGeom>
        </p:spPr>
      </p:pic>
      <p:sp>
        <p:nvSpPr>
          <p:cNvPr id="18" name="Oval Callout 17">
            <a:extLst>
              <a:ext uri="{FF2B5EF4-FFF2-40B4-BE49-F238E27FC236}">
                <a16:creationId xmlns:a16="http://schemas.microsoft.com/office/drawing/2014/main" id="{7083F0F5-D1F4-C0D9-B1CC-CC0D2AA9DB4F}"/>
              </a:ext>
            </a:extLst>
          </p:cNvPr>
          <p:cNvSpPr/>
          <p:nvPr/>
        </p:nvSpPr>
        <p:spPr>
          <a:xfrm>
            <a:off x="4443792" y="1643929"/>
            <a:ext cx="2126342" cy="1320800"/>
          </a:xfrm>
          <a:prstGeom prst="wedgeEllipseCallout">
            <a:avLst>
              <a:gd name="adj1" fmla="val 53850"/>
              <a:gd name="adj2" fmla="val 50611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How many times is </a:t>
            </a:r>
            <a:r>
              <a:rPr lang="en-US" sz="1200" dirty="0" err="1">
                <a:solidFill>
                  <a:schemeClr val="tx1"/>
                </a:solidFill>
              </a:rPr>
              <a:t>MyClass's</a:t>
            </a:r>
            <a:r>
              <a:rPr lang="en-US" sz="1200" dirty="0">
                <a:solidFill>
                  <a:schemeClr val="tx1"/>
                </a:solidFill>
              </a:rPr>
              <a:t> copy constructor called?</a:t>
            </a:r>
            <a:endParaRPr lang="en-IL" sz="12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A3B96-EDE7-DAF8-6607-212CE6F99BCD}"/>
              </a:ext>
            </a:extLst>
          </p:cNvPr>
          <p:cNvSpPr txBox="1"/>
          <p:nvPr/>
        </p:nvSpPr>
        <p:spPr>
          <a:xfrm>
            <a:off x="4243615" y="3260952"/>
            <a:ext cx="24323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100" dirty="0"/>
              <a:t>Then, we changed func2 signature</a:t>
            </a:r>
          </a:p>
        </p:txBody>
      </p:sp>
    </p:spTree>
    <p:extLst>
      <p:ext uri="{BB962C8B-B14F-4D97-AF65-F5344CB8AC3E}">
        <p14:creationId xmlns:p14="http://schemas.microsoft.com/office/powerpoint/2010/main" val="42575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8" grpId="0" animBg="1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C69-CD75-4218-56DB-EE51B2BF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1E1C-8245-3E4A-5370-6E2998B6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1667825"/>
          </a:xfrm>
        </p:spPr>
        <p:txBody>
          <a:bodyPr/>
          <a:lstStyle/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Avoiding unnecessary copying of objects.</a:t>
            </a: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Transferring ownership of resources that cannot be shared (locks, file handles).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DE9467-FB9A-BB9A-4586-6F9627459C2D}"/>
              </a:ext>
            </a:extLst>
          </p:cNvPr>
          <p:cNvSpPr txBox="1">
            <a:spLocks/>
          </p:cNvSpPr>
          <p:nvPr/>
        </p:nvSpPr>
        <p:spPr>
          <a:xfrm>
            <a:off x="677334" y="3429000"/>
            <a:ext cx="8596668" cy="2755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rvalue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references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Converting an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lvalue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to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rvalue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The rule of 5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76FA19-E799-1BF6-1B30-0A4ECD68FD76}"/>
              </a:ext>
            </a:extLst>
          </p:cNvPr>
          <p:cNvSpPr txBox="1">
            <a:spLocks/>
          </p:cNvSpPr>
          <p:nvPr/>
        </p:nvSpPr>
        <p:spPr>
          <a:xfrm>
            <a:off x="677334" y="2768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Include:</a:t>
            </a:r>
          </a:p>
        </p:txBody>
      </p:sp>
    </p:spTree>
    <p:extLst>
      <p:ext uri="{BB962C8B-B14F-4D97-AF65-F5344CB8AC3E}">
        <p14:creationId xmlns:p14="http://schemas.microsoft.com/office/powerpoint/2010/main" val="425980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C69-CD75-4218-56DB-EE51B2BF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rvalue</a:t>
            </a:r>
            <a:r>
              <a:rPr lang="en-US" dirty="0"/>
              <a:t>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1E1C-8245-3E4A-5370-6E2998B6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1505"/>
            <a:ext cx="8596668" cy="1400295"/>
          </a:xfrm>
        </p:spPr>
        <p:txBody>
          <a:bodyPr/>
          <a:lstStyle/>
          <a:p>
            <a:r>
              <a:rPr lang="en-US" dirty="0"/>
              <a:t>A reference to a temporary object</a:t>
            </a:r>
          </a:p>
          <a:p>
            <a:r>
              <a:rPr lang="en-US" dirty="0"/>
              <a:t>Declared with &amp;&amp;</a:t>
            </a:r>
          </a:p>
          <a:p>
            <a:endParaRPr lang="en-US" dirty="0"/>
          </a:p>
        </p:txBody>
      </p:sp>
      <p:pic>
        <p:nvPicPr>
          <p:cNvPr id="6" name="Picture 5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485B1051-7733-EB98-FA28-11DDEE884A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6284" r="9687" b="16930"/>
          <a:stretch/>
        </p:blipFill>
        <p:spPr>
          <a:xfrm>
            <a:off x="677334" y="2760785"/>
            <a:ext cx="6277708" cy="299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0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7C69-CD75-4218-56DB-EE51B2BF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an </a:t>
            </a:r>
            <a:r>
              <a:rPr lang="en-US" b="1" dirty="0" err="1"/>
              <a:t>lvalue</a:t>
            </a:r>
            <a:r>
              <a:rPr lang="en-US" dirty="0"/>
              <a:t> to </a:t>
            </a:r>
            <a:r>
              <a:rPr lang="en-US" b="1" dirty="0" err="1"/>
              <a:t>rvalue</a:t>
            </a:r>
            <a:r>
              <a:rPr lang="en-US" b="1" dirty="0"/>
              <a:t> with std::move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1E1C-8245-3E4A-5370-6E2998B68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Doesn't actually move anything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(it is essentially a cast)</a:t>
            </a:r>
            <a:endParaRPr lang="en-US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allows the compiler to perform optimizations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en-US" dirty="0"/>
          </a:p>
        </p:txBody>
      </p:sp>
      <p:pic>
        <p:nvPicPr>
          <p:cNvPr id="6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4D82864-85EA-BFFC-B011-514F0E75B2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2" t="21086" r="14568" b="21478"/>
          <a:stretch/>
        </p:blipFill>
        <p:spPr>
          <a:xfrm>
            <a:off x="1423574" y="3631223"/>
            <a:ext cx="3552094" cy="193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6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3051-3D67-7433-4C0F-6E3A6A96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 of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8612-D2ED-F583-4FE5-E1FDD4208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3007"/>
            <a:ext cx="8596668" cy="3890107"/>
          </a:xfrm>
        </p:spPr>
        <p:txBody>
          <a:bodyPr>
            <a:normAutofit/>
          </a:bodyPr>
          <a:lstStyle/>
          <a:p>
            <a:r>
              <a:rPr lang="en-US" dirty="0"/>
              <a:t>Includes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"the rule of 3" plus:</a:t>
            </a:r>
          </a:p>
          <a:p>
            <a:pPr lvl="1"/>
            <a:r>
              <a:rPr lang="en-US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move constructor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move assignment operator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</a:p>
          <a:p>
            <a:pPr lvl="1"/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These methods "steals" the resources of the object it is given as an argument rather than make copies of them.</a:t>
            </a: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Leaves the other object in a valid state.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Should not throw exceptions.</a:t>
            </a:r>
            <a:endParaRPr lang="en-US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5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B94B10-3EDE-9509-EFF6-BEF3393A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767861"/>
            <a:ext cx="8596668" cy="1320800"/>
          </a:xfrm>
        </p:spPr>
        <p:txBody>
          <a:bodyPr/>
          <a:lstStyle/>
          <a:p>
            <a:r>
              <a:rPr lang="en-US" dirty="0" err="1"/>
              <a:t>StringQueueStack</a:t>
            </a:r>
            <a:endParaRPr lang="en-US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C628907B-5A8A-7227-3225-7E224DF02EA1}"/>
              </a:ext>
            </a:extLst>
          </p:cNvPr>
          <p:cNvSpPr txBox="1"/>
          <p:nvPr/>
        </p:nvSpPr>
        <p:spPr>
          <a:xfrm>
            <a:off x="1018903" y="4284617"/>
            <a:ext cx="9562011" cy="19071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474F692-13FD-BFCB-661E-960B1768B750}"/>
              </a:ext>
            </a:extLst>
          </p:cNvPr>
          <p:cNvSpPr txBox="1"/>
          <p:nvPr/>
        </p:nvSpPr>
        <p:spPr>
          <a:xfrm>
            <a:off x="712503" y="4910329"/>
            <a:ext cx="9771017" cy="15850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7406D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Data structure that can operate both as a queue and as a stack.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7406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Implemented using dynamic linked list of strings.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7406D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Strings can be added from both ends of the list,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7406D"/>
              </a:buClr>
              <a:buSzPct val="80000"/>
              <a:tabLst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     but can be removed only from the head.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B2828459-E8C8-8C53-B179-98C913304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1518249"/>
            <a:ext cx="8911138" cy="320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4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8BDA2E-7313-DD93-17BA-7FC88A68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166969"/>
            <a:ext cx="8596668" cy="1320800"/>
          </a:xfrm>
        </p:spPr>
        <p:txBody>
          <a:bodyPr/>
          <a:lstStyle/>
          <a:p>
            <a:r>
              <a:rPr lang="en-US" dirty="0" err="1"/>
              <a:t>StringQueueStack.h</a:t>
            </a:r>
            <a:endParaRPr lang="en-US" dirty="0"/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B79973A-39FD-0DE9-883F-4403637912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6" t="6538" r="7903" b="6667"/>
          <a:stretch/>
        </p:blipFill>
        <p:spPr>
          <a:xfrm>
            <a:off x="571499" y="827369"/>
            <a:ext cx="5055578" cy="59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7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8BDA2E-7313-DD93-17BA-7FC88A68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166969"/>
            <a:ext cx="8596668" cy="1320800"/>
          </a:xfrm>
        </p:spPr>
        <p:txBody>
          <a:bodyPr/>
          <a:lstStyle/>
          <a:p>
            <a:r>
              <a:rPr lang="en-US" dirty="0" err="1"/>
              <a:t>StringQueueStack.cpp</a:t>
            </a:r>
            <a:endParaRPr lang="en-US" dirty="0"/>
          </a:p>
        </p:txBody>
      </p:sp>
      <p:pic>
        <p:nvPicPr>
          <p:cNvPr id="3" name="Picture 2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007275AF-CE9C-B27A-1E3A-22B49C5B76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7" t="6491" r="5028" b="6674"/>
          <a:stretch/>
        </p:blipFill>
        <p:spPr>
          <a:xfrm>
            <a:off x="712503" y="923052"/>
            <a:ext cx="8020106" cy="566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50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8BDA2E-7313-DD93-17BA-7FC88A68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166969"/>
            <a:ext cx="8596668" cy="1320800"/>
          </a:xfrm>
        </p:spPr>
        <p:txBody>
          <a:bodyPr/>
          <a:lstStyle/>
          <a:p>
            <a:r>
              <a:rPr lang="en-US" dirty="0"/>
              <a:t>StringQueueStack.cpp</a:t>
            </a:r>
          </a:p>
        </p:txBody>
      </p:sp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9026264-CC3E-829D-1AFC-21B908BF80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5953" r="4761" b="5870"/>
          <a:stretch/>
        </p:blipFill>
        <p:spPr>
          <a:xfrm>
            <a:off x="712503" y="827369"/>
            <a:ext cx="7438292" cy="593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63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3051-3D67-7433-4C0F-6E3A6A96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6111"/>
            <a:ext cx="10193866" cy="1320800"/>
          </a:xfrm>
        </p:spPr>
        <p:txBody>
          <a:bodyPr>
            <a:normAutofit/>
          </a:bodyPr>
          <a:lstStyle/>
          <a:p>
            <a:r>
              <a:rPr lang="en-US" sz="3200" dirty="0"/>
              <a:t>Move Constructor / Assignment Operator</a:t>
            </a:r>
          </a:p>
        </p:txBody>
      </p:sp>
      <p:pic>
        <p:nvPicPr>
          <p:cNvPr id="4" name="Picture 3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726AEEE0-8DD3-1E23-2E95-07BDA13BA1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2" t="9871" r="6684" b="9530"/>
          <a:stretch/>
        </p:blipFill>
        <p:spPr>
          <a:xfrm>
            <a:off x="677334" y="1387881"/>
            <a:ext cx="7481169" cy="46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6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3051-3D67-7433-4C0F-6E3A6A96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Placeholder Type Specifier - </a:t>
            </a:r>
            <a:r>
              <a:rPr lang="en-US" b="1" u="sng" dirty="0"/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8612-D2ED-F583-4FE5-E1FDD4208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64561"/>
            <a:ext cx="8596668" cy="18574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Used in variable / function declarations instead of an explicit type specifier.</a:t>
            </a: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Automatically deduce the type from the variable initializer / function return value.</a:t>
            </a: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Generally considered a good practice for - usability, robustness, performance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Can force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auto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to be a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reference / pointer / const</a:t>
            </a:r>
          </a:p>
          <a:p>
            <a:endParaRPr lang="en-US" b="1" i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b="1" dirty="0"/>
          </a:p>
        </p:txBody>
      </p:sp>
      <p:pic>
        <p:nvPicPr>
          <p:cNvPr id="7" name="Picture 6" descr="A computer code on a black background&#10;&#10;Description automatically generated">
            <a:extLst>
              <a:ext uri="{FF2B5EF4-FFF2-40B4-BE49-F238E27FC236}">
                <a16:creationId xmlns:a16="http://schemas.microsoft.com/office/drawing/2014/main" id="{3415EB6F-C0FE-79E5-5230-3E3AC05FAD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t="21013" r="6674" b="21568"/>
          <a:stretch/>
        </p:blipFill>
        <p:spPr>
          <a:xfrm>
            <a:off x="677334" y="3938954"/>
            <a:ext cx="6752492" cy="139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3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3051-3D67-7433-4C0F-6E3A6A96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8612-D2ED-F583-4FE5-E1FDD4208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6673"/>
            <a:ext cx="8596668" cy="4785335"/>
          </a:xfrm>
        </p:spPr>
        <p:txBody>
          <a:bodyPr/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Shared pointers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One or more owners manage the object lifetime.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Reference counted.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Automatically deleted when reference count reaches 0.</a:t>
            </a:r>
          </a:p>
          <a:p>
            <a:r>
              <a:rPr lang="en-US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Unique pointers </a:t>
            </a:r>
          </a:p>
          <a:p>
            <a:pPr lvl="1"/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One owner manages the object lifetime.</a:t>
            </a:r>
          </a:p>
          <a:p>
            <a:pPr lvl="1"/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Can be moved to a new owner, but not copied or shared.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Automatically deleted when goes out of scope.</a:t>
            </a:r>
            <a:endParaRPr lang="en-US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Weak pointers (advanced topic – see in the lesson material).</a:t>
            </a:r>
          </a:p>
          <a:p>
            <a:pPr lvl="1"/>
            <a:endParaRPr lang="en-US" i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/>
            <a:endParaRPr lang="en-US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/>
            <a:endParaRPr lang="en-US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07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3051-3D67-7433-4C0F-6E3A6A96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Pointers - Examples</a:t>
            </a:r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40F0010-BA26-2BB1-DD4F-22B17F62C9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7" t="16932" r="8279" b="17572"/>
          <a:stretch/>
        </p:blipFill>
        <p:spPr>
          <a:xfrm>
            <a:off x="677334" y="1701799"/>
            <a:ext cx="6468533" cy="242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3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Custom 3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17406D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3389</TotalTime>
  <Words>560</Words>
  <Application>Microsoft Macintosh PowerPoint</Application>
  <PresentationFormat>Widescreen</PresentationFormat>
  <Paragraphs>90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Trebuchet MS</vt:lpstr>
      <vt:lpstr>Wingdings 3</vt:lpstr>
      <vt:lpstr>Facet</vt:lpstr>
      <vt:lpstr>SPL – PS4</vt:lpstr>
      <vt:lpstr>Overview</vt:lpstr>
      <vt:lpstr>C++ namespaces</vt:lpstr>
      <vt:lpstr>C++ Namespaces - Example</vt:lpstr>
      <vt:lpstr>Object Lifetime</vt:lpstr>
      <vt:lpstr>Temporary Objects</vt:lpstr>
      <vt:lpstr>Example of Temporary Objects</vt:lpstr>
      <vt:lpstr>Move Semantics</vt:lpstr>
      <vt:lpstr>rvalue references</vt:lpstr>
      <vt:lpstr>Converting an lvalue to rvalue with std::move</vt:lpstr>
      <vt:lpstr>The Rule of 5</vt:lpstr>
      <vt:lpstr>StringQueueStack</vt:lpstr>
      <vt:lpstr>StringQueueStack.h</vt:lpstr>
      <vt:lpstr>StringQueueStack.cpp</vt:lpstr>
      <vt:lpstr>StringQueueStack.cpp</vt:lpstr>
      <vt:lpstr>Move Constructor / Assignment Operator</vt:lpstr>
      <vt:lpstr>The Placeholder Type Specifier - auto</vt:lpstr>
      <vt:lpstr>Smart Pointers</vt:lpstr>
      <vt:lpstr>Smart Pointers -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PS4</dc:title>
  <dc:creator>Dolav Nitay</dc:creator>
  <cp:lastModifiedBy>Nir Sorani</cp:lastModifiedBy>
  <cp:revision>125</cp:revision>
  <dcterms:created xsi:type="dcterms:W3CDTF">2018-11-04T15:32:08Z</dcterms:created>
  <dcterms:modified xsi:type="dcterms:W3CDTF">2024-11-20T11:10:04Z</dcterms:modified>
</cp:coreProperties>
</file>