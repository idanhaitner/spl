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92" r:id="rId11"/>
    <p:sldId id="265" r:id="rId12"/>
    <p:sldId id="266" r:id="rId13"/>
    <p:sldId id="289" r:id="rId14"/>
    <p:sldId id="267" r:id="rId15"/>
    <p:sldId id="268" r:id="rId16"/>
    <p:sldId id="269" r:id="rId17"/>
    <p:sldId id="270" r:id="rId18"/>
    <p:sldId id="271" r:id="rId19"/>
    <p:sldId id="272" r:id="rId20"/>
    <p:sldId id="291"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Lst>
  <p:sldSz cx="12192000" cy="6858000"/>
  <p:notesSz cx="6858000" cy="9144000"/>
  <p:defaultTextStyle>
    <a:defPPr>
      <a:defRPr lang="he-IL"/>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3840">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372" y="102"/>
      </p:cViewPr>
      <p:guideLst>
        <p:guide pos="3840"/>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109378110" name="מציין מיקום של כותרת עליונה 1"/>
          <p:cNvSpPr>
            <a:spLocks noGrp="1"/>
          </p:cNvSpPr>
          <p:nvPr>
            <p:ph type="hdr" sz="quarter"/>
          </p:nvPr>
        </p:nvSpPr>
        <p:spPr bwMode="auto">
          <a:xfrm>
            <a:off x="3886200" y="0"/>
            <a:ext cx="2971800" cy="458788"/>
          </a:xfrm>
          <a:prstGeom prst="rect">
            <a:avLst/>
          </a:prstGeom>
        </p:spPr>
        <p:txBody>
          <a:bodyPr vert="horz" lIns="91440" tIns="45720" rIns="91440" bIns="45720" rtlCol="1"/>
          <a:lstStyle>
            <a:lvl1pPr algn="r">
              <a:defRPr sz="1200"/>
            </a:lvl1pPr>
          </a:lstStyle>
          <a:p>
            <a:pPr>
              <a:defRPr/>
            </a:pPr>
            <a:endParaRPr lang="he-IL"/>
          </a:p>
        </p:txBody>
      </p:sp>
      <p:sp>
        <p:nvSpPr>
          <p:cNvPr id="206741828" name="מציין מיקום של תאריך 2"/>
          <p:cNvSpPr>
            <a:spLocks noGrp="1"/>
          </p:cNvSpPr>
          <p:nvPr>
            <p:ph type="dt" idx="1"/>
          </p:nvPr>
        </p:nvSpPr>
        <p:spPr bwMode="auto">
          <a:xfrm>
            <a:off x="1587" y="0"/>
            <a:ext cx="2971800" cy="458788"/>
          </a:xfrm>
          <a:prstGeom prst="rect">
            <a:avLst/>
          </a:prstGeom>
        </p:spPr>
        <p:txBody>
          <a:bodyPr vert="horz" lIns="91440" tIns="45720" rIns="91440" bIns="45720" rtlCol="1"/>
          <a:lstStyle>
            <a:lvl1pPr algn="l">
              <a:defRPr sz="1200"/>
            </a:lvl1pPr>
          </a:lstStyle>
          <a:p>
            <a:pPr>
              <a:defRPr/>
            </a:pPr>
            <a:fld id="{C4D8ED5F-179A-42F9-9CAD-7D6FD37D94DD}" type="datetimeFigureOut">
              <a:rPr lang="he-IL"/>
              <a:t>ח'/טבת/תשפ"ו</a:t>
            </a:fld>
            <a:endParaRPr lang="he-IL"/>
          </a:p>
        </p:txBody>
      </p:sp>
      <p:sp>
        <p:nvSpPr>
          <p:cNvPr id="1008859400" name="מציין מיקום של תמונת שקופית 3"/>
          <p:cNvSpPr>
            <a:spLocks noGrp="1" noRot="1" noChangeAspec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1" anchor="ctr"/>
          <a:lstStyle/>
          <a:p>
            <a:pPr>
              <a:defRPr/>
            </a:pPr>
            <a:endParaRPr lang="he-IL"/>
          </a:p>
        </p:txBody>
      </p:sp>
      <p:sp>
        <p:nvSpPr>
          <p:cNvPr id="1672410448" name="מציין מיקום של הערות 4"/>
          <p:cNvSpPr>
            <a:spLocks noGrp="1"/>
          </p:cNvSpPr>
          <p:nvPr>
            <p:ph type="body" sz="quarter" idx="3"/>
          </p:nvPr>
        </p:nvSpPr>
        <p:spPr bwMode="auto">
          <a:xfrm>
            <a:off x="685800" y="4400550"/>
            <a:ext cx="5486400" cy="3600450"/>
          </a:xfrm>
          <a:prstGeom prst="rect">
            <a:avLst/>
          </a:prstGeom>
        </p:spPr>
        <p:txBody>
          <a:bodyPr vert="horz" lIns="91440" tIns="45720" rIns="91440" bIns="45720" rtlCol="1"/>
          <a:lstStyle/>
          <a:p>
            <a:pPr lvl="0">
              <a:defRPr/>
            </a:pPr>
            <a:r>
              <a:rPr lang="he-IL"/>
              <a:t>לחץ כדי לערוך סגנונות טקסט של תבנית בסיס</a:t>
            </a:r>
            <a:endParaRPr/>
          </a:p>
          <a:p>
            <a:pPr lvl="1">
              <a:defRPr/>
            </a:pPr>
            <a:r>
              <a:rPr lang="he-IL"/>
              <a:t>רמה שנייה</a:t>
            </a:r>
            <a:endParaRPr/>
          </a:p>
          <a:p>
            <a:pPr lvl="2">
              <a:defRPr/>
            </a:pPr>
            <a:r>
              <a:rPr lang="he-IL"/>
              <a:t>רמה שלישית</a:t>
            </a:r>
            <a:endParaRPr/>
          </a:p>
          <a:p>
            <a:pPr lvl="3">
              <a:defRPr/>
            </a:pPr>
            <a:r>
              <a:rPr lang="he-IL"/>
              <a:t>רמה רביעית</a:t>
            </a:r>
            <a:endParaRPr/>
          </a:p>
          <a:p>
            <a:pPr lvl="4">
              <a:defRPr/>
            </a:pPr>
            <a:r>
              <a:rPr lang="he-IL"/>
              <a:t>רמה חמישית</a:t>
            </a:r>
            <a:endParaRPr/>
          </a:p>
        </p:txBody>
      </p:sp>
      <p:sp>
        <p:nvSpPr>
          <p:cNvPr id="1913877800" name="מציין מיקום של כותרת תחתונה 5"/>
          <p:cNvSpPr>
            <a:spLocks noGrp="1"/>
          </p:cNvSpPr>
          <p:nvPr>
            <p:ph type="ftr" sz="quarter" idx="4"/>
          </p:nvPr>
        </p:nvSpPr>
        <p:spPr bwMode="auto">
          <a:xfrm>
            <a:off x="3886200" y="8685213"/>
            <a:ext cx="2971800" cy="458787"/>
          </a:xfrm>
          <a:prstGeom prst="rect">
            <a:avLst/>
          </a:prstGeom>
        </p:spPr>
        <p:txBody>
          <a:bodyPr vert="horz" lIns="91440" tIns="45720" rIns="91440" bIns="45720" rtlCol="1" anchor="b"/>
          <a:lstStyle>
            <a:lvl1pPr algn="r">
              <a:defRPr sz="1200"/>
            </a:lvl1pPr>
          </a:lstStyle>
          <a:p>
            <a:pPr>
              <a:defRPr/>
            </a:pPr>
            <a:endParaRPr lang="he-IL"/>
          </a:p>
        </p:txBody>
      </p:sp>
      <p:sp>
        <p:nvSpPr>
          <p:cNvPr id="525535002" name="מציין מיקום של מספר שקופית 6"/>
          <p:cNvSpPr>
            <a:spLocks noGrp="1"/>
          </p:cNvSpPr>
          <p:nvPr>
            <p:ph type="sldNum" sz="quarter" idx="5"/>
          </p:nvPr>
        </p:nvSpPr>
        <p:spPr bwMode="auto">
          <a:xfrm>
            <a:off x="1587" y="8685213"/>
            <a:ext cx="2971800" cy="458787"/>
          </a:xfrm>
          <a:prstGeom prst="rect">
            <a:avLst/>
          </a:prstGeom>
        </p:spPr>
        <p:txBody>
          <a:bodyPr vert="horz" lIns="91440" tIns="45720" rIns="91440" bIns="45720" rtlCol="1" anchor="b"/>
          <a:lstStyle>
            <a:lvl1pPr algn="l">
              <a:defRPr sz="1200"/>
            </a:lvl1pPr>
          </a:lstStyle>
          <a:p>
            <a:pPr>
              <a:defRPr/>
            </a:pPr>
            <a:fld id="{87DDE14B-20B0-42DF-A06C-934705A15BEE}" type="slidenum">
              <a:rPr lang="he-IL"/>
              <a:t>‹#›</a:t>
            </a:fld>
            <a:endParaRPr lang="he-IL"/>
          </a:p>
        </p:txBody>
      </p:sp>
    </p:spTree>
  </p:cSld>
  <p:clrMap bg1="lt1" tx1="dk1" bg2="lt2" tx2="dk2" accent1="accent1" accent2="accent2" accent3="accent3" accent4="accent4" accent5="accent5" accent6="accent6" hlink="hlink" folHlink="folHlink"/>
  <p:notesStyle>
    <a:lvl1pPr marL="0" algn="r" defTabSz="914400" rtl="1">
      <a:defRPr sz="1200">
        <a:solidFill>
          <a:schemeClr val="tx1"/>
        </a:solidFill>
        <a:latin typeface="+mn-lt"/>
        <a:ea typeface="+mn-ea"/>
        <a:cs typeface="+mn-cs"/>
      </a:defRPr>
    </a:lvl1pPr>
    <a:lvl2pPr marL="457200" algn="r" defTabSz="914400" rtl="1">
      <a:defRPr sz="1200">
        <a:solidFill>
          <a:schemeClr val="tx1"/>
        </a:solidFill>
        <a:latin typeface="+mn-lt"/>
        <a:ea typeface="+mn-ea"/>
        <a:cs typeface="+mn-cs"/>
      </a:defRPr>
    </a:lvl2pPr>
    <a:lvl3pPr marL="914400" algn="r" defTabSz="914400" rtl="1">
      <a:defRPr sz="1200">
        <a:solidFill>
          <a:schemeClr val="tx1"/>
        </a:solidFill>
        <a:latin typeface="+mn-lt"/>
        <a:ea typeface="+mn-ea"/>
        <a:cs typeface="+mn-cs"/>
      </a:defRPr>
    </a:lvl3pPr>
    <a:lvl4pPr marL="1371600" algn="r" defTabSz="914400" rtl="1">
      <a:defRPr sz="1200">
        <a:solidFill>
          <a:schemeClr val="tx1"/>
        </a:solidFill>
        <a:latin typeface="+mn-lt"/>
        <a:ea typeface="+mn-ea"/>
        <a:cs typeface="+mn-cs"/>
      </a:defRPr>
    </a:lvl4pPr>
    <a:lvl5pPr marL="1828800" algn="r" defTabSz="914400" rtl="1">
      <a:defRPr sz="1200">
        <a:solidFill>
          <a:schemeClr val="tx1"/>
        </a:solidFill>
        <a:latin typeface="+mn-lt"/>
        <a:ea typeface="+mn-ea"/>
        <a:cs typeface="+mn-cs"/>
      </a:defRPr>
    </a:lvl5pPr>
    <a:lvl6pPr marL="2286000" algn="r" defTabSz="914400" rtl="1">
      <a:defRPr sz="1200">
        <a:solidFill>
          <a:schemeClr val="tx1"/>
        </a:solidFill>
        <a:latin typeface="+mn-lt"/>
        <a:ea typeface="+mn-ea"/>
        <a:cs typeface="+mn-cs"/>
      </a:defRPr>
    </a:lvl6pPr>
    <a:lvl7pPr marL="2743200" algn="r" defTabSz="914400" rtl="1">
      <a:defRPr sz="1200">
        <a:solidFill>
          <a:schemeClr val="tx1"/>
        </a:solidFill>
        <a:latin typeface="+mn-lt"/>
        <a:ea typeface="+mn-ea"/>
        <a:cs typeface="+mn-cs"/>
      </a:defRPr>
    </a:lvl7pPr>
    <a:lvl8pPr marL="3200400" algn="r" defTabSz="914400" rtl="1">
      <a:defRPr sz="1200">
        <a:solidFill>
          <a:schemeClr val="tx1"/>
        </a:solidFill>
        <a:latin typeface="+mn-lt"/>
        <a:ea typeface="+mn-ea"/>
        <a:cs typeface="+mn-cs"/>
      </a:defRPr>
    </a:lvl8pPr>
    <a:lvl9pPr marL="3657600" algn="r" defTabSz="914400" rtl="1">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FEFE871-07A3-0CEC-E5D3-4FCCFD154162}" type="slidenum">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A2053DE-7738-C76B-B57D-37776C93D4F6}"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414DE62-E3AC-3505-0B2F-49E63C493905}" type="slidenum">
              <a:r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dirty="0"/>
          </a:p>
        </p:txBody>
      </p:sp>
      <p:sp>
        <p:nvSpPr>
          <p:cNvPr id="4" name="Slide Number Placeholder 3"/>
          <p:cNvSpPr>
            <a:spLocks noGrp="1"/>
          </p:cNvSpPr>
          <p:nvPr>
            <p:ph type="sldNum" sz="quarter" idx="10"/>
          </p:nvPr>
        </p:nvSpPr>
        <p:spPr bwMode="auto"/>
        <p:txBody>
          <a:bodyPr/>
          <a:lstStyle/>
          <a:p>
            <a:pPr>
              <a:defRPr/>
            </a:pPr>
            <a:fld id="{5B0009EB-7170-8996-5475-545C840ACE0B}" type="slidenum">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FDC4BD3-853E-FFBD-7906-24DDEEF63984}" type="slidenum">
              <a:r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BA22A78-BCE1-2550-F011-1DBA7D07C993}" type="slidenum">
              <a:rP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6B8722E-6776-6F47-3320-E6778A39187F}" type="slidenum">
              <a:rP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30246C5-AC51-B356-D26F-3C30FE7D0F49}" type="slidenum">
              <a:rP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r>
              <a:rPr lang="en-US" dirty="0"/>
              <a:t>Check code example!</a:t>
            </a:r>
            <a:endParaRPr dirty="0"/>
          </a:p>
        </p:txBody>
      </p:sp>
      <p:sp>
        <p:nvSpPr>
          <p:cNvPr id="4" name="Slide Number Placeholder 3"/>
          <p:cNvSpPr>
            <a:spLocks noGrp="1"/>
          </p:cNvSpPr>
          <p:nvPr>
            <p:ph type="sldNum" sz="quarter" idx="10"/>
          </p:nvPr>
        </p:nvSpPr>
        <p:spPr bwMode="auto"/>
        <p:txBody>
          <a:bodyPr/>
          <a:lstStyle/>
          <a:p>
            <a:pPr>
              <a:defRPr/>
            </a:pPr>
            <a:fld id="{193B5E21-EC2D-EEE4-6C2C-074B4527F310}" type="slidenum">
              <a:rPr/>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8445B-D6DC-9B04-A966-2A87D0AEDE18}"/>
            </a:ext>
          </a:extLst>
        </p:cNvPr>
        <p:cNvGrpSpPr/>
        <p:nvPr/>
      </p:nvGrpSpPr>
      <p:grpSpPr bwMode="auto">
        <a:xfrm>
          <a:off x="0" y="0"/>
          <a:ext cx="0" cy="0"/>
          <a:chOff x="0" y="0"/>
          <a:chExt cx="0" cy="0"/>
        </a:xfrm>
      </p:grpSpPr>
      <p:sp>
        <p:nvSpPr>
          <p:cNvPr id="2" name="Slide Image Placeholder 1">
            <a:extLst>
              <a:ext uri="{FF2B5EF4-FFF2-40B4-BE49-F238E27FC236}">
                <a16:creationId xmlns:a16="http://schemas.microsoft.com/office/drawing/2014/main" id="{8FAB3981-9AE1-ED0B-34DE-5B076D05EE6B}"/>
              </a:ext>
            </a:extLst>
          </p:cNvPr>
          <p:cNvSpPr>
            <a:spLocks noGrp="1" noRot="1" noChangeAspect="1"/>
          </p:cNvSpPr>
          <p:nvPr>
            <p:ph type="sldImg"/>
          </p:nvPr>
        </p:nvSpPr>
        <p:spPr bwMode="auto"/>
      </p:sp>
      <p:sp>
        <p:nvSpPr>
          <p:cNvPr id="3" name="Notes Placeholder 2">
            <a:extLst>
              <a:ext uri="{FF2B5EF4-FFF2-40B4-BE49-F238E27FC236}">
                <a16:creationId xmlns:a16="http://schemas.microsoft.com/office/drawing/2014/main" id="{C74B9D56-8401-EE3B-093A-43E6DFEA9854}"/>
              </a:ext>
            </a:extLst>
          </p:cNvPr>
          <p:cNvSpPr>
            <a:spLocks noGrp="1"/>
          </p:cNvSpPr>
          <p:nvPr>
            <p:ph type="body" idx="1"/>
          </p:nvPr>
        </p:nvSpPr>
        <p:spPr bwMode="auto"/>
        <p:txBody>
          <a:bodyPr/>
          <a:lstStyle/>
          <a:p>
            <a:pPr algn="l">
              <a:defRPr/>
            </a:pPr>
            <a:endParaRPr dirty="0"/>
          </a:p>
        </p:txBody>
      </p:sp>
      <p:sp>
        <p:nvSpPr>
          <p:cNvPr id="4" name="Slide Number Placeholder 3">
            <a:extLst>
              <a:ext uri="{FF2B5EF4-FFF2-40B4-BE49-F238E27FC236}">
                <a16:creationId xmlns:a16="http://schemas.microsoft.com/office/drawing/2014/main" id="{01579339-3C61-117E-2CF2-B220F3121DB0}"/>
              </a:ext>
            </a:extLst>
          </p:cNvPr>
          <p:cNvSpPr>
            <a:spLocks noGrp="1"/>
          </p:cNvSpPr>
          <p:nvPr>
            <p:ph type="sldNum" sz="quarter" idx="10"/>
          </p:nvPr>
        </p:nvSpPr>
        <p:spPr bwMode="auto"/>
        <p:txBody>
          <a:bodyPr/>
          <a:lstStyle/>
          <a:p>
            <a:pPr>
              <a:defRPr/>
            </a:pPr>
            <a:fld id="{D2AEE615-F7E5-61C4-A22C-43960E5D5C81}" type="slidenum">
              <a:rPr/>
              <a:t>10</a:t>
            </a:fld>
            <a:endParaRPr/>
          </a:p>
        </p:txBody>
      </p:sp>
    </p:spTree>
    <p:extLst>
      <p:ext uri="{BB962C8B-B14F-4D97-AF65-F5344CB8AC3E}">
        <p14:creationId xmlns:p14="http://schemas.microsoft.com/office/powerpoint/2010/main" val="1075118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7415F90-102F-28A9-55D4-C82C0FF281AF}" type="slidenum">
              <a:rPr/>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44DAD63-46CC-C952-B639-3B4D576B13DC}" type="slidenum">
              <a:rPr/>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0D639-8E4C-13FF-4243-7B631F25FF04}"/>
            </a:ext>
          </a:extLst>
        </p:cNvPr>
        <p:cNvGrpSpPr/>
        <p:nvPr/>
      </p:nvGrpSpPr>
      <p:grpSpPr bwMode="auto">
        <a:xfrm>
          <a:off x="0" y="0"/>
          <a:ext cx="0" cy="0"/>
          <a:chOff x="0" y="0"/>
          <a:chExt cx="0" cy="0"/>
        </a:xfrm>
      </p:grpSpPr>
      <p:sp>
        <p:nvSpPr>
          <p:cNvPr id="2" name="Slide Image Placeholder 1">
            <a:extLst>
              <a:ext uri="{FF2B5EF4-FFF2-40B4-BE49-F238E27FC236}">
                <a16:creationId xmlns:a16="http://schemas.microsoft.com/office/drawing/2014/main" id="{22CC2E6E-6E9A-79A6-DA9F-913D9B1AB094}"/>
              </a:ext>
            </a:extLst>
          </p:cNvPr>
          <p:cNvSpPr>
            <a:spLocks noGrp="1" noRot="1" noChangeAspect="1"/>
          </p:cNvSpPr>
          <p:nvPr>
            <p:ph type="sldImg"/>
          </p:nvPr>
        </p:nvSpPr>
        <p:spPr bwMode="auto"/>
      </p:sp>
      <p:sp>
        <p:nvSpPr>
          <p:cNvPr id="3" name="Notes Placeholder 2">
            <a:extLst>
              <a:ext uri="{FF2B5EF4-FFF2-40B4-BE49-F238E27FC236}">
                <a16:creationId xmlns:a16="http://schemas.microsoft.com/office/drawing/2014/main" id="{DEC53E6E-B3D9-7C89-F228-9BCB97902A98}"/>
              </a:ext>
            </a:extLst>
          </p:cNvPr>
          <p:cNvSpPr>
            <a:spLocks noGrp="1"/>
          </p:cNvSpPr>
          <p:nvPr>
            <p:ph type="body" idx="1"/>
          </p:nvPr>
        </p:nvSpPr>
        <p:spPr bwMode="auto"/>
        <p:txBody>
          <a:bodyPr/>
          <a:lstStyle/>
          <a:p>
            <a:pPr>
              <a:defRPr/>
            </a:pPr>
            <a:endParaRPr/>
          </a:p>
        </p:txBody>
      </p:sp>
      <p:sp>
        <p:nvSpPr>
          <p:cNvPr id="4" name="Slide Number Placeholder 3">
            <a:extLst>
              <a:ext uri="{FF2B5EF4-FFF2-40B4-BE49-F238E27FC236}">
                <a16:creationId xmlns:a16="http://schemas.microsoft.com/office/drawing/2014/main" id="{E3043E80-9FAA-FE92-8B9B-B67B844D506A}"/>
              </a:ext>
            </a:extLst>
          </p:cNvPr>
          <p:cNvSpPr>
            <a:spLocks noGrp="1"/>
          </p:cNvSpPr>
          <p:nvPr>
            <p:ph type="sldNum" sz="quarter" idx="10"/>
          </p:nvPr>
        </p:nvSpPr>
        <p:spPr bwMode="auto"/>
        <p:txBody>
          <a:bodyPr/>
          <a:lstStyle/>
          <a:p>
            <a:pPr>
              <a:defRPr/>
            </a:pPr>
            <a:fld id="{544DAD63-46CC-C952-B639-3B4D576B13DC}" type="slidenum">
              <a:rPr/>
              <a:t>13</a:t>
            </a:fld>
            <a:endParaRPr/>
          </a:p>
        </p:txBody>
      </p:sp>
    </p:spTree>
    <p:extLst>
      <p:ext uri="{BB962C8B-B14F-4D97-AF65-F5344CB8AC3E}">
        <p14:creationId xmlns:p14="http://schemas.microsoft.com/office/powerpoint/2010/main" val="29131350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2B7A118-D1CB-2241-01F9-1879D7CB7BA0}" type="slidenum">
              <a:rPr/>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88AB729-BF67-D16A-91A7-C2E3386F890F}" type="slidenum">
              <a:rPr/>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807959A-36FC-34F2-49D0-C0B4DCBE52C7}" type="slidenum">
              <a:rPr/>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53887FF-8239-9197-62B6-4AB28EAC1780}" type="slidenum">
              <a:rPr/>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3BECC3A-6E1B-5AFD-012A-D9C5FD5B9D5D}" type="slidenum">
              <a:rPr/>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2AEE615-F7E5-61C4-A22C-43960E5D5C81}" type="slidenum">
              <a:rPr/>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F936B-38FF-1E00-6948-AA835DD6F8A1}"/>
            </a:ext>
          </a:extLst>
        </p:cNvPr>
        <p:cNvGrpSpPr/>
        <p:nvPr/>
      </p:nvGrpSpPr>
      <p:grpSpPr bwMode="auto">
        <a:xfrm>
          <a:off x="0" y="0"/>
          <a:ext cx="0" cy="0"/>
          <a:chOff x="0" y="0"/>
          <a:chExt cx="0" cy="0"/>
        </a:xfrm>
      </p:grpSpPr>
      <p:sp>
        <p:nvSpPr>
          <p:cNvPr id="2" name="Slide Image Placeholder 1">
            <a:extLst>
              <a:ext uri="{FF2B5EF4-FFF2-40B4-BE49-F238E27FC236}">
                <a16:creationId xmlns:a16="http://schemas.microsoft.com/office/drawing/2014/main" id="{E8B6F299-371C-0513-9A5E-738FCC79F6F2}"/>
              </a:ext>
            </a:extLst>
          </p:cNvPr>
          <p:cNvSpPr>
            <a:spLocks noGrp="1" noRot="1" noChangeAspect="1"/>
          </p:cNvSpPr>
          <p:nvPr>
            <p:ph type="sldImg"/>
          </p:nvPr>
        </p:nvSpPr>
        <p:spPr bwMode="auto"/>
      </p:sp>
      <p:sp>
        <p:nvSpPr>
          <p:cNvPr id="3" name="Notes Placeholder 2">
            <a:extLst>
              <a:ext uri="{FF2B5EF4-FFF2-40B4-BE49-F238E27FC236}">
                <a16:creationId xmlns:a16="http://schemas.microsoft.com/office/drawing/2014/main" id="{17E23D32-3C05-EA8E-6BE5-7DF12FFB189F}"/>
              </a:ext>
            </a:extLst>
          </p:cNvPr>
          <p:cNvSpPr>
            <a:spLocks noGrp="1"/>
          </p:cNvSpPr>
          <p:nvPr>
            <p:ph type="body" idx="1"/>
          </p:nvPr>
        </p:nvSpPr>
        <p:spPr bwMode="auto"/>
        <p:txBody>
          <a:bodyPr/>
          <a:lstStyle/>
          <a:p>
            <a:pPr>
              <a:defRPr/>
            </a:pPr>
            <a:endParaRPr/>
          </a:p>
        </p:txBody>
      </p:sp>
      <p:sp>
        <p:nvSpPr>
          <p:cNvPr id="4" name="Slide Number Placeholder 3">
            <a:extLst>
              <a:ext uri="{FF2B5EF4-FFF2-40B4-BE49-F238E27FC236}">
                <a16:creationId xmlns:a16="http://schemas.microsoft.com/office/drawing/2014/main" id="{E6705A7F-E95C-6FE7-4FEF-7EEACA5D6DC6}"/>
              </a:ext>
            </a:extLst>
          </p:cNvPr>
          <p:cNvSpPr>
            <a:spLocks noGrp="1"/>
          </p:cNvSpPr>
          <p:nvPr>
            <p:ph type="sldNum" sz="quarter" idx="10"/>
          </p:nvPr>
        </p:nvSpPr>
        <p:spPr bwMode="auto"/>
        <p:txBody>
          <a:bodyPr/>
          <a:lstStyle/>
          <a:p>
            <a:pPr>
              <a:defRPr/>
            </a:pPr>
            <a:fld id="{D2AEE615-F7E5-61C4-A22C-43960E5D5C81}" type="slidenum">
              <a:rPr/>
              <a:t>20</a:t>
            </a:fld>
            <a:endParaRPr/>
          </a:p>
        </p:txBody>
      </p:sp>
    </p:spTree>
    <p:extLst>
      <p:ext uri="{BB962C8B-B14F-4D97-AF65-F5344CB8AC3E}">
        <p14:creationId xmlns:p14="http://schemas.microsoft.com/office/powerpoint/2010/main" val="14479028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D23198C-6907-B5CC-6223-A67C409EBDF4}" type="slidenum">
              <a:rPr/>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D3B4D19-047C-A0D5-4D8D-E64C9FC9B14A}" type="slidenum">
              <a:rPr/>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D08FCFB-DEC3-48F0-97B7-B53C02846A4B}" type="slidenum">
              <a:rPr/>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4BAC290-5E1A-E555-E036-688E56705929}" type="slidenum">
              <a:rPr/>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C977CA5-7048-3FF2-0418-C5601BA28A6B}" type="slidenum">
              <a:rPr/>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551E06B-9DC6-58BC-BF3B-932EC5DFF3F9}" type="slidenum">
              <a:rPr/>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C885050-B96F-CE80-B65B-DB38308A6CA2}" type="slidenum">
              <a:rPr/>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7A8C712-2024-C979-18B6-69CDCF68D20F}" type="slidenum">
              <a:rPr/>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02120837" name="מציין מיקום של תמונת שקופית 1"/>
          <p:cNvSpPr>
            <a:spLocks noGrp="1" noRot="1" noChangeAspect="1"/>
          </p:cNvSpPr>
          <p:nvPr>
            <p:ph type="sldImg"/>
          </p:nvPr>
        </p:nvSpPr>
        <p:spPr bwMode="auto"/>
      </p:sp>
      <p:sp>
        <p:nvSpPr>
          <p:cNvPr id="1367024804" name="מציין מיקום של הערות 2"/>
          <p:cNvSpPr>
            <a:spLocks noGrp="1"/>
          </p:cNvSpPr>
          <p:nvPr>
            <p:ph type="body" idx="1"/>
          </p:nvPr>
        </p:nvSpPr>
        <p:spPr bwMode="auto"/>
        <p:txBody>
          <a:bodyPr/>
          <a:lstStyle/>
          <a:p>
            <a:pPr algn="l" rtl="0">
              <a:defRPr/>
            </a:pPr>
            <a:endParaRPr lang="he-IL"/>
          </a:p>
        </p:txBody>
      </p:sp>
      <p:sp>
        <p:nvSpPr>
          <p:cNvPr id="35890076" name="מציין מיקום של מספר שקופית 3"/>
          <p:cNvSpPr>
            <a:spLocks noGrp="1"/>
          </p:cNvSpPr>
          <p:nvPr>
            <p:ph type="sldNum" sz="quarter" idx="5"/>
          </p:nvPr>
        </p:nvSpPr>
        <p:spPr bwMode="auto"/>
        <p:txBody>
          <a:bodyPr/>
          <a:lstStyle/>
          <a:p>
            <a:pPr>
              <a:defRPr/>
            </a:pPr>
            <a:fld id="{87DDE14B-20B0-42DF-A06C-934705A15BEE}" type="slidenum">
              <a:rPr lang="he-IL"/>
              <a:t>29</a:t>
            </a:fld>
            <a:endParaRPr lang="he-IL"/>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4258250" name="מציין מיקום של תמונת שקופית 1"/>
          <p:cNvSpPr>
            <a:spLocks noGrp="1" noRot="1" noChangeAspect="1"/>
          </p:cNvSpPr>
          <p:nvPr>
            <p:ph type="sldImg"/>
          </p:nvPr>
        </p:nvSpPr>
        <p:spPr bwMode="auto"/>
      </p:sp>
      <p:sp>
        <p:nvSpPr>
          <p:cNvPr id="50650855" name="מציין מיקום של הערות 2"/>
          <p:cNvSpPr>
            <a:spLocks noGrp="1"/>
          </p:cNvSpPr>
          <p:nvPr>
            <p:ph type="body" idx="1"/>
          </p:nvPr>
        </p:nvSpPr>
        <p:spPr bwMode="auto"/>
        <p:txBody>
          <a:bodyPr/>
          <a:lstStyle/>
          <a:p>
            <a:pPr algn="l" rtl="0">
              <a:defRPr/>
            </a:pPr>
            <a:r>
              <a:rPr lang="en-US"/>
              <a:t>The order of the headers shouldn’t matter</a:t>
            </a:r>
            <a:endParaRPr lang="he-IL"/>
          </a:p>
        </p:txBody>
      </p:sp>
      <p:sp>
        <p:nvSpPr>
          <p:cNvPr id="744467086" name="מציין מיקום של מספר שקופית 3"/>
          <p:cNvSpPr>
            <a:spLocks noGrp="1"/>
          </p:cNvSpPr>
          <p:nvPr>
            <p:ph type="sldNum" sz="quarter" idx="5"/>
          </p:nvPr>
        </p:nvSpPr>
        <p:spPr bwMode="auto"/>
        <p:txBody>
          <a:bodyPr/>
          <a:lstStyle/>
          <a:p>
            <a:pPr>
              <a:defRPr/>
            </a:pPr>
            <a:fld id="{8B3098B9-5AC2-4B51-A751-486D6D3DC6EC}" type="slidenum">
              <a:rPr lang="he-IL"/>
              <a:t>30</a:t>
            </a:fld>
            <a:endParaRPr lang="he-IL"/>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499099961" name="מציין מיקום של תמונת שקופית 1"/>
          <p:cNvSpPr>
            <a:spLocks noGrp="1" noRot="1" noChangeAspect="1"/>
          </p:cNvSpPr>
          <p:nvPr>
            <p:ph type="sldImg"/>
          </p:nvPr>
        </p:nvSpPr>
        <p:spPr bwMode="auto"/>
      </p:sp>
      <p:sp>
        <p:nvSpPr>
          <p:cNvPr id="1548235758" name="מציין מיקום של הערות 2"/>
          <p:cNvSpPr>
            <a:spLocks noGrp="1"/>
          </p:cNvSpPr>
          <p:nvPr>
            <p:ph type="body" idx="1"/>
          </p:nvPr>
        </p:nvSpPr>
        <p:spPr bwMode="auto"/>
        <p:txBody>
          <a:bodyPr/>
          <a:lstStyle/>
          <a:p>
            <a:pPr algn="l" rtl="0">
              <a:defRPr/>
            </a:pPr>
            <a:r>
              <a:rPr lang="en-US"/>
              <a:t>version – the version of the STOMP protocol the session will be using</a:t>
            </a:r>
            <a:endParaRPr lang="he-IL"/>
          </a:p>
        </p:txBody>
      </p:sp>
      <p:sp>
        <p:nvSpPr>
          <p:cNvPr id="1956628495" name="מציין מיקום של מספר שקופית 3"/>
          <p:cNvSpPr>
            <a:spLocks noGrp="1"/>
          </p:cNvSpPr>
          <p:nvPr>
            <p:ph type="sldNum" sz="quarter" idx="5"/>
          </p:nvPr>
        </p:nvSpPr>
        <p:spPr bwMode="auto"/>
        <p:txBody>
          <a:bodyPr/>
          <a:lstStyle/>
          <a:p>
            <a:pPr>
              <a:defRPr/>
            </a:pPr>
            <a:fld id="{8B3098B9-5AC2-4B51-A751-486D6D3DC6EC}" type="slidenum">
              <a:rPr lang="he-IL"/>
              <a:t>31</a:t>
            </a:fld>
            <a:endParaRPr lang="he-IL"/>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12349546" name="מציין מיקום של תמונת שקופית 1"/>
          <p:cNvSpPr>
            <a:spLocks noGrp="1" noRot="1" noChangeAspect="1"/>
          </p:cNvSpPr>
          <p:nvPr>
            <p:ph type="sldImg"/>
          </p:nvPr>
        </p:nvSpPr>
        <p:spPr bwMode="auto"/>
      </p:sp>
      <p:sp>
        <p:nvSpPr>
          <p:cNvPr id="48088084" name="מציין מיקום של הערות 2"/>
          <p:cNvSpPr>
            <a:spLocks noGrp="1"/>
          </p:cNvSpPr>
          <p:nvPr>
            <p:ph type="body" idx="1"/>
          </p:nvPr>
        </p:nvSpPr>
        <p:spPr bwMode="auto"/>
        <p:txBody>
          <a:bodyPr/>
          <a:lstStyle/>
          <a:p>
            <a:pPr algn="l" rtl="0">
              <a:defRPr/>
            </a:pPr>
            <a:r>
              <a:rPr lang="en-US"/>
              <a:t>possible ack values:</a:t>
            </a:r>
            <a:endParaRPr/>
          </a:p>
          <a:p>
            <a:pPr algn="l" rtl="0">
              <a:defRPr/>
            </a:pPr>
            <a:r>
              <a:rPr lang="en-US"/>
              <a:t>1. auto (default) – client doesn’t need to send ACK frames. server assumes client always receives the messages it sent.</a:t>
            </a:r>
            <a:endParaRPr/>
          </a:p>
          <a:p>
            <a:pPr algn="l" rtl="0">
              <a:defRPr/>
            </a:pPr>
            <a:r>
              <a:rPr lang="en-US"/>
              <a:t>2. client – client needs to send ACK frames, otherwise the server will infer client didn’t receive the message, and it will be retransmitted by the server.</a:t>
            </a:r>
            <a:endParaRPr/>
          </a:p>
          <a:p>
            <a:pPr algn="l" rtl="0">
              <a:defRPr/>
            </a:pPr>
            <a:r>
              <a:rPr lang="en-US"/>
              <a:t>3. client-individual – similar to “client”, but ACK’s are not cumulative. </a:t>
            </a:r>
            <a:endParaRPr/>
          </a:p>
        </p:txBody>
      </p:sp>
      <p:sp>
        <p:nvSpPr>
          <p:cNvPr id="1100526802" name="מציין מיקום של מספר שקופית 3"/>
          <p:cNvSpPr>
            <a:spLocks noGrp="1"/>
          </p:cNvSpPr>
          <p:nvPr>
            <p:ph type="sldNum" sz="quarter" idx="5"/>
          </p:nvPr>
        </p:nvSpPr>
        <p:spPr bwMode="auto"/>
        <p:txBody>
          <a:bodyPr/>
          <a:lstStyle/>
          <a:p>
            <a:pPr>
              <a:defRPr/>
            </a:pPr>
            <a:fld id="{8B3098B9-5AC2-4B51-A751-486D6D3DC6EC}" type="slidenum">
              <a:rPr lang="he-IL"/>
              <a:t>32</a:t>
            </a:fld>
            <a:endParaRPr lang="he-IL"/>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339686233" name="מציין מיקום של תמונת שקופית 1"/>
          <p:cNvSpPr>
            <a:spLocks noGrp="1" noRot="1" noChangeAspect="1"/>
          </p:cNvSpPr>
          <p:nvPr>
            <p:ph type="sldImg"/>
          </p:nvPr>
        </p:nvSpPr>
        <p:spPr bwMode="auto"/>
      </p:sp>
      <p:sp>
        <p:nvSpPr>
          <p:cNvPr id="74426257" name="מציין מיקום של הערות 2"/>
          <p:cNvSpPr>
            <a:spLocks noGrp="1"/>
          </p:cNvSpPr>
          <p:nvPr>
            <p:ph type="body" idx="1"/>
          </p:nvPr>
        </p:nvSpPr>
        <p:spPr bwMode="auto"/>
        <p:txBody>
          <a:bodyPr/>
          <a:lstStyle/>
          <a:p>
            <a:pPr algn="l" rtl="0">
              <a:defRPr/>
            </a:pPr>
            <a:endParaRPr lang="he-IL"/>
          </a:p>
        </p:txBody>
      </p:sp>
      <p:sp>
        <p:nvSpPr>
          <p:cNvPr id="304178330" name="מציין מיקום של מספר שקופית 3"/>
          <p:cNvSpPr>
            <a:spLocks noGrp="1"/>
          </p:cNvSpPr>
          <p:nvPr>
            <p:ph type="sldNum" sz="quarter" idx="5"/>
          </p:nvPr>
        </p:nvSpPr>
        <p:spPr bwMode="auto"/>
        <p:txBody>
          <a:bodyPr/>
          <a:lstStyle/>
          <a:p>
            <a:pPr>
              <a:defRPr/>
            </a:pPr>
            <a:fld id="{8B3098B9-5AC2-4B51-A751-486D6D3DC6EC}" type="slidenum">
              <a:rPr lang="he-IL"/>
              <a:t>33</a:t>
            </a:fld>
            <a:endParaRPr lang="he-IL"/>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28947628" name="מציין מיקום של תמונת שקופית 1"/>
          <p:cNvSpPr>
            <a:spLocks noGrp="1" noRot="1" noChangeAspect="1"/>
          </p:cNvSpPr>
          <p:nvPr>
            <p:ph type="sldImg"/>
          </p:nvPr>
        </p:nvSpPr>
        <p:spPr bwMode="auto"/>
      </p:sp>
      <p:sp>
        <p:nvSpPr>
          <p:cNvPr id="43374223" name="מציין מיקום של הערות 2"/>
          <p:cNvSpPr>
            <a:spLocks noGrp="1"/>
          </p:cNvSpPr>
          <p:nvPr>
            <p:ph type="body" idx="1"/>
          </p:nvPr>
        </p:nvSpPr>
        <p:spPr bwMode="auto"/>
        <p:txBody>
          <a:bodyPr/>
          <a:lstStyle/>
          <a:p>
            <a:pPr algn="l" rtl="0">
              <a:defRPr/>
            </a:pPr>
            <a:endParaRPr lang="he-IL"/>
          </a:p>
        </p:txBody>
      </p:sp>
      <p:sp>
        <p:nvSpPr>
          <p:cNvPr id="1783462513" name="מציין מיקום של מספר שקופית 3"/>
          <p:cNvSpPr>
            <a:spLocks noGrp="1"/>
          </p:cNvSpPr>
          <p:nvPr>
            <p:ph type="sldNum" sz="quarter" idx="5"/>
          </p:nvPr>
        </p:nvSpPr>
        <p:spPr bwMode="auto"/>
        <p:txBody>
          <a:bodyPr/>
          <a:lstStyle/>
          <a:p>
            <a:pPr>
              <a:defRPr/>
            </a:pPr>
            <a:fld id="{8B3098B9-5AC2-4B51-A751-486D6D3DC6EC}" type="slidenum">
              <a:rPr lang="he-IL"/>
              <a:t>34</a:t>
            </a:fld>
            <a:endParaRPr lang="he-IL"/>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11218837" name="מציין מיקום של תמונת שקופית 1"/>
          <p:cNvSpPr>
            <a:spLocks noGrp="1" noRot="1" noChangeAspect="1"/>
          </p:cNvSpPr>
          <p:nvPr>
            <p:ph type="sldImg"/>
          </p:nvPr>
        </p:nvSpPr>
        <p:spPr bwMode="auto"/>
      </p:sp>
      <p:sp>
        <p:nvSpPr>
          <p:cNvPr id="561011986" name="מציין מיקום של הערות 2"/>
          <p:cNvSpPr>
            <a:spLocks noGrp="1"/>
          </p:cNvSpPr>
          <p:nvPr>
            <p:ph type="body" idx="1"/>
          </p:nvPr>
        </p:nvSpPr>
        <p:spPr bwMode="auto"/>
        <p:txBody>
          <a:bodyPr/>
          <a:lstStyle/>
          <a:p>
            <a:pPr algn="l" rtl="0">
              <a:defRPr/>
            </a:pPr>
            <a:endParaRPr lang="he-IL"/>
          </a:p>
        </p:txBody>
      </p:sp>
      <p:sp>
        <p:nvSpPr>
          <p:cNvPr id="1913429643" name="מציין מיקום של מספר שקופית 3"/>
          <p:cNvSpPr>
            <a:spLocks noGrp="1"/>
          </p:cNvSpPr>
          <p:nvPr>
            <p:ph type="sldNum" sz="quarter" idx="5"/>
          </p:nvPr>
        </p:nvSpPr>
        <p:spPr bwMode="auto"/>
        <p:txBody>
          <a:bodyPr/>
          <a:lstStyle/>
          <a:p>
            <a:pPr>
              <a:defRPr/>
            </a:pPr>
            <a:fld id="{8B3098B9-5AC2-4B51-A751-486D6D3DC6EC}" type="slidenum">
              <a:rPr lang="he-IL"/>
              <a:t>35</a:t>
            </a:fld>
            <a:endParaRPr lang="he-IL"/>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29761828" name="Slide Image Placeholder 1"/>
          <p:cNvSpPr>
            <a:spLocks noGrp="1" noRot="1" noChangeAspect="1"/>
          </p:cNvSpPr>
          <p:nvPr>
            <p:ph type="sldImg"/>
          </p:nvPr>
        </p:nvSpPr>
        <p:spPr bwMode="auto"/>
      </p:sp>
      <p:sp>
        <p:nvSpPr>
          <p:cNvPr id="1932371000" name="Notes Placeholder 2"/>
          <p:cNvSpPr>
            <a:spLocks noGrp="1"/>
          </p:cNvSpPr>
          <p:nvPr>
            <p:ph type="body" idx="1"/>
          </p:nvPr>
        </p:nvSpPr>
        <p:spPr bwMode="auto"/>
        <p:txBody>
          <a:bodyPr/>
          <a:lstStyle/>
          <a:p>
            <a:pPr>
              <a:defRPr/>
            </a:pPr>
            <a:endParaRPr/>
          </a:p>
        </p:txBody>
      </p:sp>
      <p:sp>
        <p:nvSpPr>
          <p:cNvPr id="1396414683" name="Slide Number Placeholder 3"/>
          <p:cNvSpPr>
            <a:spLocks noGrp="1"/>
          </p:cNvSpPr>
          <p:nvPr>
            <p:ph type="sldNum" sz="quarter" idx="10"/>
          </p:nvPr>
        </p:nvSpPr>
        <p:spPr bwMode="auto"/>
        <p:txBody>
          <a:bodyPr/>
          <a:lstStyle/>
          <a:p>
            <a:pPr>
              <a:defRPr/>
            </a:pPr>
            <a:fld id="{66D774D9-2BC5-5CA7-6B02-9E4CC3268A38}" type="slidenum">
              <a:rPr/>
              <a:t>36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le Slide">
    <p:spTree>
      <p:nvGrpSpPr>
        <p:cNvPr id="1" name=""/>
        <p:cNvGrpSpPr/>
        <p:nvPr/>
      </p:nvGrpSpPr>
      <p:grpSpPr bwMode="auto">
        <a:xfrm>
          <a:off x="0" y="0"/>
          <a:ext cx="0" cy="0"/>
          <a:chOff x="0" y="0"/>
          <a:chExt cx="0" cy="0"/>
        </a:xfrm>
      </p:grpSpPr>
      <p:sp>
        <p:nvSpPr>
          <p:cNvPr id="1513606521" name="Title 1"/>
          <p:cNvSpPr>
            <a:spLocks noGrp="1"/>
          </p:cNvSpPr>
          <p:nvPr>
            <p:ph type="ctrTitle"/>
          </p:nvPr>
        </p:nvSpPr>
        <p:spPr bwMode="auto">
          <a:xfrm>
            <a:off x="1524000" y="1122363"/>
            <a:ext cx="9144000" cy="2387600"/>
          </a:xfrm>
        </p:spPr>
        <p:txBody>
          <a:bodyPr anchor="b"/>
          <a:lstStyle>
            <a:lvl1pPr algn="ctr">
              <a:defRPr sz="6000"/>
            </a:lvl1pPr>
          </a:lstStyle>
          <a:p>
            <a:pPr>
              <a:defRPr/>
            </a:pPr>
            <a:r>
              <a:rPr lang="en-US"/>
              <a:t>Click to edit Master title style</a:t>
            </a:r>
            <a:endParaRPr lang="he-IL"/>
          </a:p>
        </p:txBody>
      </p:sp>
      <p:sp>
        <p:nvSpPr>
          <p:cNvPr id="933133654" name="Subtitl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endParaRPr lang="he-IL"/>
          </a:p>
        </p:txBody>
      </p:sp>
      <p:sp>
        <p:nvSpPr>
          <p:cNvPr id="1792625816" name="Date Placeholder 3"/>
          <p:cNvSpPr>
            <a:spLocks noGrp="1"/>
          </p:cNvSpPr>
          <p:nvPr>
            <p:ph type="dt" sz="half" idx="10"/>
          </p:nvPr>
        </p:nvSpPr>
        <p:spPr bwMode="auto"/>
        <p:txBody>
          <a:bodyPr/>
          <a:lstStyle/>
          <a:p>
            <a:pPr>
              <a:defRPr/>
            </a:pPr>
            <a:fld id="{FF0467CB-AD89-4CDE-A6E1-2049DEE03AED}" type="datetimeFigureOut">
              <a:rPr lang="he-IL"/>
              <a:t>ח'/טבת/תשפ"ו</a:t>
            </a:fld>
            <a:endParaRPr lang="he-IL"/>
          </a:p>
        </p:txBody>
      </p:sp>
      <p:sp>
        <p:nvSpPr>
          <p:cNvPr id="1154314747" name="Footer Placeholder 4"/>
          <p:cNvSpPr>
            <a:spLocks noGrp="1"/>
          </p:cNvSpPr>
          <p:nvPr>
            <p:ph type="ftr" sz="quarter" idx="11"/>
          </p:nvPr>
        </p:nvSpPr>
        <p:spPr bwMode="auto"/>
        <p:txBody>
          <a:bodyPr/>
          <a:lstStyle/>
          <a:p>
            <a:pPr>
              <a:defRPr/>
            </a:pPr>
            <a:endParaRPr lang="he-IL"/>
          </a:p>
        </p:txBody>
      </p:sp>
      <p:sp>
        <p:nvSpPr>
          <p:cNvPr id="149437421" name="Slide Number Placeholder 5"/>
          <p:cNvSpPr>
            <a:spLocks noGrp="1"/>
          </p:cNvSpPr>
          <p:nvPr>
            <p:ph type="sldNum" sz="quarter" idx="12"/>
          </p:nvPr>
        </p:nvSpPr>
        <p:spPr bwMode="auto"/>
        <p:txBody>
          <a:bodyPr/>
          <a:lstStyle/>
          <a:p>
            <a:pPr>
              <a:defRPr/>
            </a:pPr>
            <a:fld id="{964C6C97-E25A-4476-A2D3-087B6E4A1F1F}" type="slidenum">
              <a:rPr lang="he-IL"/>
              <a:t>‹#›</a:t>
            </a:fld>
            <a:endParaRPr lang="he-IL"/>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spTree>
      <p:nvGrpSpPr>
        <p:cNvPr id="1" name=""/>
        <p:cNvGrpSpPr/>
        <p:nvPr/>
      </p:nvGrpSpPr>
      <p:grpSpPr bwMode="auto">
        <a:xfrm>
          <a:off x="0" y="0"/>
          <a:ext cx="0" cy="0"/>
          <a:chOff x="0" y="0"/>
          <a:chExt cx="0" cy="0"/>
        </a:xfrm>
      </p:grpSpPr>
      <p:sp>
        <p:nvSpPr>
          <p:cNvPr id="2142790154" name="Title 1"/>
          <p:cNvSpPr>
            <a:spLocks noGrp="1"/>
          </p:cNvSpPr>
          <p:nvPr>
            <p:ph type="title"/>
          </p:nvPr>
        </p:nvSpPr>
        <p:spPr bwMode="auto"/>
        <p:txBody>
          <a:bodyPr/>
          <a:lstStyle/>
          <a:p>
            <a:pPr>
              <a:defRPr/>
            </a:pPr>
            <a:r>
              <a:rPr lang="en-US"/>
              <a:t>Click to edit Master title style</a:t>
            </a:r>
            <a:endParaRPr lang="he-IL"/>
          </a:p>
        </p:txBody>
      </p:sp>
      <p:sp>
        <p:nvSpPr>
          <p:cNvPr id="532354958" name="Content Placeholder 2"/>
          <p:cNvSpPr>
            <a:spLocks noGrp="1"/>
          </p:cNvSpPr>
          <p:nvPr>
            <p:ph idx="1"/>
          </p:nvPr>
        </p:nvSpPr>
        <p:spPr bwMode="auto"/>
        <p:txBody>
          <a:body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he-IL"/>
          </a:p>
        </p:txBody>
      </p:sp>
      <p:sp>
        <p:nvSpPr>
          <p:cNvPr id="1687368214" name="Date Placeholder 3"/>
          <p:cNvSpPr>
            <a:spLocks noGrp="1"/>
          </p:cNvSpPr>
          <p:nvPr>
            <p:ph type="dt" sz="half" idx="10"/>
          </p:nvPr>
        </p:nvSpPr>
        <p:spPr bwMode="auto"/>
        <p:txBody>
          <a:bodyPr/>
          <a:lstStyle/>
          <a:p>
            <a:pPr>
              <a:defRPr/>
            </a:pPr>
            <a:fld id="{FF0467CB-AD89-4CDE-A6E1-2049DEE03AED}" type="datetimeFigureOut">
              <a:rPr lang="he-IL"/>
              <a:t>ח'/טבת/תשפ"ו</a:t>
            </a:fld>
            <a:endParaRPr lang="he-IL"/>
          </a:p>
        </p:txBody>
      </p:sp>
      <p:sp>
        <p:nvSpPr>
          <p:cNvPr id="1242224175" name="Footer Placeholder 4"/>
          <p:cNvSpPr>
            <a:spLocks noGrp="1"/>
          </p:cNvSpPr>
          <p:nvPr>
            <p:ph type="ftr" sz="quarter" idx="11"/>
          </p:nvPr>
        </p:nvSpPr>
        <p:spPr bwMode="auto"/>
        <p:txBody>
          <a:bodyPr/>
          <a:lstStyle/>
          <a:p>
            <a:pPr>
              <a:defRPr/>
            </a:pPr>
            <a:endParaRPr lang="he-IL"/>
          </a:p>
        </p:txBody>
      </p:sp>
      <p:sp>
        <p:nvSpPr>
          <p:cNvPr id="271067492" name="Slide Number Placeholder 5"/>
          <p:cNvSpPr>
            <a:spLocks noGrp="1"/>
          </p:cNvSpPr>
          <p:nvPr>
            <p:ph type="sldNum" sz="quarter" idx="12"/>
          </p:nvPr>
        </p:nvSpPr>
        <p:spPr bwMode="auto"/>
        <p:txBody>
          <a:bodyPr/>
          <a:lstStyle/>
          <a:p>
            <a:pPr>
              <a:defRPr/>
            </a:pPr>
            <a:fld id="{964C6C97-E25A-4476-A2D3-087B6E4A1F1F}" type="slidenum">
              <a:rPr lang="he-IL"/>
              <a:t>‹#›</a:t>
            </a:fld>
            <a:endParaRPr lang="he-IL"/>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secHead" preserve="1" userDrawn="1">
  <p:cSld name="Section Header">
    <p:spTree>
      <p:nvGrpSpPr>
        <p:cNvPr id="1" name=""/>
        <p:cNvGrpSpPr/>
        <p:nvPr/>
      </p:nvGrpSpPr>
      <p:grpSpPr bwMode="auto">
        <a:xfrm>
          <a:off x="0" y="0"/>
          <a:ext cx="0" cy="0"/>
          <a:chOff x="0" y="0"/>
          <a:chExt cx="0" cy="0"/>
        </a:xfrm>
      </p:grpSpPr>
      <p:sp>
        <p:nvSpPr>
          <p:cNvPr id="598031997" name="Title 1"/>
          <p:cNvSpPr>
            <a:spLocks noGrp="1"/>
          </p:cNvSpPr>
          <p:nvPr>
            <p:ph type="title"/>
          </p:nvPr>
        </p:nvSpPr>
        <p:spPr bwMode="auto">
          <a:xfrm>
            <a:off x="831850" y="1709738"/>
            <a:ext cx="10515600" cy="2852737"/>
          </a:xfrm>
        </p:spPr>
        <p:txBody>
          <a:bodyPr anchor="b"/>
          <a:lstStyle>
            <a:lvl1pPr>
              <a:defRPr sz="6000"/>
            </a:lvl1pPr>
          </a:lstStyle>
          <a:p>
            <a:pPr>
              <a:defRPr/>
            </a:pPr>
            <a:r>
              <a:rPr lang="en-US"/>
              <a:t>Click to edit Master title style</a:t>
            </a:r>
            <a:endParaRPr lang="he-IL"/>
          </a:p>
        </p:txBody>
      </p:sp>
      <p:sp>
        <p:nvSpPr>
          <p:cNvPr id="960743428" name="Text Placeholder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Edit Master text styles</a:t>
            </a:r>
            <a:endParaRPr/>
          </a:p>
        </p:txBody>
      </p:sp>
      <p:sp>
        <p:nvSpPr>
          <p:cNvPr id="431797532" name="Date Placeholder 3"/>
          <p:cNvSpPr>
            <a:spLocks noGrp="1"/>
          </p:cNvSpPr>
          <p:nvPr>
            <p:ph type="dt" sz="half" idx="10"/>
          </p:nvPr>
        </p:nvSpPr>
        <p:spPr bwMode="auto"/>
        <p:txBody>
          <a:bodyPr/>
          <a:lstStyle/>
          <a:p>
            <a:pPr>
              <a:defRPr/>
            </a:pPr>
            <a:fld id="{FF0467CB-AD89-4CDE-A6E1-2049DEE03AED}" type="datetimeFigureOut">
              <a:rPr lang="he-IL"/>
              <a:t>ח'/טבת/תשפ"ו</a:t>
            </a:fld>
            <a:endParaRPr lang="he-IL"/>
          </a:p>
        </p:txBody>
      </p:sp>
      <p:sp>
        <p:nvSpPr>
          <p:cNvPr id="516476397" name="Footer Placeholder 4"/>
          <p:cNvSpPr>
            <a:spLocks noGrp="1"/>
          </p:cNvSpPr>
          <p:nvPr>
            <p:ph type="ftr" sz="quarter" idx="11"/>
          </p:nvPr>
        </p:nvSpPr>
        <p:spPr bwMode="auto"/>
        <p:txBody>
          <a:bodyPr/>
          <a:lstStyle/>
          <a:p>
            <a:pPr>
              <a:defRPr/>
            </a:pPr>
            <a:endParaRPr lang="he-IL"/>
          </a:p>
        </p:txBody>
      </p:sp>
      <p:sp>
        <p:nvSpPr>
          <p:cNvPr id="172123054" name="Slide Number Placeholder 5"/>
          <p:cNvSpPr>
            <a:spLocks noGrp="1"/>
          </p:cNvSpPr>
          <p:nvPr>
            <p:ph type="sldNum" sz="quarter" idx="12"/>
          </p:nvPr>
        </p:nvSpPr>
        <p:spPr bwMode="auto"/>
        <p:txBody>
          <a:bodyPr/>
          <a:lstStyle/>
          <a:p>
            <a:pPr>
              <a:defRPr/>
            </a:pPr>
            <a:fld id="{964C6C97-E25A-4476-A2D3-087B6E4A1F1F}" type="slidenum">
              <a:rPr lang="he-IL"/>
              <a:t>‹#›</a:t>
            </a:fld>
            <a:endParaRPr lang="he-IL"/>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woObj" preserve="1" userDrawn="1">
  <p:cSld name="Two Content">
    <p:spTree>
      <p:nvGrpSpPr>
        <p:cNvPr id="1" name=""/>
        <p:cNvGrpSpPr/>
        <p:nvPr/>
      </p:nvGrpSpPr>
      <p:grpSpPr bwMode="auto">
        <a:xfrm>
          <a:off x="0" y="0"/>
          <a:ext cx="0" cy="0"/>
          <a:chOff x="0" y="0"/>
          <a:chExt cx="0" cy="0"/>
        </a:xfrm>
      </p:grpSpPr>
      <p:sp>
        <p:nvSpPr>
          <p:cNvPr id="2036399930" name="Title 1"/>
          <p:cNvSpPr>
            <a:spLocks noGrp="1"/>
          </p:cNvSpPr>
          <p:nvPr>
            <p:ph type="title"/>
          </p:nvPr>
        </p:nvSpPr>
        <p:spPr bwMode="auto"/>
        <p:txBody>
          <a:bodyPr/>
          <a:lstStyle/>
          <a:p>
            <a:pPr>
              <a:defRPr/>
            </a:pPr>
            <a:r>
              <a:rPr lang="en-US"/>
              <a:t>Click to edit Master title style</a:t>
            </a:r>
            <a:endParaRPr lang="he-IL"/>
          </a:p>
        </p:txBody>
      </p:sp>
      <p:sp>
        <p:nvSpPr>
          <p:cNvPr id="579872791" name="Content Placeholder 2"/>
          <p:cNvSpPr>
            <a:spLocks noGrp="1"/>
          </p:cNvSpPr>
          <p:nvPr>
            <p:ph sz="half" idx="1"/>
          </p:nvPr>
        </p:nvSpPr>
        <p:spPr bwMode="auto">
          <a:xfrm>
            <a:off x="838200" y="1825625"/>
            <a:ext cx="5181600" cy="4351338"/>
          </a:xfrm>
        </p:spPr>
        <p:txBody>
          <a:body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he-IL"/>
          </a:p>
        </p:txBody>
      </p:sp>
      <p:sp>
        <p:nvSpPr>
          <p:cNvPr id="686761091" name="Content Placeholder 3"/>
          <p:cNvSpPr>
            <a:spLocks noGrp="1"/>
          </p:cNvSpPr>
          <p:nvPr>
            <p:ph sz="half" idx="2"/>
          </p:nvPr>
        </p:nvSpPr>
        <p:spPr bwMode="auto">
          <a:xfrm>
            <a:off x="6172200" y="1825625"/>
            <a:ext cx="5181600" cy="4351338"/>
          </a:xfrm>
        </p:spPr>
        <p:txBody>
          <a:body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he-IL"/>
          </a:p>
        </p:txBody>
      </p:sp>
      <p:sp>
        <p:nvSpPr>
          <p:cNvPr id="823820287" name="Date Placeholder 4"/>
          <p:cNvSpPr>
            <a:spLocks noGrp="1"/>
          </p:cNvSpPr>
          <p:nvPr>
            <p:ph type="dt" sz="half" idx="10"/>
          </p:nvPr>
        </p:nvSpPr>
        <p:spPr bwMode="auto"/>
        <p:txBody>
          <a:bodyPr/>
          <a:lstStyle/>
          <a:p>
            <a:pPr>
              <a:defRPr/>
            </a:pPr>
            <a:fld id="{FF0467CB-AD89-4CDE-A6E1-2049DEE03AED}" type="datetimeFigureOut">
              <a:rPr lang="he-IL"/>
              <a:t>ח'/טבת/תשפ"ו</a:t>
            </a:fld>
            <a:endParaRPr lang="he-IL"/>
          </a:p>
        </p:txBody>
      </p:sp>
      <p:sp>
        <p:nvSpPr>
          <p:cNvPr id="1391619296" name="Footer Placeholder 5"/>
          <p:cNvSpPr>
            <a:spLocks noGrp="1"/>
          </p:cNvSpPr>
          <p:nvPr>
            <p:ph type="ftr" sz="quarter" idx="11"/>
          </p:nvPr>
        </p:nvSpPr>
        <p:spPr bwMode="auto"/>
        <p:txBody>
          <a:bodyPr/>
          <a:lstStyle/>
          <a:p>
            <a:pPr>
              <a:defRPr/>
            </a:pPr>
            <a:endParaRPr lang="he-IL"/>
          </a:p>
        </p:txBody>
      </p:sp>
      <p:sp>
        <p:nvSpPr>
          <p:cNvPr id="1485139998" name="Slide Number Placeholder 6"/>
          <p:cNvSpPr>
            <a:spLocks noGrp="1"/>
          </p:cNvSpPr>
          <p:nvPr>
            <p:ph type="sldNum" sz="quarter" idx="12"/>
          </p:nvPr>
        </p:nvSpPr>
        <p:spPr bwMode="auto"/>
        <p:txBody>
          <a:bodyPr/>
          <a:lstStyle/>
          <a:p>
            <a:pPr>
              <a:defRPr/>
            </a:pPr>
            <a:fld id="{964C6C97-E25A-4476-A2D3-087B6E4A1F1F}" type="slidenum">
              <a:rPr lang="he-IL"/>
              <a:t>‹#›</a:t>
            </a:fld>
            <a:endParaRPr lang="he-IL"/>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Comparison">
    <p:spTree>
      <p:nvGrpSpPr>
        <p:cNvPr id="1" name=""/>
        <p:cNvGrpSpPr/>
        <p:nvPr/>
      </p:nvGrpSpPr>
      <p:grpSpPr bwMode="auto">
        <a:xfrm>
          <a:off x="0" y="0"/>
          <a:ext cx="0" cy="0"/>
          <a:chOff x="0" y="0"/>
          <a:chExt cx="0" cy="0"/>
        </a:xfrm>
      </p:grpSpPr>
      <p:sp>
        <p:nvSpPr>
          <p:cNvPr id="1111066366" name="Title 1"/>
          <p:cNvSpPr>
            <a:spLocks noGrp="1"/>
          </p:cNvSpPr>
          <p:nvPr>
            <p:ph type="title"/>
          </p:nvPr>
        </p:nvSpPr>
        <p:spPr bwMode="auto">
          <a:xfrm>
            <a:off x="839788" y="365125"/>
            <a:ext cx="10515600" cy="1325563"/>
          </a:xfrm>
        </p:spPr>
        <p:txBody>
          <a:bodyPr/>
          <a:lstStyle/>
          <a:p>
            <a:pPr>
              <a:defRPr/>
            </a:pPr>
            <a:r>
              <a:rPr lang="en-US"/>
              <a:t>Click to edit Master title style</a:t>
            </a:r>
            <a:endParaRPr lang="he-IL"/>
          </a:p>
        </p:txBody>
      </p:sp>
      <p:sp>
        <p:nvSpPr>
          <p:cNvPr id="1489168742" name="Text Placeholder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Edit Master text styles</a:t>
            </a:r>
            <a:endParaRPr/>
          </a:p>
        </p:txBody>
      </p:sp>
      <p:sp>
        <p:nvSpPr>
          <p:cNvPr id="2124746994" name="Content Placeholder 3"/>
          <p:cNvSpPr>
            <a:spLocks noGrp="1"/>
          </p:cNvSpPr>
          <p:nvPr>
            <p:ph sz="half" idx="2"/>
          </p:nvPr>
        </p:nvSpPr>
        <p:spPr bwMode="auto">
          <a:xfrm>
            <a:off x="839788" y="2505074"/>
            <a:ext cx="5157787" cy="3684588"/>
          </a:xfrm>
        </p:spPr>
        <p:txBody>
          <a:body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he-IL"/>
          </a:p>
        </p:txBody>
      </p:sp>
      <p:sp>
        <p:nvSpPr>
          <p:cNvPr id="1560471874" name="Text Placeholder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Edit Master text styles</a:t>
            </a:r>
            <a:endParaRPr/>
          </a:p>
        </p:txBody>
      </p:sp>
      <p:sp>
        <p:nvSpPr>
          <p:cNvPr id="1292241876" name="Content Placeholder 5"/>
          <p:cNvSpPr>
            <a:spLocks noGrp="1"/>
          </p:cNvSpPr>
          <p:nvPr>
            <p:ph sz="quarter" idx="4"/>
          </p:nvPr>
        </p:nvSpPr>
        <p:spPr bwMode="auto">
          <a:xfrm>
            <a:off x="6172200" y="2505074"/>
            <a:ext cx="5183188" cy="3684588"/>
          </a:xfrm>
        </p:spPr>
        <p:txBody>
          <a:body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he-IL"/>
          </a:p>
        </p:txBody>
      </p:sp>
      <p:sp>
        <p:nvSpPr>
          <p:cNvPr id="1023498440" name="Date Placeholder 6"/>
          <p:cNvSpPr>
            <a:spLocks noGrp="1"/>
          </p:cNvSpPr>
          <p:nvPr>
            <p:ph type="dt" sz="half" idx="10"/>
          </p:nvPr>
        </p:nvSpPr>
        <p:spPr bwMode="auto"/>
        <p:txBody>
          <a:bodyPr/>
          <a:lstStyle/>
          <a:p>
            <a:pPr>
              <a:defRPr/>
            </a:pPr>
            <a:fld id="{FF0467CB-AD89-4CDE-A6E1-2049DEE03AED}" type="datetimeFigureOut">
              <a:rPr lang="he-IL"/>
              <a:t>ח'/טבת/תשפ"ו</a:t>
            </a:fld>
            <a:endParaRPr lang="he-IL"/>
          </a:p>
        </p:txBody>
      </p:sp>
      <p:sp>
        <p:nvSpPr>
          <p:cNvPr id="763214490" name="Footer Placeholder 7"/>
          <p:cNvSpPr>
            <a:spLocks noGrp="1"/>
          </p:cNvSpPr>
          <p:nvPr>
            <p:ph type="ftr" sz="quarter" idx="11"/>
          </p:nvPr>
        </p:nvSpPr>
        <p:spPr bwMode="auto"/>
        <p:txBody>
          <a:bodyPr/>
          <a:lstStyle/>
          <a:p>
            <a:pPr>
              <a:defRPr/>
            </a:pPr>
            <a:endParaRPr lang="he-IL"/>
          </a:p>
        </p:txBody>
      </p:sp>
      <p:sp>
        <p:nvSpPr>
          <p:cNvPr id="481497827" name="Slide Number Placeholder 8"/>
          <p:cNvSpPr>
            <a:spLocks noGrp="1"/>
          </p:cNvSpPr>
          <p:nvPr>
            <p:ph type="sldNum" sz="quarter" idx="12"/>
          </p:nvPr>
        </p:nvSpPr>
        <p:spPr bwMode="auto"/>
        <p:txBody>
          <a:bodyPr/>
          <a:lstStyle/>
          <a:p>
            <a:pPr>
              <a:defRPr/>
            </a:pPr>
            <a:fld id="{964C6C97-E25A-4476-A2D3-087B6E4A1F1F}" type="slidenum">
              <a:rPr lang="he-IL"/>
              <a:t>‹#›</a:t>
            </a:fld>
            <a:endParaRPr lang="he-IL"/>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le Only">
    <p:spTree>
      <p:nvGrpSpPr>
        <p:cNvPr id="1" name=""/>
        <p:cNvGrpSpPr/>
        <p:nvPr/>
      </p:nvGrpSpPr>
      <p:grpSpPr bwMode="auto">
        <a:xfrm>
          <a:off x="0" y="0"/>
          <a:ext cx="0" cy="0"/>
          <a:chOff x="0" y="0"/>
          <a:chExt cx="0" cy="0"/>
        </a:xfrm>
      </p:grpSpPr>
      <p:sp>
        <p:nvSpPr>
          <p:cNvPr id="1879479464" name="Title 1"/>
          <p:cNvSpPr>
            <a:spLocks noGrp="1"/>
          </p:cNvSpPr>
          <p:nvPr>
            <p:ph type="title"/>
          </p:nvPr>
        </p:nvSpPr>
        <p:spPr bwMode="auto"/>
        <p:txBody>
          <a:bodyPr/>
          <a:lstStyle/>
          <a:p>
            <a:pPr>
              <a:defRPr/>
            </a:pPr>
            <a:r>
              <a:rPr lang="en-US"/>
              <a:t>Click to edit Master title style</a:t>
            </a:r>
            <a:endParaRPr lang="he-IL"/>
          </a:p>
        </p:txBody>
      </p:sp>
      <p:sp>
        <p:nvSpPr>
          <p:cNvPr id="361326487" name="Date Placeholder 2"/>
          <p:cNvSpPr>
            <a:spLocks noGrp="1"/>
          </p:cNvSpPr>
          <p:nvPr>
            <p:ph type="dt" sz="half" idx="10"/>
          </p:nvPr>
        </p:nvSpPr>
        <p:spPr bwMode="auto"/>
        <p:txBody>
          <a:bodyPr/>
          <a:lstStyle/>
          <a:p>
            <a:pPr>
              <a:defRPr/>
            </a:pPr>
            <a:fld id="{FF0467CB-AD89-4CDE-A6E1-2049DEE03AED}" type="datetimeFigureOut">
              <a:rPr lang="he-IL"/>
              <a:t>ח'/טבת/תשפ"ו</a:t>
            </a:fld>
            <a:endParaRPr lang="he-IL"/>
          </a:p>
        </p:txBody>
      </p:sp>
      <p:sp>
        <p:nvSpPr>
          <p:cNvPr id="963067568" name="Footer Placeholder 3"/>
          <p:cNvSpPr>
            <a:spLocks noGrp="1"/>
          </p:cNvSpPr>
          <p:nvPr>
            <p:ph type="ftr" sz="quarter" idx="11"/>
          </p:nvPr>
        </p:nvSpPr>
        <p:spPr bwMode="auto"/>
        <p:txBody>
          <a:bodyPr/>
          <a:lstStyle/>
          <a:p>
            <a:pPr>
              <a:defRPr/>
            </a:pPr>
            <a:endParaRPr lang="he-IL"/>
          </a:p>
        </p:txBody>
      </p:sp>
      <p:sp>
        <p:nvSpPr>
          <p:cNvPr id="232159283" name="Slide Number Placeholder 4"/>
          <p:cNvSpPr>
            <a:spLocks noGrp="1"/>
          </p:cNvSpPr>
          <p:nvPr>
            <p:ph type="sldNum" sz="quarter" idx="12"/>
          </p:nvPr>
        </p:nvSpPr>
        <p:spPr bwMode="auto"/>
        <p:txBody>
          <a:bodyPr/>
          <a:lstStyle/>
          <a:p>
            <a:pPr>
              <a:defRPr/>
            </a:pPr>
            <a:fld id="{964C6C97-E25A-4476-A2D3-087B6E4A1F1F}" type="slidenum">
              <a:rPr lang="he-IL"/>
              <a:t>‹#›</a:t>
            </a:fld>
            <a:endParaRPr lang="he-IL"/>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blank" preserve="1" userDrawn="1">
  <p:cSld name="Blank">
    <p:spTree>
      <p:nvGrpSpPr>
        <p:cNvPr id="1" name=""/>
        <p:cNvGrpSpPr/>
        <p:nvPr/>
      </p:nvGrpSpPr>
      <p:grpSpPr bwMode="auto">
        <a:xfrm>
          <a:off x="0" y="0"/>
          <a:ext cx="0" cy="0"/>
          <a:chOff x="0" y="0"/>
          <a:chExt cx="0" cy="0"/>
        </a:xfrm>
      </p:grpSpPr>
      <p:sp>
        <p:nvSpPr>
          <p:cNvPr id="221387430" name="Date Placeholder 1"/>
          <p:cNvSpPr>
            <a:spLocks noGrp="1"/>
          </p:cNvSpPr>
          <p:nvPr>
            <p:ph type="dt" sz="half" idx="10"/>
          </p:nvPr>
        </p:nvSpPr>
        <p:spPr bwMode="auto"/>
        <p:txBody>
          <a:bodyPr/>
          <a:lstStyle/>
          <a:p>
            <a:pPr>
              <a:defRPr/>
            </a:pPr>
            <a:fld id="{FF0467CB-AD89-4CDE-A6E1-2049DEE03AED}" type="datetimeFigureOut">
              <a:rPr lang="he-IL"/>
              <a:t>ח'/טבת/תשפ"ו</a:t>
            </a:fld>
            <a:endParaRPr lang="he-IL"/>
          </a:p>
        </p:txBody>
      </p:sp>
      <p:sp>
        <p:nvSpPr>
          <p:cNvPr id="900307938" name="Footer Placeholder 2"/>
          <p:cNvSpPr>
            <a:spLocks noGrp="1"/>
          </p:cNvSpPr>
          <p:nvPr>
            <p:ph type="ftr" sz="quarter" idx="11"/>
          </p:nvPr>
        </p:nvSpPr>
        <p:spPr bwMode="auto"/>
        <p:txBody>
          <a:bodyPr/>
          <a:lstStyle/>
          <a:p>
            <a:pPr>
              <a:defRPr/>
            </a:pPr>
            <a:endParaRPr lang="he-IL"/>
          </a:p>
        </p:txBody>
      </p:sp>
      <p:sp>
        <p:nvSpPr>
          <p:cNvPr id="1753432522" name="Slide Number Placeholder 3"/>
          <p:cNvSpPr>
            <a:spLocks noGrp="1"/>
          </p:cNvSpPr>
          <p:nvPr>
            <p:ph type="sldNum" sz="quarter" idx="12"/>
          </p:nvPr>
        </p:nvSpPr>
        <p:spPr bwMode="auto"/>
        <p:txBody>
          <a:bodyPr/>
          <a:lstStyle/>
          <a:p>
            <a:pPr>
              <a:defRPr/>
            </a:pPr>
            <a:fld id="{964C6C97-E25A-4476-A2D3-087B6E4A1F1F}" type="slidenum">
              <a:rPr lang="he-IL"/>
              <a:t>‹#›</a:t>
            </a:fld>
            <a:endParaRPr lang="he-IL"/>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objTx" preserve="1" userDrawn="1">
  <p:cSld name="Content with Caption">
    <p:spTree>
      <p:nvGrpSpPr>
        <p:cNvPr id="1" name=""/>
        <p:cNvGrpSpPr/>
        <p:nvPr/>
      </p:nvGrpSpPr>
      <p:grpSpPr bwMode="auto">
        <a:xfrm>
          <a:off x="0" y="0"/>
          <a:ext cx="0" cy="0"/>
          <a:chOff x="0" y="0"/>
          <a:chExt cx="0" cy="0"/>
        </a:xfrm>
      </p:grpSpPr>
      <p:sp>
        <p:nvSpPr>
          <p:cNvPr id="675792031"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he-IL"/>
          </a:p>
        </p:txBody>
      </p:sp>
      <p:sp>
        <p:nvSpPr>
          <p:cNvPr id="794813477" name="Content Placeholder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he-IL"/>
          </a:p>
        </p:txBody>
      </p:sp>
      <p:sp>
        <p:nvSpPr>
          <p:cNvPr id="1270955390"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Edit Master text styles</a:t>
            </a:r>
            <a:endParaRPr/>
          </a:p>
        </p:txBody>
      </p:sp>
      <p:sp>
        <p:nvSpPr>
          <p:cNvPr id="1952018017" name="Date Placeholder 4"/>
          <p:cNvSpPr>
            <a:spLocks noGrp="1"/>
          </p:cNvSpPr>
          <p:nvPr>
            <p:ph type="dt" sz="half" idx="10"/>
          </p:nvPr>
        </p:nvSpPr>
        <p:spPr bwMode="auto"/>
        <p:txBody>
          <a:bodyPr/>
          <a:lstStyle/>
          <a:p>
            <a:pPr>
              <a:defRPr/>
            </a:pPr>
            <a:fld id="{FF0467CB-AD89-4CDE-A6E1-2049DEE03AED}" type="datetimeFigureOut">
              <a:rPr lang="he-IL"/>
              <a:t>ח'/טבת/תשפ"ו</a:t>
            </a:fld>
            <a:endParaRPr lang="he-IL"/>
          </a:p>
        </p:txBody>
      </p:sp>
      <p:sp>
        <p:nvSpPr>
          <p:cNvPr id="1500801555" name="Footer Placeholder 5"/>
          <p:cNvSpPr>
            <a:spLocks noGrp="1"/>
          </p:cNvSpPr>
          <p:nvPr>
            <p:ph type="ftr" sz="quarter" idx="11"/>
          </p:nvPr>
        </p:nvSpPr>
        <p:spPr bwMode="auto"/>
        <p:txBody>
          <a:bodyPr/>
          <a:lstStyle/>
          <a:p>
            <a:pPr>
              <a:defRPr/>
            </a:pPr>
            <a:endParaRPr lang="he-IL"/>
          </a:p>
        </p:txBody>
      </p:sp>
      <p:sp>
        <p:nvSpPr>
          <p:cNvPr id="352502168" name="Slide Number Placeholder 6"/>
          <p:cNvSpPr>
            <a:spLocks noGrp="1"/>
          </p:cNvSpPr>
          <p:nvPr>
            <p:ph type="sldNum" sz="quarter" idx="12"/>
          </p:nvPr>
        </p:nvSpPr>
        <p:spPr bwMode="auto"/>
        <p:txBody>
          <a:bodyPr/>
          <a:lstStyle/>
          <a:p>
            <a:pPr>
              <a:defRPr/>
            </a:pPr>
            <a:fld id="{964C6C97-E25A-4476-A2D3-087B6E4A1F1F}" type="slidenum">
              <a:rPr lang="he-IL"/>
              <a:t>‹#›</a:t>
            </a:fld>
            <a:endParaRPr lang="he-IL"/>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picTx" preserve="1" userDrawn="1">
  <p:cSld name="Picture with Caption">
    <p:spTree>
      <p:nvGrpSpPr>
        <p:cNvPr id="1" name=""/>
        <p:cNvGrpSpPr/>
        <p:nvPr/>
      </p:nvGrpSpPr>
      <p:grpSpPr bwMode="auto">
        <a:xfrm>
          <a:off x="0" y="0"/>
          <a:ext cx="0" cy="0"/>
          <a:chOff x="0" y="0"/>
          <a:chExt cx="0" cy="0"/>
        </a:xfrm>
      </p:grpSpPr>
      <p:sp>
        <p:nvSpPr>
          <p:cNvPr id="760042298"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he-IL"/>
          </a:p>
        </p:txBody>
      </p:sp>
      <p:sp>
        <p:nvSpPr>
          <p:cNvPr id="917573375" name="Picture Placeholder 2"/>
          <p:cNvSpPr>
            <a:spLocks noGrp="1"/>
          </p:cNvSpPr>
          <p:nvPr>
            <p:ph type="pic" idx="1"/>
          </p:nvPr>
        </p:nvSpPr>
        <p:spPr bwMode="auto">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he-IL"/>
          </a:p>
        </p:txBody>
      </p:sp>
      <p:sp>
        <p:nvSpPr>
          <p:cNvPr id="973784439"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Edit Master text styles</a:t>
            </a:r>
            <a:endParaRPr/>
          </a:p>
        </p:txBody>
      </p:sp>
      <p:sp>
        <p:nvSpPr>
          <p:cNvPr id="1470390156" name="Date Placeholder 4"/>
          <p:cNvSpPr>
            <a:spLocks noGrp="1"/>
          </p:cNvSpPr>
          <p:nvPr>
            <p:ph type="dt" sz="half" idx="10"/>
          </p:nvPr>
        </p:nvSpPr>
        <p:spPr bwMode="auto"/>
        <p:txBody>
          <a:bodyPr/>
          <a:lstStyle/>
          <a:p>
            <a:pPr>
              <a:defRPr/>
            </a:pPr>
            <a:fld id="{FF0467CB-AD89-4CDE-A6E1-2049DEE03AED}" type="datetimeFigureOut">
              <a:rPr lang="he-IL"/>
              <a:t>ח'/טבת/תשפ"ו</a:t>
            </a:fld>
            <a:endParaRPr lang="he-IL"/>
          </a:p>
        </p:txBody>
      </p:sp>
      <p:sp>
        <p:nvSpPr>
          <p:cNvPr id="1916705895" name="Footer Placeholder 5"/>
          <p:cNvSpPr>
            <a:spLocks noGrp="1"/>
          </p:cNvSpPr>
          <p:nvPr>
            <p:ph type="ftr" sz="quarter" idx="11"/>
          </p:nvPr>
        </p:nvSpPr>
        <p:spPr bwMode="auto"/>
        <p:txBody>
          <a:bodyPr/>
          <a:lstStyle/>
          <a:p>
            <a:pPr>
              <a:defRPr/>
            </a:pPr>
            <a:endParaRPr lang="he-IL"/>
          </a:p>
        </p:txBody>
      </p:sp>
      <p:sp>
        <p:nvSpPr>
          <p:cNvPr id="1449987164" name="Slide Number Placeholder 6"/>
          <p:cNvSpPr>
            <a:spLocks noGrp="1"/>
          </p:cNvSpPr>
          <p:nvPr>
            <p:ph type="sldNum" sz="quarter" idx="12"/>
          </p:nvPr>
        </p:nvSpPr>
        <p:spPr bwMode="auto"/>
        <p:txBody>
          <a:bodyPr/>
          <a:lstStyle/>
          <a:p>
            <a:pPr>
              <a:defRPr/>
            </a:pPr>
            <a:fld id="{964C6C97-E25A-4476-A2D3-087B6E4A1F1F}" type="slidenum">
              <a:rPr lang="he-IL"/>
              <a:t>‹#›</a:t>
            </a:fld>
            <a:endParaRPr lang="he-IL"/>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vertTx" preserve="1" userDrawn="1">
  <p:cSld name="Title and Vertical Text">
    <p:spTree>
      <p:nvGrpSpPr>
        <p:cNvPr id="1" name=""/>
        <p:cNvGrpSpPr/>
        <p:nvPr/>
      </p:nvGrpSpPr>
      <p:grpSpPr bwMode="auto">
        <a:xfrm>
          <a:off x="0" y="0"/>
          <a:ext cx="0" cy="0"/>
          <a:chOff x="0" y="0"/>
          <a:chExt cx="0" cy="0"/>
        </a:xfrm>
      </p:grpSpPr>
      <p:sp>
        <p:nvSpPr>
          <p:cNvPr id="1586554534" name="Title 1"/>
          <p:cNvSpPr>
            <a:spLocks noGrp="1"/>
          </p:cNvSpPr>
          <p:nvPr>
            <p:ph type="title"/>
          </p:nvPr>
        </p:nvSpPr>
        <p:spPr bwMode="auto"/>
        <p:txBody>
          <a:bodyPr/>
          <a:lstStyle/>
          <a:p>
            <a:pPr>
              <a:defRPr/>
            </a:pPr>
            <a:r>
              <a:rPr lang="en-US"/>
              <a:t>Click to edit Master title style</a:t>
            </a:r>
            <a:endParaRPr lang="he-IL"/>
          </a:p>
        </p:txBody>
      </p:sp>
      <p:sp>
        <p:nvSpPr>
          <p:cNvPr id="1361166137" name="Vertical Text Placeholder 2"/>
          <p:cNvSpPr>
            <a:spLocks noGrp="1"/>
          </p:cNvSpPr>
          <p:nvPr>
            <p:ph type="body" orient="vert" idx="1"/>
          </p:nvPr>
        </p:nvSpPr>
        <p:spPr bwMode="auto"/>
        <p:txBody>
          <a:bodyPr vert="eaVert"/>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he-IL"/>
          </a:p>
        </p:txBody>
      </p:sp>
      <p:sp>
        <p:nvSpPr>
          <p:cNvPr id="1588950713" name="Date Placeholder 3"/>
          <p:cNvSpPr>
            <a:spLocks noGrp="1"/>
          </p:cNvSpPr>
          <p:nvPr>
            <p:ph type="dt" sz="half" idx="10"/>
          </p:nvPr>
        </p:nvSpPr>
        <p:spPr bwMode="auto"/>
        <p:txBody>
          <a:bodyPr/>
          <a:lstStyle/>
          <a:p>
            <a:pPr>
              <a:defRPr/>
            </a:pPr>
            <a:fld id="{FF0467CB-AD89-4CDE-A6E1-2049DEE03AED}" type="datetimeFigureOut">
              <a:rPr lang="he-IL"/>
              <a:t>ח'/טבת/תשפ"ו</a:t>
            </a:fld>
            <a:endParaRPr lang="he-IL"/>
          </a:p>
        </p:txBody>
      </p:sp>
      <p:sp>
        <p:nvSpPr>
          <p:cNvPr id="1523769588" name="Footer Placeholder 4"/>
          <p:cNvSpPr>
            <a:spLocks noGrp="1"/>
          </p:cNvSpPr>
          <p:nvPr>
            <p:ph type="ftr" sz="quarter" idx="11"/>
          </p:nvPr>
        </p:nvSpPr>
        <p:spPr bwMode="auto"/>
        <p:txBody>
          <a:bodyPr/>
          <a:lstStyle/>
          <a:p>
            <a:pPr>
              <a:defRPr/>
            </a:pPr>
            <a:endParaRPr lang="he-IL"/>
          </a:p>
        </p:txBody>
      </p:sp>
      <p:sp>
        <p:nvSpPr>
          <p:cNvPr id="1254306784" name="Slide Number Placeholder 5"/>
          <p:cNvSpPr>
            <a:spLocks noGrp="1"/>
          </p:cNvSpPr>
          <p:nvPr>
            <p:ph type="sldNum" sz="quarter" idx="12"/>
          </p:nvPr>
        </p:nvSpPr>
        <p:spPr bwMode="auto"/>
        <p:txBody>
          <a:bodyPr/>
          <a:lstStyle/>
          <a:p>
            <a:pPr>
              <a:defRPr/>
            </a:pPr>
            <a:fld id="{964C6C97-E25A-4476-A2D3-087B6E4A1F1F}" type="slidenum">
              <a:rPr lang="he-IL"/>
              <a:t>‹#›</a:t>
            </a:fld>
            <a:endParaRPr lang="he-IL"/>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vertTitleAndTx" preserve="1" userDrawn="1">
  <p:cSld name="Vertical Title and Text">
    <p:spTree>
      <p:nvGrpSpPr>
        <p:cNvPr id="1" name=""/>
        <p:cNvGrpSpPr/>
        <p:nvPr/>
      </p:nvGrpSpPr>
      <p:grpSpPr bwMode="auto">
        <a:xfrm>
          <a:off x="0" y="0"/>
          <a:ext cx="0" cy="0"/>
          <a:chOff x="0" y="0"/>
          <a:chExt cx="0" cy="0"/>
        </a:xfrm>
      </p:grpSpPr>
      <p:sp>
        <p:nvSpPr>
          <p:cNvPr id="361893814" name="Vertical Title 1"/>
          <p:cNvSpPr>
            <a:spLocks noGrp="1"/>
          </p:cNvSpPr>
          <p:nvPr>
            <p:ph type="title" orient="vert"/>
          </p:nvPr>
        </p:nvSpPr>
        <p:spPr bwMode="auto">
          <a:xfrm>
            <a:off x="8724900" y="365125"/>
            <a:ext cx="2628900" cy="5811838"/>
          </a:xfrm>
        </p:spPr>
        <p:txBody>
          <a:bodyPr vert="eaVert"/>
          <a:lstStyle/>
          <a:p>
            <a:pPr>
              <a:defRPr/>
            </a:pPr>
            <a:r>
              <a:rPr lang="en-US"/>
              <a:t>Click to edit Master title style</a:t>
            </a:r>
            <a:endParaRPr lang="he-IL"/>
          </a:p>
        </p:txBody>
      </p:sp>
      <p:sp>
        <p:nvSpPr>
          <p:cNvPr id="1695491212" name="Vertical Text Placeholder 2"/>
          <p:cNvSpPr>
            <a:spLocks noGrp="1"/>
          </p:cNvSpPr>
          <p:nvPr>
            <p:ph type="body" orient="vert" idx="1"/>
          </p:nvPr>
        </p:nvSpPr>
        <p:spPr bwMode="auto">
          <a:xfrm>
            <a:off x="838200" y="365125"/>
            <a:ext cx="7734300" cy="5811838"/>
          </a:xfrm>
        </p:spPr>
        <p:txBody>
          <a:bodyPr vert="eaVert"/>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he-IL"/>
          </a:p>
        </p:txBody>
      </p:sp>
      <p:sp>
        <p:nvSpPr>
          <p:cNvPr id="1906485338" name="Date Placeholder 3"/>
          <p:cNvSpPr>
            <a:spLocks noGrp="1"/>
          </p:cNvSpPr>
          <p:nvPr>
            <p:ph type="dt" sz="half" idx="10"/>
          </p:nvPr>
        </p:nvSpPr>
        <p:spPr bwMode="auto"/>
        <p:txBody>
          <a:bodyPr/>
          <a:lstStyle/>
          <a:p>
            <a:pPr>
              <a:defRPr/>
            </a:pPr>
            <a:fld id="{FF0467CB-AD89-4CDE-A6E1-2049DEE03AED}" type="datetimeFigureOut">
              <a:rPr lang="he-IL"/>
              <a:t>ח'/טבת/תשפ"ו</a:t>
            </a:fld>
            <a:endParaRPr lang="he-IL"/>
          </a:p>
        </p:txBody>
      </p:sp>
      <p:sp>
        <p:nvSpPr>
          <p:cNvPr id="1109755256" name="Footer Placeholder 4"/>
          <p:cNvSpPr>
            <a:spLocks noGrp="1"/>
          </p:cNvSpPr>
          <p:nvPr>
            <p:ph type="ftr" sz="quarter" idx="11"/>
          </p:nvPr>
        </p:nvSpPr>
        <p:spPr bwMode="auto"/>
        <p:txBody>
          <a:bodyPr/>
          <a:lstStyle/>
          <a:p>
            <a:pPr>
              <a:defRPr/>
            </a:pPr>
            <a:endParaRPr lang="he-IL"/>
          </a:p>
        </p:txBody>
      </p:sp>
      <p:sp>
        <p:nvSpPr>
          <p:cNvPr id="1501620906" name="Slide Number Placeholder 5"/>
          <p:cNvSpPr>
            <a:spLocks noGrp="1"/>
          </p:cNvSpPr>
          <p:nvPr>
            <p:ph type="sldNum" sz="quarter" idx="12"/>
          </p:nvPr>
        </p:nvSpPr>
        <p:spPr bwMode="auto"/>
        <p:txBody>
          <a:bodyPr/>
          <a:lstStyle/>
          <a:p>
            <a:pPr>
              <a:defRPr/>
            </a:pPr>
            <a:fld id="{964C6C97-E25A-4476-A2D3-087B6E4A1F1F}" type="slidenum">
              <a:rPr lang="he-IL"/>
              <a:t>‹#›</a:t>
            </a:fld>
            <a:endParaRPr lang="he-IL"/>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843084748"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US"/>
              <a:t>Click to edit Master title style</a:t>
            </a:r>
            <a:endParaRPr lang="he-IL"/>
          </a:p>
        </p:txBody>
      </p:sp>
      <p:sp>
        <p:nvSpPr>
          <p:cNvPr id="1423342839"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he-IL"/>
          </a:p>
        </p:txBody>
      </p:sp>
      <p:sp>
        <p:nvSpPr>
          <p:cNvPr id="1304457440" name="Date Placeholder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FF0467CB-AD89-4CDE-A6E1-2049DEE03AED}" type="datetimeFigureOut">
              <a:rPr lang="he-IL"/>
              <a:t>ח'/טבת/תשפ"ו</a:t>
            </a:fld>
            <a:endParaRPr lang="he-IL"/>
          </a:p>
        </p:txBody>
      </p:sp>
      <p:sp>
        <p:nvSpPr>
          <p:cNvPr id="1042605000"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he-IL"/>
          </a:p>
        </p:txBody>
      </p:sp>
      <p:sp>
        <p:nvSpPr>
          <p:cNvPr id="656688791" name="Slide Number Placeholder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964C6C97-E25A-4476-A2D3-087B6E4A1F1F}" type="slidenum">
              <a:rPr lang="he-IL"/>
              <a:t>‹#›</a:t>
            </a:fld>
            <a:endParaRPr lang="he-IL"/>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he-IL"/>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8" Type="http://schemas.openxmlformats.org/officeDocument/2006/relationships/hyperlink" Target="https://docs.oracle.com/en/java/javase/21/core/non-blocking-time-server-nio-example.html" TargetMode="External"/><Relationship Id="rId3" Type="http://schemas.openxmlformats.org/officeDocument/2006/relationships/hyperlink" Target="https://en.cppreference.com/w/cpp/thread.html" TargetMode="External"/><Relationship Id="rId7" Type="http://schemas.openxmlformats.org/officeDocument/2006/relationships/hyperlink" Target="https://www.baeldung.com/java-thread-per-connection-vs-per-request" TargetMode="External"/><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hyperlink" Target="https://en.cppreference.com/w/cpp/language/raii" TargetMode="External"/><Relationship Id="rId5" Type="http://schemas.openxmlformats.org/officeDocument/2006/relationships/hyperlink" Target="https://en.cppreference.com/w/cpp/thread/mutex" TargetMode="External"/><Relationship Id="rId4" Type="http://schemas.openxmlformats.org/officeDocument/2006/relationships/hyperlink" Target="hey%20please%20find%20further%20reading%20for%20the%20materials:%20https:/bguspl.github.io/practical_sessions/PracticalSession10.html" TargetMode="External"/><Relationship Id="rId9" Type="http://schemas.openxmlformats.org/officeDocument/2006/relationships/hyperlink" Target="https://www.geeksforgeeks.org/computer-networks/stomp-protocol/"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2232384" name="Title 1"/>
          <p:cNvSpPr>
            <a:spLocks noGrp="1"/>
          </p:cNvSpPr>
          <p:nvPr>
            <p:ph type="ctrTitle"/>
          </p:nvPr>
        </p:nvSpPr>
        <p:spPr bwMode="auto"/>
        <p:txBody>
          <a:bodyPr/>
          <a:lstStyle/>
          <a:p>
            <a:pPr>
              <a:defRPr/>
            </a:pPr>
            <a:r>
              <a:rPr lang="en-US"/>
              <a:t>SPL – PS10</a:t>
            </a:r>
            <a:endParaRPr lang="he-IL"/>
          </a:p>
        </p:txBody>
      </p:sp>
      <p:sp>
        <p:nvSpPr>
          <p:cNvPr id="158385750" name="Subtitle 2"/>
          <p:cNvSpPr>
            <a:spLocks noGrp="1"/>
          </p:cNvSpPr>
          <p:nvPr>
            <p:ph type="subTitle" idx="1"/>
          </p:nvPr>
        </p:nvSpPr>
        <p:spPr bwMode="auto"/>
        <p:txBody>
          <a:bodyPr/>
          <a:lstStyle/>
          <a:p>
            <a:pPr>
              <a:defRPr/>
            </a:pPr>
            <a:r>
              <a:rPr lang="en-US"/>
              <a:t>Thread per client, C++ Threads, Java NIO, Stomp protocol</a:t>
            </a:r>
            <a:endParaRPr lang="he-IL"/>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97345122" name="Title 1"/>
          <p:cNvSpPr>
            <a:spLocks noGrp="1"/>
          </p:cNvSpPr>
          <p:nvPr>
            <p:ph type="title"/>
          </p:nvPr>
        </p:nvSpPr>
        <p:spPr bwMode="auto"/>
        <p:txBody>
          <a:bodyPr/>
          <a:lstStyle/>
          <a:p>
            <a:pPr>
              <a:defRPr/>
            </a:pPr>
            <a:r>
              <a:rPr lang="en-US"/>
              <a:t>Overview</a:t>
            </a:r>
            <a:endParaRPr lang="he-IL"/>
          </a:p>
        </p:txBody>
      </p:sp>
      <p:sp>
        <p:nvSpPr>
          <p:cNvPr id="804305169" name="Content Placeholder 2"/>
          <p:cNvSpPr>
            <a:spLocks noGrp="1"/>
          </p:cNvSpPr>
          <p:nvPr>
            <p:ph idx="1"/>
          </p:nvPr>
        </p:nvSpPr>
        <p:spPr bwMode="auto"/>
        <p:txBody>
          <a:bodyPr/>
          <a:lstStyle/>
          <a:p>
            <a:pPr>
              <a:defRPr/>
            </a:pPr>
            <a:r>
              <a:rPr lang="en-US"/>
              <a:t>Thread per client server</a:t>
            </a:r>
            <a:endParaRPr/>
          </a:p>
          <a:p>
            <a:pPr>
              <a:defRPr/>
            </a:pPr>
            <a:r>
              <a:rPr lang="en-US"/>
              <a:t>Threading in C++</a:t>
            </a:r>
            <a:endParaRPr/>
          </a:p>
          <a:p>
            <a:pPr>
              <a:defRPr/>
            </a:pPr>
            <a:r>
              <a:rPr lang="en-US"/>
              <a:t>Java’s new IO classes</a:t>
            </a:r>
            <a:endParaRPr/>
          </a:p>
          <a:p>
            <a:pPr>
              <a:defRPr/>
            </a:pPr>
            <a:r>
              <a:rPr lang="en-US"/>
              <a:t>STOMP protocol</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430516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0430516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0430516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0430516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4305169" grpId="0" build="p"/>
    </p:bldLst>
  </p:timing>
</p:sld>
</file>

<file path=ppt/slides/slide3.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1208120247" name="Title 1"/>
          <p:cNvSpPr>
            <a:spLocks noGrp="1"/>
          </p:cNvSpPr>
          <p:nvPr>
            <p:ph type="title"/>
          </p:nvPr>
        </p:nvSpPr>
        <p:spPr bwMode="auto"/>
        <p:txBody>
          <a:bodyPr/>
          <a:lstStyle/>
          <a:p>
            <a:pPr>
              <a:defRPr/>
            </a:pPr>
            <a:r>
              <a:rPr lang="en-US"/>
              <a:t>Message Encoder Decoder</a:t>
            </a:r>
            <a:endParaRPr lang="he-IL"/>
          </a:p>
        </p:txBody>
      </p:sp>
      <p:sp>
        <p:nvSpPr>
          <p:cNvPr id="1328246125" name="Content Placeholder 2"/>
          <p:cNvSpPr>
            <a:spLocks noGrp="1"/>
          </p:cNvSpPr>
          <p:nvPr>
            <p:ph idx="1"/>
          </p:nvPr>
        </p:nvSpPr>
        <p:spPr bwMode="auto"/>
        <p:txBody>
          <a:bodyPr/>
          <a:lstStyle/>
          <a:p>
            <a:pPr>
              <a:defRPr/>
            </a:pPr>
            <a:r>
              <a:rPr lang="en-US" sz="2800" b="0" i="0" u="none" strike="noStrike" cap="none" spc="0" dirty="0">
                <a:solidFill>
                  <a:schemeClr val="tx1"/>
                </a:solidFill>
                <a:latin typeface="Calibri"/>
                <a:ea typeface="Calibri"/>
                <a:cs typeface="Calibri"/>
              </a:rPr>
              <a:t>The message encoder-decoder interface is responsible for encoding and decoding objects for transmission to and from our server.</a:t>
            </a:r>
            <a:endParaRPr dirty="0"/>
          </a:p>
          <a:p>
            <a:pPr>
              <a:defRPr/>
            </a:pPr>
            <a:r>
              <a:rPr lang="en-US" dirty="0"/>
              <a:t>The messages are sent and received as bytes.</a:t>
            </a:r>
            <a:endParaRPr lang="he-I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2824612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2824612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8246125" grpId="0" build="p"/>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28067117" name="Title 1"/>
          <p:cNvSpPr>
            <a:spLocks noGrp="1"/>
          </p:cNvSpPr>
          <p:nvPr>
            <p:ph type="title"/>
          </p:nvPr>
        </p:nvSpPr>
        <p:spPr bwMode="auto"/>
        <p:txBody>
          <a:bodyPr/>
          <a:lstStyle/>
          <a:p>
            <a:pPr>
              <a:defRPr/>
            </a:pPr>
            <a:r>
              <a:rPr lang="en-US"/>
              <a:t>Message Encoder Decoder</a:t>
            </a:r>
            <a:endParaRPr lang="he-IL"/>
          </a:p>
        </p:txBody>
      </p:sp>
      <p:sp>
        <p:nvSpPr>
          <p:cNvPr id="594167889" name=" 594167888"/>
          <p:cNvSpPr/>
          <p:nvPr/>
        </p:nvSpPr>
        <p:spPr bwMode="auto">
          <a:xfrm>
            <a:off x="838199" y="1690687"/>
            <a:ext cx="7322033" cy="28346400"/>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sz="1600" b="1" i="0" u="none" dirty="0">
                <a:solidFill>
                  <a:srgbClr val="333333"/>
                </a:solidFill>
                <a:latin typeface="Arial"/>
                <a:ea typeface="Arial"/>
                <a:cs typeface="Arial"/>
              </a:rPr>
              <a:t>public</a:t>
            </a:r>
            <a:r>
              <a:rPr sz="1600" b="0" i="0" u="none" dirty="0">
                <a:solidFill>
                  <a:srgbClr val="333333"/>
                </a:solidFill>
                <a:latin typeface="Arial"/>
                <a:ea typeface="Arial"/>
                <a:cs typeface="Arial"/>
              </a:rPr>
              <a:t> </a:t>
            </a:r>
            <a:r>
              <a:rPr sz="1600" b="1" i="0" u="none" dirty="0">
                <a:solidFill>
                  <a:srgbClr val="333333"/>
                </a:solidFill>
                <a:latin typeface="Arial"/>
                <a:ea typeface="Arial"/>
                <a:cs typeface="Arial"/>
              </a:rPr>
              <a:t>interface</a:t>
            </a:r>
            <a:r>
              <a:rPr sz="1600" b="0" i="0" u="none" dirty="0">
                <a:solidFill>
                  <a:srgbClr val="333333"/>
                </a:solidFill>
                <a:latin typeface="Arial"/>
                <a:ea typeface="Arial"/>
                <a:cs typeface="Arial"/>
              </a:rPr>
              <a:t> </a:t>
            </a:r>
            <a:r>
              <a:rPr sz="1600" b="1" i="0" u="none" dirty="0" err="1">
                <a:solidFill>
                  <a:srgbClr val="990000"/>
                </a:solidFill>
                <a:latin typeface="Arial"/>
                <a:ea typeface="Arial"/>
                <a:cs typeface="Arial"/>
              </a:rPr>
              <a:t>MessageEncoderDecoder</a:t>
            </a:r>
            <a:r>
              <a:rPr sz="1600" b="0" i="0" u="none" dirty="0">
                <a:solidFill>
                  <a:srgbClr val="333333"/>
                </a:solidFill>
                <a:latin typeface="Arial"/>
                <a:ea typeface="Arial"/>
                <a:cs typeface="Arial"/>
              </a:rPr>
              <a:t>&lt;T&gt; {</a:t>
            </a:r>
            <a:endParaRPr dirty="0"/>
          </a:p>
          <a:p>
            <a:pPr>
              <a:defRPr/>
            </a:pPr>
            <a:r>
              <a:rPr sz="1600" b="0" i="0" u="none" dirty="0">
                <a:solidFill>
                  <a:srgbClr val="333333"/>
                </a:solidFill>
                <a:latin typeface="Arial"/>
                <a:ea typeface="Arial"/>
                <a:cs typeface="Arial"/>
              </a:rPr>
              <a:t> </a:t>
            </a:r>
            <a:endParaRPr dirty="0"/>
          </a:p>
          <a:p>
            <a:pPr>
              <a:defRPr/>
            </a:pPr>
            <a:r>
              <a:rPr sz="1600" b="0" i="0" u="none" dirty="0">
                <a:solidFill>
                  <a:srgbClr val="333333"/>
                </a:solidFill>
                <a:latin typeface="Arial"/>
                <a:ea typeface="Arial"/>
                <a:cs typeface="Arial"/>
              </a:rPr>
              <a:t>    </a:t>
            </a:r>
            <a:r>
              <a:rPr sz="1600" b="0" i="1" u="none" dirty="0">
                <a:solidFill>
                  <a:srgbClr val="999988"/>
                </a:solidFill>
                <a:latin typeface="Arial"/>
                <a:ea typeface="Arial"/>
                <a:cs typeface="Arial"/>
              </a:rPr>
              <a:t>/**</a:t>
            </a:r>
            <a:endParaRPr dirty="0"/>
          </a:p>
          <a:p>
            <a:pPr>
              <a:defRPr/>
            </a:pPr>
            <a:r>
              <a:rPr sz="1600" b="0" i="0" u="none" dirty="0">
                <a:solidFill>
                  <a:srgbClr val="333333"/>
                </a:solidFill>
                <a:latin typeface="Arial"/>
                <a:ea typeface="Arial"/>
                <a:cs typeface="Arial"/>
              </a:rPr>
              <a:t>     * add the next byte to the decoding process</a:t>
            </a:r>
            <a:endParaRPr dirty="0"/>
          </a:p>
          <a:p>
            <a:pPr>
              <a:defRPr/>
            </a:pPr>
            <a:r>
              <a:rPr sz="1600" b="0" i="0" u="none" dirty="0">
                <a:solidFill>
                  <a:srgbClr val="333333"/>
                </a:solidFill>
                <a:latin typeface="Arial"/>
                <a:ea typeface="Arial"/>
                <a:cs typeface="Arial"/>
              </a:rPr>
              <a:t>     *</a:t>
            </a:r>
            <a:endParaRPr dirty="0"/>
          </a:p>
          <a:p>
            <a:pPr>
              <a:defRPr/>
            </a:pPr>
            <a:r>
              <a:rPr sz="1600" b="0" i="0" u="none" dirty="0">
                <a:solidFill>
                  <a:srgbClr val="333333"/>
                </a:solidFill>
                <a:latin typeface="Arial"/>
                <a:ea typeface="Arial"/>
                <a:cs typeface="Arial"/>
              </a:rPr>
              <a:t>     * </a:t>
            </a:r>
            <a:r>
              <a:rPr sz="1600" b="0" i="0" u="none" dirty="0">
                <a:solidFill>
                  <a:srgbClr val="DD1144"/>
                </a:solidFill>
                <a:latin typeface="Arial"/>
                <a:ea typeface="Arial"/>
                <a:cs typeface="Arial"/>
              </a:rPr>
              <a:t>@param</a:t>
            </a:r>
            <a:r>
              <a:rPr sz="1600" b="0" i="0" u="none" dirty="0">
                <a:solidFill>
                  <a:srgbClr val="333333"/>
                </a:solidFill>
                <a:latin typeface="Arial"/>
                <a:ea typeface="Arial"/>
                <a:cs typeface="Arial"/>
              </a:rPr>
              <a:t> </a:t>
            </a:r>
            <a:r>
              <a:rPr sz="1600" b="0" i="0" u="none" dirty="0" err="1">
                <a:solidFill>
                  <a:srgbClr val="333333"/>
                </a:solidFill>
                <a:latin typeface="Arial"/>
                <a:ea typeface="Arial"/>
                <a:cs typeface="Arial"/>
              </a:rPr>
              <a:t>nextByte</a:t>
            </a:r>
            <a:r>
              <a:rPr sz="1600" b="0" i="0" u="none" dirty="0">
                <a:solidFill>
                  <a:srgbClr val="333333"/>
                </a:solidFill>
                <a:latin typeface="Arial"/>
                <a:ea typeface="Arial"/>
                <a:cs typeface="Arial"/>
              </a:rPr>
              <a:t> the next byte to consider for the currently decoded message</a:t>
            </a:r>
            <a:endParaRPr dirty="0"/>
          </a:p>
          <a:p>
            <a:pPr>
              <a:defRPr/>
            </a:pPr>
            <a:r>
              <a:rPr sz="1600" b="0" i="0" u="none" dirty="0">
                <a:solidFill>
                  <a:srgbClr val="333333"/>
                </a:solidFill>
                <a:latin typeface="Arial"/>
                <a:ea typeface="Arial"/>
                <a:cs typeface="Arial"/>
              </a:rPr>
              <a:t>     * </a:t>
            </a:r>
            <a:r>
              <a:rPr sz="1600" b="0" i="0" u="none" dirty="0">
                <a:solidFill>
                  <a:srgbClr val="DD1144"/>
                </a:solidFill>
                <a:latin typeface="Arial"/>
                <a:ea typeface="Arial"/>
                <a:cs typeface="Arial"/>
              </a:rPr>
              <a:t>@return</a:t>
            </a:r>
            <a:r>
              <a:rPr sz="1600" b="0" i="0" u="none" dirty="0">
                <a:solidFill>
                  <a:srgbClr val="333333"/>
                </a:solidFill>
                <a:latin typeface="Arial"/>
                <a:ea typeface="Arial"/>
                <a:cs typeface="Arial"/>
              </a:rPr>
              <a:t> a message if this byte completes one or null if it doesn't.</a:t>
            </a:r>
            <a:endParaRPr dirty="0"/>
          </a:p>
          <a:p>
            <a:pPr>
              <a:defRPr/>
            </a:pPr>
            <a:r>
              <a:rPr sz="1600" b="0" i="0" u="none" dirty="0">
                <a:solidFill>
                  <a:srgbClr val="333333"/>
                </a:solidFill>
                <a:latin typeface="Arial"/>
                <a:ea typeface="Arial"/>
                <a:cs typeface="Arial"/>
              </a:rPr>
              <a:t>     */</a:t>
            </a:r>
            <a:endParaRPr dirty="0"/>
          </a:p>
          <a:p>
            <a:pPr>
              <a:defRPr/>
            </a:pPr>
            <a:r>
              <a:rPr sz="1600" b="0" i="0" u="none" dirty="0">
                <a:solidFill>
                  <a:srgbClr val="333333"/>
                </a:solidFill>
                <a:latin typeface="Arial"/>
                <a:ea typeface="Arial"/>
                <a:cs typeface="Arial"/>
              </a:rPr>
              <a:t>    T </a:t>
            </a:r>
            <a:r>
              <a:rPr sz="1600" b="1" i="0" u="none" dirty="0" err="1">
                <a:solidFill>
                  <a:srgbClr val="990000"/>
                </a:solidFill>
                <a:latin typeface="Arial"/>
                <a:ea typeface="Arial"/>
                <a:cs typeface="Arial"/>
              </a:rPr>
              <a:t>decodeNextByte</a:t>
            </a:r>
            <a:r>
              <a:rPr sz="1600" b="0" i="0" u="none" dirty="0">
                <a:solidFill>
                  <a:srgbClr val="333333"/>
                </a:solidFill>
                <a:latin typeface="Arial"/>
                <a:ea typeface="Arial"/>
                <a:cs typeface="Arial"/>
              </a:rPr>
              <a:t>(</a:t>
            </a:r>
            <a:r>
              <a:rPr sz="1600" b="1" i="0" u="none" dirty="0">
                <a:solidFill>
                  <a:srgbClr val="445588"/>
                </a:solidFill>
                <a:latin typeface="Arial"/>
                <a:ea typeface="Arial"/>
                <a:cs typeface="Arial"/>
              </a:rPr>
              <a:t>byte</a:t>
            </a:r>
            <a:r>
              <a:rPr sz="1600" b="0" i="0" u="none" dirty="0">
                <a:solidFill>
                  <a:srgbClr val="333333"/>
                </a:solidFill>
                <a:latin typeface="Arial"/>
                <a:ea typeface="Arial"/>
                <a:cs typeface="Arial"/>
              </a:rPr>
              <a:t> </a:t>
            </a:r>
            <a:r>
              <a:rPr sz="1600" b="0" i="0" u="none" dirty="0" err="1">
                <a:solidFill>
                  <a:srgbClr val="333333"/>
                </a:solidFill>
                <a:latin typeface="Arial"/>
                <a:ea typeface="Arial"/>
                <a:cs typeface="Arial"/>
              </a:rPr>
              <a:t>nextByte</a:t>
            </a:r>
            <a:r>
              <a:rPr sz="1600" b="0" i="0" u="none" dirty="0">
                <a:solidFill>
                  <a:srgbClr val="333333"/>
                </a:solidFill>
                <a:latin typeface="Arial"/>
                <a:ea typeface="Arial"/>
                <a:cs typeface="Arial"/>
              </a:rPr>
              <a:t>);</a:t>
            </a:r>
            <a:endParaRPr dirty="0"/>
          </a:p>
          <a:p>
            <a:pPr>
              <a:defRPr/>
            </a:pPr>
            <a:r>
              <a:rPr sz="1600" b="0" i="0" u="none" dirty="0">
                <a:solidFill>
                  <a:srgbClr val="333333"/>
                </a:solidFill>
                <a:latin typeface="Arial"/>
                <a:ea typeface="Arial"/>
                <a:cs typeface="Arial"/>
              </a:rPr>
              <a:t> </a:t>
            </a:r>
            <a:endParaRPr dirty="0"/>
          </a:p>
          <a:p>
            <a:pPr>
              <a:defRPr/>
            </a:pPr>
            <a:r>
              <a:rPr sz="1600" b="0" i="0" u="none" dirty="0">
                <a:solidFill>
                  <a:srgbClr val="333333"/>
                </a:solidFill>
                <a:latin typeface="Arial"/>
                <a:ea typeface="Arial"/>
                <a:cs typeface="Arial"/>
              </a:rPr>
              <a:t>    </a:t>
            </a:r>
            <a:r>
              <a:rPr sz="1600" b="0" i="1" u="none" dirty="0">
                <a:solidFill>
                  <a:srgbClr val="999988"/>
                </a:solidFill>
                <a:latin typeface="Arial"/>
                <a:ea typeface="Arial"/>
                <a:cs typeface="Arial"/>
              </a:rPr>
              <a:t>/**</a:t>
            </a:r>
            <a:endParaRPr dirty="0"/>
          </a:p>
          <a:p>
            <a:pPr>
              <a:defRPr/>
            </a:pPr>
            <a:r>
              <a:rPr sz="1600" b="0" i="0" u="none" dirty="0">
                <a:solidFill>
                  <a:srgbClr val="333333"/>
                </a:solidFill>
                <a:latin typeface="Arial"/>
                <a:ea typeface="Arial"/>
                <a:cs typeface="Arial"/>
              </a:rPr>
              <a:t>     * encodes the given message to bytes array</a:t>
            </a:r>
            <a:endParaRPr dirty="0"/>
          </a:p>
          <a:p>
            <a:pPr>
              <a:defRPr/>
            </a:pPr>
            <a:r>
              <a:rPr sz="1600" b="0" i="0" u="none" dirty="0">
                <a:solidFill>
                  <a:srgbClr val="333333"/>
                </a:solidFill>
                <a:latin typeface="Arial"/>
                <a:ea typeface="Arial"/>
                <a:cs typeface="Arial"/>
              </a:rPr>
              <a:t>     *</a:t>
            </a:r>
            <a:endParaRPr dirty="0"/>
          </a:p>
          <a:p>
            <a:pPr>
              <a:defRPr/>
            </a:pPr>
            <a:r>
              <a:rPr sz="1600" b="0" i="0" u="none" dirty="0">
                <a:solidFill>
                  <a:srgbClr val="333333"/>
                </a:solidFill>
                <a:latin typeface="Arial"/>
                <a:ea typeface="Arial"/>
                <a:cs typeface="Arial"/>
              </a:rPr>
              <a:t>     * </a:t>
            </a:r>
            <a:r>
              <a:rPr sz="1600" b="0" i="0" u="none" dirty="0">
                <a:solidFill>
                  <a:srgbClr val="DD1144"/>
                </a:solidFill>
                <a:latin typeface="Arial"/>
                <a:ea typeface="Arial"/>
                <a:cs typeface="Arial"/>
              </a:rPr>
              <a:t>@param</a:t>
            </a:r>
            <a:r>
              <a:rPr sz="1600" b="0" i="0" u="none" dirty="0">
                <a:solidFill>
                  <a:srgbClr val="333333"/>
                </a:solidFill>
                <a:latin typeface="Arial"/>
                <a:ea typeface="Arial"/>
                <a:cs typeface="Arial"/>
              </a:rPr>
              <a:t> message the message to encode</a:t>
            </a:r>
            <a:endParaRPr dirty="0"/>
          </a:p>
          <a:p>
            <a:pPr>
              <a:defRPr/>
            </a:pPr>
            <a:r>
              <a:rPr sz="1600" b="0" i="0" u="none" dirty="0">
                <a:solidFill>
                  <a:srgbClr val="333333"/>
                </a:solidFill>
                <a:latin typeface="Arial"/>
                <a:ea typeface="Arial"/>
                <a:cs typeface="Arial"/>
              </a:rPr>
              <a:t>     * </a:t>
            </a:r>
            <a:r>
              <a:rPr sz="1600" b="0" i="0" u="none" dirty="0">
                <a:solidFill>
                  <a:srgbClr val="DD1144"/>
                </a:solidFill>
                <a:latin typeface="Arial"/>
                <a:ea typeface="Arial"/>
                <a:cs typeface="Arial"/>
              </a:rPr>
              <a:t>@return</a:t>
            </a:r>
            <a:r>
              <a:rPr sz="1600" b="0" i="0" u="none" dirty="0">
                <a:solidFill>
                  <a:srgbClr val="333333"/>
                </a:solidFill>
                <a:latin typeface="Arial"/>
                <a:ea typeface="Arial"/>
                <a:cs typeface="Arial"/>
              </a:rPr>
              <a:t> the encoded bytes</a:t>
            </a:r>
            <a:endParaRPr dirty="0"/>
          </a:p>
          <a:p>
            <a:pPr>
              <a:defRPr/>
            </a:pPr>
            <a:r>
              <a:rPr sz="1600" b="0" i="0" u="none" dirty="0">
                <a:solidFill>
                  <a:srgbClr val="333333"/>
                </a:solidFill>
                <a:latin typeface="Arial"/>
                <a:ea typeface="Arial"/>
                <a:cs typeface="Arial"/>
              </a:rPr>
              <a:t>     */</a:t>
            </a:r>
            <a:endParaRPr dirty="0"/>
          </a:p>
          <a:p>
            <a:pPr>
              <a:defRPr/>
            </a:pPr>
            <a:r>
              <a:rPr sz="1600" b="0" i="0" u="none" dirty="0">
                <a:solidFill>
                  <a:srgbClr val="333333"/>
                </a:solidFill>
                <a:latin typeface="Arial"/>
                <a:ea typeface="Arial"/>
                <a:cs typeface="Arial"/>
              </a:rPr>
              <a:t>    </a:t>
            </a:r>
            <a:r>
              <a:rPr sz="1600" b="1" i="0" u="none" dirty="0">
                <a:solidFill>
                  <a:srgbClr val="445588"/>
                </a:solidFill>
                <a:latin typeface="Arial"/>
                <a:ea typeface="Arial"/>
                <a:cs typeface="Arial"/>
              </a:rPr>
              <a:t>byte</a:t>
            </a:r>
            <a:r>
              <a:rPr sz="1600" b="0" i="0" u="none" dirty="0">
                <a:solidFill>
                  <a:srgbClr val="333333"/>
                </a:solidFill>
                <a:latin typeface="Arial"/>
                <a:ea typeface="Arial"/>
                <a:cs typeface="Arial"/>
              </a:rPr>
              <a:t>[] encode(T message);</a:t>
            </a:r>
            <a:endParaRPr dirty="0"/>
          </a:p>
          <a:p>
            <a:pPr>
              <a:defRPr/>
            </a:pPr>
            <a:r>
              <a:rPr sz="1600" b="0" i="0" u="none" dirty="0">
                <a:solidFill>
                  <a:srgbClr val="333333"/>
                </a:solidFill>
                <a:latin typeface="Arial"/>
                <a:ea typeface="Arial"/>
                <a:cs typeface="Arial"/>
              </a:rPr>
              <a:t>}</a:t>
            </a:r>
            <a:endParaRPr dirty="0"/>
          </a:p>
        </p:txBody>
      </p:sp>
      <p:sp>
        <p:nvSpPr>
          <p:cNvPr id="2" name="Content Placeholder 2">
            <a:extLst>
              <a:ext uri="{FF2B5EF4-FFF2-40B4-BE49-F238E27FC236}">
                <a16:creationId xmlns:a16="http://schemas.microsoft.com/office/drawing/2014/main" id="{9A7061C4-A6AC-6DA6-EA20-D7AB0FFE5906}"/>
              </a:ext>
            </a:extLst>
          </p:cNvPr>
          <p:cNvSpPr>
            <a:spLocks noGrp="1"/>
          </p:cNvSpPr>
          <p:nvPr>
            <p:ph idx="1"/>
          </p:nvPr>
        </p:nvSpPr>
        <p:spPr bwMode="auto">
          <a:xfrm>
            <a:off x="7933208" y="1690685"/>
            <a:ext cx="3420592" cy="4802189"/>
          </a:xfrm>
        </p:spPr>
        <p:txBody>
          <a:bodyPr>
            <a:normAutofit/>
          </a:bodyPr>
          <a:lstStyle/>
          <a:p>
            <a:pPr>
              <a:defRPr/>
            </a:pPr>
            <a:r>
              <a:rPr lang="en-US" sz="2800" b="0" i="0" u="none" strike="noStrike" cap="none" spc="0" dirty="0">
                <a:solidFill>
                  <a:schemeClr val="tx1"/>
                </a:solidFill>
                <a:latin typeface="Calibri"/>
                <a:ea typeface="Calibri"/>
                <a:cs typeface="Calibri"/>
              </a:rPr>
              <a:t>The message encoder-decoder interface is responsible for encoding and decoding objects for transmission to and from our server.</a:t>
            </a:r>
            <a:endParaRPr dirty="0"/>
          </a:p>
          <a:p>
            <a:pPr>
              <a:defRPr/>
            </a:pPr>
            <a:r>
              <a:rPr lang="en-US" dirty="0"/>
              <a:t>The messages are sent and received as bytes.</a:t>
            </a:r>
            <a:endParaRPr lang="he-I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94167889">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94167889">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94167889">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94167889">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94167889">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94167889">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94167889">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94167889">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94167889">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94167889">
                                            <p:txEl>
                                              <p:pRg st="10" end="1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94167889">
                                            <p:txEl>
                                              <p:pRg st="11" end="11"/>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94167889">
                                            <p:txEl>
                                              <p:pRg st="12" end="12"/>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94167889">
                                            <p:txEl>
                                              <p:pRg st="13" end="13"/>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94167889">
                                            <p:txEl>
                                              <p:pRg st="14" end="14"/>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94167889">
                                            <p:txEl>
                                              <p:pRg st="15" end="15"/>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94167889">
                                            <p:txEl>
                                              <p:pRg st="16" end="16"/>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94167889">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87631869" name="Title 1"/>
          <p:cNvSpPr>
            <a:spLocks noGrp="1"/>
          </p:cNvSpPr>
          <p:nvPr>
            <p:ph type="title"/>
          </p:nvPr>
        </p:nvSpPr>
        <p:spPr bwMode="auto"/>
        <p:txBody>
          <a:bodyPr/>
          <a:lstStyle/>
          <a:p>
            <a:pPr>
              <a:defRPr/>
            </a:pPr>
            <a:r>
              <a:rPr lang="en-US"/>
              <a:t>Messaging Protocol</a:t>
            </a:r>
            <a:endParaRPr lang="he-IL"/>
          </a:p>
        </p:txBody>
      </p:sp>
      <p:sp>
        <p:nvSpPr>
          <p:cNvPr id="1986634655" name="Content Placeholder 2"/>
          <p:cNvSpPr>
            <a:spLocks noGrp="1"/>
          </p:cNvSpPr>
          <p:nvPr>
            <p:ph idx="1"/>
          </p:nvPr>
        </p:nvSpPr>
        <p:spPr bwMode="auto"/>
        <p:txBody>
          <a:bodyPr/>
          <a:lstStyle/>
          <a:p>
            <a:pPr>
              <a:defRPr/>
            </a:pPr>
            <a:r>
              <a:rPr lang="en-US"/>
              <a:t>Similar to the messaging protocol we saw in the last PS, this time the protocol is generic.</a:t>
            </a:r>
            <a:endParaRPr lang="he-IL"/>
          </a:p>
        </p:txBody>
      </p:sp>
      <p:sp>
        <p:nvSpPr>
          <p:cNvPr id="1434839435" name=" 1434839434"/>
          <p:cNvSpPr/>
          <p:nvPr/>
        </p:nvSpPr>
        <p:spPr bwMode="auto">
          <a:xfrm>
            <a:off x="968943" y="2779010"/>
            <a:ext cx="8800206" cy="381035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sz="1600" b="1" i="0" u="none">
                <a:solidFill>
                  <a:srgbClr val="333333"/>
                </a:solidFill>
                <a:latin typeface="Arial"/>
                <a:ea typeface="Arial"/>
                <a:cs typeface="Arial"/>
              </a:rPr>
              <a:t>public</a:t>
            </a:r>
            <a:r>
              <a:rPr sz="1600" b="0" i="0" u="none">
                <a:solidFill>
                  <a:srgbClr val="333333"/>
                </a:solidFill>
                <a:latin typeface="Arial"/>
                <a:ea typeface="Arial"/>
                <a:cs typeface="Arial"/>
              </a:rPr>
              <a:t> </a:t>
            </a:r>
            <a:r>
              <a:rPr sz="1600" b="1" i="0" u="none">
                <a:solidFill>
                  <a:srgbClr val="333333"/>
                </a:solidFill>
                <a:latin typeface="Arial"/>
                <a:ea typeface="Arial"/>
                <a:cs typeface="Arial"/>
              </a:rPr>
              <a:t>interface</a:t>
            </a:r>
            <a:r>
              <a:rPr sz="1600" b="0" i="0" u="none">
                <a:solidFill>
                  <a:srgbClr val="333333"/>
                </a:solidFill>
                <a:latin typeface="Arial"/>
                <a:ea typeface="Arial"/>
                <a:cs typeface="Arial"/>
              </a:rPr>
              <a:t> </a:t>
            </a:r>
            <a:r>
              <a:rPr sz="1600" b="1" i="0" u="none">
                <a:solidFill>
                  <a:srgbClr val="990000"/>
                </a:solidFill>
                <a:latin typeface="Arial"/>
                <a:ea typeface="Arial"/>
                <a:cs typeface="Arial"/>
              </a:rPr>
              <a:t>MessagingProtocol</a:t>
            </a:r>
            <a:r>
              <a:rPr sz="1600" b="0" i="0" u="none">
                <a:solidFill>
                  <a:srgbClr val="333333"/>
                </a:solidFill>
                <a:latin typeface="Arial"/>
                <a:ea typeface="Arial"/>
                <a:cs typeface="Arial"/>
              </a:rPr>
              <a:t>&lt;T&gt; {</a:t>
            </a:r>
            <a:endParaRPr/>
          </a:p>
          <a:p>
            <a:pPr>
              <a:defRPr/>
            </a:pPr>
            <a:r>
              <a:rPr sz="1600" b="0" i="0" u="none">
                <a:solidFill>
                  <a:srgbClr val="333333"/>
                </a:solidFill>
                <a:latin typeface="Arial"/>
                <a:ea typeface="Arial"/>
                <a:cs typeface="Arial"/>
              </a:rPr>
              <a:t> </a:t>
            </a:r>
            <a:endParaRPr/>
          </a:p>
          <a:p>
            <a:pPr>
              <a:defRPr/>
            </a:pPr>
            <a:r>
              <a:rPr sz="1600" b="0" i="0" u="none">
                <a:solidFill>
                  <a:srgbClr val="333333"/>
                </a:solidFill>
                <a:latin typeface="Arial"/>
                <a:ea typeface="Arial"/>
                <a:cs typeface="Arial"/>
              </a:rPr>
              <a:t>    </a:t>
            </a:r>
            <a:r>
              <a:rPr sz="1600" b="0" i="1" u="none">
                <a:solidFill>
                  <a:srgbClr val="999988"/>
                </a:solidFill>
                <a:latin typeface="Arial"/>
                <a:ea typeface="Arial"/>
                <a:cs typeface="Arial"/>
              </a:rPr>
              <a:t>/**</a:t>
            </a:r>
            <a:endParaRPr/>
          </a:p>
          <a:p>
            <a:pPr>
              <a:defRPr/>
            </a:pPr>
            <a:r>
              <a:rPr sz="1600" b="0" i="0" u="none">
                <a:solidFill>
                  <a:srgbClr val="333333"/>
                </a:solidFill>
                <a:latin typeface="Arial"/>
                <a:ea typeface="Arial"/>
                <a:cs typeface="Arial"/>
              </a:rPr>
              <a:t>     * process the given message</a:t>
            </a:r>
            <a:endParaRPr/>
          </a:p>
          <a:p>
            <a:pPr>
              <a:defRPr/>
            </a:pPr>
            <a:r>
              <a:rPr sz="1600" b="0" i="0" u="none">
                <a:solidFill>
                  <a:srgbClr val="333333"/>
                </a:solidFill>
                <a:latin typeface="Arial"/>
                <a:ea typeface="Arial"/>
                <a:cs typeface="Arial"/>
              </a:rPr>
              <a:t>     *</a:t>
            </a:r>
            <a:endParaRPr/>
          </a:p>
          <a:p>
            <a:pPr>
              <a:defRPr/>
            </a:pPr>
            <a:r>
              <a:rPr sz="1600" b="0" i="0" u="none">
                <a:solidFill>
                  <a:srgbClr val="333333"/>
                </a:solidFill>
                <a:latin typeface="Arial"/>
                <a:ea typeface="Arial"/>
                <a:cs typeface="Arial"/>
              </a:rPr>
              <a:t>     * </a:t>
            </a:r>
            <a:r>
              <a:rPr sz="1600" b="0" i="0" u="none">
                <a:solidFill>
                  <a:srgbClr val="DD1144"/>
                </a:solidFill>
                <a:latin typeface="Arial"/>
                <a:ea typeface="Arial"/>
                <a:cs typeface="Arial"/>
              </a:rPr>
              <a:t>@param</a:t>
            </a:r>
            <a:r>
              <a:rPr sz="1600" b="0" i="0" u="none">
                <a:solidFill>
                  <a:srgbClr val="333333"/>
                </a:solidFill>
                <a:latin typeface="Arial"/>
                <a:ea typeface="Arial"/>
                <a:cs typeface="Arial"/>
              </a:rPr>
              <a:t> msg the received message</a:t>
            </a:r>
            <a:endParaRPr/>
          </a:p>
          <a:p>
            <a:pPr>
              <a:defRPr/>
            </a:pPr>
            <a:r>
              <a:rPr sz="1600" b="0" i="0" u="none">
                <a:solidFill>
                  <a:srgbClr val="333333"/>
                </a:solidFill>
                <a:latin typeface="Arial"/>
                <a:ea typeface="Arial"/>
                <a:cs typeface="Arial"/>
              </a:rPr>
              <a:t>     * </a:t>
            </a:r>
            <a:r>
              <a:rPr sz="1600" b="0" i="0" u="none">
                <a:solidFill>
                  <a:srgbClr val="DD1144"/>
                </a:solidFill>
                <a:latin typeface="Arial"/>
                <a:ea typeface="Arial"/>
                <a:cs typeface="Arial"/>
              </a:rPr>
              <a:t>@return</a:t>
            </a:r>
            <a:r>
              <a:rPr sz="1600" b="0" i="0" u="none">
                <a:solidFill>
                  <a:srgbClr val="333333"/>
                </a:solidFill>
                <a:latin typeface="Arial"/>
                <a:ea typeface="Arial"/>
                <a:cs typeface="Arial"/>
              </a:rPr>
              <a:t> the response to send or null if no response is expected by the client</a:t>
            </a:r>
            <a:endParaRPr/>
          </a:p>
          <a:p>
            <a:pPr>
              <a:defRPr/>
            </a:pPr>
            <a:r>
              <a:rPr sz="1600" b="0" i="0" u="none">
                <a:solidFill>
                  <a:srgbClr val="333333"/>
                </a:solidFill>
                <a:latin typeface="Arial"/>
                <a:ea typeface="Arial"/>
                <a:cs typeface="Arial"/>
              </a:rPr>
              <a:t>     */</a:t>
            </a:r>
            <a:endParaRPr/>
          </a:p>
          <a:p>
            <a:pPr>
              <a:defRPr/>
            </a:pPr>
            <a:r>
              <a:rPr sz="1600" b="0" i="0" u="none">
                <a:solidFill>
                  <a:srgbClr val="333333"/>
                </a:solidFill>
                <a:latin typeface="Arial"/>
                <a:ea typeface="Arial"/>
                <a:cs typeface="Arial"/>
              </a:rPr>
              <a:t>    T </a:t>
            </a:r>
            <a:r>
              <a:rPr sz="1600" b="1" i="0" u="none">
                <a:solidFill>
                  <a:srgbClr val="990000"/>
                </a:solidFill>
                <a:latin typeface="Arial"/>
                <a:ea typeface="Arial"/>
                <a:cs typeface="Arial"/>
              </a:rPr>
              <a:t>process</a:t>
            </a:r>
            <a:r>
              <a:rPr sz="1600" b="0" i="0" u="none">
                <a:solidFill>
                  <a:srgbClr val="333333"/>
                </a:solidFill>
                <a:latin typeface="Arial"/>
                <a:ea typeface="Arial"/>
                <a:cs typeface="Arial"/>
              </a:rPr>
              <a:t>(T msg);</a:t>
            </a:r>
            <a:endParaRPr/>
          </a:p>
          <a:p>
            <a:pPr>
              <a:defRPr/>
            </a:pPr>
            <a:r>
              <a:rPr sz="1600" b="0" i="0" u="none">
                <a:solidFill>
                  <a:srgbClr val="333333"/>
                </a:solidFill>
                <a:latin typeface="Arial"/>
                <a:ea typeface="Arial"/>
                <a:cs typeface="Arial"/>
              </a:rPr>
              <a:t> </a:t>
            </a:r>
            <a:endParaRPr/>
          </a:p>
          <a:p>
            <a:pPr>
              <a:defRPr/>
            </a:pPr>
            <a:r>
              <a:rPr sz="1600" b="0" i="0" u="none">
                <a:solidFill>
                  <a:srgbClr val="333333"/>
                </a:solidFill>
                <a:latin typeface="Arial"/>
                <a:ea typeface="Arial"/>
                <a:cs typeface="Arial"/>
              </a:rPr>
              <a:t>    </a:t>
            </a:r>
            <a:r>
              <a:rPr sz="1600" b="0" i="1" u="none">
                <a:solidFill>
                  <a:srgbClr val="999988"/>
                </a:solidFill>
                <a:latin typeface="Arial"/>
                <a:ea typeface="Arial"/>
                <a:cs typeface="Arial"/>
              </a:rPr>
              <a:t>/**</a:t>
            </a:r>
            <a:endParaRPr/>
          </a:p>
          <a:p>
            <a:pPr>
              <a:defRPr/>
            </a:pPr>
            <a:r>
              <a:rPr sz="1600" b="0" i="0" u="none">
                <a:solidFill>
                  <a:srgbClr val="333333"/>
                </a:solidFill>
                <a:latin typeface="Arial"/>
                <a:ea typeface="Arial"/>
                <a:cs typeface="Arial"/>
              </a:rPr>
              <a:t>     * </a:t>
            </a:r>
            <a:r>
              <a:rPr sz="1600" b="0" i="0" u="none">
                <a:solidFill>
                  <a:srgbClr val="DD1144"/>
                </a:solidFill>
                <a:latin typeface="Arial"/>
                <a:ea typeface="Arial"/>
                <a:cs typeface="Arial"/>
              </a:rPr>
              <a:t>@return</a:t>
            </a:r>
            <a:r>
              <a:rPr sz="1600" b="0" i="0" u="none">
                <a:solidFill>
                  <a:srgbClr val="333333"/>
                </a:solidFill>
                <a:latin typeface="Arial"/>
                <a:ea typeface="Arial"/>
                <a:cs typeface="Arial"/>
              </a:rPr>
              <a:t> true if the connection should be terminated</a:t>
            </a:r>
            <a:endParaRPr/>
          </a:p>
          <a:p>
            <a:pPr>
              <a:defRPr/>
            </a:pPr>
            <a:r>
              <a:rPr sz="1600" b="0" i="0" u="none">
                <a:solidFill>
                  <a:srgbClr val="333333"/>
                </a:solidFill>
                <a:latin typeface="Arial"/>
                <a:ea typeface="Arial"/>
                <a:cs typeface="Arial"/>
              </a:rPr>
              <a:t>     */</a:t>
            </a:r>
            <a:endParaRPr/>
          </a:p>
          <a:p>
            <a:pPr>
              <a:defRPr/>
            </a:pPr>
            <a:r>
              <a:rPr sz="1600" b="0" i="0" u="none">
                <a:solidFill>
                  <a:srgbClr val="333333"/>
                </a:solidFill>
                <a:latin typeface="Arial"/>
                <a:ea typeface="Arial"/>
                <a:cs typeface="Arial"/>
              </a:rPr>
              <a:t>    </a:t>
            </a:r>
            <a:r>
              <a:rPr sz="1600" b="1" i="0" u="none">
                <a:solidFill>
                  <a:srgbClr val="445588"/>
                </a:solidFill>
                <a:latin typeface="Arial"/>
                <a:ea typeface="Arial"/>
                <a:cs typeface="Arial"/>
              </a:rPr>
              <a:t>boolean</a:t>
            </a:r>
            <a:r>
              <a:rPr sz="1600" b="0" i="0" u="none">
                <a:solidFill>
                  <a:srgbClr val="333333"/>
                </a:solidFill>
                <a:latin typeface="Arial"/>
                <a:ea typeface="Arial"/>
                <a:cs typeface="Arial"/>
              </a:rPr>
              <a:t> </a:t>
            </a:r>
            <a:r>
              <a:rPr sz="1600" b="1" i="0" u="none">
                <a:solidFill>
                  <a:srgbClr val="990000"/>
                </a:solidFill>
                <a:latin typeface="Arial"/>
                <a:ea typeface="Arial"/>
                <a:cs typeface="Arial"/>
              </a:rPr>
              <a:t>shouldTerminate</a:t>
            </a:r>
            <a:r>
              <a:rPr sz="1600" b="0" i="0" u="none">
                <a:solidFill>
                  <a:srgbClr val="333333"/>
                </a:solidFill>
                <a:latin typeface="Arial"/>
                <a:ea typeface="Arial"/>
                <a:cs typeface="Arial"/>
              </a:rPr>
              <a:t>();</a:t>
            </a:r>
            <a:endParaRPr/>
          </a:p>
          <a:p>
            <a:pPr>
              <a:defRPr/>
            </a:pPr>
            <a:r>
              <a:rPr sz="1600" b="0" i="0" u="none">
                <a:solidFill>
                  <a:srgbClr val="333333"/>
                </a:solidFill>
                <a:latin typeface="Arial"/>
                <a:ea typeface="Arial"/>
                <a:cs typeface="Arial"/>
              </a:rPr>
              <a: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866346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348394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634655" grpId="0" build="p"/>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83158776" name="Title 1"/>
          <p:cNvSpPr>
            <a:spLocks noGrp="1"/>
          </p:cNvSpPr>
          <p:nvPr>
            <p:ph type="title"/>
          </p:nvPr>
        </p:nvSpPr>
        <p:spPr bwMode="auto"/>
        <p:txBody>
          <a:bodyPr/>
          <a:lstStyle/>
          <a:p>
            <a:pPr>
              <a:defRPr/>
            </a:pPr>
            <a:r>
              <a:rPr lang="en-US"/>
              <a:t>Thread per Client Server</a:t>
            </a:r>
            <a:endParaRPr lang="he-IL"/>
          </a:p>
        </p:txBody>
      </p:sp>
      <p:sp>
        <p:nvSpPr>
          <p:cNvPr id="1483651698" name="Content Placeholder 2"/>
          <p:cNvSpPr>
            <a:spLocks noGrp="1"/>
          </p:cNvSpPr>
          <p:nvPr>
            <p:ph idx="1"/>
          </p:nvPr>
        </p:nvSpPr>
        <p:spPr bwMode="auto"/>
        <p:txBody>
          <a:bodyPr/>
          <a:lstStyle/>
          <a:p>
            <a:pPr>
              <a:defRPr/>
            </a:pPr>
            <a:r>
              <a:rPr lang="en-US" sz="2800" b="0" i="0" u="none" strike="noStrike" cap="none" spc="0">
                <a:solidFill>
                  <a:schemeClr val="tx1"/>
                </a:solidFill>
                <a:latin typeface="Calibri"/>
                <a:ea typeface="Calibri"/>
                <a:cs typeface="Calibri"/>
              </a:rPr>
              <a:t>In the previous practical session, we saw a simple server implementation in Java.</a:t>
            </a:r>
            <a:endParaRPr lang="en-US" sz="2800" b="0" i="0" u="none" strike="noStrike" cap="none" spc="0">
              <a:solidFill>
                <a:schemeClr val="tx1"/>
              </a:solidFill>
              <a:latin typeface="Calibri"/>
              <a:cs typeface="Calibri"/>
            </a:endParaRPr>
          </a:p>
          <a:p>
            <a:pPr>
              <a:defRPr/>
            </a:pPr>
            <a:r>
              <a:rPr lang="en-US" sz="2800" b="0" i="0" u="none" strike="noStrike" cap="none" spc="0">
                <a:solidFill>
                  <a:schemeClr val="tx1"/>
                </a:solidFill>
                <a:latin typeface="Calibri"/>
                <a:ea typeface="Calibri"/>
                <a:cs typeface="Calibri"/>
              </a:rPr>
              <a:t>Recall that reading and writing to sockets, as well as awaiting new connections on the server side, block the execution of the thread.</a:t>
            </a:r>
            <a:endParaRPr lang="en-US" sz="2800" b="0" i="0" u="none" strike="noStrike" cap="none" spc="0">
              <a:solidFill>
                <a:schemeClr val="tx1"/>
              </a:solidFill>
              <a:latin typeface="Calibri"/>
              <a:cs typeface="Calibri"/>
            </a:endParaRPr>
          </a:p>
          <a:p>
            <a:pPr>
              <a:defRPr/>
            </a:pPr>
            <a:r>
              <a:rPr lang="en-US" sz="2800" b="0" i="0" u="none" strike="noStrike" cap="none" spc="0">
                <a:solidFill>
                  <a:schemeClr val="tx1"/>
                </a:solidFill>
                <a:latin typeface="Calibri"/>
                <a:ea typeface="Calibri"/>
                <a:cs typeface="Calibri"/>
              </a:rPr>
              <a:t>A simple solution to this problem is to create a thread for each client.</a:t>
            </a:r>
            <a:endParaRPr lang="he-IL"/>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8365169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8365169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8365169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3651698" grpId="0" build="p"/>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45099656" name="Title 1"/>
          <p:cNvSpPr>
            <a:spLocks noGrp="1"/>
          </p:cNvSpPr>
          <p:nvPr>
            <p:ph type="title"/>
          </p:nvPr>
        </p:nvSpPr>
        <p:spPr bwMode="auto"/>
        <p:txBody>
          <a:bodyPr/>
          <a:lstStyle/>
          <a:p>
            <a:pPr>
              <a:defRPr/>
            </a:pPr>
            <a:r>
              <a:rPr lang="en-US"/>
              <a:t>Blocking Connection Handler</a:t>
            </a:r>
            <a:endParaRPr lang="he-IL"/>
          </a:p>
        </p:txBody>
      </p:sp>
      <p:sp>
        <p:nvSpPr>
          <p:cNvPr id="1742872469" name="Content Placeholder 2"/>
          <p:cNvSpPr>
            <a:spLocks noGrp="1"/>
          </p:cNvSpPr>
          <p:nvPr>
            <p:ph idx="1"/>
          </p:nvPr>
        </p:nvSpPr>
        <p:spPr bwMode="auto"/>
        <p:txBody>
          <a:bodyPr/>
          <a:lstStyle/>
          <a:p>
            <a:pPr>
              <a:defRPr/>
            </a:pPr>
            <a:r>
              <a:rPr lang="en-US" sz="2800" b="0" i="0" u="none" strike="noStrike" cap="none" spc="0">
                <a:solidFill>
                  <a:schemeClr val="tx1"/>
                </a:solidFill>
                <a:latin typeface="Calibri"/>
                <a:ea typeface="Calibri"/>
                <a:cs typeface="Calibri"/>
              </a:rPr>
              <a:t>The blocking connection handler is a runnable that handles a single client's connection on the server.</a:t>
            </a:r>
            <a:endParaRPr/>
          </a:p>
          <a:p>
            <a:pPr>
              <a:defRPr/>
            </a:pPr>
            <a:r>
              <a:rPr lang="en-US" sz="2800" b="0" i="0" u="none" strike="noStrike" cap="none" spc="0">
                <a:solidFill>
                  <a:schemeClr val="tx1"/>
                </a:solidFill>
                <a:latin typeface="Calibri"/>
                <a:ea typeface="Calibri"/>
                <a:cs typeface="Calibri"/>
              </a:rPr>
              <a:t>It has its own Message encoder decoder, its own instance of the protocol, and its own socket.</a:t>
            </a:r>
            <a:endParaRPr/>
          </a:p>
          <a:p>
            <a:pPr>
              <a:defRPr/>
            </a:pPr>
            <a:r>
              <a:rPr lang="en-US" sz="2800" b="0" i="0" u="none" strike="noStrike" cap="none" spc="0">
                <a:solidFill>
                  <a:schemeClr val="tx1"/>
                </a:solidFill>
                <a:latin typeface="Calibri"/>
                <a:ea typeface="Calibri"/>
                <a:cs typeface="Calibri"/>
              </a:rPr>
              <a:t>In the TPC, each non-blocking connection handler runs on its own thread.</a:t>
            </a:r>
            <a:endParaRPr lang="he-IL"/>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287246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4287246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4287246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2872469" grpId="0" build="p"/>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02130906" name="Title 1"/>
          <p:cNvSpPr>
            <a:spLocks noGrp="1"/>
          </p:cNvSpPr>
          <p:nvPr>
            <p:ph type="title"/>
          </p:nvPr>
        </p:nvSpPr>
        <p:spPr bwMode="auto"/>
        <p:txBody>
          <a:bodyPr/>
          <a:lstStyle/>
          <a:p>
            <a:pPr>
              <a:defRPr/>
            </a:pPr>
            <a:r>
              <a:rPr lang="en-US"/>
              <a:t>Thread per client server (cont)</a:t>
            </a:r>
            <a:endParaRPr lang="he-IL"/>
          </a:p>
        </p:txBody>
      </p:sp>
      <p:pic>
        <p:nvPicPr>
          <p:cNvPr id="2052236141" name="Picture 4"/>
          <p:cNvPicPr>
            <a:picLocks noChangeAspect="1"/>
          </p:cNvPicPr>
          <p:nvPr/>
        </p:nvPicPr>
        <p:blipFill rotWithShape="1">
          <a:blip r:embed="rId3"/>
          <a:stretch/>
        </p:blipFill>
        <p:spPr bwMode="auto">
          <a:xfrm>
            <a:off x="1147743" y="1465062"/>
            <a:ext cx="8873334" cy="461602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pSp>
        <p:nvGrpSpPr>
          <p:cNvPr id="1510730565" name="Group 91"/>
          <p:cNvGrpSpPr/>
          <p:nvPr/>
        </p:nvGrpSpPr>
        <p:grpSpPr bwMode="auto">
          <a:xfrm>
            <a:off x="159554" y="825514"/>
            <a:ext cx="5277303" cy="2091331"/>
            <a:chOff x="232960" y="833863"/>
            <a:chExt cx="5277303" cy="2091331"/>
          </a:xfrm>
        </p:grpSpPr>
        <p:sp>
          <p:nvSpPr>
            <p:cNvPr id="4" name="Rectangle 3"/>
            <p:cNvSpPr/>
            <p:nvPr/>
          </p:nvSpPr>
          <p:spPr bwMode="auto">
            <a:xfrm>
              <a:off x="232960" y="833863"/>
              <a:ext cx="5277303" cy="2091331"/>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sp>
          <p:nvSpPr>
            <p:cNvPr id="19" name="TextBox 18"/>
            <p:cNvSpPr txBox="1"/>
            <p:nvPr/>
          </p:nvSpPr>
          <p:spPr bwMode="auto">
            <a:xfrm>
              <a:off x="980256" y="988599"/>
              <a:ext cx="2768602" cy="307777"/>
            </a:xfrm>
            <a:prstGeom prst="rect">
              <a:avLst/>
            </a:prstGeom>
            <a:noFill/>
          </p:spPr>
          <p:txBody>
            <a:bodyPr wrap="square" rtlCol="1">
              <a:spAutoFit/>
            </a:bodyPr>
            <a:lstStyle/>
            <a:p>
              <a:pPr>
                <a:defRPr/>
              </a:pPr>
              <a:r>
                <a:rPr lang="en-US" sz="1400"/>
                <a:t>Connection Handler (Runnable)</a:t>
              </a:r>
              <a:endParaRPr lang="he-IL" sz="1400"/>
            </a:p>
          </p:txBody>
        </p:sp>
      </p:grpSp>
      <p:sp>
        <p:nvSpPr>
          <p:cNvPr id="531395623" name="Oval 31"/>
          <p:cNvSpPr/>
          <p:nvPr/>
        </p:nvSpPr>
        <p:spPr bwMode="auto">
          <a:xfrm>
            <a:off x="2123561" y="1540149"/>
            <a:ext cx="453493" cy="453493"/>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sp>
        <p:nvSpPr>
          <p:cNvPr id="1674451078" name="Oval 72"/>
          <p:cNvSpPr/>
          <p:nvPr/>
        </p:nvSpPr>
        <p:spPr bwMode="auto">
          <a:xfrm>
            <a:off x="998663" y="2050072"/>
            <a:ext cx="453493" cy="453493"/>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sp>
        <p:nvSpPr>
          <p:cNvPr id="325402043" name="Rectangle 75"/>
          <p:cNvSpPr/>
          <p:nvPr/>
        </p:nvSpPr>
        <p:spPr bwMode="auto">
          <a:xfrm>
            <a:off x="5934441" y="1379220"/>
            <a:ext cx="5906423" cy="3788736"/>
          </a:xfrm>
          <a:prstGeom prst="rect">
            <a:avLst/>
          </a:prstGeom>
          <a:solidFill>
            <a:srgbClr val="B8EB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grpSp>
        <p:nvGrpSpPr>
          <p:cNvPr id="1617925098" name="Group 13"/>
          <p:cNvGrpSpPr/>
          <p:nvPr/>
        </p:nvGrpSpPr>
        <p:grpSpPr bwMode="auto">
          <a:xfrm>
            <a:off x="9158898" y="2422321"/>
            <a:ext cx="2628271" cy="2013358"/>
            <a:chOff x="1784338" y="822121"/>
            <a:chExt cx="2628271" cy="2013358"/>
          </a:xfrm>
        </p:grpSpPr>
        <p:pic>
          <p:nvPicPr>
            <p:cNvPr id="6" name="Picture 5"/>
            <p:cNvPicPr>
              <a:picLocks noChangeAspect="1"/>
            </p:cNvPicPr>
            <p:nvPr/>
          </p:nvPicPr>
          <p:blipFill rotWithShape="1">
            <a:blip r:embed="rId3"/>
            <a:stretch/>
          </p:blipFill>
          <p:spPr bwMode="auto">
            <a:xfrm>
              <a:off x="1784338" y="822121"/>
              <a:ext cx="2447881" cy="2013358"/>
            </a:xfrm>
            <a:prstGeom prst="rect">
              <a:avLst/>
            </a:prstGeom>
          </p:spPr>
        </p:pic>
        <p:sp>
          <p:nvSpPr>
            <p:cNvPr id="8" name="TextBox 7"/>
            <p:cNvSpPr txBox="1"/>
            <p:nvPr/>
          </p:nvSpPr>
          <p:spPr bwMode="auto">
            <a:xfrm rot="205324">
              <a:off x="2553049" y="1921079"/>
              <a:ext cx="1859560" cy="338554"/>
            </a:xfrm>
            <a:prstGeom prst="rect">
              <a:avLst/>
            </a:prstGeom>
            <a:noFill/>
          </p:spPr>
          <p:txBody>
            <a:bodyPr wrap="square" rtlCol="1">
              <a:spAutoFit/>
            </a:bodyPr>
            <a:lstStyle/>
            <a:p>
              <a:pPr>
                <a:defRPr/>
              </a:pPr>
              <a:r>
                <a:rPr lang="en-US" sz="1600"/>
                <a:t>EncDecs</a:t>
              </a:r>
              <a:endParaRPr lang="he-IL" sz="1600"/>
            </a:p>
          </p:txBody>
        </p:sp>
      </p:grpSp>
      <p:grpSp>
        <p:nvGrpSpPr>
          <p:cNvPr id="1454727528" name="Group 12"/>
          <p:cNvGrpSpPr/>
          <p:nvPr/>
        </p:nvGrpSpPr>
        <p:grpSpPr bwMode="auto">
          <a:xfrm>
            <a:off x="6096000" y="2422321"/>
            <a:ext cx="2628271" cy="2013358"/>
            <a:chOff x="2465245" y="3467648"/>
            <a:chExt cx="2628271" cy="2013358"/>
          </a:xfrm>
        </p:grpSpPr>
        <p:pic>
          <p:nvPicPr>
            <p:cNvPr id="11" name="Picture 10"/>
            <p:cNvPicPr>
              <a:picLocks noChangeAspect="1"/>
            </p:cNvPicPr>
            <p:nvPr/>
          </p:nvPicPr>
          <p:blipFill rotWithShape="1">
            <a:blip r:embed="rId3"/>
            <a:stretch/>
          </p:blipFill>
          <p:spPr bwMode="auto">
            <a:xfrm>
              <a:off x="2465245" y="3467648"/>
              <a:ext cx="2447881" cy="2013358"/>
            </a:xfrm>
            <a:prstGeom prst="rect">
              <a:avLst/>
            </a:prstGeom>
          </p:spPr>
        </p:pic>
        <p:sp>
          <p:nvSpPr>
            <p:cNvPr id="12" name="TextBox 11"/>
            <p:cNvSpPr txBox="1"/>
            <p:nvPr/>
          </p:nvSpPr>
          <p:spPr bwMode="auto">
            <a:xfrm rot="418678">
              <a:off x="3233957" y="4583384"/>
              <a:ext cx="1859559" cy="338554"/>
            </a:xfrm>
            <a:prstGeom prst="rect">
              <a:avLst/>
            </a:prstGeom>
            <a:noFill/>
          </p:spPr>
          <p:txBody>
            <a:bodyPr wrap="square" rtlCol="1">
              <a:spAutoFit/>
            </a:bodyPr>
            <a:lstStyle/>
            <a:p>
              <a:pPr>
                <a:defRPr/>
              </a:pPr>
              <a:r>
                <a:rPr lang="en-US" sz="1600"/>
                <a:t>Protocols</a:t>
              </a:r>
              <a:endParaRPr lang="he-IL" sz="1600"/>
            </a:p>
          </p:txBody>
        </p:sp>
      </p:grpSp>
      <p:grpSp>
        <p:nvGrpSpPr>
          <p:cNvPr id="1753680664" name="Group 92"/>
          <p:cNvGrpSpPr/>
          <p:nvPr/>
        </p:nvGrpSpPr>
        <p:grpSpPr bwMode="auto">
          <a:xfrm>
            <a:off x="2304495" y="2781094"/>
            <a:ext cx="391366" cy="827364"/>
            <a:chOff x="2304495" y="2781094"/>
            <a:chExt cx="391366" cy="827364"/>
          </a:xfrm>
        </p:grpSpPr>
        <p:sp>
          <p:nvSpPr>
            <p:cNvPr id="77" name="TextBox 76"/>
            <p:cNvSpPr txBox="1"/>
            <p:nvPr/>
          </p:nvSpPr>
          <p:spPr bwMode="auto">
            <a:xfrm>
              <a:off x="2304495" y="2781094"/>
              <a:ext cx="391366" cy="461665"/>
            </a:xfrm>
            <a:prstGeom prst="rect">
              <a:avLst/>
            </a:prstGeom>
            <a:noFill/>
          </p:spPr>
          <p:txBody>
            <a:bodyPr wrap="square" rtlCol="1">
              <a:spAutoFit/>
            </a:bodyPr>
            <a:lstStyle/>
            <a:p>
              <a:pPr>
                <a:defRPr/>
              </a:pPr>
              <a:r>
                <a:rPr lang="en-US" sz="2400"/>
                <a:t>.</a:t>
              </a:r>
              <a:endParaRPr/>
            </a:p>
          </p:txBody>
        </p:sp>
        <p:sp>
          <p:nvSpPr>
            <p:cNvPr id="78" name="TextBox 77"/>
            <p:cNvSpPr txBox="1"/>
            <p:nvPr/>
          </p:nvSpPr>
          <p:spPr bwMode="auto">
            <a:xfrm>
              <a:off x="2304495" y="2956183"/>
              <a:ext cx="391366" cy="461665"/>
            </a:xfrm>
            <a:prstGeom prst="rect">
              <a:avLst/>
            </a:prstGeom>
            <a:noFill/>
          </p:spPr>
          <p:txBody>
            <a:bodyPr wrap="square" rtlCol="1">
              <a:spAutoFit/>
            </a:bodyPr>
            <a:lstStyle/>
            <a:p>
              <a:pPr>
                <a:defRPr/>
              </a:pPr>
              <a:r>
                <a:rPr lang="en-US" sz="2400"/>
                <a:t>.</a:t>
              </a:r>
              <a:endParaRPr/>
            </a:p>
          </p:txBody>
        </p:sp>
        <p:sp>
          <p:nvSpPr>
            <p:cNvPr id="79" name="TextBox 78"/>
            <p:cNvSpPr txBox="1"/>
            <p:nvPr/>
          </p:nvSpPr>
          <p:spPr bwMode="auto">
            <a:xfrm>
              <a:off x="2304495" y="3146793"/>
              <a:ext cx="391366" cy="461665"/>
            </a:xfrm>
            <a:prstGeom prst="rect">
              <a:avLst/>
            </a:prstGeom>
            <a:noFill/>
          </p:spPr>
          <p:txBody>
            <a:bodyPr wrap="square" rtlCol="1">
              <a:spAutoFit/>
            </a:bodyPr>
            <a:lstStyle/>
            <a:p>
              <a:pPr>
                <a:defRPr/>
              </a:pPr>
              <a:r>
                <a:rPr lang="en-US" sz="2400"/>
                <a:t>.</a:t>
              </a:r>
              <a:endParaRPr/>
            </a:p>
          </p:txBody>
        </p:sp>
      </p:grpSp>
      <p:grpSp>
        <p:nvGrpSpPr>
          <p:cNvPr id="155488795" name="Group 88"/>
          <p:cNvGrpSpPr/>
          <p:nvPr/>
        </p:nvGrpSpPr>
        <p:grpSpPr bwMode="auto">
          <a:xfrm>
            <a:off x="6122446" y="1740317"/>
            <a:ext cx="2515853" cy="751866"/>
            <a:chOff x="6074940" y="1749958"/>
            <a:chExt cx="2515853" cy="751866"/>
          </a:xfrm>
        </p:grpSpPr>
        <p:grpSp>
          <p:nvGrpSpPr>
            <p:cNvPr id="83" name="Group 82"/>
            <p:cNvGrpSpPr/>
            <p:nvPr/>
          </p:nvGrpSpPr>
          <p:grpSpPr bwMode="auto">
            <a:xfrm>
              <a:off x="6074940" y="1749958"/>
              <a:ext cx="2515853" cy="684988"/>
              <a:chOff x="2994410" y="1565070"/>
              <a:chExt cx="2515853" cy="684988"/>
            </a:xfrm>
          </p:grpSpPr>
          <p:pic>
            <p:nvPicPr>
              <p:cNvPr id="20" name="Picture 19"/>
              <p:cNvPicPr>
                <a:picLocks noChangeAspect="1"/>
              </p:cNvPicPr>
              <p:nvPr/>
            </p:nvPicPr>
            <p:blipFill rotWithShape="1">
              <a:blip r:embed="rId4"/>
              <a:srcRect l="1846" t="59175" r="51113" b="2018"/>
              <a:stretch/>
            </p:blipFill>
            <p:spPr bwMode="auto">
              <a:xfrm>
                <a:off x="4814953" y="1660803"/>
                <a:ext cx="695310" cy="589255"/>
              </a:xfrm>
              <a:prstGeom prst="rect">
                <a:avLst/>
              </a:prstGeom>
            </p:spPr>
          </p:pic>
          <p:sp>
            <p:nvSpPr>
              <p:cNvPr id="23" name="Rectangle 22"/>
              <p:cNvSpPr/>
              <p:nvPr/>
            </p:nvSpPr>
            <p:spPr bwMode="auto">
              <a:xfrm>
                <a:off x="2994410" y="1565070"/>
                <a:ext cx="1495082" cy="261726"/>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grpSp>
        <p:sp>
          <p:nvSpPr>
            <p:cNvPr id="88" name="Rectangle 87"/>
            <p:cNvSpPr/>
            <p:nvPr/>
          </p:nvSpPr>
          <p:spPr bwMode="auto">
            <a:xfrm>
              <a:off x="6074940" y="2240098"/>
              <a:ext cx="1495082" cy="261726"/>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grpSp>
      <p:grpSp>
        <p:nvGrpSpPr>
          <p:cNvPr id="1680387149" name="Group 90"/>
          <p:cNvGrpSpPr/>
          <p:nvPr/>
        </p:nvGrpSpPr>
        <p:grpSpPr bwMode="auto">
          <a:xfrm>
            <a:off x="6760918" y="3327951"/>
            <a:ext cx="1596493" cy="1104745"/>
            <a:chOff x="8484234" y="3417848"/>
            <a:chExt cx="1596493" cy="1104745"/>
          </a:xfrm>
        </p:grpSpPr>
        <p:sp>
          <p:nvSpPr>
            <p:cNvPr id="25" name="Rectangle 24"/>
            <p:cNvSpPr/>
            <p:nvPr/>
          </p:nvSpPr>
          <p:spPr bwMode="auto">
            <a:xfrm>
              <a:off x="8545719" y="3417848"/>
              <a:ext cx="774669" cy="11047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sp>
          <p:nvSpPr>
            <p:cNvPr id="26" name="TextBox 25"/>
            <p:cNvSpPr txBox="1"/>
            <p:nvPr/>
          </p:nvSpPr>
          <p:spPr bwMode="auto">
            <a:xfrm>
              <a:off x="8484234" y="3424088"/>
              <a:ext cx="1596493" cy="338554"/>
            </a:xfrm>
            <a:prstGeom prst="rect">
              <a:avLst/>
            </a:prstGeom>
            <a:noFill/>
          </p:spPr>
          <p:txBody>
            <a:bodyPr wrap="square" rtlCol="1">
              <a:spAutoFit/>
            </a:bodyPr>
            <a:lstStyle/>
            <a:p>
              <a:pPr>
                <a:defRPr/>
              </a:pPr>
              <a:r>
                <a:rPr lang="en-US" sz="1600">
                  <a:solidFill>
                    <a:schemeClr val="bg1"/>
                  </a:solidFill>
                </a:rPr>
                <a:t>Protocol</a:t>
              </a:r>
              <a:endParaRPr lang="he-IL" sz="1600">
                <a:solidFill>
                  <a:schemeClr val="bg1"/>
                </a:solidFill>
              </a:endParaRPr>
            </a:p>
          </p:txBody>
        </p:sp>
      </p:grpSp>
      <p:grpSp>
        <p:nvGrpSpPr>
          <p:cNvPr id="224628604" name="Group 27"/>
          <p:cNvGrpSpPr/>
          <p:nvPr/>
        </p:nvGrpSpPr>
        <p:grpSpPr bwMode="auto">
          <a:xfrm>
            <a:off x="3890347" y="1631532"/>
            <a:ext cx="522335" cy="150603"/>
            <a:chOff x="4578928" y="3302894"/>
            <a:chExt cx="759130" cy="218877"/>
          </a:xfrm>
        </p:grpSpPr>
        <p:sp>
          <p:nvSpPr>
            <p:cNvPr id="29" name="Oval 28"/>
            <p:cNvSpPr/>
            <p:nvPr/>
          </p:nvSpPr>
          <p:spPr bwMode="auto">
            <a:xfrm>
              <a:off x="4578928" y="3309198"/>
              <a:ext cx="212573" cy="212573"/>
            </a:xfrm>
            <a:prstGeom prst="ellipse">
              <a:avLst/>
            </a:prstGeom>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sp>
          <p:nvSpPr>
            <p:cNvPr id="30" name="Oval 29"/>
            <p:cNvSpPr/>
            <p:nvPr/>
          </p:nvSpPr>
          <p:spPr bwMode="auto">
            <a:xfrm>
              <a:off x="4857512" y="3302894"/>
              <a:ext cx="212573" cy="212573"/>
            </a:xfrm>
            <a:prstGeom prst="ellipse">
              <a:avLst/>
            </a:prstGeom>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sp>
          <p:nvSpPr>
            <p:cNvPr id="31" name="Oval 30"/>
            <p:cNvSpPr/>
            <p:nvPr/>
          </p:nvSpPr>
          <p:spPr bwMode="auto">
            <a:xfrm>
              <a:off x="5125485" y="3302894"/>
              <a:ext cx="212573" cy="212573"/>
            </a:xfrm>
            <a:prstGeom prst="ellipse">
              <a:avLst/>
            </a:prstGeom>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grpSp>
      <p:grpSp>
        <p:nvGrpSpPr>
          <p:cNvPr id="61593948" name="Group 32"/>
          <p:cNvGrpSpPr/>
          <p:nvPr/>
        </p:nvGrpSpPr>
        <p:grpSpPr bwMode="auto">
          <a:xfrm>
            <a:off x="3088857" y="2188447"/>
            <a:ext cx="522335" cy="150603"/>
            <a:chOff x="4578928" y="3302894"/>
            <a:chExt cx="759130" cy="218877"/>
          </a:xfrm>
        </p:grpSpPr>
        <p:sp>
          <p:nvSpPr>
            <p:cNvPr id="34" name="Oval 33"/>
            <p:cNvSpPr/>
            <p:nvPr/>
          </p:nvSpPr>
          <p:spPr bwMode="auto">
            <a:xfrm>
              <a:off x="4578928" y="3309198"/>
              <a:ext cx="212573" cy="212573"/>
            </a:xfrm>
            <a:prstGeom prst="ellipse">
              <a:avLst/>
            </a:prstGeom>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sp>
          <p:nvSpPr>
            <p:cNvPr id="35" name="Oval 34"/>
            <p:cNvSpPr/>
            <p:nvPr/>
          </p:nvSpPr>
          <p:spPr bwMode="auto">
            <a:xfrm>
              <a:off x="4857512" y="3302894"/>
              <a:ext cx="212573" cy="212573"/>
            </a:xfrm>
            <a:prstGeom prst="ellipse">
              <a:avLst/>
            </a:prstGeom>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sp>
          <p:nvSpPr>
            <p:cNvPr id="36" name="Oval 35"/>
            <p:cNvSpPr/>
            <p:nvPr/>
          </p:nvSpPr>
          <p:spPr bwMode="auto">
            <a:xfrm>
              <a:off x="5125485" y="3302894"/>
              <a:ext cx="212573" cy="212573"/>
            </a:xfrm>
            <a:prstGeom prst="ellipse">
              <a:avLst/>
            </a:prstGeom>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grpSp>
      <p:grpSp>
        <p:nvGrpSpPr>
          <p:cNvPr id="1326093805" name="Group 89"/>
          <p:cNvGrpSpPr/>
          <p:nvPr/>
        </p:nvGrpSpPr>
        <p:grpSpPr bwMode="auto">
          <a:xfrm>
            <a:off x="9887505" y="3273588"/>
            <a:ext cx="1634632" cy="1104745"/>
            <a:chOff x="2132016" y="1483215"/>
            <a:chExt cx="1634632" cy="1104745"/>
          </a:xfrm>
        </p:grpSpPr>
        <p:sp>
          <p:nvSpPr>
            <p:cNvPr id="21" name="Rectangle 20"/>
            <p:cNvSpPr/>
            <p:nvPr/>
          </p:nvSpPr>
          <p:spPr bwMode="auto">
            <a:xfrm>
              <a:off x="2132016" y="1483215"/>
              <a:ext cx="929570" cy="11047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sp>
          <p:nvSpPr>
            <p:cNvPr id="22" name="TextBox 21"/>
            <p:cNvSpPr txBox="1"/>
            <p:nvPr/>
          </p:nvSpPr>
          <p:spPr bwMode="auto">
            <a:xfrm>
              <a:off x="2170155" y="1489352"/>
              <a:ext cx="1596493" cy="338554"/>
            </a:xfrm>
            <a:prstGeom prst="rect">
              <a:avLst/>
            </a:prstGeom>
            <a:noFill/>
          </p:spPr>
          <p:txBody>
            <a:bodyPr wrap="square" rtlCol="1">
              <a:spAutoFit/>
            </a:bodyPr>
            <a:lstStyle/>
            <a:p>
              <a:pPr>
                <a:defRPr/>
              </a:pPr>
              <a:r>
                <a:rPr lang="en-US" sz="1600">
                  <a:solidFill>
                    <a:schemeClr val="bg1"/>
                  </a:solidFill>
                </a:rPr>
                <a:t>EncDec</a:t>
              </a:r>
              <a:endParaRPr lang="he-IL" sz="1600">
                <a:solidFill>
                  <a:schemeClr val="bg1"/>
                </a:solidFill>
              </a:endParaRPr>
            </a:p>
          </p:txBody>
        </p:sp>
      </p:grpSp>
      <p:grpSp>
        <p:nvGrpSpPr>
          <p:cNvPr id="693007874" name="Group 93"/>
          <p:cNvGrpSpPr/>
          <p:nvPr/>
        </p:nvGrpSpPr>
        <p:grpSpPr bwMode="auto">
          <a:xfrm>
            <a:off x="159554" y="3583189"/>
            <a:ext cx="5277303" cy="2091331"/>
            <a:chOff x="232960" y="833863"/>
            <a:chExt cx="5277303" cy="2091331"/>
          </a:xfrm>
        </p:grpSpPr>
        <p:sp>
          <p:nvSpPr>
            <p:cNvPr id="95" name="Rectangle 94"/>
            <p:cNvSpPr/>
            <p:nvPr/>
          </p:nvSpPr>
          <p:spPr bwMode="auto">
            <a:xfrm>
              <a:off x="232960" y="833863"/>
              <a:ext cx="5277303" cy="2091331"/>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sp>
          <p:nvSpPr>
            <p:cNvPr id="96" name="TextBox 95"/>
            <p:cNvSpPr txBox="1"/>
            <p:nvPr/>
          </p:nvSpPr>
          <p:spPr bwMode="auto">
            <a:xfrm>
              <a:off x="980256" y="988599"/>
              <a:ext cx="2768602" cy="307777"/>
            </a:xfrm>
            <a:prstGeom prst="rect">
              <a:avLst/>
            </a:prstGeom>
            <a:noFill/>
          </p:spPr>
          <p:txBody>
            <a:bodyPr wrap="square" rtlCol="1">
              <a:spAutoFit/>
            </a:bodyPr>
            <a:lstStyle/>
            <a:p>
              <a:pPr>
                <a:defRPr/>
              </a:pPr>
              <a:r>
                <a:rPr lang="en-US" sz="1400"/>
                <a:t>Connection Handler (Runnable)</a:t>
              </a:r>
              <a:endParaRPr lang="he-IL" sz="1400"/>
            </a:p>
          </p:txBody>
        </p:sp>
      </p:grpSp>
      <p:sp>
        <p:nvSpPr>
          <p:cNvPr id="341727767" name="Oval 96"/>
          <p:cNvSpPr/>
          <p:nvPr/>
        </p:nvSpPr>
        <p:spPr bwMode="auto">
          <a:xfrm>
            <a:off x="2123561" y="4297824"/>
            <a:ext cx="453493" cy="453493"/>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sp>
        <p:nvSpPr>
          <p:cNvPr id="1634107263" name="Oval 97"/>
          <p:cNvSpPr/>
          <p:nvPr/>
        </p:nvSpPr>
        <p:spPr bwMode="auto">
          <a:xfrm>
            <a:off x="998663" y="4772715"/>
            <a:ext cx="453493" cy="453493"/>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grpSp>
        <p:nvGrpSpPr>
          <p:cNvPr id="1447841077" name="Group 98"/>
          <p:cNvGrpSpPr/>
          <p:nvPr/>
        </p:nvGrpSpPr>
        <p:grpSpPr bwMode="auto">
          <a:xfrm>
            <a:off x="6051874" y="1920020"/>
            <a:ext cx="2515853" cy="751866"/>
            <a:chOff x="6074940" y="1749958"/>
            <a:chExt cx="2515853" cy="751866"/>
          </a:xfrm>
        </p:grpSpPr>
        <p:grpSp>
          <p:nvGrpSpPr>
            <p:cNvPr id="100" name="Group 99"/>
            <p:cNvGrpSpPr/>
            <p:nvPr/>
          </p:nvGrpSpPr>
          <p:grpSpPr bwMode="auto">
            <a:xfrm>
              <a:off x="6074940" y="1749958"/>
              <a:ext cx="2515853" cy="684988"/>
              <a:chOff x="2994410" y="1565070"/>
              <a:chExt cx="2515853" cy="684988"/>
            </a:xfrm>
          </p:grpSpPr>
          <p:pic>
            <p:nvPicPr>
              <p:cNvPr id="102" name="Picture 101"/>
              <p:cNvPicPr>
                <a:picLocks noChangeAspect="1"/>
              </p:cNvPicPr>
              <p:nvPr/>
            </p:nvPicPr>
            <p:blipFill rotWithShape="1">
              <a:blip r:embed="rId4"/>
              <a:srcRect l="1846" t="59175" r="51113" b="2018"/>
              <a:stretch/>
            </p:blipFill>
            <p:spPr bwMode="auto">
              <a:xfrm>
                <a:off x="4814953" y="1660803"/>
                <a:ext cx="695310" cy="589255"/>
              </a:xfrm>
              <a:prstGeom prst="rect">
                <a:avLst/>
              </a:prstGeom>
            </p:spPr>
          </p:pic>
          <p:sp>
            <p:nvSpPr>
              <p:cNvPr id="103" name="Rectangle 102"/>
              <p:cNvSpPr/>
              <p:nvPr/>
            </p:nvSpPr>
            <p:spPr bwMode="auto">
              <a:xfrm>
                <a:off x="2994410" y="1565070"/>
                <a:ext cx="1495082" cy="261726"/>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grpSp>
        <p:sp>
          <p:nvSpPr>
            <p:cNvPr id="101" name="Rectangle 100"/>
            <p:cNvSpPr/>
            <p:nvPr/>
          </p:nvSpPr>
          <p:spPr bwMode="auto">
            <a:xfrm>
              <a:off x="6074940" y="2240098"/>
              <a:ext cx="1495082" cy="261726"/>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grpSp>
      <p:grpSp>
        <p:nvGrpSpPr>
          <p:cNvPr id="192062170" name="Group 103"/>
          <p:cNvGrpSpPr/>
          <p:nvPr/>
        </p:nvGrpSpPr>
        <p:grpSpPr bwMode="auto">
          <a:xfrm>
            <a:off x="6789548" y="3535284"/>
            <a:ext cx="1596493" cy="1104745"/>
            <a:chOff x="8484234" y="3417848"/>
            <a:chExt cx="1596493" cy="1104745"/>
          </a:xfrm>
        </p:grpSpPr>
        <p:sp>
          <p:nvSpPr>
            <p:cNvPr id="105" name="Rectangle 104"/>
            <p:cNvSpPr/>
            <p:nvPr/>
          </p:nvSpPr>
          <p:spPr bwMode="auto">
            <a:xfrm>
              <a:off x="8545719" y="3417848"/>
              <a:ext cx="774669" cy="11047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sp>
          <p:nvSpPr>
            <p:cNvPr id="106" name="TextBox 105"/>
            <p:cNvSpPr txBox="1"/>
            <p:nvPr/>
          </p:nvSpPr>
          <p:spPr bwMode="auto">
            <a:xfrm>
              <a:off x="8484234" y="3424088"/>
              <a:ext cx="1596493" cy="338554"/>
            </a:xfrm>
            <a:prstGeom prst="rect">
              <a:avLst/>
            </a:prstGeom>
            <a:noFill/>
          </p:spPr>
          <p:txBody>
            <a:bodyPr wrap="square" rtlCol="1">
              <a:spAutoFit/>
            </a:bodyPr>
            <a:lstStyle/>
            <a:p>
              <a:pPr>
                <a:defRPr/>
              </a:pPr>
              <a:r>
                <a:rPr lang="en-US" sz="1600">
                  <a:solidFill>
                    <a:schemeClr val="bg1"/>
                  </a:solidFill>
                </a:rPr>
                <a:t>Protocol</a:t>
              </a:r>
              <a:endParaRPr lang="he-IL" sz="1600">
                <a:solidFill>
                  <a:schemeClr val="bg1"/>
                </a:solidFill>
              </a:endParaRPr>
            </a:p>
          </p:txBody>
        </p:sp>
      </p:grpSp>
      <p:grpSp>
        <p:nvGrpSpPr>
          <p:cNvPr id="727071761" name="Group 106"/>
          <p:cNvGrpSpPr/>
          <p:nvPr/>
        </p:nvGrpSpPr>
        <p:grpSpPr bwMode="auto">
          <a:xfrm>
            <a:off x="3890347" y="4434927"/>
            <a:ext cx="522335" cy="150603"/>
            <a:chOff x="4578928" y="3302894"/>
            <a:chExt cx="759130" cy="218877"/>
          </a:xfrm>
        </p:grpSpPr>
        <p:sp>
          <p:nvSpPr>
            <p:cNvPr id="108" name="Oval 107"/>
            <p:cNvSpPr/>
            <p:nvPr/>
          </p:nvSpPr>
          <p:spPr bwMode="auto">
            <a:xfrm>
              <a:off x="4578928" y="3309198"/>
              <a:ext cx="212573" cy="212573"/>
            </a:xfrm>
            <a:prstGeom prst="ellipse">
              <a:avLst/>
            </a:prstGeom>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sp>
          <p:nvSpPr>
            <p:cNvPr id="109" name="Oval 108"/>
            <p:cNvSpPr/>
            <p:nvPr/>
          </p:nvSpPr>
          <p:spPr bwMode="auto">
            <a:xfrm>
              <a:off x="4857512" y="3302894"/>
              <a:ext cx="212573" cy="212573"/>
            </a:xfrm>
            <a:prstGeom prst="ellipse">
              <a:avLst/>
            </a:prstGeom>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sp>
          <p:nvSpPr>
            <p:cNvPr id="110" name="Oval 109"/>
            <p:cNvSpPr/>
            <p:nvPr/>
          </p:nvSpPr>
          <p:spPr bwMode="auto">
            <a:xfrm>
              <a:off x="5125485" y="3302894"/>
              <a:ext cx="212573" cy="212573"/>
            </a:xfrm>
            <a:prstGeom prst="ellipse">
              <a:avLst/>
            </a:prstGeom>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grpSp>
      <p:grpSp>
        <p:nvGrpSpPr>
          <p:cNvPr id="1722920042" name="Group 110"/>
          <p:cNvGrpSpPr/>
          <p:nvPr/>
        </p:nvGrpSpPr>
        <p:grpSpPr bwMode="auto">
          <a:xfrm>
            <a:off x="3020277" y="4999462"/>
            <a:ext cx="522335" cy="150603"/>
            <a:chOff x="4578928" y="3302894"/>
            <a:chExt cx="759130" cy="218877"/>
          </a:xfrm>
        </p:grpSpPr>
        <p:sp>
          <p:nvSpPr>
            <p:cNvPr id="112" name="Oval 111"/>
            <p:cNvSpPr/>
            <p:nvPr/>
          </p:nvSpPr>
          <p:spPr bwMode="auto">
            <a:xfrm>
              <a:off x="4578928" y="3309198"/>
              <a:ext cx="212573" cy="212573"/>
            </a:xfrm>
            <a:prstGeom prst="ellipse">
              <a:avLst/>
            </a:prstGeom>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sp>
          <p:nvSpPr>
            <p:cNvPr id="113" name="Oval 112"/>
            <p:cNvSpPr/>
            <p:nvPr/>
          </p:nvSpPr>
          <p:spPr bwMode="auto">
            <a:xfrm>
              <a:off x="4857512" y="3302894"/>
              <a:ext cx="212573" cy="212573"/>
            </a:xfrm>
            <a:prstGeom prst="ellipse">
              <a:avLst/>
            </a:prstGeom>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sp>
          <p:nvSpPr>
            <p:cNvPr id="114" name="Oval 113"/>
            <p:cNvSpPr/>
            <p:nvPr/>
          </p:nvSpPr>
          <p:spPr bwMode="auto">
            <a:xfrm>
              <a:off x="5125485" y="3302894"/>
              <a:ext cx="212573" cy="212573"/>
            </a:xfrm>
            <a:prstGeom prst="ellipse">
              <a:avLst/>
            </a:prstGeom>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grpSp>
      <p:grpSp>
        <p:nvGrpSpPr>
          <p:cNvPr id="2073592341" name="Group 114"/>
          <p:cNvGrpSpPr/>
          <p:nvPr/>
        </p:nvGrpSpPr>
        <p:grpSpPr bwMode="auto">
          <a:xfrm>
            <a:off x="9887505" y="3417848"/>
            <a:ext cx="1634632" cy="1104745"/>
            <a:chOff x="2132016" y="1483215"/>
            <a:chExt cx="1634632" cy="1104745"/>
          </a:xfrm>
        </p:grpSpPr>
        <p:sp>
          <p:nvSpPr>
            <p:cNvPr id="116" name="Rectangle 115"/>
            <p:cNvSpPr/>
            <p:nvPr/>
          </p:nvSpPr>
          <p:spPr bwMode="auto">
            <a:xfrm>
              <a:off x="2132016" y="1483215"/>
              <a:ext cx="929570" cy="11047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sp>
          <p:nvSpPr>
            <p:cNvPr id="117" name="TextBox 116"/>
            <p:cNvSpPr txBox="1"/>
            <p:nvPr/>
          </p:nvSpPr>
          <p:spPr bwMode="auto">
            <a:xfrm>
              <a:off x="2170155" y="1489352"/>
              <a:ext cx="1596493" cy="338554"/>
            </a:xfrm>
            <a:prstGeom prst="rect">
              <a:avLst/>
            </a:prstGeom>
            <a:noFill/>
          </p:spPr>
          <p:txBody>
            <a:bodyPr wrap="square" rtlCol="1">
              <a:spAutoFit/>
            </a:bodyPr>
            <a:lstStyle/>
            <a:p>
              <a:pPr>
                <a:defRPr/>
              </a:pPr>
              <a:r>
                <a:rPr lang="en-US" sz="1600">
                  <a:solidFill>
                    <a:schemeClr val="bg1"/>
                  </a:solidFill>
                </a:rPr>
                <a:t>EncDec</a:t>
              </a:r>
              <a:endParaRPr lang="he-IL" sz="1600">
                <a:solidFill>
                  <a:schemeClr val="bg1"/>
                </a:solidFill>
              </a:endParaRPr>
            </a:p>
          </p:txBody>
        </p:sp>
      </p:grpSp>
      <p:grpSp>
        <p:nvGrpSpPr>
          <p:cNvPr id="1035770013" name="Group 132"/>
          <p:cNvGrpSpPr/>
          <p:nvPr/>
        </p:nvGrpSpPr>
        <p:grpSpPr bwMode="auto">
          <a:xfrm>
            <a:off x="8152297" y="1554429"/>
            <a:ext cx="2968584" cy="1127251"/>
            <a:chOff x="8152297" y="1554429"/>
            <a:chExt cx="2968584" cy="1127251"/>
          </a:xfrm>
        </p:grpSpPr>
        <p:pic>
          <p:nvPicPr>
            <p:cNvPr id="18" name="Picture 17"/>
            <p:cNvPicPr>
              <a:picLocks noChangeAspect="1"/>
            </p:cNvPicPr>
            <p:nvPr/>
          </p:nvPicPr>
          <p:blipFill rotWithShape="1">
            <a:blip r:embed="rId4"/>
            <a:srcRect l="1846" t="59175" r="51113" b="2018"/>
            <a:stretch/>
          </p:blipFill>
          <p:spPr bwMode="auto">
            <a:xfrm>
              <a:off x="8289645" y="1808156"/>
              <a:ext cx="1030743" cy="873524"/>
            </a:xfrm>
            <a:prstGeom prst="rect">
              <a:avLst/>
            </a:prstGeom>
          </p:spPr>
        </p:pic>
        <p:sp>
          <p:nvSpPr>
            <p:cNvPr id="132" name="TextBox 131"/>
            <p:cNvSpPr txBox="1"/>
            <p:nvPr/>
          </p:nvSpPr>
          <p:spPr bwMode="auto">
            <a:xfrm>
              <a:off x="8152297" y="1554429"/>
              <a:ext cx="2968584" cy="369332"/>
            </a:xfrm>
            <a:prstGeom prst="rect">
              <a:avLst/>
            </a:prstGeom>
            <a:noFill/>
          </p:spPr>
          <p:txBody>
            <a:bodyPr wrap="square" rtlCol="1">
              <a:spAutoFit/>
            </a:bodyPr>
            <a:lstStyle/>
            <a:p>
              <a:pPr>
                <a:defRPr/>
              </a:pPr>
              <a:r>
                <a:rPr lang="en-US"/>
                <a:t>ServerSocket</a:t>
              </a:r>
              <a:endParaRPr lang="he-IL"/>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5488795"/>
                                        </p:tgtEl>
                                        <p:attrNameLst>
                                          <p:attrName>style.visibility</p:attrName>
                                        </p:attrNameLst>
                                      </p:cBhvr>
                                      <p:to>
                                        <p:strVal val="visible"/>
                                      </p:to>
                                    </p:set>
                                    <p:animEffect transition="in" filter="fade">
                                      <p:cBhvr>
                                        <p:cTn id="7" dur="500"/>
                                        <p:tgtEl>
                                          <p:spTgt spid="15548879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path" presetSubtype="0" accel="50000" decel="50000" fill="hold" nodeType="clickEffect">
                                  <p:stCondLst>
                                    <p:cond delay="0"/>
                                  </p:stCondLst>
                                  <p:childTnLst>
                                    <p:animMotion origin="layout" path="M 1.45833E-6 -4.81481E-6 L -0.25677 -0.01805 " pathEditMode="relative" rAng="0" ptsTypes="AA">
                                      <p:cBhvr>
                                        <p:cTn id="11" dur="2000" fill="hold"/>
                                        <p:tgtEl>
                                          <p:spTgt spid="155488795"/>
                                        </p:tgtEl>
                                        <p:attrNameLst>
                                          <p:attrName>ppt_x</p:attrName>
                                          <p:attrName>ppt_y</p:attrName>
                                        </p:attrNameLst>
                                      </p:cBhvr>
                                      <p:rCtr x="-12839" y="-903"/>
                                    </p:animMotion>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326093805"/>
                                        </p:tgtEl>
                                        <p:attrNameLst>
                                          <p:attrName>style.visibility</p:attrName>
                                        </p:attrNameLst>
                                      </p:cBhvr>
                                      <p:to>
                                        <p:strVal val="visible"/>
                                      </p:to>
                                    </p:set>
                                    <p:animEffect transition="in" filter="fade">
                                      <p:cBhvr>
                                        <p:cTn id="16" dur="500"/>
                                        <p:tgtEl>
                                          <p:spTgt spid="1326093805"/>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path" presetSubtype="0" accel="50000" decel="50000" fill="hold" nodeType="clickEffect">
                                  <p:stCondLst>
                                    <p:cond delay="0"/>
                                  </p:stCondLst>
                                  <p:childTnLst>
                                    <p:animMotion origin="layout" path="M -4.79167E-6 -3.7037E-7 L -0.61263 -0.26597 " pathEditMode="relative" rAng="0" ptsTypes="AA">
                                      <p:cBhvr>
                                        <p:cTn id="20" dur="2000" fill="hold"/>
                                        <p:tgtEl>
                                          <p:spTgt spid="1326093805"/>
                                        </p:tgtEl>
                                        <p:attrNameLst>
                                          <p:attrName>ppt_x</p:attrName>
                                          <p:attrName>ppt_y</p:attrName>
                                        </p:attrNameLst>
                                      </p:cBhvr>
                                      <p:rCtr x="-30638" y="-13310"/>
                                    </p:animMotion>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680387149"/>
                                        </p:tgtEl>
                                        <p:attrNameLst>
                                          <p:attrName>style.visibility</p:attrName>
                                        </p:attrNameLst>
                                      </p:cBhvr>
                                      <p:to>
                                        <p:strVal val="visible"/>
                                      </p:to>
                                    </p:set>
                                    <p:animEffect transition="in" filter="fade">
                                      <p:cBhvr>
                                        <p:cTn id="25" dur="500"/>
                                        <p:tgtEl>
                                          <p:spTgt spid="1680387149"/>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path" presetSubtype="0" accel="50000" decel="50000" fill="hold" nodeType="clickEffect">
                                  <p:stCondLst>
                                    <p:cond delay="0"/>
                                  </p:stCondLst>
                                  <p:childTnLst>
                                    <p:animMotion origin="layout" path="M -2.08333E-6 -7.40741E-7 L -0.51692 -0.27523 " pathEditMode="relative" rAng="0" ptsTypes="AA">
                                      <p:cBhvr>
                                        <p:cTn id="29" dur="2000" fill="hold"/>
                                        <p:tgtEl>
                                          <p:spTgt spid="1680387149"/>
                                        </p:tgtEl>
                                        <p:attrNameLst>
                                          <p:attrName>ppt_x</p:attrName>
                                          <p:attrName>ppt_y</p:attrName>
                                        </p:attrNameLst>
                                      </p:cBhvr>
                                      <p:rCtr x="-25846" y="-13773"/>
                                    </p:animMotion>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510730565"/>
                                        </p:tgtEl>
                                        <p:attrNameLst>
                                          <p:attrName>style.visibility</p:attrName>
                                        </p:attrNameLst>
                                      </p:cBhvr>
                                      <p:to>
                                        <p:strVal val="visible"/>
                                      </p:to>
                                    </p:set>
                                    <p:animEffect transition="in" filter="fade">
                                      <p:cBhvr>
                                        <p:cTn id="34" dur="500"/>
                                        <p:tgtEl>
                                          <p:spTgt spid="1510730565"/>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2462860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42" presetClass="path" presetSubtype="0" accel="50000" decel="50000" fill="hold" nodeType="clickEffect">
                                  <p:stCondLst>
                                    <p:cond delay="0"/>
                                  </p:stCondLst>
                                  <p:childTnLst>
                                    <p:animMotion origin="layout" path="M -4.79167E-6 -2.59259E-6 L -0.10546 0.00486 " pathEditMode="relative" rAng="0" ptsTypes="AA">
                                      <p:cBhvr>
                                        <p:cTn id="42" dur="2000" fill="hold"/>
                                        <p:tgtEl>
                                          <p:spTgt spid="224628604"/>
                                        </p:tgtEl>
                                        <p:attrNameLst>
                                          <p:attrName>ppt_x</p:attrName>
                                          <p:attrName>ppt_y</p:attrName>
                                        </p:attrNameLst>
                                      </p:cBhvr>
                                      <p:rCtr x="-5273" y="231"/>
                                    </p:animMotion>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531395623"/>
                                        </p:tgtEl>
                                        <p:attrNameLst>
                                          <p:attrName>style.visibility</p:attrName>
                                        </p:attrNameLst>
                                      </p:cBhvr>
                                      <p:to>
                                        <p:strVal val="visible"/>
                                      </p:to>
                                    </p:set>
                                    <p:animEffect transition="in" filter="fade">
                                      <p:cBhvr>
                                        <p:cTn id="47" dur="500"/>
                                        <p:tgtEl>
                                          <p:spTgt spid="531395623"/>
                                        </p:tgtEl>
                                      </p:cBhvr>
                                    </p:animEffect>
                                  </p:childTnLst>
                                </p:cTn>
                              </p:par>
                            </p:childTnLst>
                          </p:cTn>
                        </p:par>
                      </p:childTnLst>
                    </p:cTn>
                  </p:par>
                  <p:par>
                    <p:cTn id="48" fill="hold">
                      <p:stCondLst>
                        <p:cond delay="indefinite"/>
                      </p:stCondLst>
                      <p:childTnLst>
                        <p:par>
                          <p:cTn id="49" fill="hold">
                            <p:stCondLst>
                              <p:cond delay="0"/>
                            </p:stCondLst>
                            <p:childTnLst>
                              <p:par>
                                <p:cTn id="50" presetID="42" presetClass="path" presetSubtype="0" accel="50000" decel="50000" fill="hold" grpId="1" nodeType="clickEffect">
                                  <p:stCondLst>
                                    <p:cond delay="0"/>
                                  </p:stCondLst>
                                  <p:childTnLst>
                                    <p:animMotion origin="layout" path="M 1.66667E-6 1.11111E-6 L -0.09336 -0.00394 " pathEditMode="relative" rAng="0" ptsTypes="AA">
                                      <p:cBhvr>
                                        <p:cTn id="51" dur="2000" fill="hold"/>
                                        <p:tgtEl>
                                          <p:spTgt spid="531395623"/>
                                        </p:tgtEl>
                                        <p:attrNameLst>
                                          <p:attrName>ppt_x</p:attrName>
                                          <p:attrName>ppt_y</p:attrName>
                                        </p:attrNameLst>
                                      </p:cBhvr>
                                      <p:rCtr x="-4674" y="-208"/>
                                    </p:animMotion>
                                  </p:childTnLst>
                                </p:cTn>
                              </p:par>
                            </p:childTnLst>
                          </p:cTn>
                        </p:par>
                      </p:childTnLst>
                    </p:cTn>
                  </p:par>
                  <p:par>
                    <p:cTn id="52" fill="hold">
                      <p:stCondLst>
                        <p:cond delay="indefinite"/>
                      </p:stCondLst>
                      <p:childTnLst>
                        <p:par>
                          <p:cTn id="53" fill="hold">
                            <p:stCondLst>
                              <p:cond delay="0"/>
                            </p:stCondLst>
                            <p:childTnLst>
                              <p:par>
                                <p:cTn id="54" presetID="10" presetClass="exit" presetSubtype="0" fill="hold" grpId="2" nodeType="clickEffect">
                                  <p:stCondLst>
                                    <p:cond delay="0"/>
                                  </p:stCondLst>
                                  <p:childTnLst>
                                    <p:animEffect transition="out" filter="fade">
                                      <p:cBhvr>
                                        <p:cTn id="55" dur="500"/>
                                        <p:tgtEl>
                                          <p:spTgt spid="531395623"/>
                                        </p:tgtEl>
                                      </p:cBhvr>
                                    </p:animEffect>
                                    <p:set>
                                      <p:cBhvr>
                                        <p:cTn id="56" dur="1" fill="hold">
                                          <p:stCondLst>
                                            <p:cond delay="499"/>
                                          </p:stCondLst>
                                        </p:cTn>
                                        <p:tgtEl>
                                          <p:spTgt spid="531395623"/>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1674451078"/>
                                        </p:tgtEl>
                                        <p:attrNameLst>
                                          <p:attrName>style.visibility</p:attrName>
                                        </p:attrNameLst>
                                      </p:cBhvr>
                                      <p:to>
                                        <p:strVal val="visible"/>
                                      </p:to>
                                    </p:set>
                                    <p:animEffect transition="in" filter="fade">
                                      <p:cBhvr>
                                        <p:cTn id="61" dur="500"/>
                                        <p:tgtEl>
                                          <p:spTgt spid="1674451078"/>
                                        </p:tgtEl>
                                      </p:cBhvr>
                                    </p:animEffect>
                                  </p:childTnLst>
                                </p:cTn>
                              </p:par>
                            </p:childTnLst>
                          </p:cTn>
                        </p:par>
                      </p:childTnLst>
                    </p:cTn>
                  </p:par>
                  <p:par>
                    <p:cTn id="62" fill="hold">
                      <p:stCondLst>
                        <p:cond delay="indefinite"/>
                      </p:stCondLst>
                      <p:childTnLst>
                        <p:par>
                          <p:cTn id="63" fill="hold">
                            <p:stCondLst>
                              <p:cond delay="0"/>
                            </p:stCondLst>
                            <p:childTnLst>
                              <p:par>
                                <p:cTn id="64" presetID="42" presetClass="path" presetSubtype="0" accel="50000" decel="50000" fill="hold" grpId="1" nodeType="clickEffect">
                                  <p:stCondLst>
                                    <p:cond delay="0"/>
                                  </p:stCondLst>
                                  <p:childTnLst>
                                    <p:animMotion origin="layout" path="M -8.33333E-7 -4.44444E-6 L 0.09766 -0.00439 " pathEditMode="relative" rAng="0" ptsTypes="AA">
                                      <p:cBhvr>
                                        <p:cTn id="65" dur="2000" fill="hold"/>
                                        <p:tgtEl>
                                          <p:spTgt spid="1674451078"/>
                                        </p:tgtEl>
                                        <p:attrNameLst>
                                          <p:attrName>ppt_x</p:attrName>
                                          <p:attrName>ppt_y</p:attrName>
                                        </p:attrNameLst>
                                      </p:cBhvr>
                                      <p:rCtr x="4883" y="-231"/>
                                    </p:animMotion>
                                  </p:childTnLst>
                                </p:cTn>
                              </p:par>
                            </p:childTnLst>
                          </p:cTn>
                        </p:par>
                      </p:childTnLst>
                    </p:cTn>
                  </p:par>
                  <p:par>
                    <p:cTn id="66" fill="hold">
                      <p:stCondLst>
                        <p:cond delay="indefinite"/>
                      </p:stCondLst>
                      <p:childTnLst>
                        <p:par>
                          <p:cTn id="67" fill="hold">
                            <p:stCondLst>
                              <p:cond delay="0"/>
                            </p:stCondLst>
                            <p:childTnLst>
                              <p:par>
                                <p:cTn id="68" presetID="10" presetClass="exit" presetSubtype="0" fill="hold" grpId="2" nodeType="clickEffect">
                                  <p:stCondLst>
                                    <p:cond delay="0"/>
                                  </p:stCondLst>
                                  <p:childTnLst>
                                    <p:animEffect transition="out" filter="fade">
                                      <p:cBhvr>
                                        <p:cTn id="69" dur="500"/>
                                        <p:tgtEl>
                                          <p:spTgt spid="1674451078"/>
                                        </p:tgtEl>
                                      </p:cBhvr>
                                    </p:animEffect>
                                    <p:set>
                                      <p:cBhvr>
                                        <p:cTn id="70" dur="1" fill="hold">
                                          <p:stCondLst>
                                            <p:cond delay="499"/>
                                          </p:stCondLst>
                                        </p:cTn>
                                        <p:tgtEl>
                                          <p:spTgt spid="1674451078"/>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61593948"/>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42" presetClass="path" presetSubtype="0" accel="50000" decel="50000" fill="hold" nodeType="clickEffect">
                                  <p:stCondLst>
                                    <p:cond delay="0"/>
                                  </p:stCondLst>
                                  <p:childTnLst>
                                    <p:animMotion origin="layout" path="M 4.16667E-7 -2.59259E-6 L 0.072 -0.00486 " pathEditMode="relative" rAng="0" ptsTypes="AA">
                                      <p:cBhvr>
                                        <p:cTn id="78" dur="2000" fill="hold"/>
                                        <p:tgtEl>
                                          <p:spTgt spid="61593948"/>
                                        </p:tgtEl>
                                        <p:attrNameLst>
                                          <p:attrName>ppt_x</p:attrName>
                                          <p:attrName>ppt_y</p:attrName>
                                        </p:attrNameLst>
                                      </p:cBhvr>
                                      <p:rCtr x="3594" y="-255"/>
                                    </p:animMotion>
                                  </p:childTnLst>
                                </p:cTn>
                              </p:par>
                            </p:childTnLst>
                          </p:cTn>
                        </p:par>
                      </p:childTnLst>
                    </p:cTn>
                  </p:par>
                  <p:par>
                    <p:cTn id="79" fill="hold">
                      <p:stCondLst>
                        <p:cond delay="indefinite"/>
                      </p:stCondLst>
                      <p:childTnLst>
                        <p:par>
                          <p:cTn id="80" fill="hold">
                            <p:stCondLst>
                              <p:cond delay="0"/>
                            </p:stCondLst>
                            <p:childTnLst>
                              <p:par>
                                <p:cTn id="81" presetID="10" presetClass="exit" presetSubtype="0" fill="hold" nodeType="clickEffect">
                                  <p:stCondLst>
                                    <p:cond delay="0"/>
                                  </p:stCondLst>
                                  <p:childTnLst>
                                    <p:animEffect transition="out" filter="fade">
                                      <p:cBhvr>
                                        <p:cTn id="82" dur="500"/>
                                        <p:tgtEl>
                                          <p:spTgt spid="61593948"/>
                                        </p:tgtEl>
                                      </p:cBhvr>
                                    </p:animEffect>
                                    <p:set>
                                      <p:cBhvr>
                                        <p:cTn id="83" dur="1" fill="hold">
                                          <p:stCondLst>
                                            <p:cond delay="499"/>
                                          </p:stCondLst>
                                        </p:cTn>
                                        <p:tgtEl>
                                          <p:spTgt spid="61593948"/>
                                        </p:tgtEl>
                                        <p:attrNameLst>
                                          <p:attrName>style.visibility</p:attrName>
                                        </p:attrNameLst>
                                      </p:cBhvr>
                                      <p:to>
                                        <p:strVal val="hidden"/>
                                      </p:to>
                                    </p:se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1447841077"/>
                                        </p:tgtEl>
                                        <p:attrNameLst>
                                          <p:attrName>style.visibility</p:attrName>
                                        </p:attrNameLst>
                                      </p:cBhvr>
                                      <p:to>
                                        <p:strVal val="visible"/>
                                      </p:to>
                                    </p:set>
                                    <p:animEffect transition="in" filter="fade">
                                      <p:cBhvr>
                                        <p:cTn id="88" dur="500"/>
                                        <p:tgtEl>
                                          <p:spTgt spid="1447841077"/>
                                        </p:tgtEl>
                                      </p:cBhvr>
                                    </p:animEffect>
                                  </p:childTnLst>
                                </p:cTn>
                              </p:par>
                            </p:childTnLst>
                          </p:cTn>
                        </p:par>
                      </p:childTnLst>
                    </p:cTn>
                  </p:par>
                  <p:par>
                    <p:cTn id="89" fill="hold">
                      <p:stCondLst>
                        <p:cond delay="indefinite"/>
                      </p:stCondLst>
                      <p:childTnLst>
                        <p:par>
                          <p:cTn id="90" fill="hold">
                            <p:stCondLst>
                              <p:cond delay="0"/>
                            </p:stCondLst>
                            <p:childTnLst>
                              <p:par>
                                <p:cTn id="91" presetID="42" presetClass="path" presetSubtype="0" accel="50000" decel="50000" fill="hold" nodeType="clickEffect">
                                  <p:stCondLst>
                                    <p:cond delay="0"/>
                                  </p:stCondLst>
                                  <p:childTnLst>
                                    <p:animMotion origin="layout" path="M 8.33333E-7 -2.22222E-6 L -0.25052 0.36343 " pathEditMode="relative" rAng="0" ptsTypes="AA">
                                      <p:cBhvr>
                                        <p:cTn id="92" dur="2000" fill="hold"/>
                                        <p:tgtEl>
                                          <p:spTgt spid="1447841077"/>
                                        </p:tgtEl>
                                        <p:attrNameLst>
                                          <p:attrName>ppt_x</p:attrName>
                                          <p:attrName>ppt_y</p:attrName>
                                        </p:attrNameLst>
                                      </p:cBhvr>
                                      <p:rCtr x="-12513" y="19699"/>
                                    </p:animMotion>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2073592341"/>
                                        </p:tgtEl>
                                        <p:attrNameLst>
                                          <p:attrName>style.visibility</p:attrName>
                                        </p:attrNameLst>
                                      </p:cBhvr>
                                      <p:to>
                                        <p:strVal val="visible"/>
                                      </p:to>
                                    </p:set>
                                    <p:animEffect transition="in" filter="fade">
                                      <p:cBhvr>
                                        <p:cTn id="97" dur="500"/>
                                        <p:tgtEl>
                                          <p:spTgt spid="2073592341"/>
                                        </p:tgtEl>
                                      </p:cBhvr>
                                    </p:animEffect>
                                  </p:childTnLst>
                                </p:cTn>
                              </p:par>
                            </p:childTnLst>
                          </p:cTn>
                        </p:par>
                      </p:childTnLst>
                    </p:cTn>
                  </p:par>
                  <p:par>
                    <p:cTn id="98" fill="hold">
                      <p:stCondLst>
                        <p:cond delay="indefinite"/>
                      </p:stCondLst>
                      <p:childTnLst>
                        <p:par>
                          <p:cTn id="99" fill="hold">
                            <p:stCondLst>
                              <p:cond delay="0"/>
                            </p:stCondLst>
                            <p:childTnLst>
                              <p:par>
                                <p:cTn id="100" presetID="42" presetClass="path" presetSubtype="0" accel="50000" decel="50000" fill="hold" nodeType="clickEffect">
                                  <p:stCondLst>
                                    <p:cond delay="0"/>
                                  </p:stCondLst>
                                  <p:childTnLst>
                                    <p:animMotion origin="layout" path="M -4.79167E-6 4.81481E-6 L -0.61757 0.11412 " pathEditMode="relative" rAng="0" ptsTypes="AA">
                                      <p:cBhvr>
                                        <p:cTn id="101" dur="2000" fill="hold"/>
                                        <p:tgtEl>
                                          <p:spTgt spid="2073592341"/>
                                        </p:tgtEl>
                                        <p:attrNameLst>
                                          <p:attrName>ppt_x</p:attrName>
                                          <p:attrName>ppt_y</p:attrName>
                                        </p:attrNameLst>
                                      </p:cBhvr>
                                      <p:rCtr x="-30911" y="5671"/>
                                    </p:animMotion>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nodeType="clickEffect">
                                  <p:stCondLst>
                                    <p:cond delay="0"/>
                                  </p:stCondLst>
                                  <p:childTnLst>
                                    <p:set>
                                      <p:cBhvr>
                                        <p:cTn id="105" dur="1" fill="hold">
                                          <p:stCondLst>
                                            <p:cond delay="0"/>
                                          </p:stCondLst>
                                        </p:cTn>
                                        <p:tgtEl>
                                          <p:spTgt spid="192062170"/>
                                        </p:tgtEl>
                                        <p:attrNameLst>
                                          <p:attrName>style.visibility</p:attrName>
                                        </p:attrNameLst>
                                      </p:cBhvr>
                                      <p:to>
                                        <p:strVal val="visible"/>
                                      </p:to>
                                    </p:set>
                                    <p:animEffect transition="in" filter="fade">
                                      <p:cBhvr>
                                        <p:cTn id="106" dur="500"/>
                                        <p:tgtEl>
                                          <p:spTgt spid="192062170"/>
                                        </p:tgtEl>
                                      </p:cBhvr>
                                    </p:animEffect>
                                  </p:childTnLst>
                                </p:cTn>
                              </p:par>
                            </p:childTnLst>
                          </p:cTn>
                        </p:par>
                      </p:childTnLst>
                    </p:cTn>
                  </p:par>
                  <p:par>
                    <p:cTn id="107" fill="hold">
                      <p:stCondLst>
                        <p:cond delay="indefinite"/>
                      </p:stCondLst>
                      <p:childTnLst>
                        <p:par>
                          <p:cTn id="108" fill="hold">
                            <p:stCondLst>
                              <p:cond delay="0"/>
                            </p:stCondLst>
                            <p:childTnLst>
                              <p:par>
                                <p:cTn id="109" presetID="42" presetClass="path" presetSubtype="0" accel="50000" decel="50000" fill="hold" nodeType="clickEffect">
                                  <p:stCondLst>
                                    <p:cond delay="0"/>
                                  </p:stCondLst>
                                  <p:childTnLst>
                                    <p:animMotion origin="layout" path="M 4.16667E-6 -4.81481E-6 L -0.52604 0.09514 " pathEditMode="relative" rAng="0" ptsTypes="AA">
                                      <p:cBhvr>
                                        <p:cTn id="110" dur="2000" fill="hold"/>
                                        <p:tgtEl>
                                          <p:spTgt spid="192062170"/>
                                        </p:tgtEl>
                                        <p:attrNameLst>
                                          <p:attrName>ppt_x</p:attrName>
                                          <p:attrName>ppt_y</p:attrName>
                                        </p:attrNameLst>
                                      </p:cBhvr>
                                      <p:rCtr x="-27409" y="4815"/>
                                    </p:animMotion>
                                  </p:childTnLst>
                                </p:cTn>
                              </p:par>
                            </p:childTnLst>
                          </p:cTn>
                        </p:par>
                      </p:childTnLst>
                    </p:cTn>
                  </p:par>
                  <p:par>
                    <p:cTn id="111" fill="hold">
                      <p:stCondLst>
                        <p:cond delay="indefinite"/>
                      </p:stCondLst>
                      <p:childTnLst>
                        <p:par>
                          <p:cTn id="112" fill="hold">
                            <p:stCondLst>
                              <p:cond delay="0"/>
                            </p:stCondLst>
                            <p:childTnLst>
                              <p:par>
                                <p:cTn id="113" presetID="10" presetClass="entr" presetSubtype="0" fill="hold" nodeType="clickEffect">
                                  <p:stCondLst>
                                    <p:cond delay="0"/>
                                  </p:stCondLst>
                                  <p:childTnLst>
                                    <p:set>
                                      <p:cBhvr>
                                        <p:cTn id="114" dur="1" fill="hold">
                                          <p:stCondLst>
                                            <p:cond delay="0"/>
                                          </p:stCondLst>
                                        </p:cTn>
                                        <p:tgtEl>
                                          <p:spTgt spid="693007874"/>
                                        </p:tgtEl>
                                        <p:attrNameLst>
                                          <p:attrName>style.visibility</p:attrName>
                                        </p:attrNameLst>
                                      </p:cBhvr>
                                      <p:to>
                                        <p:strVal val="visible"/>
                                      </p:to>
                                    </p:set>
                                    <p:animEffect transition="in" filter="fade">
                                      <p:cBhvr>
                                        <p:cTn id="115" dur="500"/>
                                        <p:tgtEl>
                                          <p:spTgt spid="693007874"/>
                                        </p:tgtEl>
                                      </p:cBhvr>
                                    </p:animEffec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nodeType="clickEffect">
                                  <p:stCondLst>
                                    <p:cond delay="0"/>
                                  </p:stCondLst>
                                  <p:childTnLst>
                                    <p:set>
                                      <p:cBhvr>
                                        <p:cTn id="119" dur="1" fill="hold">
                                          <p:stCondLst>
                                            <p:cond delay="0"/>
                                          </p:stCondLst>
                                        </p:cTn>
                                        <p:tgtEl>
                                          <p:spTgt spid="727071761"/>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42" presetClass="path" presetSubtype="0" accel="50000" decel="50000" fill="hold" nodeType="clickEffect">
                                  <p:stCondLst>
                                    <p:cond delay="0"/>
                                  </p:stCondLst>
                                  <p:childTnLst>
                                    <p:animMotion origin="layout" path="M -4.79167E-6 1.11111E-6 L -0.10546 0.00486 " pathEditMode="relative" rAng="0" ptsTypes="AA">
                                      <p:cBhvr>
                                        <p:cTn id="123" dur="2000" fill="hold"/>
                                        <p:tgtEl>
                                          <p:spTgt spid="727071761"/>
                                        </p:tgtEl>
                                        <p:attrNameLst>
                                          <p:attrName>ppt_x</p:attrName>
                                          <p:attrName>ppt_y</p:attrName>
                                        </p:attrNameLst>
                                      </p:cBhvr>
                                      <p:rCtr x="-5273" y="231"/>
                                    </p:animMotion>
                                  </p:childTnLst>
                                </p:cTn>
                              </p:par>
                            </p:childTnLst>
                          </p:cTn>
                        </p:par>
                      </p:childTnLst>
                    </p:cTn>
                  </p:par>
                  <p:par>
                    <p:cTn id="124" fill="hold">
                      <p:stCondLst>
                        <p:cond delay="indefinite"/>
                      </p:stCondLst>
                      <p:childTnLst>
                        <p:par>
                          <p:cTn id="125" fill="hold">
                            <p:stCondLst>
                              <p:cond delay="0"/>
                            </p:stCondLst>
                            <p:childTnLst>
                              <p:par>
                                <p:cTn id="126" presetID="10" presetClass="entr" presetSubtype="0" fill="hold" grpId="0" nodeType="clickEffect">
                                  <p:stCondLst>
                                    <p:cond delay="0"/>
                                  </p:stCondLst>
                                  <p:childTnLst>
                                    <p:set>
                                      <p:cBhvr>
                                        <p:cTn id="127" dur="1" fill="hold">
                                          <p:stCondLst>
                                            <p:cond delay="0"/>
                                          </p:stCondLst>
                                        </p:cTn>
                                        <p:tgtEl>
                                          <p:spTgt spid="341727767"/>
                                        </p:tgtEl>
                                        <p:attrNameLst>
                                          <p:attrName>style.visibility</p:attrName>
                                        </p:attrNameLst>
                                      </p:cBhvr>
                                      <p:to>
                                        <p:strVal val="visible"/>
                                      </p:to>
                                    </p:set>
                                    <p:animEffect transition="in" filter="fade">
                                      <p:cBhvr>
                                        <p:cTn id="128" dur="500"/>
                                        <p:tgtEl>
                                          <p:spTgt spid="341727767"/>
                                        </p:tgtEl>
                                      </p:cBhvr>
                                    </p:animEffect>
                                  </p:childTnLst>
                                </p:cTn>
                              </p:par>
                            </p:childTnLst>
                          </p:cTn>
                        </p:par>
                      </p:childTnLst>
                    </p:cTn>
                  </p:par>
                  <p:par>
                    <p:cTn id="129" fill="hold">
                      <p:stCondLst>
                        <p:cond delay="indefinite"/>
                      </p:stCondLst>
                      <p:childTnLst>
                        <p:par>
                          <p:cTn id="130" fill="hold">
                            <p:stCondLst>
                              <p:cond delay="0"/>
                            </p:stCondLst>
                            <p:childTnLst>
                              <p:par>
                                <p:cTn id="131" presetID="42" presetClass="path" presetSubtype="0" accel="50000" decel="50000" fill="hold" grpId="1" nodeType="clickEffect">
                                  <p:stCondLst>
                                    <p:cond delay="0"/>
                                  </p:stCondLst>
                                  <p:childTnLst>
                                    <p:animMotion origin="layout" path="M 1.66667E-6 -2.22222E-6 L -0.09336 -0.00393 " pathEditMode="relative" rAng="0" ptsTypes="AA">
                                      <p:cBhvr>
                                        <p:cTn id="132" dur="2000" fill="hold"/>
                                        <p:tgtEl>
                                          <p:spTgt spid="341727767"/>
                                        </p:tgtEl>
                                        <p:attrNameLst>
                                          <p:attrName>ppt_x</p:attrName>
                                          <p:attrName>ppt_y</p:attrName>
                                        </p:attrNameLst>
                                      </p:cBhvr>
                                      <p:rCtr x="-4674" y="-208"/>
                                    </p:animMotion>
                                  </p:childTnLst>
                                </p:cTn>
                              </p:par>
                            </p:childTnLst>
                          </p:cTn>
                        </p:par>
                      </p:childTnLst>
                    </p:cTn>
                  </p:par>
                  <p:par>
                    <p:cTn id="133" fill="hold">
                      <p:stCondLst>
                        <p:cond delay="indefinite"/>
                      </p:stCondLst>
                      <p:childTnLst>
                        <p:par>
                          <p:cTn id="134" fill="hold">
                            <p:stCondLst>
                              <p:cond delay="0"/>
                            </p:stCondLst>
                            <p:childTnLst>
                              <p:par>
                                <p:cTn id="135" presetID="10" presetClass="exit" presetSubtype="0" fill="hold" grpId="2" nodeType="clickEffect">
                                  <p:stCondLst>
                                    <p:cond delay="0"/>
                                  </p:stCondLst>
                                  <p:childTnLst>
                                    <p:animEffect transition="out" filter="fade">
                                      <p:cBhvr>
                                        <p:cTn id="136" dur="500"/>
                                        <p:tgtEl>
                                          <p:spTgt spid="341727767"/>
                                        </p:tgtEl>
                                      </p:cBhvr>
                                    </p:animEffect>
                                    <p:set>
                                      <p:cBhvr>
                                        <p:cTn id="137" dur="1" fill="hold">
                                          <p:stCondLst>
                                            <p:cond delay="499"/>
                                          </p:stCondLst>
                                        </p:cTn>
                                        <p:tgtEl>
                                          <p:spTgt spid="341727767"/>
                                        </p:tgtEl>
                                        <p:attrNameLst>
                                          <p:attrName>style.visibility</p:attrName>
                                        </p:attrNameLst>
                                      </p:cBhvr>
                                      <p:to>
                                        <p:strVal val="hidden"/>
                                      </p:to>
                                    </p:set>
                                  </p:childTnLst>
                                </p:cTn>
                              </p:par>
                            </p:childTnLst>
                          </p:cTn>
                        </p:par>
                      </p:childTnLst>
                    </p:cTn>
                  </p:par>
                  <p:par>
                    <p:cTn id="138" fill="hold">
                      <p:stCondLst>
                        <p:cond delay="indefinite"/>
                      </p:stCondLst>
                      <p:childTnLst>
                        <p:par>
                          <p:cTn id="139" fill="hold">
                            <p:stCondLst>
                              <p:cond delay="0"/>
                            </p:stCondLst>
                            <p:childTnLst>
                              <p:par>
                                <p:cTn id="140" presetID="10" presetClass="entr" presetSubtype="0" fill="hold" grpId="0" nodeType="clickEffect">
                                  <p:stCondLst>
                                    <p:cond delay="0"/>
                                  </p:stCondLst>
                                  <p:childTnLst>
                                    <p:set>
                                      <p:cBhvr>
                                        <p:cTn id="141" dur="1" fill="hold">
                                          <p:stCondLst>
                                            <p:cond delay="0"/>
                                          </p:stCondLst>
                                        </p:cTn>
                                        <p:tgtEl>
                                          <p:spTgt spid="1634107263"/>
                                        </p:tgtEl>
                                        <p:attrNameLst>
                                          <p:attrName>style.visibility</p:attrName>
                                        </p:attrNameLst>
                                      </p:cBhvr>
                                      <p:to>
                                        <p:strVal val="visible"/>
                                      </p:to>
                                    </p:set>
                                    <p:animEffect transition="in" filter="fade">
                                      <p:cBhvr>
                                        <p:cTn id="142" dur="500"/>
                                        <p:tgtEl>
                                          <p:spTgt spid="1634107263"/>
                                        </p:tgtEl>
                                      </p:cBhvr>
                                    </p:animEffect>
                                  </p:childTnLst>
                                </p:cTn>
                              </p:par>
                            </p:childTnLst>
                          </p:cTn>
                        </p:par>
                      </p:childTnLst>
                    </p:cTn>
                  </p:par>
                  <p:par>
                    <p:cTn id="143" fill="hold">
                      <p:stCondLst>
                        <p:cond delay="indefinite"/>
                      </p:stCondLst>
                      <p:childTnLst>
                        <p:par>
                          <p:cTn id="144" fill="hold">
                            <p:stCondLst>
                              <p:cond delay="0"/>
                            </p:stCondLst>
                            <p:childTnLst>
                              <p:par>
                                <p:cTn id="145" presetID="42" presetClass="path" presetSubtype="0" accel="50000" decel="50000" fill="hold" grpId="1" nodeType="clickEffect">
                                  <p:stCondLst>
                                    <p:cond delay="0"/>
                                  </p:stCondLst>
                                  <p:childTnLst>
                                    <p:animMotion origin="layout" path="M -8.33333E-7 4.81481E-6 L 0.09766 -0.0044 " pathEditMode="relative" rAng="0" ptsTypes="AA">
                                      <p:cBhvr>
                                        <p:cTn id="146" dur="2000" fill="hold"/>
                                        <p:tgtEl>
                                          <p:spTgt spid="1634107263"/>
                                        </p:tgtEl>
                                        <p:attrNameLst>
                                          <p:attrName>ppt_x</p:attrName>
                                          <p:attrName>ppt_y</p:attrName>
                                        </p:attrNameLst>
                                      </p:cBhvr>
                                      <p:rCtr x="4883" y="-231"/>
                                    </p:animMotion>
                                  </p:childTnLst>
                                </p:cTn>
                              </p:par>
                            </p:childTnLst>
                          </p:cTn>
                        </p:par>
                      </p:childTnLst>
                    </p:cTn>
                  </p:par>
                  <p:par>
                    <p:cTn id="147" fill="hold">
                      <p:stCondLst>
                        <p:cond delay="indefinite"/>
                      </p:stCondLst>
                      <p:childTnLst>
                        <p:par>
                          <p:cTn id="148" fill="hold">
                            <p:stCondLst>
                              <p:cond delay="0"/>
                            </p:stCondLst>
                            <p:childTnLst>
                              <p:par>
                                <p:cTn id="149" presetID="10" presetClass="exit" presetSubtype="0" fill="hold" grpId="2" nodeType="clickEffect">
                                  <p:stCondLst>
                                    <p:cond delay="0"/>
                                  </p:stCondLst>
                                  <p:childTnLst>
                                    <p:animEffect transition="out" filter="fade">
                                      <p:cBhvr>
                                        <p:cTn id="150" dur="500"/>
                                        <p:tgtEl>
                                          <p:spTgt spid="1634107263"/>
                                        </p:tgtEl>
                                      </p:cBhvr>
                                    </p:animEffect>
                                    <p:set>
                                      <p:cBhvr>
                                        <p:cTn id="151" dur="1" fill="hold">
                                          <p:stCondLst>
                                            <p:cond delay="499"/>
                                          </p:stCondLst>
                                        </p:cTn>
                                        <p:tgtEl>
                                          <p:spTgt spid="1634107263"/>
                                        </p:tgtEl>
                                        <p:attrNameLst>
                                          <p:attrName>style.visibility</p:attrName>
                                        </p:attrNameLst>
                                      </p:cBhvr>
                                      <p:to>
                                        <p:strVal val="hidden"/>
                                      </p:to>
                                    </p:set>
                                  </p:childTnLst>
                                </p:cTn>
                              </p:par>
                            </p:childTnLst>
                          </p:cTn>
                        </p:par>
                      </p:childTnLst>
                    </p:cTn>
                  </p:par>
                  <p:par>
                    <p:cTn id="152" fill="hold">
                      <p:stCondLst>
                        <p:cond delay="indefinite"/>
                      </p:stCondLst>
                      <p:childTnLst>
                        <p:par>
                          <p:cTn id="153" fill="hold">
                            <p:stCondLst>
                              <p:cond delay="0"/>
                            </p:stCondLst>
                            <p:childTnLst>
                              <p:par>
                                <p:cTn id="154" presetID="1" presetClass="entr" presetSubtype="0" fill="hold" nodeType="clickEffect">
                                  <p:stCondLst>
                                    <p:cond delay="0"/>
                                  </p:stCondLst>
                                  <p:childTnLst>
                                    <p:set>
                                      <p:cBhvr>
                                        <p:cTn id="155" dur="1" fill="hold">
                                          <p:stCondLst>
                                            <p:cond delay="0"/>
                                          </p:stCondLst>
                                        </p:cTn>
                                        <p:tgtEl>
                                          <p:spTgt spid="1722920042"/>
                                        </p:tgtEl>
                                        <p:attrNameLst>
                                          <p:attrName>style.visibility</p:attrName>
                                        </p:attrNameLst>
                                      </p:cBhvr>
                                      <p:to>
                                        <p:strVal val="visible"/>
                                      </p:to>
                                    </p:set>
                                  </p:childTnLst>
                                </p:cTn>
                              </p:par>
                            </p:childTnLst>
                          </p:cTn>
                        </p:par>
                      </p:childTnLst>
                    </p:cTn>
                  </p:par>
                  <p:par>
                    <p:cTn id="156" fill="hold">
                      <p:stCondLst>
                        <p:cond delay="indefinite"/>
                      </p:stCondLst>
                      <p:childTnLst>
                        <p:par>
                          <p:cTn id="157" fill="hold">
                            <p:stCondLst>
                              <p:cond delay="0"/>
                            </p:stCondLst>
                            <p:childTnLst>
                              <p:par>
                                <p:cTn id="158" presetID="42" presetClass="path" presetSubtype="0" accel="50000" decel="50000" fill="hold" nodeType="clickEffect">
                                  <p:stCondLst>
                                    <p:cond delay="0"/>
                                  </p:stCondLst>
                                  <p:childTnLst>
                                    <p:animMotion origin="layout" path="M -6.25E-7 -4.81481E-6 L 0.07201 -0.00486 " pathEditMode="relative" rAng="0" ptsTypes="AA">
                                      <p:cBhvr>
                                        <p:cTn id="159" dur="2000" fill="hold"/>
                                        <p:tgtEl>
                                          <p:spTgt spid="1722920042"/>
                                        </p:tgtEl>
                                        <p:attrNameLst>
                                          <p:attrName>ppt_x</p:attrName>
                                          <p:attrName>ppt_y</p:attrName>
                                        </p:attrNameLst>
                                      </p:cBhvr>
                                      <p:rCtr x="3594" y="-255"/>
                                    </p:animMotion>
                                  </p:childTnLst>
                                </p:cTn>
                              </p:par>
                            </p:childTnLst>
                          </p:cTn>
                        </p:par>
                      </p:childTnLst>
                    </p:cTn>
                  </p:par>
                  <p:par>
                    <p:cTn id="160" fill="hold">
                      <p:stCondLst>
                        <p:cond delay="indefinite"/>
                      </p:stCondLst>
                      <p:childTnLst>
                        <p:par>
                          <p:cTn id="161" fill="hold">
                            <p:stCondLst>
                              <p:cond delay="0"/>
                            </p:stCondLst>
                            <p:childTnLst>
                              <p:par>
                                <p:cTn id="162" presetID="10" presetClass="exit" presetSubtype="0" fill="hold" nodeType="clickEffect">
                                  <p:stCondLst>
                                    <p:cond delay="0"/>
                                  </p:stCondLst>
                                  <p:childTnLst>
                                    <p:animEffect transition="out" filter="fade">
                                      <p:cBhvr>
                                        <p:cTn id="163" dur="500"/>
                                        <p:tgtEl>
                                          <p:spTgt spid="1722920042"/>
                                        </p:tgtEl>
                                      </p:cBhvr>
                                    </p:animEffect>
                                    <p:set>
                                      <p:cBhvr>
                                        <p:cTn id="164" dur="1" fill="hold">
                                          <p:stCondLst>
                                            <p:cond delay="499"/>
                                          </p:stCondLst>
                                        </p:cTn>
                                        <p:tgtEl>
                                          <p:spTgt spid="1722920042"/>
                                        </p:tgtEl>
                                        <p:attrNameLst>
                                          <p:attrName>style.visibility</p:attrName>
                                        </p:attrNameLst>
                                      </p:cBhvr>
                                      <p:to>
                                        <p:strVal val="hidden"/>
                                      </p:to>
                                    </p:set>
                                  </p:childTnLst>
                                </p:cTn>
                              </p:par>
                            </p:childTnLst>
                          </p:cTn>
                        </p:par>
                      </p:childTnLst>
                    </p:cTn>
                  </p:par>
                  <p:par>
                    <p:cTn id="165" fill="hold">
                      <p:stCondLst>
                        <p:cond delay="indefinite"/>
                      </p:stCondLst>
                      <p:childTnLst>
                        <p:par>
                          <p:cTn id="166" fill="hold">
                            <p:stCondLst>
                              <p:cond delay="0"/>
                            </p:stCondLst>
                            <p:childTnLst>
                              <p:par>
                                <p:cTn id="167" presetID="1" presetClass="entr" presetSubtype="0" fill="hold" nodeType="clickEffect">
                                  <p:stCondLst>
                                    <p:cond delay="0"/>
                                  </p:stCondLst>
                                  <p:childTnLst>
                                    <p:set>
                                      <p:cBhvr>
                                        <p:cTn id="168" dur="1" fill="hold">
                                          <p:stCondLst>
                                            <p:cond delay="0"/>
                                          </p:stCondLst>
                                        </p:cTn>
                                        <p:tgtEl>
                                          <p:spTgt spid="17536806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1395623" grpId="0" animBg="1"/>
      <p:bldP spid="531395623" grpId="1" animBg="1"/>
      <p:bldP spid="531395623" grpId="2" animBg="1"/>
      <p:bldP spid="1674451078" grpId="0" animBg="1"/>
      <p:bldP spid="1674451078" grpId="1" animBg="1"/>
      <p:bldP spid="1674451078" grpId="2" animBg="1"/>
      <p:bldP spid="341727767" grpId="0" animBg="1"/>
      <p:bldP spid="341727767" grpId="1" animBg="1"/>
      <p:bldP spid="341727767" grpId="2" animBg="1"/>
      <p:bldP spid="1634107263" grpId="0" animBg="1"/>
      <p:bldP spid="1634107263" grpId="1" animBg="1"/>
      <p:bldP spid="1634107263" grpId="2" animBg="1"/>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CE75DE16-58AF-EE6E-5193-4A627DD6E045}"/>
            </a:ext>
          </a:extLst>
        </p:cNvPr>
        <p:cNvGrpSpPr/>
        <p:nvPr/>
      </p:nvGrpSpPr>
      <p:grpSpPr bwMode="auto">
        <a:xfrm>
          <a:off x="0" y="0"/>
          <a:ext cx="0" cy="0"/>
          <a:chOff x="0" y="0"/>
          <a:chExt cx="0" cy="0"/>
        </a:xfrm>
      </p:grpSpPr>
      <p:sp>
        <p:nvSpPr>
          <p:cNvPr id="1772652022" name="Title 1">
            <a:extLst>
              <a:ext uri="{FF2B5EF4-FFF2-40B4-BE49-F238E27FC236}">
                <a16:creationId xmlns:a16="http://schemas.microsoft.com/office/drawing/2014/main" id="{76E11FD2-9B5A-94AE-2C4F-589D8F850D5C}"/>
              </a:ext>
            </a:extLst>
          </p:cNvPr>
          <p:cNvSpPr>
            <a:spLocks noGrp="1"/>
          </p:cNvSpPr>
          <p:nvPr>
            <p:ph type="title"/>
          </p:nvPr>
        </p:nvSpPr>
        <p:spPr bwMode="auto"/>
        <p:txBody>
          <a:bodyPr/>
          <a:lstStyle/>
          <a:p>
            <a:pPr>
              <a:defRPr/>
            </a:pPr>
            <a:r>
              <a:rPr lang="en-US" dirty="0"/>
              <a:t>Thread per Client in Java</a:t>
            </a:r>
            <a:endParaRPr dirty="0"/>
          </a:p>
        </p:txBody>
      </p:sp>
      <p:sp>
        <p:nvSpPr>
          <p:cNvPr id="1464135132" name="Content Placeholder 2">
            <a:extLst>
              <a:ext uri="{FF2B5EF4-FFF2-40B4-BE49-F238E27FC236}">
                <a16:creationId xmlns:a16="http://schemas.microsoft.com/office/drawing/2014/main" id="{29E21B43-03FF-5481-CEC1-7EEC4271C82C}"/>
              </a:ext>
            </a:extLst>
          </p:cNvPr>
          <p:cNvSpPr>
            <a:spLocks noGrp="1"/>
          </p:cNvSpPr>
          <p:nvPr>
            <p:ph idx="1"/>
          </p:nvPr>
        </p:nvSpPr>
        <p:spPr bwMode="auto"/>
        <p:txBody>
          <a:bodyPr vertOverflow="overflow" horzOverflow="overflow" vert="horz" wrap="square" lIns="91440" tIns="45720" rIns="91440" bIns="45720" numCol="1" spcCol="0" rtlCol="0" fromWordArt="0" anchor="ctr" anchorCtr="0" forceAA="0" compatLnSpc="0">
            <a:normAutofit/>
          </a:bodyPr>
          <a:lstStyle/>
          <a:p>
            <a:pPr marL="0" indent="0" algn="ctr">
              <a:buFont typeface="Arial"/>
              <a:buNone/>
              <a:defRPr/>
            </a:pPr>
            <a:r>
              <a:rPr lang="en-US" dirty="0"/>
              <a:t>Check “Code Example” for PS 10.</a:t>
            </a:r>
          </a:p>
        </p:txBody>
      </p:sp>
    </p:spTree>
    <p:extLst>
      <p:ext uri="{BB962C8B-B14F-4D97-AF65-F5344CB8AC3E}">
        <p14:creationId xmlns:p14="http://schemas.microsoft.com/office/powerpoint/2010/main" val="5754200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27568838" name="Title 1"/>
          <p:cNvSpPr>
            <a:spLocks noGrp="1"/>
          </p:cNvSpPr>
          <p:nvPr>
            <p:ph type="title"/>
          </p:nvPr>
        </p:nvSpPr>
        <p:spPr bwMode="auto"/>
        <p:txBody>
          <a:bodyPr/>
          <a:lstStyle/>
          <a:p>
            <a:pPr>
              <a:defRPr/>
            </a:pPr>
            <a:r>
              <a:rPr lang="en-US"/>
              <a:t>Multi-Threading in C++</a:t>
            </a:r>
            <a:endParaRPr/>
          </a:p>
        </p:txBody>
      </p:sp>
      <p:sp>
        <p:nvSpPr>
          <p:cNvPr id="652239236"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compatLnSpc="0">
            <a:normAutofit/>
          </a:bodyPr>
          <a:lstStyle/>
          <a:p>
            <a:pPr>
              <a:defRPr/>
            </a:pPr>
            <a:r>
              <a:rPr lang="en-US" sz="2800" b="0" i="0" u="none" strike="noStrike" cap="none" spc="0" dirty="0">
                <a:solidFill>
                  <a:schemeClr val="tx1"/>
                </a:solidFill>
                <a:latin typeface="Calibri"/>
                <a:ea typeface="Calibri"/>
                <a:cs typeface="Calibri"/>
              </a:rPr>
              <a:t>Why do we need threads?</a:t>
            </a:r>
            <a:endParaRPr lang="en-US" dirty="0"/>
          </a:p>
          <a:p>
            <a:pPr lvl="1">
              <a:defRPr/>
            </a:pPr>
            <a:r>
              <a:rPr lang="en-US" b="0" i="0" u="none" strike="noStrike" cap="none" spc="0" dirty="0">
                <a:solidFill>
                  <a:schemeClr val="tx1"/>
                </a:solidFill>
                <a:latin typeface="Calibri"/>
                <a:ea typeface="Calibri"/>
                <a:cs typeface="Calibri"/>
              </a:rPr>
              <a:t>Multiple execution flows inside the same process</a:t>
            </a:r>
            <a:endParaRPr lang="en-US" b="0" i="0" u="none" strike="noStrike" cap="none" spc="0" dirty="0">
              <a:solidFill>
                <a:schemeClr val="tx1"/>
              </a:solidFill>
              <a:latin typeface="Calibri"/>
              <a:cs typeface="Calibri"/>
            </a:endParaRPr>
          </a:p>
          <a:p>
            <a:pPr lvl="1">
              <a:defRPr/>
            </a:pPr>
            <a:r>
              <a:rPr lang="en-US" b="0" i="0" u="none" strike="noStrike" cap="none" spc="0" dirty="0">
                <a:solidFill>
                  <a:schemeClr val="tx1"/>
                </a:solidFill>
                <a:latin typeface="Calibri"/>
                <a:ea typeface="Calibri"/>
                <a:cs typeface="Calibri"/>
              </a:rPr>
              <a:t>Useful for:</a:t>
            </a:r>
            <a:endParaRPr lang="en-US" b="0" i="0" u="none" strike="noStrike" cap="none" spc="0" dirty="0">
              <a:solidFill>
                <a:schemeClr val="tx1"/>
              </a:solidFill>
              <a:latin typeface="Calibri"/>
              <a:cs typeface="Calibri"/>
            </a:endParaRPr>
          </a:p>
          <a:p>
            <a:pPr lvl="2">
              <a:defRPr/>
            </a:pPr>
            <a:r>
              <a:rPr lang="en-US" b="0" i="0" u="none" strike="noStrike" cap="none" spc="0" dirty="0">
                <a:solidFill>
                  <a:schemeClr val="tx1"/>
                </a:solidFill>
                <a:latin typeface="Calibri"/>
                <a:ea typeface="Calibri"/>
                <a:cs typeface="Calibri"/>
              </a:rPr>
              <a:t>handling multiple clients</a:t>
            </a:r>
            <a:endParaRPr lang="en-US" sz="2400" b="0" i="0" u="none" strike="noStrike" cap="none" spc="0" dirty="0">
              <a:solidFill>
                <a:schemeClr val="tx1"/>
              </a:solidFill>
              <a:latin typeface="Calibri"/>
              <a:cs typeface="Calibri"/>
            </a:endParaRPr>
          </a:p>
          <a:p>
            <a:pPr lvl="2">
              <a:defRPr/>
            </a:pPr>
            <a:r>
              <a:rPr lang="en-US" b="0" i="0" u="none" strike="noStrike" cap="none" spc="0" dirty="0">
                <a:solidFill>
                  <a:schemeClr val="tx1"/>
                </a:solidFill>
                <a:latin typeface="Calibri"/>
                <a:ea typeface="Calibri"/>
                <a:cs typeface="Calibri"/>
              </a:rPr>
              <a:t>background tasks</a:t>
            </a:r>
            <a:endParaRPr lang="en-US" sz="2400" b="0" i="0" u="none" strike="noStrike" cap="none" spc="0" dirty="0">
              <a:solidFill>
                <a:schemeClr val="tx1"/>
              </a:solidFill>
              <a:latin typeface="Calibri"/>
              <a:cs typeface="Calibri"/>
            </a:endParaRPr>
          </a:p>
          <a:p>
            <a:pPr lvl="1">
              <a:defRPr/>
            </a:pPr>
            <a:r>
              <a:rPr lang="en-US" b="0" i="0" u="none" strike="noStrike" cap="none" spc="0" dirty="0">
                <a:solidFill>
                  <a:schemeClr val="tx1"/>
                </a:solidFill>
                <a:latin typeface="Calibri"/>
                <a:ea typeface="Calibri"/>
                <a:cs typeface="Calibri"/>
              </a:rPr>
              <a:t>Same idea in Java and C++ but </a:t>
            </a:r>
            <a:r>
              <a:rPr lang="en-US" b="1" i="0" u="none" strike="noStrike" cap="none" spc="0" dirty="0">
                <a:solidFill>
                  <a:schemeClr val="tx1"/>
                </a:solidFill>
                <a:latin typeface="Calibri"/>
                <a:ea typeface="Calibri"/>
                <a:cs typeface="Calibri"/>
              </a:rPr>
              <a:t>different syntax</a:t>
            </a:r>
          </a:p>
          <a:p>
            <a:pPr lvl="1">
              <a:defRPr/>
            </a:pPr>
            <a:r>
              <a:rPr lang="en-US" b="1" dirty="0">
                <a:latin typeface="Calibri"/>
                <a:ea typeface="Calibri"/>
                <a:cs typeface="Calibri"/>
              </a:rPr>
              <a:t>Psst…You need it for assignment 3</a:t>
            </a:r>
            <a:endParaRPr lang="en-US" b="1" i="0" u="none" strike="noStrike" cap="none" spc="0" dirty="0">
              <a:solidFill>
                <a:schemeClr val="tx1"/>
              </a:solidFill>
              <a:latin typeface="Calibri"/>
              <a:ea typeface="Calibri"/>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223923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5223923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5223923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5223923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5223923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5223923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1325254874" name="Title 1"/>
          <p:cNvSpPr>
            <a:spLocks noGrp="1"/>
          </p:cNvSpPr>
          <p:nvPr>
            <p:ph type="title"/>
          </p:nvPr>
        </p:nvSpPr>
        <p:spPr bwMode="auto"/>
        <p:txBody>
          <a:bodyPr/>
          <a:lstStyle/>
          <a:p>
            <a:pPr>
              <a:defRPr/>
            </a:pPr>
            <a:r>
              <a:rPr lang="en-US"/>
              <a:t>Multi-Threading in Java vs. C++</a:t>
            </a:r>
            <a:endParaRPr/>
          </a:p>
        </p:txBody>
      </p:sp>
      <p:sp>
        <p:nvSpPr>
          <p:cNvPr id="1882682679" name="Content Placeholder 2"/>
          <p:cNvSpPr>
            <a:spLocks noGrp="1"/>
          </p:cNvSpPr>
          <p:nvPr>
            <p:ph sz="half" idx="1"/>
          </p:nvPr>
        </p:nvSpPr>
        <p:spPr bwMode="auto">
          <a:xfrm>
            <a:off x="838199" y="1825624"/>
            <a:ext cx="5181599" cy="4351338"/>
          </a:xfrm>
        </p:spPr>
        <p:txBody>
          <a:bodyPr>
            <a:normAutofit fontScale="87500" lnSpcReduction="20000"/>
          </a:bodyPr>
          <a:lstStyle/>
          <a:p>
            <a:pPr>
              <a:defRPr/>
            </a:pPr>
            <a:r>
              <a:rPr lang="en-US" dirty="0"/>
              <a:t>In java:</a:t>
            </a:r>
          </a:p>
          <a:p>
            <a:pPr marL="0" indent="0">
              <a:buFont typeface="Arial"/>
              <a:buNone/>
              <a:defRPr/>
            </a:pPr>
            <a:r>
              <a:rPr sz="1800" b="1" i="0" u="none" dirty="0">
                <a:solidFill>
                  <a:srgbClr val="445588"/>
                </a:solidFill>
                <a:latin typeface="Arial"/>
                <a:ea typeface="Arial"/>
                <a:cs typeface="Arial"/>
              </a:rPr>
              <a:t>Runnable</a:t>
            </a:r>
            <a:r>
              <a:rPr sz="1800" b="0" i="0" u="none" dirty="0">
                <a:solidFill>
                  <a:srgbClr val="333333"/>
                </a:solidFill>
                <a:latin typeface="Arial"/>
                <a:ea typeface="Arial"/>
                <a:cs typeface="Arial"/>
              </a:rPr>
              <a:t> </a:t>
            </a:r>
            <a:r>
              <a:rPr sz="1800" b="0" i="0" u="none" dirty="0">
                <a:solidFill>
                  <a:srgbClr val="008080"/>
                </a:solidFill>
                <a:latin typeface="Arial"/>
                <a:ea typeface="Arial"/>
                <a:cs typeface="Arial"/>
              </a:rPr>
              <a:t>r</a:t>
            </a:r>
            <a:r>
              <a:rPr sz="1800" b="0" i="0" u="none" dirty="0">
                <a:solidFill>
                  <a:srgbClr val="333333"/>
                </a:solidFill>
                <a:latin typeface="Arial"/>
                <a:ea typeface="Arial"/>
                <a:cs typeface="Arial"/>
              </a:rPr>
              <a:t> = () -&gt; {</a:t>
            </a:r>
            <a:endParaRPr sz="1800" dirty="0"/>
          </a:p>
          <a:p>
            <a:pPr marL="0" indent="0">
              <a:buFont typeface="Arial"/>
              <a:buNone/>
              <a:defRPr/>
            </a:pPr>
            <a:r>
              <a:rPr sz="1800" b="0" i="0" u="none" dirty="0">
                <a:solidFill>
                  <a:srgbClr val="333333"/>
                </a:solidFill>
                <a:latin typeface="Arial"/>
                <a:ea typeface="Arial"/>
                <a:cs typeface="Arial"/>
              </a:rPr>
              <a:t>    </a:t>
            </a:r>
            <a:r>
              <a:rPr sz="1800" b="0" i="0" u="none" dirty="0" err="1">
                <a:solidFill>
                  <a:srgbClr val="333333"/>
                </a:solidFill>
                <a:latin typeface="Arial"/>
                <a:ea typeface="Arial"/>
                <a:cs typeface="Arial"/>
              </a:rPr>
              <a:t>System.out.println</a:t>
            </a:r>
            <a:r>
              <a:rPr sz="1800" b="0" i="0" u="none" dirty="0">
                <a:solidFill>
                  <a:srgbClr val="333333"/>
                </a:solidFill>
                <a:latin typeface="Arial"/>
                <a:ea typeface="Arial"/>
                <a:cs typeface="Arial"/>
              </a:rPr>
              <a:t>(</a:t>
            </a:r>
            <a:r>
              <a:rPr sz="1800" b="0" i="0" u="none" dirty="0">
                <a:solidFill>
                  <a:srgbClr val="DD1144"/>
                </a:solidFill>
                <a:latin typeface="Arial"/>
                <a:ea typeface="Arial"/>
                <a:cs typeface="Arial"/>
              </a:rPr>
              <a:t>"Hello from thread"</a:t>
            </a:r>
            <a:r>
              <a:rPr sz="1800" b="0" i="0" u="none" dirty="0">
                <a:solidFill>
                  <a:srgbClr val="333333"/>
                </a:solidFill>
                <a:latin typeface="Arial"/>
                <a:ea typeface="Arial"/>
                <a:cs typeface="Arial"/>
              </a:rPr>
              <a:t>);</a:t>
            </a:r>
            <a:endParaRPr sz="1800" dirty="0"/>
          </a:p>
          <a:p>
            <a:pPr marL="0" indent="0">
              <a:buFont typeface="Arial"/>
              <a:buNone/>
              <a:defRPr/>
            </a:pPr>
            <a:r>
              <a:rPr sz="1800" b="0" i="0" u="none" dirty="0">
                <a:solidFill>
                  <a:srgbClr val="333333"/>
                </a:solidFill>
                <a:latin typeface="Arial"/>
                <a:ea typeface="Arial"/>
                <a:cs typeface="Arial"/>
              </a:rPr>
              <a:t>};</a:t>
            </a:r>
            <a:endParaRPr sz="1800" dirty="0"/>
          </a:p>
          <a:p>
            <a:pPr marL="0" indent="0">
              <a:buFont typeface="Arial"/>
              <a:buNone/>
              <a:defRPr/>
            </a:pPr>
            <a:r>
              <a:rPr sz="1800" b="1" i="0" u="none" dirty="0">
                <a:solidFill>
                  <a:srgbClr val="445588"/>
                </a:solidFill>
                <a:latin typeface="Arial"/>
                <a:ea typeface="Arial"/>
                <a:cs typeface="Arial"/>
              </a:rPr>
              <a:t>Thread</a:t>
            </a:r>
            <a:r>
              <a:rPr sz="1800" b="0" i="0" u="none" dirty="0">
                <a:solidFill>
                  <a:srgbClr val="333333"/>
                </a:solidFill>
                <a:latin typeface="Arial"/>
                <a:ea typeface="Arial"/>
                <a:cs typeface="Arial"/>
              </a:rPr>
              <a:t> </a:t>
            </a:r>
            <a:r>
              <a:rPr sz="1800" b="0" i="0" u="none" dirty="0">
                <a:solidFill>
                  <a:srgbClr val="008080"/>
                </a:solidFill>
                <a:latin typeface="Arial"/>
                <a:ea typeface="Arial"/>
                <a:cs typeface="Arial"/>
              </a:rPr>
              <a:t>t</a:t>
            </a:r>
            <a:r>
              <a:rPr sz="1800" b="0" i="0" u="none" dirty="0">
                <a:solidFill>
                  <a:srgbClr val="333333"/>
                </a:solidFill>
                <a:latin typeface="Arial"/>
                <a:ea typeface="Arial"/>
                <a:cs typeface="Arial"/>
              </a:rPr>
              <a:t> = </a:t>
            </a:r>
            <a:r>
              <a:rPr sz="1800" b="1" i="0" u="none" dirty="0">
                <a:solidFill>
                  <a:srgbClr val="333333"/>
                </a:solidFill>
                <a:latin typeface="Arial"/>
                <a:ea typeface="Arial"/>
                <a:cs typeface="Arial"/>
              </a:rPr>
              <a:t>new</a:t>
            </a:r>
            <a:r>
              <a:rPr sz="1800" b="0" i="0" u="none" dirty="0">
                <a:solidFill>
                  <a:srgbClr val="333333"/>
                </a:solidFill>
                <a:latin typeface="Arial"/>
                <a:ea typeface="Arial"/>
                <a:cs typeface="Arial"/>
              </a:rPr>
              <a:t> </a:t>
            </a:r>
            <a:r>
              <a:rPr sz="1800" b="1" i="0" u="none" dirty="0">
                <a:solidFill>
                  <a:srgbClr val="990000"/>
                </a:solidFill>
                <a:latin typeface="Arial"/>
                <a:ea typeface="Arial"/>
                <a:cs typeface="Arial"/>
              </a:rPr>
              <a:t>Thread</a:t>
            </a:r>
            <a:r>
              <a:rPr sz="1800" b="0" i="0" u="none" dirty="0">
                <a:solidFill>
                  <a:srgbClr val="333333"/>
                </a:solidFill>
                <a:latin typeface="Arial"/>
                <a:ea typeface="Arial"/>
                <a:cs typeface="Arial"/>
              </a:rPr>
              <a:t>(r);</a:t>
            </a:r>
            <a:endParaRPr sz="1800" dirty="0"/>
          </a:p>
          <a:p>
            <a:pPr marL="0" indent="0">
              <a:buFont typeface="Arial"/>
              <a:buNone/>
              <a:defRPr/>
            </a:pPr>
            <a:r>
              <a:rPr sz="1800" b="0" i="0" u="none" dirty="0" err="1">
                <a:solidFill>
                  <a:srgbClr val="333333"/>
                </a:solidFill>
                <a:latin typeface="Arial"/>
                <a:ea typeface="Arial"/>
                <a:cs typeface="Arial"/>
              </a:rPr>
              <a:t>t.start</a:t>
            </a:r>
            <a:r>
              <a:rPr sz="1800" b="0" i="0" u="none" dirty="0">
                <a:solidFill>
                  <a:srgbClr val="333333"/>
                </a:solidFill>
                <a:latin typeface="Arial"/>
                <a:ea typeface="Arial"/>
                <a:cs typeface="Arial"/>
              </a:rPr>
              <a:t>();</a:t>
            </a:r>
            <a:endParaRPr sz="1800" dirty="0"/>
          </a:p>
          <a:p>
            <a:pPr>
              <a:defRPr/>
            </a:pPr>
            <a:endParaRPr lang="en-US" sz="1800" b="0" i="0" u="none" strike="noStrike" cap="none" spc="0" dirty="0">
              <a:solidFill>
                <a:srgbClr val="333333"/>
              </a:solidFill>
              <a:latin typeface="Arial"/>
              <a:ea typeface="Arial"/>
              <a:cs typeface="Arial"/>
            </a:endParaRPr>
          </a:p>
          <a:p>
            <a:pPr>
              <a:defRPr/>
            </a:pPr>
            <a:endParaRPr lang="en-US" sz="1800" dirty="0">
              <a:solidFill>
                <a:srgbClr val="333333"/>
              </a:solidFill>
              <a:latin typeface="Arial"/>
              <a:ea typeface="Arial"/>
              <a:cs typeface="Arial"/>
            </a:endParaRPr>
          </a:p>
          <a:p>
            <a:pPr>
              <a:defRPr/>
            </a:pPr>
            <a:endParaRPr lang="en-US" sz="2900" b="0" i="0" u="none" strike="noStrike" cap="none" spc="0" dirty="0">
              <a:solidFill>
                <a:srgbClr val="333333"/>
              </a:solidFill>
              <a:latin typeface="Arial"/>
              <a:ea typeface="Arial"/>
              <a:cs typeface="Arial"/>
            </a:endParaRPr>
          </a:p>
          <a:p>
            <a:pPr>
              <a:defRPr/>
            </a:pPr>
            <a:r>
              <a:rPr lang="he-IL" sz="2900" b="0" i="0" u="none" strike="noStrike" cap="none" spc="0" dirty="0">
                <a:solidFill>
                  <a:srgbClr val="333333"/>
                </a:solidFill>
                <a:latin typeface="Arial"/>
                <a:ea typeface="Arial"/>
                <a:cs typeface="Arial"/>
              </a:rPr>
              <a:t>Runnable = “what to run”</a:t>
            </a:r>
            <a:endParaRPr lang="he-IL" sz="2900" b="0" i="0" u="none" strike="noStrike" cap="none" spc="0" dirty="0">
              <a:solidFill>
                <a:srgbClr val="333333"/>
              </a:solidFill>
              <a:latin typeface="Arial"/>
              <a:cs typeface="Arial"/>
            </a:endParaRPr>
          </a:p>
          <a:p>
            <a:pPr>
              <a:defRPr/>
            </a:pPr>
            <a:r>
              <a:rPr lang="he-IL" sz="2900" b="0" i="0" u="none" strike="noStrike" cap="none" spc="0" dirty="0">
                <a:solidFill>
                  <a:srgbClr val="333333"/>
                </a:solidFill>
                <a:latin typeface="Arial"/>
                <a:ea typeface="Arial"/>
                <a:cs typeface="Arial"/>
              </a:rPr>
              <a:t>Thread = “how it runs”</a:t>
            </a:r>
            <a:endParaRPr lang="he-IL" sz="2900" b="0" i="0" u="none" strike="noStrike" cap="none" spc="0" dirty="0">
              <a:solidFill>
                <a:srgbClr val="333333"/>
              </a:solidFill>
              <a:latin typeface="Arial"/>
              <a:cs typeface="Arial"/>
            </a:endParaRPr>
          </a:p>
          <a:p>
            <a:pPr>
              <a:defRPr/>
            </a:pPr>
            <a:r>
              <a:rPr lang="he-IL" sz="2900" b="0" i="0" u="none" strike="noStrike" cap="none" spc="0" dirty="0">
                <a:solidFill>
                  <a:srgbClr val="333333"/>
                </a:solidFill>
                <a:latin typeface="Arial"/>
                <a:ea typeface="Arial"/>
                <a:cs typeface="Arial"/>
              </a:rPr>
              <a:t>start() creates a new execution flow</a:t>
            </a:r>
            <a:endParaRPr sz="2900" dirty="0"/>
          </a:p>
        </p:txBody>
      </p:sp>
      <p:sp>
        <p:nvSpPr>
          <p:cNvPr id="967077552" name="Content Placeholder 3"/>
          <p:cNvSpPr>
            <a:spLocks noGrp="1"/>
          </p:cNvSpPr>
          <p:nvPr>
            <p:ph sz="half" idx="2"/>
          </p:nvPr>
        </p:nvSpPr>
        <p:spPr bwMode="auto">
          <a:xfrm>
            <a:off x="6172200" y="1825624"/>
            <a:ext cx="5181599" cy="4351338"/>
          </a:xfrm>
        </p:spPr>
        <p:txBody>
          <a:bodyPr vertOverflow="overflow" horzOverflow="overflow" vert="horz" wrap="square" lIns="91440" tIns="45720" rIns="91440" bIns="45720" numCol="1" spcCol="0" rtlCol="0" fromWordArt="0" anchor="t" anchorCtr="0" forceAA="0" compatLnSpc="0">
            <a:normAutofit fontScale="87500" lnSpcReduction="20000"/>
          </a:bodyPr>
          <a:lstStyle/>
          <a:p>
            <a:pPr>
              <a:defRPr/>
            </a:pPr>
            <a:r>
              <a:rPr lang="en-US" dirty="0"/>
              <a:t>In C++:</a:t>
            </a:r>
          </a:p>
          <a:p>
            <a:pPr marL="0" indent="0">
              <a:buFont typeface="Arial"/>
              <a:buNone/>
              <a:defRPr/>
            </a:pPr>
            <a:r>
              <a:rPr sz="1800" b="1" i="0" u="none" dirty="0">
                <a:solidFill>
                  <a:srgbClr val="999999"/>
                </a:solidFill>
                <a:latin typeface="Arial"/>
                <a:ea typeface="Arial"/>
                <a:cs typeface="Arial"/>
              </a:rPr>
              <a:t>#</a:t>
            </a:r>
            <a:r>
              <a:rPr sz="1800" b="1" i="0" u="none" dirty="0">
                <a:solidFill>
                  <a:srgbClr val="333333"/>
                </a:solidFill>
                <a:latin typeface="Arial"/>
                <a:ea typeface="Arial"/>
                <a:cs typeface="Arial"/>
              </a:rPr>
              <a:t>include</a:t>
            </a:r>
            <a:r>
              <a:rPr sz="1800" b="1" i="0" u="none" dirty="0">
                <a:solidFill>
                  <a:srgbClr val="999999"/>
                </a:solidFill>
                <a:latin typeface="Arial"/>
                <a:ea typeface="Arial"/>
                <a:cs typeface="Arial"/>
              </a:rPr>
              <a:t> </a:t>
            </a:r>
            <a:r>
              <a:rPr sz="1800" b="1" i="0" u="none" dirty="0">
                <a:solidFill>
                  <a:srgbClr val="DD1144"/>
                </a:solidFill>
                <a:latin typeface="Arial"/>
                <a:ea typeface="Arial"/>
                <a:cs typeface="Arial"/>
              </a:rPr>
              <a:t>&lt;thread&gt;</a:t>
            </a:r>
            <a:endParaRPr dirty="0"/>
          </a:p>
          <a:p>
            <a:pPr marL="0" indent="0">
              <a:buFont typeface="Arial"/>
              <a:buNone/>
              <a:defRPr/>
            </a:pPr>
            <a:r>
              <a:rPr sz="1800" b="1" i="0" u="none" dirty="0">
                <a:solidFill>
                  <a:srgbClr val="445588"/>
                </a:solidFill>
                <a:latin typeface="Arial"/>
                <a:ea typeface="Arial"/>
                <a:cs typeface="Arial"/>
              </a:rPr>
              <a:t>void</a:t>
            </a:r>
            <a:r>
              <a:rPr sz="1800" b="0" i="0" u="none" dirty="0">
                <a:solidFill>
                  <a:srgbClr val="333333"/>
                </a:solidFill>
                <a:latin typeface="Arial"/>
                <a:ea typeface="Arial"/>
                <a:cs typeface="Arial"/>
              </a:rPr>
              <a:t> </a:t>
            </a:r>
            <a:r>
              <a:rPr sz="1800" b="1" i="0" u="none" dirty="0">
                <a:solidFill>
                  <a:srgbClr val="990000"/>
                </a:solidFill>
                <a:latin typeface="Arial"/>
                <a:ea typeface="Arial"/>
                <a:cs typeface="Arial"/>
              </a:rPr>
              <a:t>task</a:t>
            </a:r>
            <a:r>
              <a:rPr sz="1800" b="0" i="0" u="none" dirty="0">
                <a:solidFill>
                  <a:srgbClr val="333333"/>
                </a:solidFill>
                <a:latin typeface="Arial"/>
                <a:ea typeface="Arial"/>
                <a:cs typeface="Arial"/>
              </a:rPr>
              <a:t>() {</a:t>
            </a:r>
            <a:endParaRPr dirty="0"/>
          </a:p>
          <a:p>
            <a:pPr marL="0" indent="0">
              <a:buFont typeface="Arial"/>
              <a:buNone/>
              <a:defRPr/>
            </a:pPr>
            <a:r>
              <a:rPr sz="1800" b="0" i="0" u="none" dirty="0">
                <a:solidFill>
                  <a:srgbClr val="333333"/>
                </a:solidFill>
                <a:latin typeface="Arial"/>
                <a:ea typeface="Arial"/>
                <a:cs typeface="Arial"/>
              </a:rPr>
              <a:t>    std::</a:t>
            </a:r>
            <a:r>
              <a:rPr sz="1800" b="0" i="0" u="none" dirty="0" err="1">
                <a:solidFill>
                  <a:srgbClr val="333333"/>
                </a:solidFill>
                <a:latin typeface="Arial"/>
                <a:ea typeface="Arial"/>
                <a:cs typeface="Arial"/>
              </a:rPr>
              <a:t>cout</a:t>
            </a:r>
            <a:r>
              <a:rPr sz="1800" b="0" i="0" u="none" dirty="0">
                <a:solidFill>
                  <a:srgbClr val="333333"/>
                </a:solidFill>
                <a:latin typeface="Arial"/>
                <a:ea typeface="Arial"/>
                <a:cs typeface="Arial"/>
              </a:rPr>
              <a:t> &lt;&lt; </a:t>
            </a:r>
            <a:r>
              <a:rPr sz="1800" b="0" i="0" u="none" dirty="0">
                <a:solidFill>
                  <a:srgbClr val="DD1144"/>
                </a:solidFill>
                <a:latin typeface="Arial"/>
                <a:ea typeface="Arial"/>
                <a:cs typeface="Arial"/>
              </a:rPr>
              <a:t>"Hello from thread\n"</a:t>
            </a:r>
            <a:r>
              <a:rPr sz="1800" b="0" i="0" u="none" dirty="0">
                <a:solidFill>
                  <a:srgbClr val="333333"/>
                </a:solidFill>
                <a:latin typeface="Arial"/>
                <a:ea typeface="Arial"/>
                <a:cs typeface="Arial"/>
              </a:rPr>
              <a:t>;</a:t>
            </a:r>
            <a:endParaRPr dirty="0"/>
          </a:p>
          <a:p>
            <a:pPr marL="0" indent="0">
              <a:buFont typeface="Arial"/>
              <a:buNone/>
              <a:defRPr/>
            </a:pPr>
            <a:r>
              <a:rPr sz="1800" b="0" i="0" u="none" dirty="0">
                <a:solidFill>
                  <a:srgbClr val="333333"/>
                </a:solidFill>
                <a:latin typeface="Arial"/>
                <a:ea typeface="Arial"/>
                <a:cs typeface="Arial"/>
              </a:rPr>
              <a:t>}</a:t>
            </a:r>
            <a:endParaRPr dirty="0"/>
          </a:p>
          <a:p>
            <a:pPr marL="0" indent="0">
              <a:buFont typeface="Arial"/>
              <a:buNone/>
              <a:defRPr/>
            </a:pPr>
            <a:r>
              <a:rPr sz="1800" b="1" i="0" u="none" dirty="0">
                <a:solidFill>
                  <a:srgbClr val="445588"/>
                </a:solidFill>
                <a:latin typeface="Arial"/>
                <a:ea typeface="Arial"/>
                <a:cs typeface="Arial"/>
              </a:rPr>
              <a:t>int</a:t>
            </a:r>
            <a:r>
              <a:rPr sz="1800" b="0" i="0" u="none" dirty="0">
                <a:solidFill>
                  <a:srgbClr val="333333"/>
                </a:solidFill>
                <a:latin typeface="Arial"/>
                <a:ea typeface="Arial"/>
                <a:cs typeface="Arial"/>
              </a:rPr>
              <a:t> </a:t>
            </a:r>
            <a:r>
              <a:rPr sz="1800" b="1" i="0" u="none" dirty="0">
                <a:solidFill>
                  <a:srgbClr val="990000"/>
                </a:solidFill>
                <a:latin typeface="Arial"/>
                <a:ea typeface="Arial"/>
                <a:cs typeface="Arial"/>
              </a:rPr>
              <a:t>main</a:t>
            </a:r>
            <a:r>
              <a:rPr sz="1800" b="0" i="0" u="none" dirty="0">
                <a:solidFill>
                  <a:srgbClr val="333333"/>
                </a:solidFill>
                <a:latin typeface="Arial"/>
                <a:ea typeface="Arial"/>
                <a:cs typeface="Arial"/>
              </a:rPr>
              <a:t>() {</a:t>
            </a:r>
            <a:endParaRPr dirty="0"/>
          </a:p>
          <a:p>
            <a:pPr marL="0" indent="0">
              <a:buFont typeface="Arial"/>
              <a:buNone/>
              <a:defRPr/>
            </a:pPr>
            <a:r>
              <a:rPr sz="1800" b="0" i="0" u="none" dirty="0">
                <a:solidFill>
                  <a:srgbClr val="333333"/>
                </a:solidFill>
                <a:latin typeface="Arial"/>
                <a:ea typeface="Arial"/>
                <a:cs typeface="Arial"/>
              </a:rPr>
              <a:t>    std::thread </a:t>
            </a:r>
            <a:r>
              <a:rPr sz="1800" b="1" i="0" u="none" dirty="0">
                <a:solidFill>
                  <a:srgbClr val="990000"/>
                </a:solidFill>
                <a:latin typeface="Arial"/>
                <a:ea typeface="Arial"/>
                <a:cs typeface="Arial"/>
              </a:rPr>
              <a:t>t</a:t>
            </a:r>
            <a:r>
              <a:rPr sz="1800" b="0" i="0" u="none" dirty="0">
                <a:solidFill>
                  <a:srgbClr val="333333"/>
                </a:solidFill>
                <a:latin typeface="Arial"/>
                <a:ea typeface="Arial"/>
                <a:cs typeface="Arial"/>
              </a:rPr>
              <a:t>(task);</a:t>
            </a:r>
            <a:endParaRPr dirty="0"/>
          </a:p>
          <a:p>
            <a:pPr marL="0" indent="0">
              <a:buFont typeface="Arial"/>
              <a:buNone/>
              <a:defRPr/>
            </a:pPr>
            <a:r>
              <a:rPr sz="1800" b="0" i="0" u="none" dirty="0">
                <a:solidFill>
                  <a:srgbClr val="333333"/>
                </a:solidFill>
                <a:latin typeface="Arial"/>
                <a:ea typeface="Arial"/>
                <a:cs typeface="Arial"/>
              </a:rPr>
              <a:t>    </a:t>
            </a:r>
            <a:r>
              <a:rPr sz="1800" b="0" i="0" u="none" dirty="0" err="1">
                <a:solidFill>
                  <a:srgbClr val="333333"/>
                </a:solidFill>
                <a:latin typeface="Arial"/>
                <a:ea typeface="Arial"/>
                <a:cs typeface="Arial"/>
              </a:rPr>
              <a:t>t.</a:t>
            </a:r>
            <a:r>
              <a:rPr sz="1800" b="0" i="0" u="none" dirty="0" err="1">
                <a:solidFill>
                  <a:srgbClr val="0086B3"/>
                </a:solidFill>
                <a:latin typeface="Arial"/>
                <a:ea typeface="Arial"/>
                <a:cs typeface="Arial"/>
              </a:rPr>
              <a:t>join</a:t>
            </a:r>
            <a:r>
              <a:rPr sz="1800" b="0" i="0" u="none" dirty="0">
                <a:solidFill>
                  <a:srgbClr val="333333"/>
                </a:solidFill>
                <a:latin typeface="Arial"/>
                <a:ea typeface="Arial"/>
                <a:cs typeface="Arial"/>
              </a:rPr>
              <a:t>();</a:t>
            </a:r>
            <a:endParaRPr dirty="0"/>
          </a:p>
          <a:p>
            <a:pPr marL="0" indent="0">
              <a:buFont typeface="Arial"/>
              <a:buNone/>
              <a:defRPr/>
            </a:pPr>
            <a:r>
              <a:rPr sz="1800" b="0" i="0" u="none" dirty="0">
                <a:solidFill>
                  <a:srgbClr val="333333"/>
                </a:solidFill>
                <a:latin typeface="Arial"/>
                <a:ea typeface="Arial"/>
                <a:cs typeface="Arial"/>
              </a:rPr>
              <a:t>}</a:t>
            </a:r>
            <a:endParaRPr lang="en-US" dirty="0"/>
          </a:p>
          <a:p>
            <a:pPr>
              <a:defRPr/>
            </a:pPr>
            <a:r>
              <a:rPr lang="en-US" sz="2800" b="0" i="0" u="none" strike="noStrike" cap="none" spc="0" dirty="0">
                <a:solidFill>
                  <a:schemeClr val="tx1"/>
                </a:solidFill>
                <a:latin typeface="Calibri"/>
                <a:ea typeface="Calibri"/>
                <a:cs typeface="Calibri"/>
              </a:rPr>
              <a:t>task = what to run (like Runnable)</a:t>
            </a:r>
            <a:endParaRPr lang="en-US" sz="2800" b="0" i="0" u="none" strike="noStrike" cap="none" spc="0" dirty="0">
              <a:solidFill>
                <a:schemeClr val="tx1"/>
              </a:solidFill>
              <a:latin typeface="Calibri"/>
              <a:cs typeface="Calibri"/>
            </a:endParaRPr>
          </a:p>
          <a:p>
            <a:pPr>
              <a:defRPr/>
            </a:pPr>
            <a:r>
              <a:rPr lang="en-US" sz="2800" b="0" i="0" u="none" strike="noStrike" cap="none" spc="0" dirty="0">
                <a:solidFill>
                  <a:schemeClr val="tx1"/>
                </a:solidFill>
                <a:latin typeface="Calibri"/>
                <a:ea typeface="Calibri"/>
                <a:cs typeface="Calibri"/>
              </a:rPr>
              <a:t>std::thread = the thread object</a:t>
            </a:r>
          </a:p>
          <a:p>
            <a:pPr>
              <a:defRPr/>
            </a:pPr>
            <a:r>
              <a:rPr lang="en-US" sz="2800" b="0" i="0" u="none" strike="noStrike" cap="none" spc="0" dirty="0">
                <a:solidFill>
                  <a:schemeClr val="tx1"/>
                </a:solidFill>
                <a:latin typeface="Calibri"/>
                <a:ea typeface="Calibri"/>
                <a:cs typeface="Calibri"/>
              </a:rPr>
              <a:t>join() = wait until finished (</a:t>
            </a:r>
            <a:r>
              <a:rPr lang="en-US" sz="2800" b="1" i="0" u="none" strike="noStrike" cap="none" spc="0" dirty="0">
                <a:solidFill>
                  <a:schemeClr val="tx1"/>
                </a:solidFill>
                <a:latin typeface="Calibri"/>
                <a:ea typeface="Calibri"/>
                <a:cs typeface="Calibri"/>
              </a:rPr>
              <a:t>mandatory</a:t>
            </a:r>
            <a:r>
              <a:rPr lang="en-US" sz="2800" b="0" i="0" u="none" strike="noStrike" cap="none" spc="0" dirty="0">
                <a:solidFill>
                  <a:schemeClr val="tx1"/>
                </a:solidFill>
                <a:latin typeface="Calibri"/>
                <a:ea typeface="Calibri"/>
                <a:cs typeface="Calibri"/>
              </a:rPr>
              <a:t>)</a:t>
            </a:r>
            <a:endParaRPr lang="en-US" sz="2800" b="0" i="0" u="none" strike="noStrike" cap="none" spc="0" dirty="0">
              <a:solidFill>
                <a:schemeClr val="tx1"/>
              </a:solidFill>
              <a:latin typeface="Calibri"/>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826826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82682679">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82682679">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82682679">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82682679">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82682679">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82682679">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82682679">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82682679">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67077552">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67077552">
                                            <p:txEl>
                                              <p:pRg st="1" end="1"/>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967077552">
                                            <p:txEl>
                                              <p:pRg st="2" end="2"/>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967077552">
                                            <p:txEl>
                                              <p:pRg st="3" end="3"/>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967077552">
                                            <p:txEl>
                                              <p:pRg st="4" end="4"/>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967077552">
                                            <p:txEl>
                                              <p:pRg st="5" end="5"/>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967077552">
                                            <p:txEl>
                                              <p:pRg st="6" end="6"/>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967077552">
                                            <p:txEl>
                                              <p:pRg st="7" end="7"/>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967077552">
                                            <p:txEl>
                                              <p:pRg st="8" end="8"/>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967077552">
                                            <p:txEl>
                                              <p:pRg st="9" end="9"/>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967077552">
                                            <p:txEl>
                                              <p:pRg st="10" end="10"/>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96707755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A8B2B6AD-3ABA-31E4-44C8-76C704E10A30}"/>
            </a:ext>
          </a:extLst>
        </p:cNvPr>
        <p:cNvGrpSpPr/>
        <p:nvPr/>
      </p:nvGrpSpPr>
      <p:grpSpPr bwMode="auto">
        <a:xfrm>
          <a:off x="0" y="0"/>
          <a:ext cx="0" cy="0"/>
          <a:chOff x="0" y="0"/>
          <a:chExt cx="0" cy="0"/>
        </a:xfrm>
      </p:grpSpPr>
      <p:sp>
        <p:nvSpPr>
          <p:cNvPr id="1325254874" name="Title 1">
            <a:extLst>
              <a:ext uri="{FF2B5EF4-FFF2-40B4-BE49-F238E27FC236}">
                <a16:creationId xmlns:a16="http://schemas.microsoft.com/office/drawing/2014/main" id="{91A03544-FEDB-CD55-220D-37673EB61C20}"/>
              </a:ext>
            </a:extLst>
          </p:cNvPr>
          <p:cNvSpPr>
            <a:spLocks noGrp="1"/>
          </p:cNvSpPr>
          <p:nvPr>
            <p:ph type="title"/>
          </p:nvPr>
        </p:nvSpPr>
        <p:spPr bwMode="auto"/>
        <p:txBody>
          <a:bodyPr/>
          <a:lstStyle/>
          <a:p>
            <a:pPr>
              <a:defRPr/>
            </a:pPr>
            <a:r>
              <a:rPr lang="en-US"/>
              <a:t>Multi-Threading in Java vs. C++</a:t>
            </a:r>
            <a:endParaRPr/>
          </a:p>
        </p:txBody>
      </p:sp>
      <p:sp>
        <p:nvSpPr>
          <p:cNvPr id="1882682679" name="Content Placeholder 2">
            <a:extLst>
              <a:ext uri="{FF2B5EF4-FFF2-40B4-BE49-F238E27FC236}">
                <a16:creationId xmlns:a16="http://schemas.microsoft.com/office/drawing/2014/main" id="{871EC3F2-D1E5-853F-A7B7-0F6C6C5AFFA0}"/>
              </a:ext>
            </a:extLst>
          </p:cNvPr>
          <p:cNvSpPr>
            <a:spLocks noGrp="1"/>
          </p:cNvSpPr>
          <p:nvPr>
            <p:ph sz="half" idx="1"/>
          </p:nvPr>
        </p:nvSpPr>
        <p:spPr bwMode="auto">
          <a:xfrm>
            <a:off x="838199" y="1825624"/>
            <a:ext cx="5181599" cy="4351338"/>
          </a:xfrm>
        </p:spPr>
        <p:txBody>
          <a:bodyPr>
            <a:normAutofit fontScale="95000" lnSpcReduction="10000"/>
          </a:bodyPr>
          <a:lstStyle/>
          <a:p>
            <a:pPr>
              <a:defRPr/>
            </a:pPr>
            <a:r>
              <a:rPr lang="en-US" dirty="0"/>
              <a:t>In java:</a:t>
            </a:r>
          </a:p>
          <a:p>
            <a:pPr marL="0" indent="0">
              <a:buNone/>
              <a:defRPr/>
            </a:pPr>
            <a:r>
              <a:rPr sz="1800" b="1" i="0" u="none" dirty="0">
                <a:solidFill>
                  <a:srgbClr val="445588"/>
                </a:solidFill>
                <a:latin typeface="Arial"/>
                <a:ea typeface="Arial"/>
                <a:cs typeface="Arial"/>
              </a:rPr>
              <a:t>Thread</a:t>
            </a:r>
            <a:r>
              <a:rPr sz="1800" b="0" i="0" u="none" dirty="0">
                <a:solidFill>
                  <a:srgbClr val="333333"/>
                </a:solidFill>
                <a:latin typeface="Arial"/>
                <a:ea typeface="Arial"/>
                <a:cs typeface="Arial"/>
              </a:rPr>
              <a:t> </a:t>
            </a:r>
            <a:r>
              <a:rPr sz="1800" b="0" i="0" u="none" dirty="0">
                <a:solidFill>
                  <a:srgbClr val="008080"/>
                </a:solidFill>
                <a:latin typeface="Arial"/>
                <a:ea typeface="Arial"/>
                <a:cs typeface="Arial"/>
              </a:rPr>
              <a:t>t</a:t>
            </a:r>
            <a:r>
              <a:rPr sz="1800" b="0" i="0" u="none" dirty="0">
                <a:solidFill>
                  <a:srgbClr val="333333"/>
                </a:solidFill>
                <a:latin typeface="Arial"/>
                <a:ea typeface="Arial"/>
                <a:cs typeface="Arial"/>
              </a:rPr>
              <a:t> = </a:t>
            </a:r>
            <a:r>
              <a:rPr sz="1800" b="1" i="0" u="none" dirty="0">
                <a:solidFill>
                  <a:srgbClr val="333333"/>
                </a:solidFill>
                <a:latin typeface="Arial"/>
                <a:ea typeface="Arial"/>
                <a:cs typeface="Arial"/>
              </a:rPr>
              <a:t>new</a:t>
            </a:r>
            <a:r>
              <a:rPr sz="1800" b="0" i="0" u="none" dirty="0">
                <a:solidFill>
                  <a:srgbClr val="333333"/>
                </a:solidFill>
                <a:latin typeface="Arial"/>
                <a:ea typeface="Arial"/>
                <a:cs typeface="Arial"/>
              </a:rPr>
              <a:t> </a:t>
            </a:r>
            <a:r>
              <a:rPr sz="1800" b="1" i="0" u="none" dirty="0">
                <a:solidFill>
                  <a:srgbClr val="990000"/>
                </a:solidFill>
                <a:latin typeface="Arial"/>
                <a:ea typeface="Arial"/>
                <a:cs typeface="Arial"/>
              </a:rPr>
              <a:t>Thread</a:t>
            </a:r>
            <a:r>
              <a:rPr sz="1800" b="0" i="0" u="none" dirty="0">
                <a:solidFill>
                  <a:srgbClr val="333333"/>
                </a:solidFill>
                <a:latin typeface="Arial"/>
                <a:ea typeface="Arial"/>
                <a:cs typeface="Arial"/>
              </a:rPr>
              <a:t>(</a:t>
            </a:r>
            <a:r>
              <a:rPr lang="en-US" sz="1800" dirty="0">
                <a:solidFill>
                  <a:srgbClr val="333333"/>
                </a:solidFill>
                <a:latin typeface="Arial"/>
              </a:rPr>
              <a:t>() -&gt; {</a:t>
            </a:r>
            <a:endParaRPr lang="en-US" sz="1800" dirty="0"/>
          </a:p>
          <a:p>
            <a:pPr marL="0" indent="0">
              <a:buNone/>
              <a:defRPr/>
            </a:pPr>
            <a:r>
              <a:rPr lang="en-US" sz="1800" dirty="0">
                <a:solidFill>
                  <a:srgbClr val="333333"/>
                </a:solidFill>
                <a:latin typeface="Arial"/>
              </a:rPr>
              <a:t>    </a:t>
            </a:r>
            <a:r>
              <a:rPr lang="en-US" sz="1800" dirty="0" err="1">
                <a:solidFill>
                  <a:srgbClr val="333333"/>
                </a:solidFill>
                <a:latin typeface="Arial"/>
              </a:rPr>
              <a:t>System.out.println</a:t>
            </a:r>
            <a:r>
              <a:rPr lang="en-US" sz="1800" dirty="0">
                <a:solidFill>
                  <a:srgbClr val="333333"/>
                </a:solidFill>
                <a:latin typeface="Arial"/>
              </a:rPr>
              <a:t>(</a:t>
            </a:r>
            <a:r>
              <a:rPr lang="en-US" sz="1800" dirty="0">
                <a:solidFill>
                  <a:srgbClr val="DD1144"/>
                </a:solidFill>
                <a:latin typeface="Arial"/>
              </a:rPr>
              <a:t>"Hello from thread"</a:t>
            </a:r>
            <a:r>
              <a:rPr lang="en-US" sz="1800" dirty="0">
                <a:solidFill>
                  <a:srgbClr val="333333"/>
                </a:solidFill>
                <a:latin typeface="Arial"/>
              </a:rPr>
              <a:t>);</a:t>
            </a:r>
            <a:endParaRPr lang="en-US" sz="1800" dirty="0"/>
          </a:p>
          <a:p>
            <a:pPr marL="0" indent="0">
              <a:buNone/>
              <a:defRPr/>
            </a:pPr>
            <a:r>
              <a:rPr lang="en-US" sz="1800" dirty="0">
                <a:solidFill>
                  <a:srgbClr val="333333"/>
                </a:solidFill>
                <a:latin typeface="Arial"/>
              </a:rPr>
              <a:t>}</a:t>
            </a:r>
            <a:r>
              <a:rPr sz="1800" b="0" i="0" u="none" dirty="0">
                <a:solidFill>
                  <a:srgbClr val="333333"/>
                </a:solidFill>
                <a:latin typeface="Arial"/>
                <a:ea typeface="Arial"/>
                <a:cs typeface="Arial"/>
              </a:rPr>
              <a:t>);</a:t>
            </a:r>
            <a:endParaRPr sz="1800" dirty="0"/>
          </a:p>
          <a:p>
            <a:pPr marL="0" indent="0">
              <a:buFont typeface="Arial"/>
              <a:buNone/>
              <a:defRPr/>
            </a:pPr>
            <a:r>
              <a:rPr sz="1800" b="0" i="0" u="none" dirty="0" err="1">
                <a:solidFill>
                  <a:srgbClr val="333333"/>
                </a:solidFill>
                <a:latin typeface="Arial"/>
                <a:ea typeface="Arial"/>
                <a:cs typeface="Arial"/>
              </a:rPr>
              <a:t>t.start</a:t>
            </a:r>
            <a:r>
              <a:rPr sz="1800" b="0" i="0" u="none" dirty="0">
                <a:solidFill>
                  <a:srgbClr val="333333"/>
                </a:solidFill>
                <a:latin typeface="Arial"/>
                <a:ea typeface="Arial"/>
                <a:cs typeface="Arial"/>
              </a:rPr>
              <a:t>();</a:t>
            </a:r>
            <a:endParaRPr sz="1800" dirty="0"/>
          </a:p>
          <a:p>
            <a:pPr marL="0" indent="0">
              <a:buNone/>
              <a:defRPr/>
            </a:pPr>
            <a:endParaRPr lang="en-US" sz="1800" b="0" i="0" u="none" strike="noStrike" cap="none" spc="0" dirty="0">
              <a:solidFill>
                <a:srgbClr val="333333"/>
              </a:solidFill>
              <a:latin typeface="Arial"/>
              <a:ea typeface="Arial"/>
              <a:cs typeface="Arial"/>
            </a:endParaRPr>
          </a:p>
          <a:p>
            <a:pPr marL="0" indent="0">
              <a:buNone/>
              <a:defRPr/>
            </a:pPr>
            <a:endParaRPr lang="en-US" sz="1800" b="0" i="0" u="none" strike="noStrike" cap="none" spc="0" dirty="0">
              <a:solidFill>
                <a:srgbClr val="333333"/>
              </a:solidFill>
              <a:latin typeface="Arial"/>
              <a:ea typeface="Arial"/>
              <a:cs typeface="Arial"/>
            </a:endParaRPr>
          </a:p>
          <a:p>
            <a:pPr>
              <a:defRPr/>
            </a:pPr>
            <a:r>
              <a:rPr lang="he-IL" b="0" i="0" u="none" strike="noStrike" cap="none" spc="0" dirty="0">
                <a:solidFill>
                  <a:srgbClr val="333333"/>
                </a:solidFill>
                <a:latin typeface="Arial"/>
                <a:ea typeface="Arial"/>
                <a:cs typeface="Arial"/>
              </a:rPr>
              <a:t>Runnable = “what to run”</a:t>
            </a:r>
            <a:endParaRPr lang="he-IL" b="0" i="0" u="none" strike="noStrike" cap="none" spc="0" dirty="0">
              <a:solidFill>
                <a:srgbClr val="333333"/>
              </a:solidFill>
              <a:latin typeface="Arial"/>
              <a:cs typeface="Arial"/>
            </a:endParaRPr>
          </a:p>
          <a:p>
            <a:pPr>
              <a:defRPr/>
            </a:pPr>
            <a:r>
              <a:rPr lang="he-IL" b="0" i="0" u="none" strike="noStrike" cap="none" spc="0" dirty="0">
                <a:solidFill>
                  <a:srgbClr val="333333"/>
                </a:solidFill>
                <a:latin typeface="Arial"/>
                <a:ea typeface="Arial"/>
                <a:cs typeface="Arial"/>
              </a:rPr>
              <a:t>Thread = “how it runs”</a:t>
            </a:r>
            <a:endParaRPr lang="he-IL" b="0" i="0" u="none" strike="noStrike" cap="none" spc="0" dirty="0">
              <a:solidFill>
                <a:srgbClr val="333333"/>
              </a:solidFill>
              <a:latin typeface="Arial"/>
              <a:cs typeface="Arial"/>
            </a:endParaRPr>
          </a:p>
          <a:p>
            <a:pPr>
              <a:defRPr/>
            </a:pPr>
            <a:r>
              <a:rPr lang="he-IL" b="0" i="0" u="none" strike="noStrike" cap="none" spc="0" dirty="0">
                <a:solidFill>
                  <a:srgbClr val="333333"/>
                </a:solidFill>
                <a:latin typeface="Arial"/>
                <a:ea typeface="Arial"/>
                <a:cs typeface="Arial"/>
              </a:rPr>
              <a:t>start() creates a new execution flow</a:t>
            </a:r>
            <a:endParaRPr dirty="0"/>
          </a:p>
        </p:txBody>
      </p:sp>
      <p:sp>
        <p:nvSpPr>
          <p:cNvPr id="967077552" name="Content Placeholder 3">
            <a:extLst>
              <a:ext uri="{FF2B5EF4-FFF2-40B4-BE49-F238E27FC236}">
                <a16:creationId xmlns:a16="http://schemas.microsoft.com/office/drawing/2014/main" id="{61B547FA-774B-F198-E8F9-748AB45910F4}"/>
              </a:ext>
            </a:extLst>
          </p:cNvPr>
          <p:cNvSpPr>
            <a:spLocks noGrp="1"/>
          </p:cNvSpPr>
          <p:nvPr>
            <p:ph sz="half" idx="2"/>
          </p:nvPr>
        </p:nvSpPr>
        <p:spPr bwMode="auto">
          <a:xfrm>
            <a:off x="6172200" y="1825624"/>
            <a:ext cx="5181599" cy="4351338"/>
          </a:xfrm>
        </p:spPr>
        <p:txBody>
          <a:bodyPr vertOverflow="overflow" horzOverflow="overflow" vert="horz" wrap="square" lIns="91440" tIns="45720" rIns="91440" bIns="45720" numCol="1" spcCol="0" rtlCol="0" fromWordArt="0" anchor="t" anchorCtr="0" forceAA="0" compatLnSpc="0">
            <a:normAutofit fontScale="95000" lnSpcReduction="10000"/>
          </a:bodyPr>
          <a:lstStyle/>
          <a:p>
            <a:pPr>
              <a:defRPr/>
            </a:pPr>
            <a:r>
              <a:rPr lang="en-US" dirty="0"/>
              <a:t>In C++:</a:t>
            </a:r>
          </a:p>
          <a:p>
            <a:pPr marL="0" indent="0">
              <a:buFont typeface="Arial"/>
              <a:buNone/>
              <a:defRPr/>
            </a:pPr>
            <a:r>
              <a:rPr sz="1800" b="1" i="0" u="none" dirty="0">
                <a:solidFill>
                  <a:srgbClr val="999999"/>
                </a:solidFill>
                <a:latin typeface="Arial"/>
                <a:ea typeface="Arial"/>
                <a:cs typeface="Arial"/>
              </a:rPr>
              <a:t>#</a:t>
            </a:r>
            <a:r>
              <a:rPr sz="1800" b="1" i="0" u="none" dirty="0">
                <a:solidFill>
                  <a:srgbClr val="333333"/>
                </a:solidFill>
                <a:latin typeface="Arial"/>
                <a:ea typeface="Arial"/>
                <a:cs typeface="Arial"/>
              </a:rPr>
              <a:t>include</a:t>
            </a:r>
            <a:r>
              <a:rPr sz="1800" b="1" i="0" u="none" dirty="0">
                <a:solidFill>
                  <a:srgbClr val="999999"/>
                </a:solidFill>
                <a:latin typeface="Arial"/>
                <a:ea typeface="Arial"/>
                <a:cs typeface="Arial"/>
              </a:rPr>
              <a:t> </a:t>
            </a:r>
            <a:r>
              <a:rPr sz="1800" b="1" i="0" u="none" dirty="0">
                <a:solidFill>
                  <a:srgbClr val="DD1144"/>
                </a:solidFill>
                <a:latin typeface="Arial"/>
                <a:ea typeface="Arial"/>
                <a:cs typeface="Arial"/>
              </a:rPr>
              <a:t>&lt;thread&gt;</a:t>
            </a:r>
            <a:endParaRPr dirty="0"/>
          </a:p>
          <a:p>
            <a:pPr marL="0" indent="0">
              <a:buFont typeface="Arial"/>
              <a:buNone/>
              <a:defRPr/>
            </a:pPr>
            <a:r>
              <a:rPr sz="1800" b="1" i="0" u="none" dirty="0">
                <a:solidFill>
                  <a:srgbClr val="445588"/>
                </a:solidFill>
                <a:latin typeface="Arial"/>
                <a:ea typeface="Arial"/>
                <a:cs typeface="Arial"/>
              </a:rPr>
              <a:t>int</a:t>
            </a:r>
            <a:r>
              <a:rPr sz="1800" b="0" i="0" u="none" dirty="0">
                <a:solidFill>
                  <a:srgbClr val="333333"/>
                </a:solidFill>
                <a:latin typeface="Arial"/>
                <a:ea typeface="Arial"/>
                <a:cs typeface="Arial"/>
              </a:rPr>
              <a:t> </a:t>
            </a:r>
            <a:r>
              <a:rPr sz="1800" b="1" i="0" u="none" dirty="0">
                <a:solidFill>
                  <a:srgbClr val="990000"/>
                </a:solidFill>
                <a:latin typeface="Arial"/>
                <a:ea typeface="Arial"/>
                <a:cs typeface="Arial"/>
              </a:rPr>
              <a:t>main</a:t>
            </a:r>
            <a:r>
              <a:rPr sz="1800" b="0" i="0" u="none" dirty="0">
                <a:solidFill>
                  <a:srgbClr val="333333"/>
                </a:solidFill>
                <a:latin typeface="Arial"/>
                <a:ea typeface="Arial"/>
                <a:cs typeface="Arial"/>
              </a:rPr>
              <a:t>() {</a:t>
            </a:r>
            <a:endParaRPr dirty="0"/>
          </a:p>
          <a:p>
            <a:pPr marL="0" indent="0">
              <a:buFont typeface="Arial"/>
              <a:buNone/>
              <a:defRPr/>
            </a:pPr>
            <a:r>
              <a:rPr sz="1800" b="0" i="0" u="none" dirty="0">
                <a:solidFill>
                  <a:srgbClr val="333333"/>
                </a:solidFill>
                <a:latin typeface="Arial"/>
                <a:ea typeface="Arial"/>
                <a:cs typeface="Arial"/>
              </a:rPr>
              <a:t>    std::thread </a:t>
            </a:r>
            <a:r>
              <a:rPr sz="1800" b="1" i="0" u="none" dirty="0">
                <a:solidFill>
                  <a:srgbClr val="990000"/>
                </a:solidFill>
                <a:latin typeface="Arial"/>
                <a:ea typeface="Arial"/>
                <a:cs typeface="Arial"/>
              </a:rPr>
              <a:t>t</a:t>
            </a:r>
            <a:r>
              <a:rPr sz="1800" b="0" i="0" u="none" dirty="0">
                <a:solidFill>
                  <a:srgbClr val="333333"/>
                </a:solidFill>
                <a:latin typeface="Arial"/>
                <a:ea typeface="Arial"/>
                <a:cs typeface="Arial"/>
              </a:rPr>
              <a:t>(</a:t>
            </a:r>
            <a:r>
              <a:rPr lang="en-US" sz="1800" b="0" i="0" u="none" dirty="0">
                <a:solidFill>
                  <a:srgbClr val="333333"/>
                </a:solidFill>
                <a:latin typeface="Arial"/>
                <a:ea typeface="Arial"/>
                <a:cs typeface="Arial"/>
              </a:rPr>
              <a:t>[](){</a:t>
            </a:r>
            <a:r>
              <a:rPr lang="en-US" sz="1800" dirty="0">
                <a:solidFill>
                  <a:srgbClr val="333333"/>
                </a:solidFill>
                <a:latin typeface="Arial"/>
              </a:rPr>
              <a:t>std::</a:t>
            </a:r>
            <a:r>
              <a:rPr lang="en-US" sz="1800" dirty="0" err="1">
                <a:solidFill>
                  <a:srgbClr val="333333"/>
                </a:solidFill>
                <a:latin typeface="Arial"/>
              </a:rPr>
              <a:t>cout</a:t>
            </a:r>
            <a:r>
              <a:rPr lang="en-US" sz="1800" dirty="0">
                <a:solidFill>
                  <a:srgbClr val="333333"/>
                </a:solidFill>
                <a:latin typeface="Arial"/>
              </a:rPr>
              <a:t> &lt;&lt; </a:t>
            </a:r>
            <a:r>
              <a:rPr lang="en-US" sz="1800" dirty="0">
                <a:solidFill>
                  <a:srgbClr val="DD1144"/>
                </a:solidFill>
                <a:latin typeface="Arial"/>
              </a:rPr>
              <a:t>"Hello from thread\n"</a:t>
            </a:r>
            <a:r>
              <a:rPr lang="en-US" sz="1800" dirty="0">
                <a:solidFill>
                  <a:srgbClr val="333333"/>
                </a:solidFill>
                <a:latin typeface="Arial"/>
              </a:rPr>
              <a:t>;</a:t>
            </a:r>
            <a:r>
              <a:rPr lang="en-US" sz="1800" b="0" i="0" u="none" dirty="0">
                <a:solidFill>
                  <a:srgbClr val="333333"/>
                </a:solidFill>
                <a:latin typeface="Arial"/>
                <a:ea typeface="Arial"/>
                <a:cs typeface="Arial"/>
              </a:rPr>
              <a:t>}</a:t>
            </a:r>
            <a:r>
              <a:rPr sz="1800" b="0" i="0" u="none" dirty="0">
                <a:solidFill>
                  <a:srgbClr val="333333"/>
                </a:solidFill>
                <a:latin typeface="Arial"/>
                <a:ea typeface="Arial"/>
                <a:cs typeface="Arial"/>
              </a:rPr>
              <a:t>);</a:t>
            </a:r>
            <a:endParaRPr dirty="0"/>
          </a:p>
          <a:p>
            <a:pPr marL="0" indent="0">
              <a:buFont typeface="Arial"/>
              <a:buNone/>
              <a:defRPr/>
            </a:pPr>
            <a:r>
              <a:rPr sz="1800" b="0" i="0" u="none" dirty="0">
                <a:solidFill>
                  <a:srgbClr val="333333"/>
                </a:solidFill>
                <a:latin typeface="Arial"/>
                <a:ea typeface="Arial"/>
                <a:cs typeface="Arial"/>
              </a:rPr>
              <a:t>    </a:t>
            </a:r>
            <a:r>
              <a:rPr sz="1800" b="0" i="0" u="none" dirty="0" err="1">
                <a:solidFill>
                  <a:srgbClr val="333333"/>
                </a:solidFill>
                <a:latin typeface="Arial"/>
                <a:ea typeface="Arial"/>
                <a:cs typeface="Arial"/>
              </a:rPr>
              <a:t>t.</a:t>
            </a:r>
            <a:r>
              <a:rPr sz="1800" b="0" i="0" u="none" dirty="0" err="1">
                <a:solidFill>
                  <a:srgbClr val="0086B3"/>
                </a:solidFill>
                <a:latin typeface="Arial"/>
                <a:ea typeface="Arial"/>
                <a:cs typeface="Arial"/>
              </a:rPr>
              <a:t>join</a:t>
            </a:r>
            <a:r>
              <a:rPr sz="1800" b="0" i="0" u="none" dirty="0">
                <a:solidFill>
                  <a:srgbClr val="333333"/>
                </a:solidFill>
                <a:latin typeface="Arial"/>
                <a:ea typeface="Arial"/>
                <a:cs typeface="Arial"/>
              </a:rPr>
              <a:t>();</a:t>
            </a:r>
            <a:endParaRPr dirty="0"/>
          </a:p>
          <a:p>
            <a:pPr marL="0" indent="0">
              <a:buFont typeface="Arial"/>
              <a:buNone/>
              <a:defRPr/>
            </a:pPr>
            <a:r>
              <a:rPr sz="1800" b="0" i="0" u="none" dirty="0">
                <a:solidFill>
                  <a:srgbClr val="333333"/>
                </a:solidFill>
                <a:latin typeface="Arial"/>
                <a:ea typeface="Arial"/>
                <a:cs typeface="Arial"/>
              </a:rPr>
              <a:t>}</a:t>
            </a:r>
            <a:endParaRPr lang="en-US" dirty="0"/>
          </a:p>
          <a:p>
            <a:pPr>
              <a:defRPr/>
            </a:pPr>
            <a:r>
              <a:rPr lang="en-US" sz="2800" b="0" i="0" u="none" strike="noStrike" cap="none" spc="0" dirty="0">
                <a:solidFill>
                  <a:schemeClr val="tx1"/>
                </a:solidFill>
                <a:latin typeface="Calibri"/>
                <a:ea typeface="Calibri"/>
                <a:cs typeface="Calibri"/>
              </a:rPr>
              <a:t>task = what to run (like Runnable)</a:t>
            </a:r>
            <a:endParaRPr lang="en-US" sz="2800" b="0" i="0" u="none" strike="noStrike" cap="none" spc="0" dirty="0">
              <a:solidFill>
                <a:schemeClr val="tx1"/>
              </a:solidFill>
              <a:latin typeface="Calibri"/>
              <a:cs typeface="Calibri"/>
            </a:endParaRPr>
          </a:p>
          <a:p>
            <a:pPr>
              <a:defRPr/>
            </a:pPr>
            <a:r>
              <a:rPr lang="en-US" sz="2800" b="0" i="0" u="none" strike="noStrike" cap="none" spc="0" dirty="0">
                <a:solidFill>
                  <a:schemeClr val="tx1"/>
                </a:solidFill>
                <a:latin typeface="Calibri"/>
                <a:ea typeface="Calibri"/>
                <a:cs typeface="Calibri"/>
              </a:rPr>
              <a:t>std::thread = the thread object</a:t>
            </a:r>
          </a:p>
          <a:p>
            <a:pPr>
              <a:defRPr/>
            </a:pPr>
            <a:r>
              <a:rPr lang="en-US" sz="2800" b="0" i="0" u="none" strike="noStrike" cap="none" spc="0" dirty="0">
                <a:solidFill>
                  <a:schemeClr val="tx1"/>
                </a:solidFill>
                <a:latin typeface="Calibri"/>
                <a:ea typeface="Calibri"/>
                <a:cs typeface="Calibri"/>
              </a:rPr>
              <a:t>join() = wait until finished (</a:t>
            </a:r>
            <a:r>
              <a:rPr lang="en-US" sz="2800" b="1" i="0" u="none" strike="noStrike" cap="none" spc="0" dirty="0">
                <a:solidFill>
                  <a:schemeClr val="tx1"/>
                </a:solidFill>
                <a:latin typeface="Calibri"/>
                <a:ea typeface="Calibri"/>
                <a:cs typeface="Calibri"/>
              </a:rPr>
              <a:t>mandatory</a:t>
            </a:r>
            <a:r>
              <a:rPr lang="en-US" sz="2800" b="0" i="0" u="none" strike="noStrike" cap="none" spc="0" dirty="0">
                <a:solidFill>
                  <a:schemeClr val="tx1"/>
                </a:solidFill>
                <a:latin typeface="Calibri"/>
                <a:ea typeface="Calibri"/>
                <a:cs typeface="Calibri"/>
              </a:rPr>
              <a:t>)</a:t>
            </a:r>
            <a:endParaRPr lang="en-US" sz="2800" b="0" i="0" u="none" strike="noStrike" cap="none" spc="0" dirty="0">
              <a:solidFill>
                <a:schemeClr val="tx1"/>
              </a:solidFill>
              <a:latin typeface="Calibri"/>
              <a:cs typeface="Calibri"/>
            </a:endParaRPr>
          </a:p>
        </p:txBody>
      </p:sp>
    </p:spTree>
    <p:extLst>
      <p:ext uri="{BB962C8B-B14F-4D97-AF65-F5344CB8AC3E}">
        <p14:creationId xmlns:p14="http://schemas.microsoft.com/office/powerpoint/2010/main" val="3242922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826826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82682679">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82682679">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82682679">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82682679">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882682679">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82682679">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882682679">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67077552">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967077552">
                                            <p:txEl>
                                              <p:pRg st="1" end="1"/>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967077552">
                                            <p:txEl>
                                              <p:pRg st="2" end="2"/>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967077552">
                                            <p:txEl>
                                              <p:pRg st="3" end="3"/>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967077552">
                                            <p:txEl>
                                              <p:pRg st="4" end="4"/>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967077552">
                                            <p:txEl>
                                              <p:pRg st="5" end="5"/>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967077552">
                                            <p:txEl>
                                              <p:pRg st="6" end="6"/>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967077552">
                                            <p:txEl>
                                              <p:pRg st="7" end="7"/>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96707755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09430864" name="Title 1"/>
          <p:cNvSpPr>
            <a:spLocks noGrp="1"/>
          </p:cNvSpPr>
          <p:nvPr>
            <p:ph type="title"/>
          </p:nvPr>
        </p:nvSpPr>
        <p:spPr bwMode="auto"/>
        <p:txBody>
          <a:bodyPr/>
          <a:lstStyle/>
          <a:p>
            <a:pPr>
              <a:defRPr/>
            </a:pPr>
            <a:r>
              <a:rPr lang="en-US" dirty="0"/>
              <a:t>Multi-Threading in C++</a:t>
            </a:r>
            <a:endParaRPr lang="he-IL" dirty="0"/>
          </a:p>
        </p:txBody>
      </p:sp>
      <p:sp>
        <p:nvSpPr>
          <p:cNvPr id="216232427" name="Content Placeholder 2"/>
          <p:cNvSpPr>
            <a:spLocks noGrp="1"/>
          </p:cNvSpPr>
          <p:nvPr>
            <p:ph idx="1"/>
          </p:nvPr>
        </p:nvSpPr>
        <p:spPr bwMode="auto"/>
        <p:txBody>
          <a:bodyPr/>
          <a:lstStyle/>
          <a:p>
            <a:pPr>
              <a:defRPr/>
            </a:pPr>
            <a:r>
              <a:rPr lang="en-US" sz="2800" b="0" i="0" u="none" strike="noStrike" cap="none" spc="0" dirty="0">
                <a:solidFill>
                  <a:schemeClr val="tx1"/>
                </a:solidFill>
                <a:latin typeface="Calibri"/>
                <a:ea typeface="Calibri"/>
                <a:cs typeface="Calibri"/>
              </a:rPr>
              <a:t>There is no runnable interface in C++.</a:t>
            </a:r>
            <a:endParaRPr lang="en-US" sz="2800" b="0" i="0" u="none" strike="noStrike" cap="none" spc="0" dirty="0">
              <a:solidFill>
                <a:schemeClr val="tx1"/>
              </a:solidFill>
              <a:latin typeface="Calibri"/>
              <a:cs typeface="Calibri"/>
            </a:endParaRPr>
          </a:p>
          <a:p>
            <a:pPr>
              <a:defRPr/>
            </a:pPr>
            <a:r>
              <a:rPr lang="en-US" sz="2800" b="0" i="0" u="none" strike="noStrike" cap="none" spc="0" dirty="0">
                <a:solidFill>
                  <a:schemeClr val="tx1"/>
                </a:solidFill>
                <a:latin typeface="Calibri"/>
                <a:ea typeface="Calibri"/>
                <a:cs typeface="Calibri"/>
              </a:rPr>
              <a:t>Assigning tasks to threads involves giving each thread a pointer to the function it should run.</a:t>
            </a:r>
          </a:p>
          <a:p>
            <a:pPr>
              <a:defRPr/>
            </a:pPr>
            <a:r>
              <a:rPr lang="en-US" sz="2800" b="1" i="0" u="none" strike="noStrike" cap="none" spc="0" dirty="0">
                <a:solidFill>
                  <a:schemeClr val="tx1"/>
                </a:solidFill>
                <a:latin typeface="Calibri"/>
                <a:ea typeface="Calibri"/>
                <a:cs typeface="Calibri"/>
              </a:rPr>
              <a:t>RULE: </a:t>
            </a:r>
            <a:r>
              <a:rPr lang="en-US" sz="2800" b="0" i="0" u="none" strike="noStrike" cap="none" spc="0" dirty="0">
                <a:solidFill>
                  <a:schemeClr val="tx1"/>
                </a:solidFill>
                <a:latin typeface="Calibri"/>
                <a:ea typeface="Calibri"/>
                <a:cs typeface="Calibri"/>
              </a:rPr>
              <a:t>A std::thread must be either join()-ed or detach()-ed before it is destroyed</a:t>
            </a:r>
            <a:r>
              <a:rPr lang="en-US" dirty="0"/>
              <a:t>.</a:t>
            </a:r>
            <a:endParaRPr lang="en-US" sz="2800" b="0" i="0" u="none" strike="noStrike" cap="none" spc="0" dirty="0">
              <a:solidFill>
                <a:schemeClr val="tx1"/>
              </a:solidFill>
              <a:latin typeface="Calibri"/>
              <a:cs typeface="Calibri"/>
            </a:endParaRPr>
          </a:p>
          <a:p>
            <a:pPr>
              <a:defRPr/>
            </a:pPr>
            <a:r>
              <a:rPr lang="en-US" sz="2800" b="0" i="0" u="none" strike="noStrike" cap="none" spc="0" dirty="0">
                <a:solidFill>
                  <a:schemeClr val="tx1"/>
                </a:solidFill>
                <a:latin typeface="Calibri"/>
                <a:ea typeface="Calibri"/>
                <a:cs typeface="Calibri"/>
              </a:rPr>
              <a:t>Locking can be done using std::mutex and std::</a:t>
            </a:r>
            <a:r>
              <a:rPr lang="en-US" sz="2800" b="0" i="0" u="none" strike="noStrike" cap="none" spc="0" dirty="0" err="1">
                <a:solidFill>
                  <a:schemeClr val="tx1"/>
                </a:solidFill>
                <a:latin typeface="Calibri"/>
                <a:ea typeface="Calibri"/>
                <a:cs typeface="Calibri"/>
              </a:rPr>
              <a:t>lock_guard</a:t>
            </a:r>
            <a:r>
              <a:rPr lang="en-US" sz="2800" b="0" i="0" u="none" strike="noStrike" cap="none" spc="0" dirty="0">
                <a:solidFill>
                  <a:schemeClr val="tx1"/>
                </a:solidFill>
                <a:latin typeface="Calibri"/>
                <a:ea typeface="Calibri"/>
                <a:cs typeface="Calibri"/>
              </a:rPr>
              <a:t>.</a:t>
            </a:r>
            <a:endParaRPr lang="he-I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62324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623242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623242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623242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232427"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77338159" name="Title 1"/>
          <p:cNvSpPr>
            <a:spLocks noGrp="1"/>
          </p:cNvSpPr>
          <p:nvPr>
            <p:ph type="title"/>
          </p:nvPr>
        </p:nvSpPr>
        <p:spPr bwMode="auto">
          <a:xfrm>
            <a:off x="839787" y="365124"/>
            <a:ext cx="10515600" cy="1325562"/>
          </a:xfrm>
        </p:spPr>
        <p:txBody>
          <a:bodyPr/>
          <a:lstStyle/>
          <a:p>
            <a:pPr>
              <a:defRPr/>
            </a:pPr>
            <a:r>
              <a:rPr lang="he-IL" sz="4400" b="0" i="0" u="none" strike="noStrike" cap="none" spc="0">
                <a:solidFill>
                  <a:schemeClr val="tx1"/>
                </a:solidFill>
                <a:latin typeface="Calibri Light"/>
                <a:ea typeface="Calibri Light"/>
                <a:cs typeface="Calibri Light"/>
              </a:rPr>
              <a:t>Mutex: the C++ version of synchronized</a:t>
            </a:r>
            <a:endParaRPr/>
          </a:p>
        </p:txBody>
      </p:sp>
      <p:sp>
        <p:nvSpPr>
          <p:cNvPr id="1958336367" name="Text Placeholder 2"/>
          <p:cNvSpPr>
            <a:spLocks noGrp="1"/>
          </p:cNvSpPr>
          <p:nvPr>
            <p:ph type="body" idx="1"/>
          </p:nvPr>
        </p:nvSpPr>
        <p:spPr bwMode="auto">
          <a:xfrm>
            <a:off x="839787" y="3120231"/>
            <a:ext cx="3170836" cy="411955"/>
          </a:xfrm>
        </p:spPr>
        <p:txBody>
          <a:bodyPr>
            <a:normAutofit fontScale="87500" lnSpcReduction="11000"/>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defRPr/>
            </a:pPr>
            <a:r>
              <a:rPr lang="en-US" dirty="0"/>
              <a:t>Java</a:t>
            </a:r>
            <a:endParaRPr dirty="0"/>
          </a:p>
        </p:txBody>
      </p:sp>
      <p:sp>
        <p:nvSpPr>
          <p:cNvPr id="2066172944" name="Content Placeholder 3"/>
          <p:cNvSpPr>
            <a:spLocks noGrp="1"/>
          </p:cNvSpPr>
          <p:nvPr>
            <p:ph sz="half" idx="2"/>
          </p:nvPr>
        </p:nvSpPr>
        <p:spPr bwMode="auto">
          <a:xfrm>
            <a:off x="839787" y="3532187"/>
            <a:ext cx="3170836" cy="1642268"/>
          </a:xfrm>
        </p:spPr>
        <p:txBody>
          <a:bodyPr/>
          <a:lstStyle/>
          <a:p>
            <a:pPr>
              <a:defRPr/>
            </a:pPr>
            <a:r>
              <a:rPr lang="he-IL" sz="2800" b="0" i="0" u="none" strike="noStrike" cap="none" spc="0" dirty="0">
                <a:solidFill>
                  <a:schemeClr val="tx1"/>
                </a:solidFill>
                <a:latin typeface="Calibri"/>
                <a:ea typeface="Calibri"/>
                <a:cs typeface="Calibri"/>
              </a:rPr>
              <a:t>synchronized(obj)</a:t>
            </a:r>
            <a:endParaRPr dirty="0"/>
          </a:p>
          <a:p>
            <a:pPr>
              <a:defRPr/>
            </a:pPr>
            <a:r>
              <a:rPr lang="he-IL" sz="2800" b="0" i="0" u="none" strike="noStrike" cap="none" spc="0" dirty="0">
                <a:solidFill>
                  <a:schemeClr val="tx1"/>
                </a:solidFill>
                <a:latin typeface="Calibri"/>
                <a:ea typeface="Calibri"/>
                <a:cs typeface="Calibri"/>
              </a:rPr>
              <a:t>automatic unlock</a:t>
            </a:r>
            <a:endParaRPr dirty="0"/>
          </a:p>
          <a:p>
            <a:pPr>
              <a:defRPr/>
            </a:pPr>
            <a:r>
              <a:rPr lang="he-IL" sz="2800" b="1" i="0" u="none" strike="noStrike" cap="none" spc="0" dirty="0">
                <a:solidFill>
                  <a:schemeClr val="tx1"/>
                </a:solidFill>
                <a:latin typeface="Calibri"/>
                <a:ea typeface="Calibri"/>
                <a:cs typeface="Calibri"/>
              </a:rPr>
              <a:t>JVM-managed</a:t>
            </a:r>
            <a:endParaRPr b="1" dirty="0"/>
          </a:p>
        </p:txBody>
      </p:sp>
      <p:sp>
        <p:nvSpPr>
          <p:cNvPr id="908630539" name="Text Placeholder 4"/>
          <p:cNvSpPr>
            <a:spLocks noGrp="1"/>
          </p:cNvSpPr>
          <p:nvPr>
            <p:ph type="body" sz="quarter" idx="3"/>
          </p:nvPr>
        </p:nvSpPr>
        <p:spPr bwMode="auto">
          <a:xfrm>
            <a:off x="7424931" y="3120231"/>
            <a:ext cx="3930456" cy="362346"/>
          </a:xfrm>
        </p:spPr>
        <p:txBody>
          <a:bodyPr vertOverflow="overflow" horzOverflow="overflow" vert="horz" wrap="square" lIns="91440" tIns="45720" rIns="91440" bIns="45720" numCol="1" spcCol="0" rtlCol="0" fromWordArt="0" anchor="b" anchorCtr="0" forceAA="0" compatLnSpc="0">
            <a:normAutofit fontScale="87500" lnSpcReduction="11000"/>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defRPr/>
            </a:pPr>
            <a:r>
              <a:rPr lang="en-US"/>
              <a:t>C++</a:t>
            </a:r>
            <a:endParaRPr/>
          </a:p>
        </p:txBody>
      </p:sp>
      <p:sp>
        <p:nvSpPr>
          <p:cNvPr id="1940858205" name="Content Placeholder 5"/>
          <p:cNvSpPr>
            <a:spLocks noGrp="1"/>
          </p:cNvSpPr>
          <p:nvPr>
            <p:ph sz="quarter" idx="4"/>
          </p:nvPr>
        </p:nvSpPr>
        <p:spPr bwMode="auto">
          <a:xfrm>
            <a:off x="7424931" y="3482577"/>
            <a:ext cx="3930456" cy="1741487"/>
          </a:xfrm>
        </p:spPr>
        <p:txBody>
          <a:bodyPr/>
          <a:lstStyle/>
          <a:p>
            <a:pPr>
              <a:defRPr/>
            </a:pPr>
            <a:r>
              <a:rPr lang="he-IL" sz="2800" b="0" i="0" u="none" strike="noStrike" cap="none" spc="0" dirty="0">
                <a:solidFill>
                  <a:schemeClr val="tx1"/>
                </a:solidFill>
                <a:latin typeface="Calibri"/>
                <a:ea typeface="Calibri"/>
                <a:cs typeface="Calibri"/>
              </a:rPr>
              <a:t>std::mutex</a:t>
            </a:r>
            <a:endParaRPr dirty="0"/>
          </a:p>
          <a:p>
            <a:pPr>
              <a:defRPr/>
            </a:pPr>
            <a:r>
              <a:rPr lang="he-IL" sz="2800" b="0" i="0" u="none" strike="noStrike" cap="none" spc="0" dirty="0">
                <a:solidFill>
                  <a:schemeClr val="tx1"/>
                </a:solidFill>
                <a:latin typeface="Calibri"/>
                <a:ea typeface="Calibri"/>
                <a:cs typeface="Calibri"/>
              </a:rPr>
              <a:t>RAII</a:t>
            </a:r>
            <a:endParaRPr dirty="0"/>
          </a:p>
          <a:p>
            <a:pPr>
              <a:defRPr/>
            </a:pPr>
            <a:r>
              <a:rPr lang="he-IL" sz="2800" b="1" i="0" u="none" strike="noStrike" cap="none" spc="0" dirty="0">
                <a:solidFill>
                  <a:schemeClr val="tx1"/>
                </a:solidFill>
                <a:latin typeface="Calibri"/>
                <a:ea typeface="Calibri"/>
                <a:cs typeface="Calibri"/>
              </a:rPr>
              <a:t>programmer-managed</a:t>
            </a:r>
            <a:endParaRPr b="1" dirty="0"/>
          </a:p>
        </p:txBody>
      </p:sp>
      <p:sp>
        <p:nvSpPr>
          <p:cNvPr id="2142936461" name=" 2142936460"/>
          <p:cNvSpPr/>
          <p:nvPr/>
        </p:nvSpPr>
        <p:spPr bwMode="auto">
          <a:xfrm>
            <a:off x="4217541" y="1498102"/>
            <a:ext cx="2591771" cy="54899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sz="3000" b="0" i="0" u="none">
                <a:solidFill>
                  <a:srgbClr val="333333"/>
                </a:solidFill>
                <a:latin typeface="Arial"/>
                <a:ea typeface="Arial"/>
                <a:cs typeface="Arial"/>
              </a:rPr>
              <a:t>std::mutex m;</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4293646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5833636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0863053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6617294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4085820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66172944">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40858205">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66172944">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94085820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12455057" name="Title 1"/>
          <p:cNvSpPr>
            <a:spLocks noGrp="1"/>
          </p:cNvSpPr>
          <p:nvPr>
            <p:ph type="title"/>
          </p:nvPr>
        </p:nvSpPr>
        <p:spPr bwMode="auto"/>
        <p:txBody>
          <a:bodyPr/>
          <a:lstStyle/>
          <a:p>
            <a:pPr>
              <a:defRPr/>
            </a:pPr>
            <a:r>
              <a:rPr lang="he-IL" sz="4400" b="0" i="0" u="none" strike="noStrike" cap="none" spc="0">
                <a:solidFill>
                  <a:schemeClr val="tx1"/>
                </a:solidFill>
                <a:latin typeface="Calibri Light"/>
                <a:ea typeface="Calibri Light"/>
                <a:cs typeface="Calibri Light"/>
              </a:rPr>
              <a:t>RAII locking with std::lock_guard</a:t>
            </a:r>
            <a:endParaRPr/>
          </a:p>
        </p:txBody>
      </p:sp>
      <p:sp>
        <p:nvSpPr>
          <p:cNvPr id="632148561" name="Content Placeholder 2"/>
          <p:cNvSpPr>
            <a:spLocks noGrp="1"/>
          </p:cNvSpPr>
          <p:nvPr>
            <p:ph idx="1"/>
          </p:nvPr>
        </p:nvSpPr>
        <p:spPr bwMode="auto">
          <a:xfrm>
            <a:off x="838199" y="1825624"/>
            <a:ext cx="10515600" cy="2476658"/>
          </a:xfrm>
        </p:spPr>
        <p:txBody>
          <a:bodyPr/>
          <a:lstStyle/>
          <a:p>
            <a:pPr>
              <a:defRPr/>
            </a:pPr>
            <a:r>
              <a:rPr lang="he-IL" sz="2800" b="0" i="0" u="none" strike="noStrike" cap="none" spc="0" dirty="0">
                <a:solidFill>
                  <a:schemeClr val="tx1"/>
                </a:solidFill>
                <a:latin typeface="Calibri"/>
                <a:ea typeface="Calibri"/>
                <a:cs typeface="Calibri"/>
              </a:rPr>
              <a:t>std::lock_guard is a </a:t>
            </a:r>
            <a:r>
              <a:rPr lang="he-IL" sz="2800" b="1" i="0" u="none" strike="noStrike" cap="none" spc="0" dirty="0">
                <a:solidFill>
                  <a:schemeClr val="tx1"/>
                </a:solidFill>
                <a:latin typeface="Calibri"/>
                <a:ea typeface="Calibri"/>
                <a:cs typeface="Calibri"/>
              </a:rPr>
              <a:t>small helper object</a:t>
            </a:r>
            <a:r>
              <a:rPr lang="en-US" sz="2800" b="1" i="0" u="none" strike="noStrike" cap="none" spc="0" dirty="0">
                <a:solidFill>
                  <a:schemeClr val="tx1"/>
                </a:solidFill>
                <a:latin typeface="Calibri"/>
                <a:ea typeface="Calibri"/>
                <a:cs typeface="Calibri"/>
              </a:rPr>
              <a:t> </a:t>
            </a:r>
            <a:r>
              <a:rPr lang="he-IL" sz="2800" b="0" i="0" u="none" strike="noStrike" cap="none" spc="0" dirty="0">
                <a:solidFill>
                  <a:schemeClr val="tx1"/>
                </a:solidFill>
                <a:latin typeface="Calibri"/>
                <a:ea typeface="Calibri"/>
                <a:cs typeface="Calibri"/>
              </a:rPr>
              <a:t>that locks a std::mutex </a:t>
            </a:r>
            <a:r>
              <a:rPr lang="he-IL" sz="2800" b="1" i="0" u="none" strike="noStrike" cap="none" spc="0" dirty="0">
                <a:solidFill>
                  <a:schemeClr val="tx1"/>
                </a:solidFill>
                <a:latin typeface="Calibri"/>
                <a:ea typeface="Calibri"/>
                <a:cs typeface="Calibri"/>
              </a:rPr>
              <a:t>when it is created and automatically unlocks it when it goes out of scope.</a:t>
            </a:r>
            <a:endParaRPr dirty="0"/>
          </a:p>
          <a:p>
            <a:pPr lvl="1">
              <a:defRPr/>
            </a:pPr>
            <a:r>
              <a:rPr lang="he-IL" sz="2400" b="0" i="0" u="none" strike="noStrike" cap="none" spc="0" dirty="0">
                <a:solidFill>
                  <a:schemeClr val="tx1"/>
                </a:solidFill>
                <a:latin typeface="Calibri"/>
                <a:ea typeface="Calibri"/>
                <a:cs typeface="Calibri"/>
              </a:rPr>
              <a:t>Constructor → locks the mutex</a:t>
            </a:r>
            <a:endParaRPr lang="he-IL" sz="2800" b="0" i="0" u="none" strike="noStrike" cap="none" spc="0" dirty="0">
              <a:solidFill>
                <a:schemeClr val="tx1"/>
              </a:solidFill>
              <a:latin typeface="Calibri"/>
              <a:cs typeface="Calibri"/>
            </a:endParaRPr>
          </a:p>
          <a:p>
            <a:pPr lvl="1">
              <a:defRPr/>
            </a:pPr>
            <a:r>
              <a:rPr lang="he-IL" sz="2400" b="0" i="0" u="none" strike="noStrike" cap="none" spc="0" dirty="0">
                <a:solidFill>
                  <a:schemeClr val="tx1"/>
                </a:solidFill>
                <a:latin typeface="Calibri"/>
                <a:ea typeface="Calibri"/>
                <a:cs typeface="Calibri"/>
              </a:rPr>
              <a:t>Destructor → unlocks the mutex</a:t>
            </a:r>
            <a:endParaRPr lang="he-IL" sz="2800" b="0" i="0" u="none" strike="noStrike" cap="none" spc="0" dirty="0">
              <a:solidFill>
                <a:schemeClr val="tx1"/>
              </a:solidFill>
              <a:latin typeface="Calibri"/>
              <a:cs typeface="Calibri"/>
            </a:endParaRPr>
          </a:p>
          <a:p>
            <a:pPr lvl="1">
              <a:defRPr/>
            </a:pPr>
            <a:r>
              <a:rPr lang="he-IL" sz="2400" b="0" i="0" u="none" strike="noStrike" cap="none" spc="0" dirty="0">
                <a:solidFill>
                  <a:schemeClr val="tx1"/>
                </a:solidFill>
                <a:latin typeface="Calibri"/>
                <a:ea typeface="Calibri"/>
                <a:cs typeface="Calibri"/>
              </a:rPr>
              <a:t>Unlocking happens </a:t>
            </a:r>
            <a:r>
              <a:rPr lang="he-IL" sz="2400" b="1" i="0" u="none" strike="noStrike" cap="none" spc="0" dirty="0">
                <a:solidFill>
                  <a:schemeClr val="tx1"/>
                </a:solidFill>
                <a:latin typeface="Calibri"/>
                <a:ea typeface="Calibri"/>
                <a:cs typeface="Calibri"/>
              </a:rPr>
              <a:t>automatically</a:t>
            </a:r>
            <a:r>
              <a:rPr lang="he-IL" sz="2400" b="0" i="0" u="none" strike="noStrike" cap="none" spc="0" dirty="0">
                <a:solidFill>
                  <a:schemeClr val="tx1"/>
                </a:solidFill>
                <a:latin typeface="Calibri"/>
                <a:ea typeface="Calibri"/>
                <a:cs typeface="Calibri"/>
              </a:rPr>
              <a:t>, even if the function returns early or an exception occurs</a:t>
            </a:r>
            <a:endParaRPr dirty="0"/>
          </a:p>
        </p:txBody>
      </p:sp>
      <p:sp>
        <p:nvSpPr>
          <p:cNvPr id="1494499440" name=" 1494499439"/>
          <p:cNvSpPr/>
          <p:nvPr/>
        </p:nvSpPr>
        <p:spPr bwMode="auto">
          <a:xfrm>
            <a:off x="954000" y="4302283"/>
            <a:ext cx="7012299" cy="1920600"/>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sz="3000" b="0" i="0" u="none" dirty="0">
                <a:solidFill>
                  <a:srgbClr val="333333"/>
                </a:solidFill>
                <a:latin typeface="Arial"/>
                <a:ea typeface="Arial"/>
                <a:cs typeface="Arial"/>
              </a:rPr>
              <a:t>{</a:t>
            </a:r>
            <a:endParaRPr dirty="0"/>
          </a:p>
          <a:p>
            <a:pPr>
              <a:defRPr/>
            </a:pPr>
            <a:r>
              <a:rPr sz="3000" b="0" i="0" u="none" dirty="0">
                <a:solidFill>
                  <a:srgbClr val="333333"/>
                </a:solidFill>
                <a:latin typeface="Arial"/>
                <a:ea typeface="Arial"/>
                <a:cs typeface="Arial"/>
              </a:rPr>
              <a:t>    std::</a:t>
            </a:r>
            <a:r>
              <a:rPr sz="3000" b="0" i="0" u="none" dirty="0" err="1">
                <a:solidFill>
                  <a:srgbClr val="333333"/>
                </a:solidFill>
                <a:latin typeface="Arial"/>
                <a:ea typeface="Arial"/>
                <a:cs typeface="Arial"/>
              </a:rPr>
              <a:t>lock_guard</a:t>
            </a:r>
            <a:r>
              <a:rPr sz="3000" b="0" i="0" u="none" dirty="0">
                <a:solidFill>
                  <a:srgbClr val="333333"/>
                </a:solidFill>
                <a:latin typeface="Arial"/>
                <a:ea typeface="Arial"/>
                <a:cs typeface="Arial"/>
              </a:rPr>
              <a:t>&lt;std::mutex&gt; </a:t>
            </a:r>
            <a:r>
              <a:rPr sz="3000" b="1" i="0" u="none" dirty="0">
                <a:solidFill>
                  <a:srgbClr val="990000"/>
                </a:solidFill>
                <a:latin typeface="Arial"/>
                <a:ea typeface="Arial"/>
                <a:cs typeface="Arial"/>
              </a:rPr>
              <a:t>lock</a:t>
            </a:r>
            <a:r>
              <a:rPr sz="3000" b="0" i="0" u="none" dirty="0">
                <a:solidFill>
                  <a:srgbClr val="333333"/>
                </a:solidFill>
                <a:latin typeface="Arial"/>
                <a:ea typeface="Arial"/>
                <a:cs typeface="Arial"/>
              </a:rPr>
              <a:t>(m);</a:t>
            </a:r>
            <a:endParaRPr dirty="0"/>
          </a:p>
          <a:p>
            <a:pPr>
              <a:defRPr/>
            </a:pPr>
            <a:r>
              <a:rPr sz="3000" b="0" i="0" u="none" dirty="0">
                <a:solidFill>
                  <a:srgbClr val="333333"/>
                </a:solidFill>
                <a:latin typeface="Arial"/>
                <a:ea typeface="Arial"/>
                <a:cs typeface="Arial"/>
              </a:rPr>
              <a:t>    std::</a:t>
            </a:r>
            <a:r>
              <a:rPr sz="3000" b="0" i="0" u="none" dirty="0" err="1">
                <a:solidFill>
                  <a:srgbClr val="333333"/>
                </a:solidFill>
                <a:latin typeface="Arial"/>
                <a:ea typeface="Arial"/>
                <a:cs typeface="Arial"/>
              </a:rPr>
              <a:t>cout</a:t>
            </a:r>
            <a:r>
              <a:rPr sz="3000" b="0" i="0" u="none" dirty="0">
                <a:solidFill>
                  <a:srgbClr val="333333"/>
                </a:solidFill>
                <a:latin typeface="Arial"/>
                <a:ea typeface="Arial"/>
                <a:cs typeface="Arial"/>
              </a:rPr>
              <a:t> &lt;&lt; </a:t>
            </a:r>
            <a:r>
              <a:rPr sz="3000" b="0" i="0" u="none" dirty="0">
                <a:solidFill>
                  <a:srgbClr val="DD1144"/>
                </a:solidFill>
                <a:latin typeface="Arial"/>
                <a:ea typeface="Arial"/>
                <a:cs typeface="Arial"/>
              </a:rPr>
              <a:t>"Safe output\n"</a:t>
            </a:r>
            <a:r>
              <a:rPr sz="3000" b="0" i="0" u="none" dirty="0">
                <a:solidFill>
                  <a:srgbClr val="333333"/>
                </a:solidFill>
                <a:latin typeface="Arial"/>
                <a:ea typeface="Arial"/>
                <a:cs typeface="Arial"/>
              </a:rPr>
              <a:t>;</a:t>
            </a:r>
            <a:endParaRPr dirty="0"/>
          </a:p>
          <a:p>
            <a:pPr>
              <a:defRPr/>
            </a:pPr>
            <a:r>
              <a:rPr sz="3000" b="0" i="0" u="none" dirty="0">
                <a:solidFill>
                  <a:srgbClr val="333333"/>
                </a:solidFill>
                <a:latin typeface="Arial"/>
                <a:ea typeface="Arial"/>
                <a:cs typeface="Arial"/>
              </a:rPr>
              <a:t>} </a:t>
            </a:r>
            <a:r>
              <a:rPr sz="3000" b="0" i="1" u="none" dirty="0">
                <a:solidFill>
                  <a:srgbClr val="999988"/>
                </a:solidFill>
                <a:latin typeface="Arial"/>
                <a:ea typeface="Arial"/>
                <a:cs typeface="Arial"/>
              </a:rPr>
              <a:t>// mutex automatically unlocked here</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214856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3214856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3214856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3214856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94499440">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94499440">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94499440">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9449944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85975999" name="Title 1"/>
          <p:cNvSpPr>
            <a:spLocks noGrp="1"/>
          </p:cNvSpPr>
          <p:nvPr>
            <p:ph type="title"/>
          </p:nvPr>
        </p:nvSpPr>
        <p:spPr bwMode="auto"/>
        <p:txBody>
          <a:bodyPr/>
          <a:lstStyle/>
          <a:p>
            <a:pPr>
              <a:defRPr/>
            </a:pPr>
            <a:r>
              <a:rPr lang="en-US"/>
              <a:t>Threading in C++ example</a:t>
            </a:r>
            <a:endParaRPr lang="he-IL"/>
          </a:p>
        </p:txBody>
      </p:sp>
      <p:sp>
        <p:nvSpPr>
          <p:cNvPr id="547024982" name=" 547024981"/>
          <p:cNvSpPr/>
          <p:nvPr/>
        </p:nvSpPr>
        <p:spPr bwMode="auto">
          <a:xfrm>
            <a:off x="838199" y="1690687"/>
            <a:ext cx="10138660" cy="823320"/>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sz="1600" b="1" i="0" u="none">
                <a:solidFill>
                  <a:srgbClr val="999999"/>
                </a:solidFill>
                <a:latin typeface="Arial"/>
                <a:ea typeface="Arial"/>
                <a:cs typeface="Arial"/>
              </a:rPr>
              <a:t>#</a:t>
            </a:r>
            <a:r>
              <a:rPr sz="1600" b="1" i="0" u="none">
                <a:solidFill>
                  <a:srgbClr val="333333"/>
                </a:solidFill>
                <a:latin typeface="Arial"/>
                <a:ea typeface="Arial"/>
                <a:cs typeface="Arial"/>
              </a:rPr>
              <a:t>include</a:t>
            </a:r>
            <a:r>
              <a:rPr sz="1600" b="1" i="0" u="none">
                <a:solidFill>
                  <a:srgbClr val="999999"/>
                </a:solidFill>
                <a:latin typeface="Arial"/>
                <a:ea typeface="Arial"/>
                <a:cs typeface="Arial"/>
              </a:rPr>
              <a:t> </a:t>
            </a:r>
            <a:r>
              <a:rPr sz="1600" b="1" i="0" u="none">
                <a:solidFill>
                  <a:srgbClr val="DD1144"/>
                </a:solidFill>
                <a:latin typeface="Arial"/>
                <a:ea typeface="Arial"/>
                <a:cs typeface="Arial"/>
              </a:rPr>
              <a:t>&lt;iostream&gt;</a:t>
            </a:r>
            <a:r>
              <a:rPr sz="1600" b="1" i="0" u="none">
                <a:solidFill>
                  <a:srgbClr val="999999"/>
                </a:solidFill>
                <a:latin typeface="Arial"/>
                <a:ea typeface="Arial"/>
                <a:cs typeface="Arial"/>
              </a:rPr>
              <a:t>  </a:t>
            </a:r>
            <a:r>
              <a:rPr sz="1600" b="1" i="1" u="none">
                <a:solidFill>
                  <a:srgbClr val="999988"/>
                </a:solidFill>
                <a:latin typeface="Arial"/>
                <a:ea typeface="Arial"/>
                <a:cs typeface="Arial"/>
              </a:rPr>
              <a:t>// Provides input/output streams (e.g., std::cout for printing to the console)</a:t>
            </a:r>
            <a:endParaRPr/>
          </a:p>
          <a:p>
            <a:pPr>
              <a:defRPr/>
            </a:pPr>
            <a:r>
              <a:rPr sz="1600" b="1" i="0" u="none">
                <a:solidFill>
                  <a:srgbClr val="999999"/>
                </a:solidFill>
                <a:latin typeface="Arial"/>
                <a:ea typeface="Arial"/>
                <a:cs typeface="Arial"/>
              </a:rPr>
              <a:t>#</a:t>
            </a:r>
            <a:r>
              <a:rPr sz="1600" b="1" i="0" u="none">
                <a:solidFill>
                  <a:srgbClr val="333333"/>
                </a:solidFill>
                <a:latin typeface="Arial"/>
                <a:ea typeface="Arial"/>
                <a:cs typeface="Arial"/>
              </a:rPr>
              <a:t>include</a:t>
            </a:r>
            <a:r>
              <a:rPr sz="1600" b="1" i="0" u="none">
                <a:solidFill>
                  <a:srgbClr val="999999"/>
                </a:solidFill>
                <a:latin typeface="Arial"/>
                <a:ea typeface="Arial"/>
                <a:cs typeface="Arial"/>
              </a:rPr>
              <a:t> </a:t>
            </a:r>
            <a:r>
              <a:rPr sz="1600" b="1" i="0" u="none">
                <a:solidFill>
                  <a:srgbClr val="DD1144"/>
                </a:solidFill>
                <a:latin typeface="Arial"/>
                <a:ea typeface="Arial"/>
                <a:cs typeface="Arial"/>
              </a:rPr>
              <a:t>&lt;mutex&gt;</a:t>
            </a:r>
            <a:r>
              <a:rPr sz="1600" b="1" i="0" u="none">
                <a:solidFill>
                  <a:srgbClr val="999999"/>
                </a:solidFill>
                <a:latin typeface="Arial"/>
                <a:ea typeface="Arial"/>
                <a:cs typeface="Arial"/>
              </a:rPr>
              <a:t>     </a:t>
            </a:r>
            <a:r>
              <a:rPr sz="1600" b="1" i="1" u="none">
                <a:solidFill>
                  <a:srgbClr val="999988"/>
                </a:solidFill>
                <a:latin typeface="Arial"/>
                <a:ea typeface="Arial"/>
                <a:cs typeface="Arial"/>
              </a:rPr>
              <a:t>// Provides mutex primitives for mutual exclusion between threads</a:t>
            </a:r>
            <a:endParaRPr/>
          </a:p>
          <a:p>
            <a:pPr>
              <a:defRPr/>
            </a:pPr>
            <a:r>
              <a:rPr sz="1600" b="1" i="0" u="none">
                <a:solidFill>
                  <a:srgbClr val="999999"/>
                </a:solidFill>
                <a:latin typeface="Arial"/>
                <a:ea typeface="Arial"/>
                <a:cs typeface="Arial"/>
              </a:rPr>
              <a:t>#</a:t>
            </a:r>
            <a:r>
              <a:rPr sz="1600" b="1" i="0" u="none">
                <a:solidFill>
                  <a:srgbClr val="333333"/>
                </a:solidFill>
                <a:latin typeface="Arial"/>
                <a:ea typeface="Arial"/>
                <a:cs typeface="Arial"/>
              </a:rPr>
              <a:t>include</a:t>
            </a:r>
            <a:r>
              <a:rPr sz="1600" b="1" i="0" u="none">
                <a:solidFill>
                  <a:srgbClr val="999999"/>
                </a:solidFill>
                <a:latin typeface="Arial"/>
                <a:ea typeface="Arial"/>
                <a:cs typeface="Arial"/>
              </a:rPr>
              <a:t> </a:t>
            </a:r>
            <a:r>
              <a:rPr sz="1600" b="1" i="0" u="none">
                <a:solidFill>
                  <a:srgbClr val="DD1144"/>
                </a:solidFill>
                <a:latin typeface="Arial"/>
                <a:ea typeface="Arial"/>
                <a:cs typeface="Arial"/>
              </a:rPr>
              <a:t>&lt;thread&gt;</a:t>
            </a:r>
            <a:r>
              <a:rPr sz="1600" b="1" i="0" u="none">
                <a:solidFill>
                  <a:srgbClr val="999999"/>
                </a:solidFill>
                <a:latin typeface="Arial"/>
                <a:ea typeface="Arial"/>
                <a:cs typeface="Arial"/>
              </a:rPr>
              <a:t>    </a:t>
            </a:r>
            <a:r>
              <a:rPr sz="1600" b="1" i="1" u="none">
                <a:solidFill>
                  <a:srgbClr val="999988"/>
                </a:solidFill>
                <a:latin typeface="Arial"/>
                <a:ea typeface="Arial"/>
                <a:cs typeface="Arial"/>
              </a:rPr>
              <a:t>// Provides std::thread for creating and managing threads</a:t>
            </a:r>
            <a:r>
              <a:rPr sz="1600" b="1" i="0" u="none">
                <a:solidFill>
                  <a:srgbClr val="333333"/>
                </a:solidFill>
                <a:latin typeface="Arial"/>
                <a:ea typeface="Arial"/>
                <a:cs typeface="Arial"/>
              </a:rPr>
              <a:t> </a:t>
            </a:r>
            <a:endParaRPr/>
          </a:p>
        </p:txBody>
      </p:sp>
      <p:sp>
        <p:nvSpPr>
          <p:cNvPr id="1340666695" name=" 1340666694"/>
          <p:cNvSpPr/>
          <p:nvPr/>
        </p:nvSpPr>
        <p:spPr bwMode="auto">
          <a:xfrm>
            <a:off x="838199" y="2514007"/>
            <a:ext cx="8607416" cy="381035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sz="1600" b="1" i="0" u="none">
                <a:solidFill>
                  <a:srgbClr val="333333"/>
                </a:solidFill>
                <a:latin typeface="Arial"/>
                <a:ea typeface="Arial"/>
                <a:cs typeface="Arial"/>
              </a:rPr>
              <a:t>class</a:t>
            </a:r>
            <a:r>
              <a:rPr sz="1600" b="0" i="0" u="none">
                <a:solidFill>
                  <a:srgbClr val="333333"/>
                </a:solidFill>
                <a:latin typeface="Arial"/>
                <a:ea typeface="Arial"/>
                <a:cs typeface="Arial"/>
              </a:rPr>
              <a:t> </a:t>
            </a:r>
            <a:r>
              <a:rPr sz="1600" b="1" i="0" u="none">
                <a:solidFill>
                  <a:srgbClr val="990000"/>
                </a:solidFill>
                <a:latin typeface="Arial"/>
                <a:ea typeface="Arial"/>
                <a:cs typeface="Arial"/>
              </a:rPr>
              <a:t>Task</a:t>
            </a:r>
            <a:r>
              <a:rPr sz="1600" b="0" i="0" u="none">
                <a:solidFill>
                  <a:srgbClr val="333333"/>
                </a:solidFill>
                <a:latin typeface="Arial"/>
                <a:ea typeface="Arial"/>
                <a:cs typeface="Arial"/>
              </a:rPr>
              <a:t> {</a:t>
            </a:r>
            <a:endParaRPr/>
          </a:p>
          <a:p>
            <a:pPr>
              <a:defRPr/>
            </a:pPr>
            <a:r>
              <a:rPr sz="1600" b="1" i="0" u="none">
                <a:solidFill>
                  <a:srgbClr val="333333"/>
                </a:solidFill>
                <a:latin typeface="Arial"/>
                <a:ea typeface="Arial"/>
                <a:cs typeface="Arial"/>
              </a:rPr>
              <a:t>private</a:t>
            </a:r>
            <a:r>
              <a:rPr sz="1600" b="0" i="0" u="none">
                <a:solidFill>
                  <a:srgbClr val="333333"/>
                </a:solidFill>
                <a:latin typeface="Arial"/>
                <a:ea typeface="Arial"/>
                <a:cs typeface="Arial"/>
              </a:rPr>
              <a:t>:</a:t>
            </a:r>
            <a:endParaRPr/>
          </a:p>
          <a:p>
            <a:pPr>
              <a:defRPr/>
            </a:pPr>
            <a:r>
              <a:rPr sz="1600" b="0" i="0" u="none">
                <a:solidFill>
                  <a:srgbClr val="333333"/>
                </a:solidFill>
                <a:latin typeface="Arial"/>
                <a:ea typeface="Arial"/>
                <a:cs typeface="Arial"/>
              </a:rPr>
              <a:t>    </a:t>
            </a:r>
            <a:r>
              <a:rPr sz="1600" b="1" i="0" u="none">
                <a:solidFill>
                  <a:srgbClr val="445588"/>
                </a:solidFill>
                <a:latin typeface="Arial"/>
                <a:ea typeface="Arial"/>
                <a:cs typeface="Arial"/>
              </a:rPr>
              <a:t>int</a:t>
            </a:r>
            <a:r>
              <a:rPr sz="1600" b="0" i="0" u="none">
                <a:solidFill>
                  <a:srgbClr val="333333"/>
                </a:solidFill>
                <a:latin typeface="Arial"/>
                <a:ea typeface="Arial"/>
                <a:cs typeface="Arial"/>
              </a:rPr>
              <a:t> _id;</a:t>
            </a:r>
            <a:endParaRPr/>
          </a:p>
          <a:p>
            <a:pPr>
              <a:defRPr/>
            </a:pPr>
            <a:r>
              <a:rPr sz="1600" b="0" i="0" u="none">
                <a:solidFill>
                  <a:srgbClr val="333333"/>
                </a:solidFill>
                <a:latin typeface="Arial"/>
                <a:ea typeface="Arial"/>
                <a:cs typeface="Arial"/>
              </a:rPr>
              <a:t>    std::mutex&amp; _mutex;</a:t>
            </a:r>
            <a:endParaRPr/>
          </a:p>
          <a:p>
            <a:pPr>
              <a:defRPr/>
            </a:pPr>
            <a:r>
              <a:rPr sz="1600" b="0" i="0" u="none">
                <a:solidFill>
                  <a:srgbClr val="333333"/>
                </a:solidFill>
                <a:latin typeface="Arial"/>
                <a:ea typeface="Arial"/>
                <a:cs typeface="Arial"/>
              </a:rPr>
              <a:t> </a:t>
            </a:r>
            <a:endParaRPr/>
          </a:p>
          <a:p>
            <a:pPr>
              <a:defRPr/>
            </a:pPr>
            <a:r>
              <a:rPr sz="1600" b="1" i="0" u="none">
                <a:solidFill>
                  <a:srgbClr val="333333"/>
                </a:solidFill>
                <a:latin typeface="Arial"/>
                <a:ea typeface="Arial"/>
                <a:cs typeface="Arial"/>
              </a:rPr>
              <a:t>public</a:t>
            </a:r>
            <a:r>
              <a:rPr sz="1600" b="0" i="0" u="none">
                <a:solidFill>
                  <a:srgbClr val="333333"/>
                </a:solidFill>
                <a:latin typeface="Arial"/>
                <a:ea typeface="Arial"/>
                <a:cs typeface="Arial"/>
              </a:rPr>
              <a:t>:</a:t>
            </a:r>
            <a:endParaRPr/>
          </a:p>
          <a:p>
            <a:pPr>
              <a:defRPr/>
            </a:pPr>
            <a:r>
              <a:rPr sz="1600" b="0" i="0" u="none">
                <a:solidFill>
                  <a:srgbClr val="333333"/>
                </a:solidFill>
                <a:latin typeface="Arial"/>
                <a:ea typeface="Arial"/>
                <a:cs typeface="Arial"/>
              </a:rPr>
              <a:t>    </a:t>
            </a:r>
            <a:r>
              <a:rPr sz="1600" b="0" i="0" u="none">
                <a:solidFill>
                  <a:srgbClr val="0086B3"/>
                </a:solidFill>
                <a:latin typeface="Arial"/>
                <a:ea typeface="Arial"/>
                <a:cs typeface="Arial"/>
              </a:rPr>
              <a:t>Task</a:t>
            </a:r>
            <a:r>
              <a:rPr sz="1600" b="0" i="0" u="none">
                <a:solidFill>
                  <a:srgbClr val="333333"/>
                </a:solidFill>
                <a:latin typeface="Arial"/>
                <a:ea typeface="Arial"/>
                <a:cs typeface="Arial"/>
              </a:rPr>
              <a:t>(</a:t>
            </a:r>
            <a:r>
              <a:rPr sz="1600" b="1" i="0" u="none">
                <a:solidFill>
                  <a:srgbClr val="445588"/>
                </a:solidFill>
                <a:latin typeface="Arial"/>
                <a:ea typeface="Arial"/>
                <a:cs typeface="Arial"/>
              </a:rPr>
              <a:t>int</a:t>
            </a:r>
            <a:r>
              <a:rPr sz="1600" b="0" i="0" u="none">
                <a:solidFill>
                  <a:srgbClr val="333333"/>
                </a:solidFill>
                <a:latin typeface="Arial"/>
                <a:ea typeface="Arial"/>
                <a:cs typeface="Arial"/>
              </a:rPr>
              <a:t> id, std::mutex&amp; mutex) : _id(id), _mutex(mutex) {}</a:t>
            </a:r>
            <a:endParaRPr/>
          </a:p>
          <a:p>
            <a:pPr>
              <a:defRPr/>
            </a:pPr>
            <a:r>
              <a:rPr sz="1600" b="0" i="0" u="none">
                <a:solidFill>
                  <a:srgbClr val="333333"/>
                </a:solidFill>
                <a:latin typeface="Arial"/>
                <a:ea typeface="Arial"/>
                <a:cs typeface="Arial"/>
              </a:rPr>
              <a:t> </a:t>
            </a:r>
            <a:endParaRPr/>
          </a:p>
          <a:p>
            <a:pPr>
              <a:defRPr/>
            </a:pPr>
            <a:r>
              <a:rPr sz="1600" b="0" i="0" u="none">
                <a:solidFill>
                  <a:srgbClr val="333333"/>
                </a:solidFill>
                <a:latin typeface="Arial"/>
                <a:ea typeface="Arial"/>
                <a:cs typeface="Arial"/>
              </a:rPr>
              <a:t>    </a:t>
            </a:r>
            <a:r>
              <a:rPr sz="1600" b="1" i="0" u="none">
                <a:solidFill>
                  <a:srgbClr val="445588"/>
                </a:solidFill>
                <a:latin typeface="Arial"/>
                <a:ea typeface="Arial"/>
                <a:cs typeface="Arial"/>
              </a:rPr>
              <a:t>void</a:t>
            </a:r>
            <a:r>
              <a:rPr sz="1600" b="0" i="0" u="none">
                <a:solidFill>
                  <a:srgbClr val="333333"/>
                </a:solidFill>
                <a:latin typeface="Arial"/>
                <a:ea typeface="Arial"/>
                <a:cs typeface="Arial"/>
              </a:rPr>
              <a:t> </a:t>
            </a:r>
            <a:r>
              <a:rPr sz="1600" b="1" i="0" u="none">
                <a:solidFill>
                  <a:srgbClr val="990000"/>
                </a:solidFill>
                <a:latin typeface="Arial"/>
                <a:ea typeface="Arial"/>
                <a:cs typeface="Arial"/>
              </a:rPr>
              <a:t>run</a:t>
            </a:r>
            <a:r>
              <a:rPr sz="1600" b="0" i="0" u="none">
                <a:solidFill>
                  <a:srgbClr val="333333"/>
                </a:solidFill>
                <a:latin typeface="Arial"/>
                <a:ea typeface="Arial"/>
                <a:cs typeface="Arial"/>
              </a:rPr>
              <a:t>() {</a:t>
            </a:r>
            <a:endParaRPr/>
          </a:p>
          <a:p>
            <a:pPr>
              <a:defRPr/>
            </a:pPr>
            <a:r>
              <a:rPr sz="1600" b="0" i="0" u="none">
                <a:solidFill>
                  <a:srgbClr val="333333"/>
                </a:solidFill>
                <a:latin typeface="Arial"/>
                <a:ea typeface="Arial"/>
                <a:cs typeface="Arial"/>
              </a:rPr>
              <a:t>        </a:t>
            </a:r>
            <a:r>
              <a:rPr sz="1600" b="1" i="0" u="none">
                <a:solidFill>
                  <a:srgbClr val="333333"/>
                </a:solidFill>
                <a:latin typeface="Arial"/>
                <a:ea typeface="Arial"/>
                <a:cs typeface="Arial"/>
              </a:rPr>
              <a:t>for</a:t>
            </a:r>
            <a:r>
              <a:rPr sz="1600" b="0" i="0" u="none">
                <a:solidFill>
                  <a:srgbClr val="333333"/>
                </a:solidFill>
                <a:latin typeface="Arial"/>
                <a:ea typeface="Arial"/>
                <a:cs typeface="Arial"/>
              </a:rPr>
              <a:t> (</a:t>
            </a:r>
            <a:r>
              <a:rPr sz="1600" b="1" i="0" u="none">
                <a:solidFill>
                  <a:srgbClr val="445588"/>
                </a:solidFill>
                <a:latin typeface="Arial"/>
                <a:ea typeface="Arial"/>
                <a:cs typeface="Arial"/>
              </a:rPr>
              <a:t>int</a:t>
            </a:r>
            <a:r>
              <a:rPr sz="1600" b="0" i="0" u="none">
                <a:solidFill>
                  <a:srgbClr val="333333"/>
                </a:solidFill>
                <a:latin typeface="Arial"/>
                <a:ea typeface="Arial"/>
                <a:cs typeface="Arial"/>
              </a:rPr>
              <a:t> i = </a:t>
            </a:r>
            <a:r>
              <a:rPr sz="1600" b="0" i="0" u="none">
                <a:solidFill>
                  <a:srgbClr val="008080"/>
                </a:solidFill>
                <a:latin typeface="Arial"/>
                <a:ea typeface="Arial"/>
                <a:cs typeface="Arial"/>
              </a:rPr>
              <a:t>0</a:t>
            </a:r>
            <a:r>
              <a:rPr sz="1600" b="0" i="0" u="none">
                <a:solidFill>
                  <a:srgbClr val="333333"/>
                </a:solidFill>
                <a:latin typeface="Arial"/>
                <a:ea typeface="Arial"/>
                <a:cs typeface="Arial"/>
              </a:rPr>
              <a:t>; i &lt; </a:t>
            </a:r>
            <a:r>
              <a:rPr sz="1600" b="0" i="0" u="none">
                <a:solidFill>
                  <a:srgbClr val="008080"/>
                </a:solidFill>
                <a:latin typeface="Arial"/>
                <a:ea typeface="Arial"/>
                <a:cs typeface="Arial"/>
              </a:rPr>
              <a:t>100</a:t>
            </a:r>
            <a:r>
              <a:rPr sz="1600" b="0" i="0" u="none">
                <a:solidFill>
                  <a:srgbClr val="333333"/>
                </a:solidFill>
                <a:latin typeface="Arial"/>
                <a:ea typeface="Arial"/>
                <a:cs typeface="Arial"/>
              </a:rPr>
              <a:t>; i++) {</a:t>
            </a:r>
            <a:endParaRPr/>
          </a:p>
          <a:p>
            <a:pPr>
              <a:defRPr/>
            </a:pPr>
            <a:r>
              <a:rPr sz="1600" b="0" i="0" u="none">
                <a:solidFill>
                  <a:srgbClr val="333333"/>
                </a:solidFill>
                <a:latin typeface="Arial"/>
                <a:ea typeface="Arial"/>
                <a:cs typeface="Arial"/>
              </a:rPr>
              <a:t>            std::lock_guard&lt;std::mutex&gt; </a:t>
            </a:r>
            <a:r>
              <a:rPr sz="1600" b="1" i="0" u="none">
                <a:solidFill>
                  <a:srgbClr val="990000"/>
                </a:solidFill>
                <a:latin typeface="Arial"/>
                <a:ea typeface="Arial"/>
                <a:cs typeface="Arial"/>
              </a:rPr>
              <a:t>lock</a:t>
            </a:r>
            <a:r>
              <a:rPr sz="1600" b="0" i="0" u="none">
                <a:solidFill>
                  <a:srgbClr val="333333"/>
                </a:solidFill>
                <a:latin typeface="Arial"/>
                <a:ea typeface="Arial"/>
                <a:cs typeface="Arial"/>
              </a:rPr>
              <a:t>(_mutex); </a:t>
            </a:r>
            <a:r>
              <a:rPr sz="1600" b="0" i="1" u="none">
                <a:solidFill>
                  <a:srgbClr val="999988"/>
                </a:solidFill>
                <a:latin typeface="Arial"/>
                <a:ea typeface="Arial"/>
                <a:cs typeface="Arial"/>
              </a:rPr>
              <a:t>// constructor locks, destructor unlocks</a:t>
            </a:r>
            <a:endParaRPr/>
          </a:p>
          <a:p>
            <a:pPr>
              <a:defRPr/>
            </a:pPr>
            <a:r>
              <a:rPr sz="1600" b="0" i="0" u="none">
                <a:solidFill>
                  <a:srgbClr val="333333"/>
                </a:solidFill>
                <a:latin typeface="Arial"/>
                <a:ea typeface="Arial"/>
                <a:cs typeface="Arial"/>
              </a:rPr>
              <a:t>            std::cout &lt;&lt; i &lt;&lt; </a:t>
            </a:r>
            <a:r>
              <a:rPr sz="1600" b="0" i="0" u="none">
                <a:solidFill>
                  <a:srgbClr val="DD1144"/>
                </a:solidFill>
                <a:latin typeface="Arial"/>
                <a:ea typeface="Arial"/>
                <a:cs typeface="Arial"/>
              </a:rPr>
              <a:t>") Task "</a:t>
            </a:r>
            <a:r>
              <a:rPr sz="1600" b="0" i="0" u="none">
                <a:solidFill>
                  <a:srgbClr val="333333"/>
                </a:solidFill>
                <a:latin typeface="Arial"/>
                <a:ea typeface="Arial"/>
                <a:cs typeface="Arial"/>
              </a:rPr>
              <a:t> &lt;&lt; _id &lt;&lt; </a:t>
            </a:r>
            <a:r>
              <a:rPr sz="1600" b="0" i="0" u="none">
                <a:solidFill>
                  <a:srgbClr val="DD1144"/>
                </a:solidFill>
                <a:latin typeface="Arial"/>
                <a:ea typeface="Arial"/>
                <a:cs typeface="Arial"/>
              </a:rPr>
              <a:t>" is working"</a:t>
            </a:r>
            <a:r>
              <a:rPr sz="1600" b="0" i="0" u="none">
                <a:solidFill>
                  <a:srgbClr val="333333"/>
                </a:solidFill>
                <a:latin typeface="Arial"/>
                <a:ea typeface="Arial"/>
                <a:cs typeface="Arial"/>
              </a:rPr>
              <a:t> &lt;&lt; std::endl;</a:t>
            </a:r>
            <a:endParaRPr/>
          </a:p>
          <a:p>
            <a:pPr>
              <a:defRPr/>
            </a:pPr>
            <a:r>
              <a:rPr sz="1600" b="0" i="0" u="none">
                <a:solidFill>
                  <a:srgbClr val="333333"/>
                </a:solidFill>
                <a:latin typeface="Arial"/>
                <a:ea typeface="Arial"/>
                <a:cs typeface="Arial"/>
              </a:rPr>
              <a:t>        }</a:t>
            </a:r>
            <a:endParaRPr/>
          </a:p>
          <a:p>
            <a:pPr>
              <a:defRPr/>
            </a:pPr>
            <a:r>
              <a:rPr sz="1600" b="0" i="0" u="none">
                <a:solidFill>
                  <a:srgbClr val="333333"/>
                </a:solidFill>
                <a:latin typeface="Arial"/>
                <a:ea typeface="Arial"/>
                <a:cs typeface="Arial"/>
              </a:rPr>
              <a:t>    }</a:t>
            </a:r>
            <a:endParaRPr/>
          </a:p>
          <a:p>
            <a:pPr>
              <a:defRPr/>
            </a:pPr>
            <a:r>
              <a:rPr sz="1600" b="0" i="0" u="none">
                <a:solidFill>
                  <a:srgbClr val="333333"/>
                </a:solidFill>
                <a:latin typeface="Arial"/>
                <a:ea typeface="Arial"/>
                <a:cs typeface="Arial"/>
              </a:rPr>
              <a: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70249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406666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05771004" name="Title 1"/>
          <p:cNvSpPr>
            <a:spLocks noGrp="1"/>
          </p:cNvSpPr>
          <p:nvPr>
            <p:ph type="title"/>
          </p:nvPr>
        </p:nvSpPr>
        <p:spPr bwMode="auto"/>
        <p:txBody>
          <a:bodyPr/>
          <a:lstStyle/>
          <a:p>
            <a:pPr>
              <a:defRPr/>
            </a:pPr>
            <a:r>
              <a:rPr lang="en-US"/>
              <a:t>Threading in C++ example(cont)</a:t>
            </a:r>
            <a:endParaRPr lang="he-IL"/>
          </a:p>
        </p:txBody>
      </p:sp>
      <p:sp>
        <p:nvSpPr>
          <p:cNvPr id="1097787148" name=" 1097787147"/>
          <p:cNvSpPr/>
          <p:nvPr/>
        </p:nvSpPr>
        <p:spPr bwMode="auto">
          <a:xfrm>
            <a:off x="838199" y="1690687"/>
            <a:ext cx="5881816" cy="24323040"/>
          </a:xfrm>
          <a:solidFill>
            <a:schemeClr val="accent1">
              <a:alpha val="99000"/>
            </a:schemeClr>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sz="2000" b="1" i="0" u="none" dirty="0">
                <a:solidFill>
                  <a:srgbClr val="445588"/>
                </a:solidFill>
                <a:latin typeface="Arial"/>
                <a:ea typeface="Arial"/>
                <a:cs typeface="Arial"/>
              </a:rPr>
              <a:t>int</a:t>
            </a:r>
            <a:r>
              <a:rPr sz="2000" b="0" i="0" u="none" dirty="0">
                <a:solidFill>
                  <a:srgbClr val="333333"/>
                </a:solidFill>
                <a:latin typeface="Arial"/>
                <a:ea typeface="Arial"/>
                <a:cs typeface="Arial"/>
              </a:rPr>
              <a:t> </a:t>
            </a:r>
            <a:r>
              <a:rPr sz="2000" b="1" i="0" u="none" dirty="0">
                <a:solidFill>
                  <a:srgbClr val="990000"/>
                </a:solidFill>
                <a:latin typeface="Arial"/>
                <a:ea typeface="Arial"/>
                <a:cs typeface="Arial"/>
              </a:rPr>
              <a:t>main</a:t>
            </a:r>
            <a:r>
              <a:rPr sz="2000" b="0" i="0" u="none" dirty="0">
                <a:solidFill>
                  <a:srgbClr val="333333"/>
                </a:solidFill>
                <a:latin typeface="Arial"/>
                <a:ea typeface="Arial"/>
                <a:cs typeface="Arial"/>
              </a:rPr>
              <a:t>() {</a:t>
            </a:r>
            <a:endParaRPr dirty="0"/>
          </a:p>
          <a:p>
            <a:pPr>
              <a:defRPr/>
            </a:pPr>
            <a:r>
              <a:rPr sz="2000" b="0" i="0" u="none" dirty="0">
                <a:solidFill>
                  <a:srgbClr val="333333"/>
                </a:solidFill>
                <a:latin typeface="Arial"/>
                <a:ea typeface="Arial"/>
                <a:cs typeface="Arial"/>
              </a:rPr>
              <a:t>    std::mutex </a:t>
            </a:r>
            <a:r>
              <a:rPr sz="2000" b="0" i="0" u="none" dirty="0" err="1">
                <a:solidFill>
                  <a:srgbClr val="333333"/>
                </a:solidFill>
                <a:latin typeface="Arial"/>
                <a:ea typeface="Arial"/>
                <a:cs typeface="Arial"/>
              </a:rPr>
              <a:t>mutex</a:t>
            </a:r>
            <a:r>
              <a:rPr sz="2000" b="0" i="0" u="none" dirty="0">
                <a:solidFill>
                  <a:srgbClr val="333333"/>
                </a:solidFill>
                <a:latin typeface="Arial"/>
                <a:ea typeface="Arial"/>
                <a:cs typeface="Arial"/>
              </a:rPr>
              <a:t>;</a:t>
            </a:r>
            <a:endParaRPr dirty="0"/>
          </a:p>
          <a:p>
            <a:pPr>
              <a:defRPr/>
            </a:pPr>
            <a:r>
              <a:rPr sz="2000" b="0" i="0" u="none" dirty="0">
                <a:solidFill>
                  <a:srgbClr val="333333"/>
                </a:solidFill>
                <a:latin typeface="Arial"/>
                <a:ea typeface="Arial"/>
                <a:cs typeface="Arial"/>
              </a:rPr>
              <a:t>    Task </a:t>
            </a:r>
            <a:r>
              <a:rPr sz="2000" b="1" i="0" u="none" dirty="0">
                <a:solidFill>
                  <a:srgbClr val="990000"/>
                </a:solidFill>
                <a:latin typeface="Arial"/>
                <a:ea typeface="Arial"/>
                <a:cs typeface="Arial"/>
              </a:rPr>
              <a:t>task1</a:t>
            </a:r>
            <a:r>
              <a:rPr sz="2000" b="0" i="0" u="none" dirty="0">
                <a:solidFill>
                  <a:srgbClr val="333333"/>
                </a:solidFill>
                <a:latin typeface="Arial"/>
                <a:ea typeface="Arial"/>
                <a:cs typeface="Arial"/>
              </a:rPr>
              <a:t>(</a:t>
            </a:r>
            <a:r>
              <a:rPr sz="2000" b="0" i="0" u="none" dirty="0">
                <a:solidFill>
                  <a:srgbClr val="008080"/>
                </a:solidFill>
                <a:latin typeface="Arial"/>
                <a:ea typeface="Arial"/>
                <a:cs typeface="Arial"/>
              </a:rPr>
              <a:t>1</a:t>
            </a:r>
            <a:r>
              <a:rPr sz="2000" b="0" i="0" u="none" dirty="0">
                <a:solidFill>
                  <a:srgbClr val="333333"/>
                </a:solidFill>
                <a:latin typeface="Arial"/>
                <a:ea typeface="Arial"/>
                <a:cs typeface="Arial"/>
              </a:rPr>
              <a:t>, mutex);</a:t>
            </a:r>
            <a:endParaRPr dirty="0"/>
          </a:p>
          <a:p>
            <a:pPr>
              <a:defRPr/>
            </a:pPr>
            <a:r>
              <a:rPr sz="2000" b="0" i="0" u="none" dirty="0">
                <a:solidFill>
                  <a:srgbClr val="333333"/>
                </a:solidFill>
                <a:latin typeface="Arial"/>
                <a:ea typeface="Arial"/>
                <a:cs typeface="Arial"/>
              </a:rPr>
              <a:t>    Task </a:t>
            </a:r>
            <a:r>
              <a:rPr sz="2000" b="1" i="0" u="none" dirty="0">
                <a:solidFill>
                  <a:srgbClr val="990000"/>
                </a:solidFill>
                <a:latin typeface="Arial"/>
                <a:ea typeface="Arial"/>
                <a:cs typeface="Arial"/>
              </a:rPr>
              <a:t>task2</a:t>
            </a:r>
            <a:r>
              <a:rPr sz="2000" b="0" i="0" u="none" dirty="0">
                <a:solidFill>
                  <a:srgbClr val="333333"/>
                </a:solidFill>
                <a:latin typeface="Arial"/>
                <a:ea typeface="Arial"/>
                <a:cs typeface="Arial"/>
              </a:rPr>
              <a:t>(</a:t>
            </a:r>
            <a:r>
              <a:rPr sz="2000" b="0" i="0" u="none" dirty="0">
                <a:solidFill>
                  <a:srgbClr val="008080"/>
                </a:solidFill>
                <a:latin typeface="Arial"/>
                <a:ea typeface="Arial"/>
                <a:cs typeface="Arial"/>
              </a:rPr>
              <a:t>2</a:t>
            </a:r>
            <a:r>
              <a:rPr sz="2000" b="0" i="0" u="none" dirty="0">
                <a:solidFill>
                  <a:srgbClr val="333333"/>
                </a:solidFill>
                <a:latin typeface="Arial"/>
                <a:ea typeface="Arial"/>
                <a:cs typeface="Arial"/>
              </a:rPr>
              <a:t>, mutex);</a:t>
            </a:r>
            <a:endParaRPr dirty="0"/>
          </a:p>
          <a:p>
            <a:pPr>
              <a:defRPr/>
            </a:pPr>
            <a:r>
              <a:rPr sz="2000" b="0" i="0" u="none" dirty="0">
                <a:solidFill>
                  <a:srgbClr val="333333"/>
                </a:solidFill>
                <a:latin typeface="Arial"/>
                <a:ea typeface="Arial"/>
                <a:cs typeface="Arial"/>
              </a:rPr>
              <a:t> </a:t>
            </a:r>
            <a:endParaRPr dirty="0"/>
          </a:p>
          <a:p>
            <a:pPr>
              <a:defRPr/>
            </a:pPr>
            <a:r>
              <a:rPr sz="2000" b="0" i="0" u="none" dirty="0">
                <a:solidFill>
                  <a:srgbClr val="333333"/>
                </a:solidFill>
                <a:latin typeface="Arial"/>
                <a:ea typeface="Arial"/>
                <a:cs typeface="Arial"/>
              </a:rPr>
              <a:t>    std::thread </a:t>
            </a:r>
            <a:r>
              <a:rPr sz="2000" b="1" i="0" u="none" dirty="0">
                <a:solidFill>
                  <a:srgbClr val="990000"/>
                </a:solidFill>
                <a:latin typeface="Arial"/>
                <a:ea typeface="Arial"/>
                <a:cs typeface="Arial"/>
              </a:rPr>
              <a:t>th1</a:t>
            </a:r>
            <a:r>
              <a:rPr sz="2000" b="0" i="0" u="none" dirty="0">
                <a:solidFill>
                  <a:srgbClr val="333333"/>
                </a:solidFill>
                <a:latin typeface="Arial"/>
                <a:ea typeface="Arial"/>
                <a:cs typeface="Arial"/>
              </a:rPr>
              <a:t>(&amp;Task::run, &amp;task1);</a:t>
            </a:r>
            <a:endParaRPr dirty="0"/>
          </a:p>
          <a:p>
            <a:pPr>
              <a:defRPr/>
            </a:pPr>
            <a:r>
              <a:rPr sz="2000" b="0" i="0" u="none" dirty="0">
                <a:solidFill>
                  <a:srgbClr val="333333"/>
                </a:solidFill>
                <a:latin typeface="Arial"/>
                <a:ea typeface="Arial"/>
                <a:cs typeface="Arial"/>
              </a:rPr>
              <a:t>    std::thread </a:t>
            </a:r>
            <a:r>
              <a:rPr sz="2000" b="1" i="0" u="none" dirty="0">
                <a:solidFill>
                  <a:srgbClr val="990000"/>
                </a:solidFill>
                <a:latin typeface="Arial"/>
                <a:ea typeface="Arial"/>
                <a:cs typeface="Arial"/>
              </a:rPr>
              <a:t>th2</a:t>
            </a:r>
            <a:r>
              <a:rPr sz="2000" b="0" i="0" u="none" dirty="0">
                <a:solidFill>
                  <a:srgbClr val="333333"/>
                </a:solidFill>
                <a:latin typeface="Arial"/>
                <a:ea typeface="Arial"/>
                <a:cs typeface="Arial"/>
              </a:rPr>
              <a:t>(&amp;Task::run, &amp;task2);</a:t>
            </a:r>
            <a:endParaRPr dirty="0"/>
          </a:p>
          <a:p>
            <a:pPr>
              <a:defRPr/>
            </a:pPr>
            <a:r>
              <a:rPr sz="2000" b="0" i="0" u="none" dirty="0">
                <a:solidFill>
                  <a:srgbClr val="333333"/>
                </a:solidFill>
                <a:latin typeface="Arial"/>
                <a:ea typeface="Arial"/>
                <a:cs typeface="Arial"/>
              </a:rPr>
              <a:t> </a:t>
            </a:r>
            <a:endParaRPr dirty="0"/>
          </a:p>
          <a:p>
            <a:pPr>
              <a:defRPr/>
            </a:pPr>
            <a:r>
              <a:rPr sz="2000" b="0" i="0" u="none" dirty="0">
                <a:solidFill>
                  <a:srgbClr val="333333"/>
                </a:solidFill>
                <a:latin typeface="Arial"/>
                <a:ea typeface="Arial"/>
                <a:cs typeface="Arial"/>
              </a:rPr>
              <a:t>    th1.</a:t>
            </a:r>
            <a:r>
              <a:rPr sz="2000" b="0" i="0" u="none" dirty="0">
                <a:solidFill>
                  <a:srgbClr val="0086B3"/>
                </a:solidFill>
                <a:latin typeface="Arial"/>
                <a:ea typeface="Arial"/>
                <a:cs typeface="Arial"/>
              </a:rPr>
              <a:t>join</a:t>
            </a:r>
            <a:r>
              <a:rPr sz="2000" b="0" i="0" u="none" dirty="0">
                <a:solidFill>
                  <a:srgbClr val="333333"/>
                </a:solidFill>
                <a:latin typeface="Arial"/>
                <a:ea typeface="Arial"/>
                <a:cs typeface="Arial"/>
              </a:rPr>
              <a:t>();</a:t>
            </a:r>
            <a:endParaRPr dirty="0"/>
          </a:p>
          <a:p>
            <a:pPr>
              <a:defRPr/>
            </a:pPr>
            <a:r>
              <a:rPr sz="2000" b="0" i="0" u="none" dirty="0">
                <a:solidFill>
                  <a:srgbClr val="333333"/>
                </a:solidFill>
                <a:latin typeface="Arial"/>
                <a:ea typeface="Arial"/>
                <a:cs typeface="Arial"/>
              </a:rPr>
              <a:t>    th2.</a:t>
            </a:r>
            <a:r>
              <a:rPr sz="2000" b="0" i="0" u="none" dirty="0">
                <a:solidFill>
                  <a:srgbClr val="0086B3"/>
                </a:solidFill>
                <a:latin typeface="Arial"/>
                <a:ea typeface="Arial"/>
                <a:cs typeface="Arial"/>
              </a:rPr>
              <a:t>join</a:t>
            </a:r>
            <a:r>
              <a:rPr sz="2000" b="0" i="0" u="none" dirty="0">
                <a:solidFill>
                  <a:srgbClr val="333333"/>
                </a:solidFill>
                <a:latin typeface="Arial"/>
                <a:ea typeface="Arial"/>
                <a:cs typeface="Arial"/>
              </a:rPr>
              <a:t>();</a:t>
            </a:r>
            <a:endParaRPr dirty="0"/>
          </a:p>
          <a:p>
            <a:pPr>
              <a:defRPr/>
            </a:pPr>
            <a:r>
              <a:rPr sz="2000" b="0" i="0" u="none" dirty="0">
                <a:solidFill>
                  <a:srgbClr val="333333"/>
                </a:solidFill>
                <a:latin typeface="Arial"/>
                <a:ea typeface="Arial"/>
                <a:cs typeface="Arial"/>
              </a:rPr>
              <a:t> </a:t>
            </a:r>
            <a:endParaRPr dirty="0"/>
          </a:p>
          <a:p>
            <a:pPr>
              <a:defRPr/>
            </a:pPr>
            <a:r>
              <a:rPr sz="2000" b="0" i="0" u="none" dirty="0">
                <a:solidFill>
                  <a:srgbClr val="333333"/>
                </a:solidFill>
                <a:latin typeface="Arial"/>
                <a:ea typeface="Arial"/>
                <a:cs typeface="Arial"/>
              </a:rPr>
              <a:t>    </a:t>
            </a:r>
            <a:r>
              <a:rPr sz="2000" b="1" i="0" u="none" dirty="0">
                <a:solidFill>
                  <a:srgbClr val="333333"/>
                </a:solidFill>
                <a:latin typeface="Arial"/>
                <a:ea typeface="Arial"/>
                <a:cs typeface="Arial"/>
              </a:rPr>
              <a:t>return</a:t>
            </a:r>
            <a:r>
              <a:rPr sz="2000" b="0" i="0" u="none" dirty="0">
                <a:solidFill>
                  <a:srgbClr val="333333"/>
                </a:solidFill>
                <a:latin typeface="Arial"/>
                <a:ea typeface="Arial"/>
                <a:cs typeface="Arial"/>
              </a:rPr>
              <a:t> </a:t>
            </a:r>
            <a:r>
              <a:rPr sz="2000" b="0" i="0" u="none" dirty="0">
                <a:solidFill>
                  <a:srgbClr val="008080"/>
                </a:solidFill>
                <a:latin typeface="Arial"/>
                <a:ea typeface="Arial"/>
                <a:cs typeface="Arial"/>
              </a:rPr>
              <a:t>0</a:t>
            </a:r>
            <a:r>
              <a:rPr sz="2000" b="0" i="0" u="none" dirty="0">
                <a:solidFill>
                  <a:srgbClr val="333333"/>
                </a:solidFill>
                <a:latin typeface="Arial"/>
                <a:ea typeface="Arial"/>
                <a:cs typeface="Arial"/>
              </a:rPr>
              <a:t>;</a:t>
            </a:r>
            <a:endParaRPr dirty="0"/>
          </a:p>
          <a:p>
            <a:pPr>
              <a:defRPr/>
            </a:pPr>
            <a:r>
              <a:rPr sz="2000" b="0" i="0" u="none" dirty="0">
                <a:solidFill>
                  <a:srgbClr val="333333"/>
                </a:solidFill>
                <a:latin typeface="Arial"/>
                <a:ea typeface="Arial"/>
                <a:cs typeface="Arial"/>
              </a:rPr>
              <a:t>}</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977871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72652022" name="Title 1"/>
          <p:cNvSpPr>
            <a:spLocks noGrp="1"/>
          </p:cNvSpPr>
          <p:nvPr>
            <p:ph type="title"/>
          </p:nvPr>
        </p:nvSpPr>
        <p:spPr bwMode="auto"/>
        <p:txBody>
          <a:bodyPr/>
          <a:lstStyle/>
          <a:p>
            <a:pPr>
              <a:defRPr/>
            </a:pPr>
            <a:r>
              <a:rPr lang="en-US"/>
              <a:t>Publisher/Subscriber in C++</a:t>
            </a:r>
            <a:endParaRPr/>
          </a:p>
        </p:txBody>
      </p:sp>
      <p:sp>
        <p:nvSpPr>
          <p:cNvPr id="1464135132" name="Content Placeholder 2"/>
          <p:cNvSpPr>
            <a:spLocks noGrp="1"/>
          </p:cNvSpPr>
          <p:nvPr>
            <p:ph idx="1"/>
          </p:nvPr>
        </p:nvSpPr>
        <p:spPr bwMode="auto"/>
        <p:txBody>
          <a:bodyPr vertOverflow="overflow" horzOverflow="overflow" vert="horz" wrap="square" lIns="91440" tIns="45720" rIns="91440" bIns="45720" numCol="1" spcCol="0" rtlCol="0" fromWordArt="0" anchor="ctr" anchorCtr="0" forceAA="0" compatLnSpc="0">
            <a:normAutofit/>
          </a:bodyPr>
          <a:lstStyle/>
          <a:p>
            <a:pPr marL="0" indent="0" algn="ctr">
              <a:buFont typeface="Arial"/>
              <a:buNone/>
              <a:defRPr/>
            </a:pPr>
            <a:r>
              <a:rPr lang="en-US"/>
              <a:t>Check “Code Example” for PS 10.</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B8E69E66-3019-9C6E-9768-482BA7FAB323}"/>
            </a:ext>
          </a:extLst>
        </p:cNvPr>
        <p:cNvGrpSpPr/>
        <p:nvPr/>
      </p:nvGrpSpPr>
      <p:grpSpPr bwMode="auto">
        <a:xfrm>
          <a:off x="0" y="0"/>
          <a:ext cx="0" cy="0"/>
          <a:chOff x="0" y="0"/>
          <a:chExt cx="0" cy="0"/>
        </a:xfrm>
      </p:grpSpPr>
      <p:sp>
        <p:nvSpPr>
          <p:cNvPr id="1772652022" name="Title 1">
            <a:extLst>
              <a:ext uri="{FF2B5EF4-FFF2-40B4-BE49-F238E27FC236}">
                <a16:creationId xmlns:a16="http://schemas.microsoft.com/office/drawing/2014/main" id="{9B85D947-2AF1-BFB5-61AD-583A612F3EF5}"/>
              </a:ext>
            </a:extLst>
          </p:cNvPr>
          <p:cNvSpPr>
            <a:spLocks noGrp="1"/>
          </p:cNvSpPr>
          <p:nvPr>
            <p:ph type="title"/>
          </p:nvPr>
        </p:nvSpPr>
        <p:spPr bwMode="auto"/>
        <p:txBody>
          <a:bodyPr/>
          <a:lstStyle/>
          <a:p>
            <a:pPr>
              <a:defRPr/>
            </a:pPr>
            <a:r>
              <a:rPr lang="en-US" dirty="0"/>
              <a:t>TCP Client in C++</a:t>
            </a:r>
            <a:endParaRPr dirty="0"/>
          </a:p>
        </p:txBody>
      </p:sp>
      <p:sp>
        <p:nvSpPr>
          <p:cNvPr id="1464135132" name="Content Placeholder 2">
            <a:extLst>
              <a:ext uri="{FF2B5EF4-FFF2-40B4-BE49-F238E27FC236}">
                <a16:creationId xmlns:a16="http://schemas.microsoft.com/office/drawing/2014/main" id="{B5C70D88-CFAE-E29C-1F3A-C97EFA0FA06C}"/>
              </a:ext>
            </a:extLst>
          </p:cNvPr>
          <p:cNvSpPr>
            <a:spLocks noGrp="1"/>
          </p:cNvSpPr>
          <p:nvPr>
            <p:ph idx="1"/>
          </p:nvPr>
        </p:nvSpPr>
        <p:spPr bwMode="auto"/>
        <p:txBody>
          <a:bodyPr vertOverflow="overflow" horzOverflow="overflow" vert="horz" wrap="square" lIns="91440" tIns="45720" rIns="91440" bIns="45720" numCol="1" spcCol="0" rtlCol="0" fromWordArt="0" anchor="ctr" anchorCtr="0" forceAA="0" compatLnSpc="0">
            <a:normAutofit/>
          </a:bodyPr>
          <a:lstStyle/>
          <a:p>
            <a:pPr marL="0" indent="0" algn="ctr">
              <a:buFont typeface="Arial"/>
              <a:buNone/>
              <a:defRPr/>
            </a:pPr>
            <a:r>
              <a:rPr lang="en-US" dirty="0"/>
              <a:t>Check “Code Example” for PS 10.</a:t>
            </a:r>
            <a:endParaRPr dirty="0"/>
          </a:p>
        </p:txBody>
      </p:sp>
    </p:spTree>
    <p:extLst>
      <p:ext uri="{BB962C8B-B14F-4D97-AF65-F5344CB8AC3E}">
        <p14:creationId xmlns:p14="http://schemas.microsoft.com/office/powerpoint/2010/main" val="42883981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25218428" name="Title 1"/>
          <p:cNvSpPr>
            <a:spLocks noGrp="1"/>
          </p:cNvSpPr>
          <p:nvPr>
            <p:ph type="title"/>
          </p:nvPr>
        </p:nvSpPr>
        <p:spPr bwMode="auto"/>
        <p:txBody>
          <a:bodyPr/>
          <a:lstStyle/>
          <a:p>
            <a:pPr>
              <a:defRPr/>
            </a:pPr>
            <a:r>
              <a:rPr lang="en-US"/>
              <a:t>Java NIO</a:t>
            </a:r>
            <a:endParaRPr lang="he-IL"/>
          </a:p>
        </p:txBody>
      </p:sp>
      <p:sp>
        <p:nvSpPr>
          <p:cNvPr id="591674673" name="Content Placeholder 2"/>
          <p:cNvSpPr>
            <a:spLocks noGrp="1"/>
          </p:cNvSpPr>
          <p:nvPr>
            <p:ph idx="1"/>
          </p:nvPr>
        </p:nvSpPr>
        <p:spPr bwMode="auto"/>
        <p:txBody>
          <a:bodyPr/>
          <a:lstStyle/>
          <a:p>
            <a:pPr>
              <a:defRPr/>
            </a:pPr>
            <a:r>
              <a:rPr lang="en-US" sz="2800" b="0" i="0" u="none" strike="noStrike" cap="none" spc="0" dirty="0">
                <a:solidFill>
                  <a:schemeClr val="tx1"/>
                </a:solidFill>
                <a:latin typeface="Calibri"/>
                <a:ea typeface="Calibri"/>
                <a:cs typeface="Calibri"/>
              </a:rPr>
              <a:t>In the client-server implementation, we used blocking I/O.</a:t>
            </a:r>
            <a:endParaRPr dirty="0"/>
          </a:p>
          <a:p>
            <a:pPr>
              <a:defRPr/>
            </a:pPr>
            <a:r>
              <a:rPr lang="en-US" sz="2800" b="0" i="0" u="none" strike="noStrike" cap="none" spc="0" dirty="0">
                <a:solidFill>
                  <a:schemeClr val="tx1"/>
                </a:solidFill>
                <a:latin typeface="Calibri"/>
                <a:ea typeface="Calibri"/>
                <a:cs typeface="Calibri"/>
              </a:rPr>
              <a:t>For example, in this line in the client:</a:t>
            </a:r>
            <a:endParaRPr dirty="0"/>
          </a:p>
          <a:p>
            <a:pPr>
              <a:defRPr/>
            </a:pPr>
            <a:endParaRPr lang="en-US" dirty="0"/>
          </a:p>
          <a:p>
            <a:pPr>
              <a:defRPr/>
            </a:pPr>
            <a:r>
              <a:rPr lang="en-US" sz="2800" b="0" i="0" u="none" strike="noStrike" cap="none" spc="0" dirty="0">
                <a:solidFill>
                  <a:schemeClr val="tx1"/>
                </a:solidFill>
                <a:latin typeface="Calibri"/>
                <a:ea typeface="Calibri"/>
                <a:cs typeface="Calibri"/>
              </a:rPr>
              <a:t>The client is blocked until the server responds.</a:t>
            </a:r>
            <a:endParaRPr dirty="0"/>
          </a:p>
          <a:p>
            <a:pPr>
              <a:defRPr/>
            </a:pPr>
            <a:r>
              <a:rPr lang="en-US" sz="2800" b="0" i="0" u="none" strike="noStrike" cap="none" spc="0" dirty="0">
                <a:solidFill>
                  <a:schemeClr val="tx1"/>
                </a:solidFill>
                <a:latin typeface="Calibri"/>
                <a:ea typeface="Calibri"/>
                <a:cs typeface="Calibri"/>
              </a:rPr>
              <a:t>We want non-blocking IO so the network buffer keeps working even when we reach the code above.</a:t>
            </a:r>
            <a:endParaRPr dirty="0"/>
          </a:p>
          <a:p>
            <a:pPr>
              <a:defRPr/>
            </a:pPr>
            <a:r>
              <a:rPr lang="en-US" sz="2800" b="0" i="0" u="none" strike="noStrike" cap="none" spc="0" dirty="0">
                <a:solidFill>
                  <a:schemeClr val="tx1"/>
                </a:solidFill>
                <a:latin typeface="Calibri"/>
                <a:ea typeface="Calibri"/>
                <a:cs typeface="Calibri"/>
              </a:rPr>
              <a:t>Java’s </a:t>
            </a:r>
            <a:r>
              <a:rPr lang="en-US" sz="2800" b="0" i="0" u="none" strike="noStrike" cap="none" spc="0" dirty="0" err="1">
                <a:solidFill>
                  <a:schemeClr val="tx1"/>
                </a:solidFill>
                <a:latin typeface="Calibri"/>
                <a:ea typeface="Calibri"/>
                <a:cs typeface="Calibri"/>
              </a:rPr>
              <a:t>java.nio</a:t>
            </a:r>
            <a:r>
              <a:rPr lang="en-US" sz="2800" b="0" i="0" u="none" strike="noStrike" cap="none" spc="0" dirty="0">
                <a:solidFill>
                  <a:schemeClr val="tx1"/>
                </a:solidFill>
                <a:latin typeface="Calibri"/>
                <a:ea typeface="Calibri"/>
                <a:cs typeface="Calibri"/>
              </a:rPr>
              <a:t> package </a:t>
            </a:r>
            <a:r>
              <a:rPr lang="en-US" sz="2800" b="0" i="0" u="none" strike="noStrike" cap="none" spc="0">
                <a:solidFill>
                  <a:schemeClr val="tx1"/>
                </a:solidFill>
                <a:latin typeface="Calibri"/>
                <a:ea typeface="Calibri"/>
                <a:cs typeface="Calibri"/>
              </a:rPr>
              <a:t>is an efficient </a:t>
            </a:r>
            <a:r>
              <a:rPr lang="en-US" sz="2800" b="0" i="0" u="none" strike="noStrike" cap="none" spc="0" dirty="0">
                <a:solidFill>
                  <a:schemeClr val="tx1"/>
                </a:solidFill>
                <a:latin typeface="Calibri"/>
                <a:ea typeface="Calibri"/>
                <a:cs typeface="Calibri"/>
              </a:rPr>
              <a:t>IO package. It also supports Non-blocking IO.</a:t>
            </a:r>
            <a:endParaRPr dirty="0"/>
          </a:p>
        </p:txBody>
      </p:sp>
      <p:sp>
        <p:nvSpPr>
          <p:cNvPr id="706431429" name=" 706431428"/>
          <p:cNvSpPr/>
          <p:nvPr/>
        </p:nvSpPr>
        <p:spPr bwMode="auto">
          <a:xfrm>
            <a:off x="1167532" y="2879757"/>
            <a:ext cx="3270453" cy="39659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sz="2000" b="1" i="0" u="none">
                <a:solidFill>
                  <a:srgbClr val="445588"/>
                </a:solidFill>
                <a:latin typeface="Arial"/>
                <a:ea typeface="Arial"/>
                <a:cs typeface="Arial"/>
              </a:rPr>
              <a:t>String</a:t>
            </a:r>
            <a:r>
              <a:rPr sz="2000" b="0" i="0" u="none">
                <a:solidFill>
                  <a:srgbClr val="333333"/>
                </a:solidFill>
                <a:latin typeface="Arial"/>
                <a:ea typeface="Arial"/>
                <a:cs typeface="Arial"/>
              </a:rPr>
              <a:t> </a:t>
            </a:r>
            <a:r>
              <a:rPr sz="2000" b="0" i="0" u="none">
                <a:solidFill>
                  <a:srgbClr val="008080"/>
                </a:solidFill>
                <a:latin typeface="Arial"/>
                <a:ea typeface="Arial"/>
                <a:cs typeface="Arial"/>
              </a:rPr>
              <a:t>line</a:t>
            </a:r>
            <a:r>
              <a:rPr sz="2000" b="0" i="0" u="none">
                <a:solidFill>
                  <a:srgbClr val="333333"/>
                </a:solidFill>
                <a:latin typeface="Arial"/>
                <a:ea typeface="Arial"/>
                <a:cs typeface="Arial"/>
              </a:rPr>
              <a:t> = in.readLine();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167467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9167467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064314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9167467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9167467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9167467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167467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060510663" name="Title 1"/>
          <p:cNvSpPr>
            <a:spLocks noGrp="1"/>
          </p:cNvSpPr>
          <p:nvPr>
            <p:ph type="title"/>
          </p:nvPr>
        </p:nvSpPr>
        <p:spPr bwMode="auto"/>
        <p:txBody>
          <a:bodyPr/>
          <a:lstStyle/>
          <a:p>
            <a:pPr>
              <a:defRPr/>
            </a:pPr>
            <a:r>
              <a:rPr lang="en-US"/>
              <a:t>Channels</a:t>
            </a:r>
            <a:endParaRPr lang="he-IL"/>
          </a:p>
        </p:txBody>
      </p:sp>
      <p:sp>
        <p:nvSpPr>
          <p:cNvPr id="1887703" name="Content Placeholder 2"/>
          <p:cNvSpPr>
            <a:spLocks noGrp="1"/>
          </p:cNvSpPr>
          <p:nvPr>
            <p:ph idx="1"/>
          </p:nvPr>
        </p:nvSpPr>
        <p:spPr bwMode="auto"/>
        <p:txBody>
          <a:bodyPr/>
          <a:lstStyle/>
          <a:p>
            <a:pPr>
              <a:defRPr/>
            </a:pPr>
            <a:r>
              <a:rPr lang="en-US" sz="2800" b="0" i="0" u="none" strike="noStrike" cap="none" spc="0">
                <a:solidFill>
                  <a:schemeClr val="tx1"/>
                </a:solidFill>
                <a:latin typeface="Calibri"/>
                <a:ea typeface="Calibri"/>
                <a:cs typeface="Calibri"/>
              </a:rPr>
              <a:t>A channel is something you can read from or write to.</a:t>
            </a:r>
            <a:endParaRPr lang="en-US" sz="2800" b="0" i="0" u="none" strike="noStrike" cap="none" spc="0">
              <a:solidFill>
                <a:schemeClr val="tx1"/>
              </a:solidFill>
              <a:latin typeface="Calibri"/>
              <a:cs typeface="Calibri"/>
            </a:endParaRPr>
          </a:p>
          <a:p>
            <a:pPr>
              <a:defRPr/>
            </a:pPr>
            <a:r>
              <a:rPr lang="en-US" sz="2800" b="0" i="0" u="none" strike="noStrike" cap="none" spc="0">
                <a:solidFill>
                  <a:schemeClr val="tx1"/>
                </a:solidFill>
                <a:latin typeface="Calibri"/>
                <a:ea typeface="Calibri"/>
                <a:cs typeface="Calibri"/>
              </a:rPr>
              <a:t>Channels can be either blocking (by default) or non-blocking.</a:t>
            </a:r>
            <a:endParaRPr lang="en-US" sz="2800" b="0" i="0" u="none" strike="noStrike" cap="none" spc="0">
              <a:solidFill>
                <a:schemeClr val="tx1"/>
              </a:solidFill>
              <a:latin typeface="Calibri"/>
              <a:cs typeface="Calibri"/>
            </a:endParaRPr>
          </a:p>
          <a:p>
            <a:pPr>
              <a:defRPr/>
            </a:pPr>
            <a:r>
              <a:rPr lang="en-US" sz="2800" b="0" i="0" u="none" strike="noStrike" cap="none" spc="0">
                <a:solidFill>
                  <a:schemeClr val="tx1"/>
                </a:solidFill>
                <a:latin typeface="Calibri"/>
                <a:ea typeface="Calibri"/>
                <a:cs typeface="Calibri"/>
              </a:rPr>
              <a:t>We will discuss SocketChannel and ServerSocketChannel, which are like Socket and ServerSocket, but their read(), write(), and accept() can be non-blocking.</a:t>
            </a:r>
            <a:endParaRPr lang="en-US" sz="2800" b="0" i="0" u="none" strike="noStrike" cap="none" spc="0">
              <a:solidFill>
                <a:schemeClr val="tx1"/>
              </a:solidFill>
              <a:latin typeface="Calibri"/>
              <a:cs typeface="Calibri"/>
            </a:endParaRPr>
          </a:p>
          <a:p>
            <a:pPr>
              <a:defRPr/>
            </a:pPr>
            <a:r>
              <a:rPr lang="en-US" sz="2800" b="0" i="0" u="none" strike="noStrike" cap="none" spc="0">
                <a:solidFill>
                  <a:schemeClr val="tx1"/>
                </a:solidFill>
                <a:latin typeface="Calibri"/>
                <a:ea typeface="Calibri"/>
                <a:cs typeface="Calibri"/>
              </a:rPr>
              <a:t>The ServerSocketChannel’s accept() returns a SocketChannel.</a:t>
            </a:r>
            <a:endParaRPr lang="he-IL"/>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877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8770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8770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8770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7703" grpId="0" build="p"/>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57623651" name="Title 1"/>
          <p:cNvSpPr>
            <a:spLocks noGrp="1"/>
          </p:cNvSpPr>
          <p:nvPr>
            <p:ph type="title"/>
          </p:nvPr>
        </p:nvSpPr>
        <p:spPr bwMode="auto"/>
        <p:txBody>
          <a:bodyPr/>
          <a:lstStyle/>
          <a:p>
            <a:pPr>
              <a:defRPr/>
            </a:pPr>
            <a:r>
              <a:rPr lang="en-US"/>
              <a:t>Channels example</a:t>
            </a:r>
            <a:endParaRPr lang="he-IL"/>
          </a:p>
        </p:txBody>
      </p:sp>
      <p:sp>
        <p:nvSpPr>
          <p:cNvPr id="1070170942" name="Content Placeholder 2"/>
          <p:cNvSpPr>
            <a:spLocks noGrp="1"/>
          </p:cNvSpPr>
          <p:nvPr>
            <p:ph idx="1"/>
          </p:nvPr>
        </p:nvSpPr>
        <p:spPr bwMode="auto"/>
        <p:txBody>
          <a:bodyPr/>
          <a:lstStyle/>
          <a:p>
            <a:pPr>
              <a:defRPr/>
            </a:pPr>
            <a:r>
              <a:rPr lang="en-US"/>
              <a:t>Setting up a non-blocking ServerSocketChannel listening on a specific port is done as follows:</a:t>
            </a:r>
            <a:endParaRPr/>
          </a:p>
          <a:p>
            <a:pPr>
              <a:defRPr/>
            </a:pPr>
            <a:endParaRPr lang="en-US"/>
          </a:p>
          <a:p>
            <a:pPr>
              <a:defRPr/>
            </a:pPr>
            <a:endParaRPr lang="en-US"/>
          </a:p>
          <a:p>
            <a:pPr>
              <a:defRPr/>
            </a:pPr>
            <a:r>
              <a:rPr lang="en-US"/>
              <a:t>Setting up a non-blocking SocketChannel and connecting to a server is done as follows:</a:t>
            </a:r>
            <a:endParaRPr lang="he-IL"/>
          </a:p>
        </p:txBody>
      </p:sp>
      <p:sp>
        <p:nvSpPr>
          <p:cNvPr id="643213375" name=" 643213374"/>
          <p:cNvSpPr/>
          <p:nvPr/>
        </p:nvSpPr>
        <p:spPr bwMode="auto">
          <a:xfrm>
            <a:off x="1185751" y="2665749"/>
            <a:ext cx="7003034" cy="106715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sz="1600" b="1" i="0" u="none">
                <a:solidFill>
                  <a:srgbClr val="445588"/>
                </a:solidFill>
                <a:latin typeface="Arial"/>
                <a:ea typeface="Arial"/>
                <a:cs typeface="Arial"/>
              </a:rPr>
              <a:t>int</a:t>
            </a:r>
            <a:r>
              <a:rPr sz="1600" b="0" i="0" u="none">
                <a:solidFill>
                  <a:srgbClr val="333333"/>
                </a:solidFill>
                <a:latin typeface="Arial"/>
                <a:ea typeface="Arial"/>
                <a:cs typeface="Arial"/>
              </a:rPr>
              <a:t> </a:t>
            </a:r>
            <a:r>
              <a:rPr sz="1600" b="0" i="0" u="none">
                <a:solidFill>
                  <a:srgbClr val="008080"/>
                </a:solidFill>
                <a:latin typeface="Arial"/>
                <a:ea typeface="Arial"/>
                <a:cs typeface="Arial"/>
              </a:rPr>
              <a:t>port</a:t>
            </a:r>
            <a:r>
              <a:rPr sz="1600" b="0" i="0" u="none">
                <a:solidFill>
                  <a:srgbClr val="333333"/>
                </a:solidFill>
                <a:latin typeface="Arial"/>
                <a:ea typeface="Arial"/>
                <a:cs typeface="Arial"/>
              </a:rPr>
              <a:t> = </a:t>
            </a:r>
            <a:r>
              <a:rPr sz="1600" b="0" i="0" u="none">
                <a:solidFill>
                  <a:srgbClr val="008080"/>
                </a:solidFill>
                <a:latin typeface="Arial"/>
                <a:ea typeface="Arial"/>
                <a:cs typeface="Arial"/>
              </a:rPr>
              <a:t>9999</a:t>
            </a:r>
            <a:r>
              <a:rPr sz="1600" b="0" i="0" u="none">
                <a:solidFill>
                  <a:srgbClr val="333333"/>
                </a:solidFill>
                <a:latin typeface="Arial"/>
                <a:ea typeface="Arial"/>
                <a:cs typeface="Arial"/>
              </a:rPr>
              <a:t>;</a:t>
            </a:r>
            <a:endParaRPr/>
          </a:p>
          <a:p>
            <a:pPr>
              <a:defRPr/>
            </a:pPr>
            <a:r>
              <a:rPr sz="1600" b="1" i="0" u="none">
                <a:solidFill>
                  <a:srgbClr val="445588"/>
                </a:solidFill>
                <a:latin typeface="Arial"/>
                <a:ea typeface="Arial"/>
                <a:cs typeface="Arial"/>
              </a:rPr>
              <a:t>ServerSocketChannel</a:t>
            </a:r>
            <a:r>
              <a:rPr sz="1600" b="0" i="0" u="none">
                <a:solidFill>
                  <a:srgbClr val="333333"/>
                </a:solidFill>
                <a:latin typeface="Arial"/>
                <a:ea typeface="Arial"/>
                <a:cs typeface="Arial"/>
              </a:rPr>
              <a:t> </a:t>
            </a:r>
            <a:r>
              <a:rPr sz="1600" b="0" i="0" u="none">
                <a:solidFill>
                  <a:srgbClr val="008080"/>
                </a:solidFill>
                <a:latin typeface="Arial"/>
                <a:ea typeface="Arial"/>
                <a:cs typeface="Arial"/>
              </a:rPr>
              <a:t>ssChannel</a:t>
            </a:r>
            <a:r>
              <a:rPr sz="1600" b="0" i="0" u="none">
                <a:solidFill>
                  <a:srgbClr val="333333"/>
                </a:solidFill>
                <a:latin typeface="Arial"/>
                <a:ea typeface="Arial"/>
                <a:cs typeface="Arial"/>
              </a:rPr>
              <a:t> = ServerSocketChannel.open();</a:t>
            </a:r>
            <a:endParaRPr/>
          </a:p>
          <a:p>
            <a:pPr>
              <a:defRPr/>
            </a:pPr>
            <a:r>
              <a:rPr sz="1600" b="0" i="0" u="none">
                <a:solidFill>
                  <a:srgbClr val="333333"/>
                </a:solidFill>
                <a:latin typeface="Arial"/>
                <a:ea typeface="Arial"/>
                <a:cs typeface="Arial"/>
              </a:rPr>
              <a:t>ssChannel.configureBlocking(</a:t>
            </a:r>
            <a:r>
              <a:rPr sz="1600" b="0" i="0" u="none">
                <a:solidFill>
                  <a:srgbClr val="008080"/>
                </a:solidFill>
                <a:latin typeface="Arial"/>
                <a:ea typeface="Arial"/>
                <a:cs typeface="Arial"/>
              </a:rPr>
              <a:t>false</a:t>
            </a:r>
            <a:r>
              <a:rPr sz="1600" b="0" i="0" u="none">
                <a:solidFill>
                  <a:srgbClr val="333333"/>
                </a:solidFill>
                <a:latin typeface="Arial"/>
                <a:ea typeface="Arial"/>
                <a:cs typeface="Arial"/>
              </a:rPr>
              <a:t>);</a:t>
            </a:r>
            <a:endParaRPr/>
          </a:p>
          <a:p>
            <a:pPr>
              <a:defRPr/>
            </a:pPr>
            <a:r>
              <a:rPr sz="1600" b="0" i="0" u="none">
                <a:solidFill>
                  <a:srgbClr val="333333"/>
                </a:solidFill>
                <a:latin typeface="Arial"/>
                <a:ea typeface="Arial"/>
                <a:cs typeface="Arial"/>
              </a:rPr>
              <a:t>ssChannel.socket().bind(</a:t>
            </a:r>
            <a:r>
              <a:rPr sz="1600" b="1" i="0" u="none">
                <a:solidFill>
                  <a:srgbClr val="333333"/>
                </a:solidFill>
                <a:latin typeface="Arial"/>
                <a:ea typeface="Arial"/>
                <a:cs typeface="Arial"/>
              </a:rPr>
              <a:t>new</a:t>
            </a:r>
            <a:r>
              <a:rPr sz="1600" b="0" i="0" u="none">
                <a:solidFill>
                  <a:srgbClr val="333333"/>
                </a:solidFill>
                <a:latin typeface="Arial"/>
                <a:ea typeface="Arial"/>
                <a:cs typeface="Arial"/>
              </a:rPr>
              <a:t> </a:t>
            </a:r>
            <a:r>
              <a:rPr sz="1600" b="1" i="0" u="none">
                <a:solidFill>
                  <a:srgbClr val="990000"/>
                </a:solidFill>
                <a:latin typeface="Arial"/>
                <a:ea typeface="Arial"/>
                <a:cs typeface="Arial"/>
              </a:rPr>
              <a:t>InetSocketAddress</a:t>
            </a:r>
            <a:r>
              <a:rPr sz="1600" b="0" i="0" u="none">
                <a:solidFill>
                  <a:srgbClr val="333333"/>
                </a:solidFill>
                <a:latin typeface="Arial"/>
                <a:ea typeface="Arial"/>
                <a:cs typeface="Arial"/>
              </a:rPr>
              <a:t>(port));</a:t>
            </a:r>
            <a:endParaRPr/>
          </a:p>
        </p:txBody>
      </p:sp>
      <p:sp>
        <p:nvSpPr>
          <p:cNvPr id="76182181" name=" 76182180"/>
          <p:cNvSpPr/>
          <p:nvPr/>
        </p:nvSpPr>
        <p:spPr bwMode="auto">
          <a:xfrm>
            <a:off x="1185751" y="4584033"/>
            <a:ext cx="6013285" cy="823320"/>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sz="1600" b="1" i="0" u="none">
                <a:solidFill>
                  <a:srgbClr val="445588"/>
                </a:solidFill>
                <a:latin typeface="Arial"/>
                <a:ea typeface="Arial"/>
                <a:cs typeface="Arial"/>
              </a:rPr>
              <a:t>SocketChannel</a:t>
            </a:r>
            <a:r>
              <a:rPr sz="1600" b="0" i="0" u="none">
                <a:solidFill>
                  <a:srgbClr val="333333"/>
                </a:solidFill>
                <a:latin typeface="Arial"/>
                <a:ea typeface="Arial"/>
                <a:cs typeface="Arial"/>
              </a:rPr>
              <a:t> </a:t>
            </a:r>
            <a:r>
              <a:rPr sz="1600" b="0" i="0" u="none">
                <a:solidFill>
                  <a:srgbClr val="008080"/>
                </a:solidFill>
                <a:latin typeface="Arial"/>
                <a:ea typeface="Arial"/>
                <a:cs typeface="Arial"/>
              </a:rPr>
              <a:t>sChannel</a:t>
            </a:r>
            <a:r>
              <a:rPr sz="1600" b="0" i="0" u="none">
                <a:solidFill>
                  <a:srgbClr val="333333"/>
                </a:solidFill>
                <a:latin typeface="Arial"/>
                <a:ea typeface="Arial"/>
                <a:cs typeface="Arial"/>
              </a:rPr>
              <a:t> = SocketChannel.open();</a:t>
            </a:r>
            <a:endParaRPr/>
          </a:p>
          <a:p>
            <a:pPr>
              <a:defRPr/>
            </a:pPr>
            <a:r>
              <a:rPr sz="1600" b="0" i="0" u="none">
                <a:solidFill>
                  <a:srgbClr val="333333"/>
                </a:solidFill>
                <a:latin typeface="Arial"/>
                <a:ea typeface="Arial"/>
                <a:cs typeface="Arial"/>
              </a:rPr>
              <a:t>sChannel.connect(</a:t>
            </a:r>
            <a:r>
              <a:rPr sz="1600" b="1" i="0" u="none">
                <a:solidFill>
                  <a:srgbClr val="333333"/>
                </a:solidFill>
                <a:latin typeface="Arial"/>
                <a:ea typeface="Arial"/>
                <a:cs typeface="Arial"/>
              </a:rPr>
              <a:t>new</a:t>
            </a:r>
            <a:r>
              <a:rPr sz="1600" b="0" i="0" u="none">
                <a:solidFill>
                  <a:srgbClr val="333333"/>
                </a:solidFill>
                <a:latin typeface="Arial"/>
                <a:ea typeface="Arial"/>
                <a:cs typeface="Arial"/>
              </a:rPr>
              <a:t> </a:t>
            </a:r>
            <a:r>
              <a:rPr sz="1600" b="1" i="0" u="none">
                <a:solidFill>
                  <a:srgbClr val="990000"/>
                </a:solidFill>
                <a:latin typeface="Arial"/>
                <a:ea typeface="Arial"/>
                <a:cs typeface="Arial"/>
              </a:rPr>
              <a:t>InetSocketAddress</a:t>
            </a:r>
            <a:r>
              <a:rPr sz="1600" b="0" i="0" u="none">
                <a:solidFill>
                  <a:srgbClr val="333333"/>
                </a:solidFill>
                <a:latin typeface="Arial"/>
                <a:ea typeface="Arial"/>
                <a:cs typeface="Arial"/>
              </a:rPr>
              <a:t>(</a:t>
            </a:r>
            <a:r>
              <a:rPr sz="1600" b="0" i="0" u="none">
                <a:solidFill>
                  <a:srgbClr val="DD1144"/>
                </a:solidFill>
                <a:latin typeface="Arial"/>
                <a:ea typeface="Arial"/>
                <a:cs typeface="Arial"/>
              </a:rPr>
              <a:t>"localhost"</a:t>
            </a:r>
            <a:r>
              <a:rPr sz="1600" b="0" i="0" u="none">
                <a:solidFill>
                  <a:srgbClr val="333333"/>
                </a:solidFill>
                <a:latin typeface="Arial"/>
                <a:ea typeface="Arial"/>
                <a:cs typeface="Arial"/>
              </a:rPr>
              <a:t>, </a:t>
            </a:r>
            <a:r>
              <a:rPr sz="1600" b="0" i="0" u="none">
                <a:solidFill>
                  <a:srgbClr val="008080"/>
                </a:solidFill>
                <a:latin typeface="Arial"/>
                <a:ea typeface="Arial"/>
                <a:cs typeface="Arial"/>
              </a:rPr>
              <a:t>1234</a:t>
            </a:r>
            <a:r>
              <a:rPr sz="1600" b="0" i="0" u="none">
                <a:solidFill>
                  <a:srgbClr val="333333"/>
                </a:solidFill>
                <a:latin typeface="Arial"/>
                <a:ea typeface="Arial"/>
                <a:cs typeface="Arial"/>
              </a:rPr>
              <a:t>));</a:t>
            </a:r>
            <a:endParaRPr/>
          </a:p>
          <a:p>
            <a:pPr>
              <a:defRPr/>
            </a:pPr>
            <a:r>
              <a:rPr sz="1600" b="0" i="0" u="none">
                <a:solidFill>
                  <a:srgbClr val="333333"/>
                </a:solidFill>
                <a:latin typeface="Arial"/>
                <a:ea typeface="Arial"/>
                <a:cs typeface="Arial"/>
              </a:rPr>
              <a:t>sChannel.configureBlocking(</a:t>
            </a:r>
            <a:r>
              <a:rPr sz="1600" b="0" i="0" u="none">
                <a:solidFill>
                  <a:srgbClr val="008080"/>
                </a:solidFill>
                <a:latin typeface="Arial"/>
                <a:ea typeface="Arial"/>
                <a:cs typeface="Arial"/>
              </a:rPr>
              <a:t>false</a:t>
            </a:r>
            <a:r>
              <a:rPr sz="1600" b="0" i="0" u="none">
                <a:solidFill>
                  <a:srgbClr val="333333"/>
                </a:solidFill>
                <a:latin typeface="Arial"/>
                <a:ea typeface="Arial"/>
                <a:cs typeface="Arial"/>
              </a:rPr>
              <a: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7017094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4321337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7017094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61821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0170942"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04085774" name="Title 1"/>
          <p:cNvSpPr>
            <a:spLocks noGrp="1"/>
          </p:cNvSpPr>
          <p:nvPr>
            <p:ph type="title"/>
          </p:nvPr>
        </p:nvSpPr>
        <p:spPr bwMode="auto"/>
        <p:txBody>
          <a:bodyPr/>
          <a:lstStyle/>
          <a:p>
            <a:pPr>
              <a:defRPr/>
            </a:pPr>
            <a:r>
              <a:rPr lang="en-US"/>
              <a:t>Buffers</a:t>
            </a:r>
            <a:endParaRPr lang="he-IL"/>
          </a:p>
        </p:txBody>
      </p:sp>
      <p:sp>
        <p:nvSpPr>
          <p:cNvPr id="571843610" name="Content Placeholder 2"/>
          <p:cNvSpPr>
            <a:spLocks noGrp="1"/>
          </p:cNvSpPr>
          <p:nvPr>
            <p:ph idx="1"/>
          </p:nvPr>
        </p:nvSpPr>
        <p:spPr bwMode="auto"/>
        <p:txBody>
          <a:bodyPr/>
          <a:lstStyle/>
          <a:p>
            <a:pPr>
              <a:defRPr/>
            </a:pPr>
            <a:r>
              <a:rPr lang="en-US"/>
              <a:t>All the IO in NIO goes through buffers.</a:t>
            </a:r>
            <a:endParaRPr/>
          </a:p>
          <a:p>
            <a:pPr>
              <a:defRPr/>
            </a:pPr>
            <a:r>
              <a:rPr lang="en-US"/>
              <a:t>Channels know how to read and write into buffers, and buffers can read and write into other buffers.</a:t>
            </a:r>
            <a:endParaRPr/>
          </a:p>
          <a:p>
            <a:pPr>
              <a:defRPr/>
            </a:pPr>
            <a:r>
              <a:rPr lang="en-US"/>
              <a:t>We’ll discuss ByteBuffer, which holds bytes.</a:t>
            </a:r>
            <a:endParaRPr/>
          </a:p>
          <a:p>
            <a:pPr>
              <a:defRPr/>
            </a:pPr>
            <a:r>
              <a:rPr lang="en-US"/>
              <a:t>We can create a new ByteBuffer in the following manner:</a:t>
            </a:r>
            <a:endParaRPr/>
          </a:p>
          <a:p>
            <a:pPr>
              <a:defRPr/>
            </a:pPr>
            <a:endParaRPr lang="en-US"/>
          </a:p>
          <a:p>
            <a:pPr>
              <a:defRPr/>
            </a:pPr>
            <a:r>
              <a:rPr lang="en-US"/>
              <a:t>We can also create a ByteBuffer from an array of bytes:</a:t>
            </a:r>
            <a:endParaRPr/>
          </a:p>
        </p:txBody>
      </p:sp>
      <p:sp>
        <p:nvSpPr>
          <p:cNvPr id="1911907285" name=" 1911907284"/>
          <p:cNvSpPr/>
          <p:nvPr/>
        </p:nvSpPr>
        <p:spPr bwMode="auto">
          <a:xfrm>
            <a:off x="1094694" y="4178371"/>
            <a:ext cx="6577821" cy="640440"/>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sz="1800" b="1" i="0" u="none">
                <a:solidFill>
                  <a:srgbClr val="333333"/>
                </a:solidFill>
                <a:latin typeface="Arial"/>
                <a:ea typeface="Arial"/>
                <a:cs typeface="Arial"/>
              </a:rPr>
              <a:t>final</a:t>
            </a:r>
            <a:r>
              <a:rPr sz="1800" b="0" i="0" u="none">
                <a:solidFill>
                  <a:srgbClr val="333333"/>
                </a:solidFill>
                <a:latin typeface="Arial"/>
                <a:ea typeface="Arial"/>
                <a:cs typeface="Arial"/>
              </a:rPr>
              <a:t> </a:t>
            </a:r>
            <a:r>
              <a:rPr sz="1800" b="1" i="0" u="none">
                <a:solidFill>
                  <a:srgbClr val="445588"/>
                </a:solidFill>
                <a:latin typeface="Arial"/>
                <a:ea typeface="Arial"/>
                <a:cs typeface="Arial"/>
              </a:rPr>
              <a:t>int</a:t>
            </a:r>
            <a:r>
              <a:rPr sz="1800" b="0" i="0" u="none">
                <a:solidFill>
                  <a:srgbClr val="333333"/>
                </a:solidFill>
                <a:latin typeface="Arial"/>
                <a:ea typeface="Arial"/>
                <a:cs typeface="Arial"/>
              </a:rPr>
              <a:t> </a:t>
            </a:r>
            <a:r>
              <a:rPr sz="1800" b="0" i="0" u="none">
                <a:solidFill>
                  <a:srgbClr val="008080"/>
                </a:solidFill>
                <a:latin typeface="Arial"/>
                <a:ea typeface="Arial"/>
                <a:cs typeface="Arial"/>
              </a:rPr>
              <a:t>NUM_OF_BYTES</a:t>
            </a:r>
            <a:r>
              <a:rPr sz="1800" b="0" i="0" u="none">
                <a:solidFill>
                  <a:srgbClr val="333333"/>
                </a:solidFill>
                <a:latin typeface="Arial"/>
                <a:ea typeface="Arial"/>
                <a:cs typeface="Arial"/>
              </a:rPr>
              <a:t> = </a:t>
            </a:r>
            <a:r>
              <a:rPr sz="1800" b="0" i="0" u="none">
                <a:solidFill>
                  <a:srgbClr val="008080"/>
                </a:solidFill>
                <a:latin typeface="Arial"/>
                <a:ea typeface="Arial"/>
                <a:cs typeface="Arial"/>
              </a:rPr>
              <a:t>1024</a:t>
            </a:r>
            <a:r>
              <a:rPr sz="1800" b="0" i="0" u="none">
                <a:solidFill>
                  <a:srgbClr val="333333"/>
                </a:solidFill>
                <a:latin typeface="Arial"/>
                <a:ea typeface="Arial"/>
                <a:cs typeface="Arial"/>
              </a:rPr>
              <a:t>;</a:t>
            </a:r>
            <a:endParaRPr/>
          </a:p>
          <a:p>
            <a:pPr>
              <a:defRPr/>
            </a:pPr>
            <a:r>
              <a:rPr sz="1800" b="1" i="0" u="none">
                <a:solidFill>
                  <a:srgbClr val="445588"/>
                </a:solidFill>
                <a:latin typeface="Arial"/>
                <a:ea typeface="Arial"/>
                <a:cs typeface="Arial"/>
              </a:rPr>
              <a:t>ByteBuffer</a:t>
            </a:r>
            <a:r>
              <a:rPr sz="1800" b="0" i="0" u="none">
                <a:solidFill>
                  <a:srgbClr val="333333"/>
                </a:solidFill>
                <a:latin typeface="Arial"/>
                <a:ea typeface="Arial"/>
                <a:cs typeface="Arial"/>
              </a:rPr>
              <a:t> </a:t>
            </a:r>
            <a:r>
              <a:rPr sz="1800" b="0" i="0" u="none">
                <a:solidFill>
                  <a:srgbClr val="008080"/>
                </a:solidFill>
                <a:latin typeface="Arial"/>
                <a:ea typeface="Arial"/>
                <a:cs typeface="Arial"/>
              </a:rPr>
              <a:t>buf</a:t>
            </a:r>
            <a:r>
              <a:rPr sz="1800" b="0" i="0" u="none">
                <a:solidFill>
                  <a:srgbClr val="333333"/>
                </a:solidFill>
                <a:latin typeface="Arial"/>
                <a:ea typeface="Arial"/>
                <a:cs typeface="Arial"/>
              </a:rPr>
              <a:t> = ByteBuffer.allocate(NUM_OF_BYTES);</a:t>
            </a:r>
            <a:endParaRPr/>
          </a:p>
        </p:txBody>
      </p:sp>
      <p:sp>
        <p:nvSpPr>
          <p:cNvPr id="348733706" name=" 348733705"/>
          <p:cNvSpPr/>
          <p:nvPr/>
        </p:nvSpPr>
        <p:spPr bwMode="auto">
          <a:xfrm>
            <a:off x="1094694" y="5232236"/>
            <a:ext cx="4572209" cy="640440"/>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sz="1800" b="1" i="0" u="none">
                <a:solidFill>
                  <a:srgbClr val="445588"/>
                </a:solidFill>
                <a:latin typeface="Arial"/>
                <a:ea typeface="Arial"/>
                <a:cs typeface="Arial"/>
              </a:rPr>
              <a:t>byte</a:t>
            </a:r>
            <a:r>
              <a:rPr sz="1800" b="0" i="0" u="none">
                <a:solidFill>
                  <a:srgbClr val="333333"/>
                </a:solidFill>
                <a:latin typeface="Arial"/>
                <a:ea typeface="Arial"/>
                <a:cs typeface="Arial"/>
              </a:rPr>
              <a:t>[] bytes = </a:t>
            </a:r>
            <a:r>
              <a:rPr sz="1800" b="1" i="0" u="none">
                <a:solidFill>
                  <a:srgbClr val="333333"/>
                </a:solidFill>
                <a:latin typeface="Arial"/>
                <a:ea typeface="Arial"/>
                <a:cs typeface="Arial"/>
              </a:rPr>
              <a:t>new</a:t>
            </a:r>
            <a:r>
              <a:rPr sz="1800" b="0" i="0" u="none">
                <a:solidFill>
                  <a:srgbClr val="333333"/>
                </a:solidFill>
                <a:latin typeface="Arial"/>
                <a:ea typeface="Arial"/>
                <a:cs typeface="Arial"/>
              </a:rPr>
              <a:t> </a:t>
            </a:r>
            <a:r>
              <a:rPr sz="1800" b="1" i="0" u="none">
                <a:solidFill>
                  <a:srgbClr val="990000"/>
                </a:solidFill>
                <a:latin typeface="Arial"/>
                <a:ea typeface="Arial"/>
                <a:cs typeface="Arial"/>
              </a:rPr>
              <a:t>byte</a:t>
            </a:r>
            <a:r>
              <a:rPr sz="1800" b="0" i="0" u="none">
                <a:solidFill>
                  <a:srgbClr val="333333"/>
                </a:solidFill>
                <a:latin typeface="Arial"/>
                <a:ea typeface="Arial"/>
                <a:cs typeface="Arial"/>
              </a:rPr>
              <a:t>[</a:t>
            </a:r>
            <a:r>
              <a:rPr sz="1800" b="0" i="0" u="none">
                <a:solidFill>
                  <a:srgbClr val="008080"/>
                </a:solidFill>
                <a:latin typeface="Arial"/>
                <a:ea typeface="Arial"/>
                <a:cs typeface="Arial"/>
              </a:rPr>
              <a:t>10</a:t>
            </a:r>
            <a:r>
              <a:rPr sz="1800" b="0" i="0" u="none">
                <a:solidFill>
                  <a:srgbClr val="333333"/>
                </a:solidFill>
                <a:latin typeface="Arial"/>
                <a:ea typeface="Arial"/>
                <a:cs typeface="Arial"/>
              </a:rPr>
              <a:t>];</a:t>
            </a:r>
            <a:endParaRPr/>
          </a:p>
          <a:p>
            <a:pPr>
              <a:defRPr/>
            </a:pPr>
            <a:r>
              <a:rPr sz="1800" b="1" i="0" u="none">
                <a:solidFill>
                  <a:srgbClr val="445588"/>
                </a:solidFill>
                <a:latin typeface="Arial"/>
                <a:ea typeface="Arial"/>
                <a:cs typeface="Arial"/>
              </a:rPr>
              <a:t>ByteBuffer</a:t>
            </a:r>
            <a:r>
              <a:rPr sz="1800" b="0" i="0" u="none">
                <a:solidFill>
                  <a:srgbClr val="333333"/>
                </a:solidFill>
                <a:latin typeface="Arial"/>
                <a:ea typeface="Arial"/>
                <a:cs typeface="Arial"/>
              </a:rPr>
              <a:t> </a:t>
            </a:r>
            <a:r>
              <a:rPr sz="1800" b="0" i="0" u="none">
                <a:solidFill>
                  <a:srgbClr val="008080"/>
                </a:solidFill>
                <a:latin typeface="Arial"/>
                <a:ea typeface="Arial"/>
                <a:cs typeface="Arial"/>
              </a:rPr>
              <a:t>buf</a:t>
            </a:r>
            <a:r>
              <a:rPr sz="1800" b="0" i="0" u="none">
                <a:solidFill>
                  <a:srgbClr val="333333"/>
                </a:solidFill>
                <a:latin typeface="Arial"/>
                <a:ea typeface="Arial"/>
                <a:cs typeface="Arial"/>
              </a:rPr>
              <a:t> = ByteBuffer.wrap(bytes);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18436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718436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7184361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7184361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1190728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7184361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487337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1843610"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69284196" name="Title 1"/>
          <p:cNvSpPr>
            <a:spLocks noGrp="1"/>
          </p:cNvSpPr>
          <p:nvPr>
            <p:ph type="title"/>
          </p:nvPr>
        </p:nvSpPr>
        <p:spPr bwMode="auto"/>
        <p:txBody>
          <a:bodyPr/>
          <a:lstStyle/>
          <a:p>
            <a:pPr>
              <a:defRPr/>
            </a:pPr>
            <a:r>
              <a:rPr lang="en-US"/>
              <a:t>Flipping</a:t>
            </a:r>
            <a:endParaRPr lang="he-IL"/>
          </a:p>
        </p:txBody>
      </p:sp>
      <p:sp>
        <p:nvSpPr>
          <p:cNvPr id="1140988945"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compatLnSpc="0">
            <a:normAutofit fontScale="95000" lnSpcReduction="1000"/>
          </a:bodyPr>
          <a:lstStyle/>
          <a:p>
            <a:pPr>
              <a:defRPr/>
            </a:pPr>
            <a:r>
              <a:rPr lang="en-US" sz="2800" b="0" i="0" u="none" strike="noStrike" cap="none" spc="0">
                <a:solidFill>
                  <a:schemeClr val="tx1"/>
                </a:solidFill>
                <a:latin typeface="Calibri"/>
                <a:ea typeface="Calibri"/>
                <a:cs typeface="Calibri"/>
              </a:rPr>
              <a:t>Each buffer has a current position, limit, and capacity.</a:t>
            </a:r>
            <a:endParaRPr lang="en-US" sz="2800" b="0" i="0" u="none" strike="noStrike" cap="none" spc="0">
              <a:solidFill>
                <a:schemeClr val="tx1"/>
              </a:solidFill>
              <a:latin typeface="Calibri"/>
              <a:cs typeface="Calibri"/>
            </a:endParaRPr>
          </a:p>
          <a:p>
            <a:pPr>
              <a:defRPr/>
            </a:pPr>
            <a:r>
              <a:rPr lang="en-US" sz="2800" b="0" i="0" u="none" strike="noStrike" cap="none" spc="0">
                <a:solidFill>
                  <a:schemeClr val="tx1"/>
                </a:solidFill>
                <a:latin typeface="Calibri"/>
                <a:ea typeface="Calibri"/>
                <a:cs typeface="Calibri"/>
              </a:rPr>
              <a:t>The capacity is the maximum amount of data that can be stored in the buffer.</a:t>
            </a:r>
            <a:endParaRPr lang="en-US" sz="2800" b="0" i="0" u="none" strike="noStrike" cap="none" spc="0">
              <a:solidFill>
                <a:schemeClr val="tx1"/>
              </a:solidFill>
              <a:latin typeface="Calibri"/>
              <a:cs typeface="Calibri"/>
            </a:endParaRPr>
          </a:p>
          <a:p>
            <a:pPr>
              <a:defRPr/>
            </a:pPr>
            <a:r>
              <a:rPr lang="en-US" sz="2800" b="0" i="0" u="none" strike="noStrike" cap="none" spc="0">
                <a:solidFill>
                  <a:schemeClr val="tx1"/>
                </a:solidFill>
                <a:latin typeface="Calibri"/>
                <a:ea typeface="Calibri"/>
                <a:cs typeface="Calibri"/>
              </a:rPr>
              <a:t>The limit is the amount of data actually stored in the buffer.</a:t>
            </a:r>
            <a:endParaRPr lang="en-US" sz="2800" b="0" i="0" u="none" strike="noStrike" cap="none" spc="0">
              <a:solidFill>
                <a:schemeClr val="tx1"/>
              </a:solidFill>
              <a:latin typeface="Calibri"/>
              <a:cs typeface="Calibri"/>
            </a:endParaRPr>
          </a:p>
          <a:p>
            <a:pPr>
              <a:defRPr/>
            </a:pPr>
            <a:r>
              <a:rPr lang="en-US" sz="2800" b="0" i="0" u="none" strike="noStrike" cap="none" spc="0">
                <a:solidFill>
                  <a:schemeClr val="tx1"/>
                </a:solidFill>
                <a:latin typeface="Calibri"/>
                <a:ea typeface="Calibri"/>
                <a:cs typeface="Calibri"/>
              </a:rPr>
              <a:t>The position is where you currently read/write from the buffer.</a:t>
            </a:r>
            <a:endParaRPr lang="en-US" sz="2800" b="0" i="0" u="none" strike="noStrike" cap="none" spc="0">
              <a:solidFill>
                <a:schemeClr val="tx1"/>
              </a:solidFill>
              <a:latin typeface="Calibri"/>
              <a:cs typeface="Calibri"/>
            </a:endParaRPr>
          </a:p>
          <a:p>
            <a:pPr>
              <a:defRPr/>
            </a:pPr>
            <a:r>
              <a:rPr lang="en-US" sz="2800" b="0" i="0" u="none" strike="noStrike" cap="none" spc="0">
                <a:solidFill>
                  <a:schemeClr val="tx1"/>
                </a:solidFill>
                <a:latin typeface="Calibri"/>
                <a:ea typeface="Calibri"/>
                <a:cs typeface="Calibri"/>
              </a:rPr>
              <a:t>The following inequality always holds: 0&lt;=position&lt;=limit&lt;=capacity.</a:t>
            </a:r>
            <a:endParaRPr lang="en-US" sz="2800" b="0" i="0" u="none" strike="noStrike" cap="none" spc="0">
              <a:solidFill>
                <a:schemeClr val="tx1"/>
              </a:solidFill>
              <a:latin typeface="Calibri"/>
              <a:cs typeface="Calibri"/>
            </a:endParaRPr>
          </a:p>
          <a:p>
            <a:pPr>
              <a:defRPr/>
            </a:pPr>
            <a:r>
              <a:rPr lang="en-US" sz="2800" b="0" i="0" u="none" strike="noStrike" cap="none" spc="0">
                <a:solidFill>
                  <a:schemeClr val="tx1"/>
                </a:solidFill>
                <a:latin typeface="Calibri"/>
                <a:ea typeface="Calibri"/>
                <a:cs typeface="Calibri"/>
              </a:rPr>
              <a:t>A read operation reads an amount of bytes from the buffer and updates the current position. Likewise, a write operation writes an amount of bytes to the buffer and updates the current position.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4098894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4098894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4098894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4098894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4098894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4098894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0988945" grpId="0" build="p"/>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16021824" name="Title 1"/>
          <p:cNvSpPr>
            <a:spLocks noGrp="1"/>
          </p:cNvSpPr>
          <p:nvPr>
            <p:ph type="title"/>
          </p:nvPr>
        </p:nvSpPr>
        <p:spPr bwMode="auto"/>
        <p:txBody>
          <a:bodyPr/>
          <a:lstStyle/>
          <a:p>
            <a:pPr>
              <a:defRPr/>
            </a:pPr>
            <a:r>
              <a:rPr lang="en-US"/>
              <a:t>Flipping (cont)</a:t>
            </a:r>
            <a:endParaRPr lang="he-IL"/>
          </a:p>
        </p:txBody>
      </p:sp>
      <p:sp>
        <p:nvSpPr>
          <p:cNvPr id="1457222449" name="Content Placeholder 2"/>
          <p:cNvSpPr>
            <a:spLocks noGrp="1"/>
          </p:cNvSpPr>
          <p:nvPr>
            <p:ph idx="1"/>
          </p:nvPr>
        </p:nvSpPr>
        <p:spPr bwMode="auto"/>
        <p:txBody>
          <a:bodyPr/>
          <a:lstStyle/>
          <a:p>
            <a:pPr>
              <a:defRPr/>
            </a:pPr>
            <a:r>
              <a:rPr lang="en-US" sz="2800" b="0" i="0" u="none" strike="noStrike" cap="none" spc="0">
                <a:solidFill>
                  <a:schemeClr val="tx1"/>
                </a:solidFill>
                <a:latin typeface="Calibri"/>
                <a:ea typeface="Calibri"/>
                <a:cs typeface="Calibri"/>
              </a:rPr>
              <a:t>If someone wrote to the buffer and you want to read those bytes, you need to set the position marker to the start of the buffer and the limit to the current position.</a:t>
            </a:r>
            <a:endParaRPr/>
          </a:p>
          <a:p>
            <a:pPr>
              <a:defRPr/>
            </a:pPr>
            <a:r>
              <a:rPr lang="en-US" sz="2800" b="0" i="0" u="none" strike="noStrike" cap="none" spc="0">
                <a:solidFill>
                  <a:schemeClr val="tx1"/>
                </a:solidFill>
                <a:latin typeface="Calibri"/>
                <a:ea typeface="Calibri"/>
                <a:cs typeface="Calibri"/>
              </a:rPr>
              <a:t>* This is what the buffer flip() action does.</a:t>
            </a:r>
            <a:endParaRPr lang="he-IL"/>
          </a:p>
        </p:txBody>
      </p:sp>
      <p:pic>
        <p:nvPicPr>
          <p:cNvPr id="99426339" name="Picture 4"/>
          <p:cNvPicPr>
            <a:picLocks noChangeAspect="1"/>
          </p:cNvPicPr>
          <p:nvPr/>
        </p:nvPicPr>
        <p:blipFill rotWithShape="1">
          <a:blip r:embed="rId3"/>
          <a:stretch/>
        </p:blipFill>
        <p:spPr bwMode="auto">
          <a:xfrm>
            <a:off x="995783" y="3717421"/>
            <a:ext cx="4443966" cy="268888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5722244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5722244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94263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7222449" grpId="0" build="p"/>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07902615" name="Rectangle 3"/>
          <p:cNvSpPr/>
          <p:nvPr/>
        </p:nvSpPr>
        <p:spPr bwMode="auto">
          <a:xfrm>
            <a:off x="716133" y="2168371"/>
            <a:ext cx="10706248" cy="78789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sp>
        <p:nvSpPr>
          <p:cNvPr id="1687954306" name="Rectangle 4"/>
          <p:cNvSpPr/>
          <p:nvPr/>
        </p:nvSpPr>
        <p:spPr bwMode="auto">
          <a:xfrm>
            <a:off x="742766" y="2195005"/>
            <a:ext cx="525262" cy="743503"/>
          </a:xfrm>
          <a:prstGeom prst="rect">
            <a:avLst/>
          </a:prstGeom>
          <a:solidFill>
            <a:schemeClr val="accent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sp>
        <p:nvSpPr>
          <p:cNvPr id="2139698102" name="Rectangle 5"/>
          <p:cNvSpPr/>
          <p:nvPr/>
        </p:nvSpPr>
        <p:spPr bwMode="auto">
          <a:xfrm>
            <a:off x="1276904" y="2196479"/>
            <a:ext cx="525262" cy="743503"/>
          </a:xfrm>
          <a:prstGeom prst="rect">
            <a:avLst/>
          </a:prstGeom>
          <a:solidFill>
            <a:schemeClr val="accent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sp>
        <p:nvSpPr>
          <p:cNvPr id="296136002" name="Rectangle 10"/>
          <p:cNvSpPr/>
          <p:nvPr/>
        </p:nvSpPr>
        <p:spPr bwMode="auto">
          <a:xfrm>
            <a:off x="1809564" y="2196482"/>
            <a:ext cx="525262" cy="743503"/>
          </a:xfrm>
          <a:prstGeom prst="rect">
            <a:avLst/>
          </a:prstGeom>
          <a:solidFill>
            <a:schemeClr val="accent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sp>
        <p:nvSpPr>
          <p:cNvPr id="1935915051" name="Rectangle 15"/>
          <p:cNvSpPr/>
          <p:nvPr/>
        </p:nvSpPr>
        <p:spPr bwMode="auto">
          <a:xfrm>
            <a:off x="2342221" y="2196482"/>
            <a:ext cx="525262" cy="743503"/>
          </a:xfrm>
          <a:prstGeom prst="rect">
            <a:avLst/>
          </a:prstGeom>
          <a:solidFill>
            <a:schemeClr val="accent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sp>
        <p:nvSpPr>
          <p:cNvPr id="268937665" name="Rectangle 18"/>
          <p:cNvSpPr/>
          <p:nvPr/>
        </p:nvSpPr>
        <p:spPr bwMode="auto">
          <a:xfrm>
            <a:off x="2874886" y="2196482"/>
            <a:ext cx="525262" cy="743503"/>
          </a:xfrm>
          <a:prstGeom prst="rect">
            <a:avLst/>
          </a:prstGeom>
          <a:solidFill>
            <a:schemeClr val="accent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sp>
        <p:nvSpPr>
          <p:cNvPr id="866527151" name="Rectangle 22"/>
          <p:cNvSpPr/>
          <p:nvPr/>
        </p:nvSpPr>
        <p:spPr bwMode="auto">
          <a:xfrm>
            <a:off x="3407548" y="2196479"/>
            <a:ext cx="525262" cy="743503"/>
          </a:xfrm>
          <a:prstGeom prst="rect">
            <a:avLst/>
          </a:prstGeom>
          <a:solidFill>
            <a:schemeClr val="accent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grpSp>
        <p:nvGrpSpPr>
          <p:cNvPr id="636820377" name="Group 61"/>
          <p:cNvGrpSpPr/>
          <p:nvPr/>
        </p:nvGrpSpPr>
        <p:grpSpPr bwMode="auto">
          <a:xfrm>
            <a:off x="609600" y="3036164"/>
            <a:ext cx="1512159" cy="946380"/>
            <a:chOff x="609600" y="3036164"/>
            <a:chExt cx="1512159" cy="946380"/>
          </a:xfrm>
        </p:grpSpPr>
        <p:cxnSp>
          <p:nvCxnSpPr>
            <p:cNvPr id="54" name="Straight Arrow Connector 53"/>
            <p:cNvCxnSpPr/>
            <p:nvPr/>
          </p:nvCxnSpPr>
          <p:spPr bwMode="auto">
            <a:xfrm flipV="1">
              <a:off x="1038687" y="3036164"/>
              <a:ext cx="0" cy="58592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bwMode="auto">
            <a:xfrm>
              <a:off x="609600" y="3613212"/>
              <a:ext cx="1512159" cy="369332"/>
            </a:xfrm>
            <a:prstGeom prst="rect">
              <a:avLst/>
            </a:prstGeom>
            <a:noFill/>
          </p:spPr>
          <p:txBody>
            <a:bodyPr wrap="square" rtlCol="1">
              <a:spAutoFit/>
            </a:bodyPr>
            <a:lstStyle/>
            <a:p>
              <a:pPr>
                <a:defRPr/>
              </a:pPr>
              <a:r>
                <a:rPr lang="en-US"/>
                <a:t>Position</a:t>
              </a:r>
              <a:endParaRPr lang="he-IL"/>
            </a:p>
          </p:txBody>
        </p:sp>
      </p:grpSp>
      <p:grpSp>
        <p:nvGrpSpPr>
          <p:cNvPr id="917673869" name="Group 62"/>
          <p:cNvGrpSpPr/>
          <p:nvPr/>
        </p:nvGrpSpPr>
        <p:grpSpPr bwMode="auto">
          <a:xfrm>
            <a:off x="3614026" y="3012674"/>
            <a:ext cx="1512159" cy="937502"/>
            <a:chOff x="2001914" y="3918899"/>
            <a:chExt cx="1512159" cy="937502"/>
          </a:xfrm>
        </p:grpSpPr>
        <p:cxnSp>
          <p:nvCxnSpPr>
            <p:cNvPr id="58" name="Straight Arrow Connector 57"/>
            <p:cNvCxnSpPr/>
            <p:nvPr/>
          </p:nvCxnSpPr>
          <p:spPr bwMode="auto">
            <a:xfrm flipV="1">
              <a:off x="2342221" y="3918899"/>
              <a:ext cx="0" cy="58592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bwMode="auto">
            <a:xfrm>
              <a:off x="2001914" y="4487069"/>
              <a:ext cx="1512159" cy="369332"/>
            </a:xfrm>
            <a:prstGeom prst="rect">
              <a:avLst/>
            </a:prstGeom>
            <a:noFill/>
          </p:spPr>
          <p:txBody>
            <a:bodyPr wrap="square" rtlCol="1">
              <a:spAutoFit/>
            </a:bodyPr>
            <a:lstStyle/>
            <a:p>
              <a:pPr>
                <a:defRPr/>
              </a:pPr>
              <a:r>
                <a:rPr lang="en-US"/>
                <a:t>Limit</a:t>
              </a:r>
              <a:endParaRPr lang="he-IL"/>
            </a:p>
          </p:txBody>
        </p:sp>
      </p:grpSp>
      <p:grpSp>
        <p:nvGrpSpPr>
          <p:cNvPr id="1456728271" name="Group 63"/>
          <p:cNvGrpSpPr/>
          <p:nvPr/>
        </p:nvGrpSpPr>
        <p:grpSpPr bwMode="auto">
          <a:xfrm>
            <a:off x="10813006" y="2981396"/>
            <a:ext cx="1512159" cy="937502"/>
            <a:chOff x="10813006" y="2981396"/>
            <a:chExt cx="1512159" cy="937502"/>
          </a:xfrm>
        </p:grpSpPr>
        <p:cxnSp>
          <p:nvCxnSpPr>
            <p:cNvPr id="60" name="Straight Arrow Connector 59"/>
            <p:cNvCxnSpPr/>
            <p:nvPr/>
          </p:nvCxnSpPr>
          <p:spPr bwMode="auto">
            <a:xfrm flipV="1">
              <a:off x="11153313" y="2981396"/>
              <a:ext cx="0" cy="58592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bwMode="auto">
            <a:xfrm>
              <a:off x="10813006" y="3549567"/>
              <a:ext cx="1512159" cy="369332"/>
            </a:xfrm>
            <a:prstGeom prst="rect">
              <a:avLst/>
            </a:prstGeom>
            <a:noFill/>
          </p:spPr>
          <p:txBody>
            <a:bodyPr wrap="square" rtlCol="1">
              <a:spAutoFit/>
            </a:bodyPr>
            <a:lstStyle/>
            <a:p>
              <a:pPr>
                <a:defRPr/>
              </a:pPr>
              <a:r>
                <a:rPr lang="en-US"/>
                <a:t>Capacity</a:t>
              </a:r>
              <a:endParaRPr lang="he-IL"/>
            </a:p>
          </p:txBody>
        </p:sp>
      </p:grpSp>
      <p:sp>
        <p:nvSpPr>
          <p:cNvPr id="628918759" name="TextBox 65"/>
          <p:cNvSpPr txBox="1"/>
          <p:nvPr/>
        </p:nvSpPr>
        <p:spPr bwMode="auto">
          <a:xfrm>
            <a:off x="5269637" y="579762"/>
            <a:ext cx="5454598" cy="584775"/>
          </a:xfrm>
          <a:prstGeom prst="rect">
            <a:avLst/>
          </a:prstGeom>
          <a:noFill/>
        </p:spPr>
        <p:txBody>
          <a:bodyPr wrap="square" rtlCol="1">
            <a:spAutoFit/>
          </a:bodyPr>
          <a:lstStyle/>
          <a:p>
            <a:pPr>
              <a:defRPr/>
            </a:pPr>
            <a:r>
              <a:rPr lang="en-US" sz="3200"/>
              <a:t>Write</a:t>
            </a:r>
            <a:endParaRPr lang="he-IL" sz="3200"/>
          </a:p>
        </p:txBody>
      </p:sp>
      <p:sp>
        <p:nvSpPr>
          <p:cNvPr id="471500828" name="TextBox 66"/>
          <p:cNvSpPr txBox="1"/>
          <p:nvPr/>
        </p:nvSpPr>
        <p:spPr bwMode="auto">
          <a:xfrm>
            <a:off x="5269637" y="555739"/>
            <a:ext cx="5454598" cy="584775"/>
          </a:xfrm>
          <a:prstGeom prst="rect">
            <a:avLst/>
          </a:prstGeom>
          <a:noFill/>
        </p:spPr>
        <p:txBody>
          <a:bodyPr wrap="square" rtlCol="1">
            <a:spAutoFit/>
          </a:bodyPr>
          <a:lstStyle/>
          <a:p>
            <a:pPr>
              <a:defRPr/>
            </a:pPr>
            <a:r>
              <a:rPr lang="en-US" sz="3200"/>
              <a:t>Read</a:t>
            </a:r>
            <a:endParaRPr lang="he-IL" sz="3200"/>
          </a:p>
        </p:txBody>
      </p:sp>
      <p:sp>
        <p:nvSpPr>
          <p:cNvPr id="1561124387" name="TextBox 67"/>
          <p:cNvSpPr txBox="1"/>
          <p:nvPr/>
        </p:nvSpPr>
        <p:spPr bwMode="auto">
          <a:xfrm>
            <a:off x="5296234" y="575641"/>
            <a:ext cx="5454598" cy="584775"/>
          </a:xfrm>
          <a:prstGeom prst="rect">
            <a:avLst/>
          </a:prstGeom>
          <a:noFill/>
        </p:spPr>
        <p:txBody>
          <a:bodyPr wrap="square" rtlCol="1">
            <a:spAutoFit/>
          </a:bodyPr>
          <a:lstStyle/>
          <a:p>
            <a:pPr>
              <a:defRPr/>
            </a:pPr>
            <a:r>
              <a:rPr lang="en-US" sz="3200"/>
              <a:t>Flip</a:t>
            </a:r>
            <a:endParaRPr lang="he-IL" sz="3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28918759"/>
                                        </p:tgtEl>
                                        <p:attrNameLst>
                                          <p:attrName>style.visibility</p:attrName>
                                        </p:attrNameLst>
                                      </p:cBhvr>
                                      <p:to>
                                        <p:strVal val="visible"/>
                                      </p:to>
                                    </p:set>
                                    <p:animEffect transition="in" filter="fade">
                                      <p:cBhvr>
                                        <p:cTn id="7" dur="500"/>
                                        <p:tgtEl>
                                          <p:spTgt spid="628918759"/>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1687954306"/>
                                        </p:tgtEl>
                                        <p:attrNameLst>
                                          <p:attrName>style.visibility</p:attrName>
                                        </p:attrNameLst>
                                      </p:cBhvr>
                                      <p:to>
                                        <p:strVal val="visible"/>
                                      </p:to>
                                    </p:set>
                                  </p:childTnLst>
                                </p:cTn>
                              </p:par>
                            </p:childTnLst>
                          </p:cTn>
                        </p:par>
                        <p:par>
                          <p:cTn id="11" fill="hold">
                            <p:stCondLst>
                              <p:cond delay="500"/>
                            </p:stCondLst>
                            <p:childTnLst>
                              <p:par>
                                <p:cTn id="12" presetID="1" presetClass="entr" presetSubtype="0" fill="hold" grpId="0" nodeType="afterEffect">
                                  <p:stCondLst>
                                    <p:cond delay="500"/>
                                  </p:stCondLst>
                                  <p:childTnLst>
                                    <p:set>
                                      <p:cBhvr>
                                        <p:cTn id="13" dur="1" fill="hold">
                                          <p:stCondLst>
                                            <p:cond delay="0"/>
                                          </p:stCondLst>
                                        </p:cTn>
                                        <p:tgtEl>
                                          <p:spTgt spid="2139698102"/>
                                        </p:tgtEl>
                                        <p:attrNameLst>
                                          <p:attrName>style.visibility</p:attrName>
                                        </p:attrNameLst>
                                      </p:cBhvr>
                                      <p:to>
                                        <p:strVal val="visible"/>
                                      </p:to>
                                    </p:set>
                                  </p:childTnLst>
                                </p:cTn>
                              </p:par>
                            </p:childTnLst>
                          </p:cTn>
                        </p:par>
                        <p:par>
                          <p:cTn id="14" fill="hold">
                            <p:stCondLst>
                              <p:cond delay="1000"/>
                            </p:stCondLst>
                            <p:childTnLst>
                              <p:par>
                                <p:cTn id="15" presetID="1" presetClass="entr" presetSubtype="0" fill="hold" grpId="0" nodeType="afterEffect">
                                  <p:stCondLst>
                                    <p:cond delay="500"/>
                                  </p:stCondLst>
                                  <p:childTnLst>
                                    <p:set>
                                      <p:cBhvr>
                                        <p:cTn id="16" dur="1" fill="hold">
                                          <p:stCondLst>
                                            <p:cond delay="0"/>
                                          </p:stCondLst>
                                        </p:cTn>
                                        <p:tgtEl>
                                          <p:spTgt spid="296136002"/>
                                        </p:tgtEl>
                                        <p:attrNameLst>
                                          <p:attrName>style.visibility</p:attrName>
                                        </p:attrNameLst>
                                      </p:cBhvr>
                                      <p:to>
                                        <p:strVal val="visible"/>
                                      </p:to>
                                    </p:set>
                                  </p:childTnLst>
                                </p:cTn>
                              </p:par>
                            </p:childTnLst>
                          </p:cTn>
                        </p:par>
                        <p:par>
                          <p:cTn id="17" fill="hold">
                            <p:stCondLst>
                              <p:cond delay="1500"/>
                            </p:stCondLst>
                            <p:childTnLst>
                              <p:par>
                                <p:cTn id="18" presetID="1" presetClass="entr" presetSubtype="0" fill="hold" grpId="0" nodeType="afterEffect">
                                  <p:stCondLst>
                                    <p:cond delay="500"/>
                                  </p:stCondLst>
                                  <p:childTnLst>
                                    <p:set>
                                      <p:cBhvr>
                                        <p:cTn id="19" dur="1" fill="hold">
                                          <p:stCondLst>
                                            <p:cond delay="0"/>
                                          </p:stCondLst>
                                        </p:cTn>
                                        <p:tgtEl>
                                          <p:spTgt spid="1935915051"/>
                                        </p:tgtEl>
                                        <p:attrNameLst>
                                          <p:attrName>style.visibility</p:attrName>
                                        </p:attrNameLst>
                                      </p:cBhvr>
                                      <p:to>
                                        <p:strVal val="visible"/>
                                      </p:to>
                                    </p:set>
                                  </p:childTnLst>
                                </p:cTn>
                              </p:par>
                            </p:childTnLst>
                          </p:cTn>
                        </p:par>
                        <p:par>
                          <p:cTn id="20" fill="hold">
                            <p:stCondLst>
                              <p:cond delay="2000"/>
                            </p:stCondLst>
                            <p:childTnLst>
                              <p:par>
                                <p:cTn id="21" presetID="42" presetClass="path" presetSubtype="0" accel="50000" decel="50000" fill="hold" nodeType="afterEffect">
                                  <p:stCondLst>
                                    <p:cond delay="500"/>
                                  </p:stCondLst>
                                  <p:childTnLst>
                                    <p:animMotion origin="layout" path="M 8.33333E-7 4.44444E-6 L 0.13555 0.00092 " pathEditMode="relative" rAng="0" ptsTypes="AA">
                                      <p:cBhvr>
                                        <p:cTn id="22" dur="2000" fill="hold"/>
                                        <p:tgtEl>
                                          <p:spTgt spid="636820377"/>
                                        </p:tgtEl>
                                        <p:attrNameLst>
                                          <p:attrName>ppt_x</p:attrName>
                                          <p:attrName>ppt_y</p:attrName>
                                        </p:attrNameLst>
                                      </p:cBhvr>
                                      <p:rCtr x="6771" y="46"/>
                                    </p:animMotion>
                                  </p:childTnLst>
                                </p:cTn>
                              </p:par>
                            </p:childTnLst>
                          </p:cTn>
                        </p:par>
                        <p:par>
                          <p:cTn id="23" fill="hold">
                            <p:stCondLst>
                              <p:cond delay="4500"/>
                            </p:stCondLst>
                            <p:childTnLst>
                              <p:par>
                                <p:cTn id="24" presetID="10" presetClass="exit" presetSubtype="0" fill="hold" grpId="1" nodeType="afterEffect">
                                  <p:stCondLst>
                                    <p:cond delay="0"/>
                                  </p:stCondLst>
                                  <p:childTnLst>
                                    <p:animEffect transition="out" filter="fade">
                                      <p:cBhvr>
                                        <p:cTn id="25" dur="500"/>
                                        <p:tgtEl>
                                          <p:spTgt spid="628918759"/>
                                        </p:tgtEl>
                                      </p:cBhvr>
                                    </p:animEffect>
                                    <p:set>
                                      <p:cBhvr>
                                        <p:cTn id="26" dur="1" fill="hold">
                                          <p:stCondLst>
                                            <p:cond delay="499"/>
                                          </p:stCondLst>
                                        </p:cTn>
                                        <p:tgtEl>
                                          <p:spTgt spid="628918759"/>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2" nodeType="clickEffect">
                                  <p:stCondLst>
                                    <p:cond delay="0"/>
                                  </p:stCondLst>
                                  <p:childTnLst>
                                    <p:set>
                                      <p:cBhvr>
                                        <p:cTn id="30" dur="1" fill="hold">
                                          <p:stCondLst>
                                            <p:cond delay="0"/>
                                          </p:stCondLst>
                                        </p:cTn>
                                        <p:tgtEl>
                                          <p:spTgt spid="628918759"/>
                                        </p:tgtEl>
                                        <p:attrNameLst>
                                          <p:attrName>style.visibility</p:attrName>
                                        </p:attrNameLst>
                                      </p:cBhvr>
                                      <p:to>
                                        <p:strVal val="visible"/>
                                      </p:to>
                                    </p:set>
                                    <p:animEffect transition="in" filter="fade">
                                      <p:cBhvr>
                                        <p:cTn id="31" dur="500"/>
                                        <p:tgtEl>
                                          <p:spTgt spid="628918759"/>
                                        </p:tgtEl>
                                      </p:cBhvr>
                                    </p:animEffect>
                                  </p:childTnLst>
                                </p:cTn>
                              </p:par>
                            </p:childTnLst>
                          </p:cTn>
                        </p:par>
                        <p:par>
                          <p:cTn id="32" fill="hold">
                            <p:stCondLst>
                              <p:cond delay="500"/>
                            </p:stCondLst>
                            <p:childTnLst>
                              <p:par>
                                <p:cTn id="33" presetID="1" presetClass="entr" presetSubtype="0" fill="hold" grpId="0" nodeType="afterEffect">
                                  <p:stCondLst>
                                    <p:cond delay="500"/>
                                  </p:stCondLst>
                                  <p:childTnLst>
                                    <p:set>
                                      <p:cBhvr>
                                        <p:cTn id="34" dur="1" fill="hold">
                                          <p:stCondLst>
                                            <p:cond delay="0"/>
                                          </p:stCondLst>
                                        </p:cTn>
                                        <p:tgtEl>
                                          <p:spTgt spid="268937665"/>
                                        </p:tgtEl>
                                        <p:attrNameLst>
                                          <p:attrName>style.visibility</p:attrName>
                                        </p:attrNameLst>
                                      </p:cBhvr>
                                      <p:to>
                                        <p:strVal val="visible"/>
                                      </p:to>
                                    </p:set>
                                  </p:childTnLst>
                                </p:cTn>
                              </p:par>
                            </p:childTnLst>
                          </p:cTn>
                        </p:par>
                        <p:par>
                          <p:cTn id="35" fill="hold">
                            <p:stCondLst>
                              <p:cond delay="1000"/>
                            </p:stCondLst>
                            <p:childTnLst>
                              <p:par>
                                <p:cTn id="36" presetID="1" presetClass="entr" presetSubtype="0" fill="hold" grpId="0" nodeType="afterEffect">
                                  <p:stCondLst>
                                    <p:cond delay="500"/>
                                  </p:stCondLst>
                                  <p:childTnLst>
                                    <p:set>
                                      <p:cBhvr>
                                        <p:cTn id="37" dur="1" fill="hold">
                                          <p:stCondLst>
                                            <p:cond delay="0"/>
                                          </p:stCondLst>
                                        </p:cTn>
                                        <p:tgtEl>
                                          <p:spTgt spid="866527151"/>
                                        </p:tgtEl>
                                        <p:attrNameLst>
                                          <p:attrName>style.visibility</p:attrName>
                                        </p:attrNameLst>
                                      </p:cBhvr>
                                      <p:to>
                                        <p:strVal val="visible"/>
                                      </p:to>
                                    </p:set>
                                  </p:childTnLst>
                                </p:cTn>
                              </p:par>
                            </p:childTnLst>
                          </p:cTn>
                        </p:par>
                        <p:par>
                          <p:cTn id="38" fill="hold">
                            <p:stCondLst>
                              <p:cond delay="1500"/>
                            </p:stCondLst>
                            <p:childTnLst>
                              <p:par>
                                <p:cTn id="39" presetID="42" presetClass="path" presetSubtype="0" accel="50000" decel="50000" fill="hold" nodeType="afterEffect">
                                  <p:stCondLst>
                                    <p:cond delay="500"/>
                                  </p:stCondLst>
                                  <p:childTnLst>
                                    <p:animMotion origin="layout" path="M 0.13555 0.00092 L 0.23867 -0.00047 " pathEditMode="relative" rAng="0" ptsTypes="AA">
                                      <p:cBhvr>
                                        <p:cTn id="40" dur="2000" fill="hold"/>
                                        <p:tgtEl>
                                          <p:spTgt spid="636820377"/>
                                        </p:tgtEl>
                                        <p:attrNameLst>
                                          <p:attrName>ppt_x</p:attrName>
                                          <p:attrName>ppt_y</p:attrName>
                                        </p:attrNameLst>
                                      </p:cBhvr>
                                      <p:rCtr x="5156" y="-69"/>
                                    </p:animMotion>
                                  </p:childTnLst>
                                </p:cTn>
                              </p:par>
                            </p:childTnLst>
                          </p:cTn>
                        </p:par>
                        <p:par>
                          <p:cTn id="41" fill="hold">
                            <p:stCondLst>
                              <p:cond delay="4000"/>
                            </p:stCondLst>
                            <p:childTnLst>
                              <p:par>
                                <p:cTn id="42" presetID="10" presetClass="exit" presetSubtype="0" fill="hold" grpId="3" nodeType="afterEffect">
                                  <p:stCondLst>
                                    <p:cond delay="500"/>
                                  </p:stCondLst>
                                  <p:childTnLst>
                                    <p:animEffect transition="out" filter="fade">
                                      <p:cBhvr>
                                        <p:cTn id="43" dur="500"/>
                                        <p:tgtEl>
                                          <p:spTgt spid="628918759"/>
                                        </p:tgtEl>
                                      </p:cBhvr>
                                    </p:animEffect>
                                    <p:set>
                                      <p:cBhvr>
                                        <p:cTn id="44" dur="1" fill="hold">
                                          <p:stCondLst>
                                            <p:cond delay="499"/>
                                          </p:stCondLst>
                                        </p:cTn>
                                        <p:tgtEl>
                                          <p:spTgt spid="628918759"/>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561124387"/>
                                        </p:tgtEl>
                                        <p:attrNameLst>
                                          <p:attrName>style.visibility</p:attrName>
                                        </p:attrNameLst>
                                      </p:cBhvr>
                                      <p:to>
                                        <p:strVal val="visible"/>
                                      </p:to>
                                    </p:set>
                                    <p:animEffect transition="in" filter="fade">
                                      <p:cBhvr>
                                        <p:cTn id="49" dur="500"/>
                                        <p:tgtEl>
                                          <p:spTgt spid="1561124387"/>
                                        </p:tgtEl>
                                      </p:cBhvr>
                                    </p:animEffect>
                                  </p:childTnLst>
                                </p:cTn>
                              </p:par>
                            </p:childTnLst>
                          </p:cTn>
                        </p:par>
                        <p:par>
                          <p:cTn id="50" fill="hold">
                            <p:stCondLst>
                              <p:cond delay="500"/>
                            </p:stCondLst>
                            <p:childTnLst>
                              <p:par>
                                <p:cTn id="51" presetID="42" presetClass="path" presetSubtype="0" accel="50000" decel="50000" fill="hold" nodeType="afterEffect">
                                  <p:stCondLst>
                                    <p:cond delay="0"/>
                                  </p:stCondLst>
                                  <p:childTnLst>
                                    <p:animMotion origin="layout" path="M 0.23867 -0.00047 L 8.33333E-7 4.44444E-6 " pathEditMode="relative" rAng="0" ptsTypes="AA">
                                      <p:cBhvr>
                                        <p:cTn id="52" dur="2000" fill="hold"/>
                                        <p:tgtEl>
                                          <p:spTgt spid="636820377"/>
                                        </p:tgtEl>
                                        <p:attrNameLst>
                                          <p:attrName>ppt_x</p:attrName>
                                          <p:attrName>ppt_y</p:attrName>
                                        </p:attrNameLst>
                                      </p:cBhvr>
                                      <p:rCtr x="-11940" y="23"/>
                                    </p:animMotion>
                                  </p:childTnLst>
                                </p:cTn>
                              </p:par>
                            </p:childTnLst>
                          </p:cTn>
                        </p:par>
                        <p:par>
                          <p:cTn id="53" fill="hold">
                            <p:stCondLst>
                              <p:cond delay="2500"/>
                            </p:stCondLst>
                            <p:childTnLst>
                              <p:par>
                                <p:cTn id="54" presetID="1" presetClass="entr" presetSubtype="0" fill="hold" nodeType="afterEffect">
                                  <p:stCondLst>
                                    <p:cond delay="0"/>
                                  </p:stCondLst>
                                  <p:childTnLst>
                                    <p:set>
                                      <p:cBhvr>
                                        <p:cTn id="55" dur="1" fill="hold">
                                          <p:stCondLst>
                                            <p:cond delay="0"/>
                                          </p:stCondLst>
                                        </p:cTn>
                                        <p:tgtEl>
                                          <p:spTgt spid="917673869"/>
                                        </p:tgtEl>
                                        <p:attrNameLst>
                                          <p:attrName>style.visibility</p:attrName>
                                        </p:attrNameLst>
                                      </p:cBhvr>
                                      <p:to>
                                        <p:strVal val="visible"/>
                                      </p:to>
                                    </p:set>
                                  </p:childTnLst>
                                </p:cTn>
                              </p:par>
                            </p:childTnLst>
                          </p:cTn>
                        </p:par>
                        <p:par>
                          <p:cTn id="56" fill="hold">
                            <p:stCondLst>
                              <p:cond delay="2500"/>
                            </p:stCondLst>
                            <p:childTnLst>
                              <p:par>
                                <p:cTn id="57" presetID="10" presetClass="exit" presetSubtype="0" fill="hold" grpId="1" nodeType="afterEffect">
                                  <p:stCondLst>
                                    <p:cond delay="500"/>
                                  </p:stCondLst>
                                  <p:childTnLst>
                                    <p:animEffect transition="out" filter="fade">
                                      <p:cBhvr>
                                        <p:cTn id="58" dur="500"/>
                                        <p:tgtEl>
                                          <p:spTgt spid="1561124387"/>
                                        </p:tgtEl>
                                      </p:cBhvr>
                                    </p:animEffect>
                                    <p:set>
                                      <p:cBhvr>
                                        <p:cTn id="59" dur="1" fill="hold">
                                          <p:stCondLst>
                                            <p:cond delay="499"/>
                                          </p:stCondLst>
                                        </p:cTn>
                                        <p:tgtEl>
                                          <p:spTgt spid="1561124387"/>
                                        </p:tgtEl>
                                        <p:attrNameLst>
                                          <p:attrName>style.visibility</p:attrName>
                                        </p:attrNameLst>
                                      </p:cBhvr>
                                      <p:to>
                                        <p:strVal val="hidden"/>
                                      </p:to>
                                    </p:se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471500828"/>
                                        </p:tgtEl>
                                        <p:attrNameLst>
                                          <p:attrName>style.visibility</p:attrName>
                                        </p:attrNameLst>
                                      </p:cBhvr>
                                      <p:to>
                                        <p:strVal val="visible"/>
                                      </p:to>
                                    </p:set>
                                    <p:animEffect transition="in" filter="fade">
                                      <p:cBhvr>
                                        <p:cTn id="64" dur="500"/>
                                        <p:tgtEl>
                                          <p:spTgt spid="471500828"/>
                                        </p:tgtEl>
                                      </p:cBhvr>
                                    </p:animEffect>
                                  </p:childTnLst>
                                </p:cTn>
                              </p:par>
                            </p:childTnLst>
                          </p:cTn>
                        </p:par>
                        <p:par>
                          <p:cTn id="65" fill="hold">
                            <p:stCondLst>
                              <p:cond delay="500"/>
                            </p:stCondLst>
                            <p:childTnLst>
                              <p:par>
                                <p:cTn id="66" presetID="42" presetClass="path" presetSubtype="0" accel="50000" decel="50000" fill="hold" nodeType="afterEffect">
                                  <p:stCondLst>
                                    <p:cond delay="500"/>
                                  </p:stCondLst>
                                  <p:childTnLst>
                                    <p:animMotion origin="layout" path="M 8.33333E-7 4.44444E-6 L 0.16693 0.00231 " pathEditMode="relative" rAng="0" ptsTypes="AA">
                                      <p:cBhvr>
                                        <p:cTn id="67" dur="2000" fill="hold"/>
                                        <p:tgtEl>
                                          <p:spTgt spid="636820377"/>
                                        </p:tgtEl>
                                        <p:attrNameLst>
                                          <p:attrName>ppt_x</p:attrName>
                                          <p:attrName>ppt_y</p:attrName>
                                        </p:attrNameLst>
                                      </p:cBhvr>
                                      <p:rCtr x="8346" y="116"/>
                                    </p:animMotion>
                                  </p:childTnLst>
                                </p:cTn>
                              </p:par>
                            </p:childTnLst>
                          </p:cTn>
                        </p:par>
                        <p:par>
                          <p:cTn id="68" fill="hold">
                            <p:stCondLst>
                              <p:cond delay="3000"/>
                            </p:stCondLst>
                            <p:childTnLst>
                              <p:par>
                                <p:cTn id="69" presetID="10" presetClass="exit" presetSubtype="0" fill="hold" grpId="1" nodeType="afterEffect">
                                  <p:stCondLst>
                                    <p:cond delay="500"/>
                                  </p:stCondLst>
                                  <p:childTnLst>
                                    <p:animEffect transition="out" filter="fade">
                                      <p:cBhvr>
                                        <p:cTn id="70" dur="500"/>
                                        <p:tgtEl>
                                          <p:spTgt spid="471500828"/>
                                        </p:tgtEl>
                                      </p:cBhvr>
                                    </p:animEffect>
                                    <p:set>
                                      <p:cBhvr>
                                        <p:cTn id="71" dur="1" fill="hold">
                                          <p:stCondLst>
                                            <p:cond delay="499"/>
                                          </p:stCondLst>
                                        </p:cTn>
                                        <p:tgtEl>
                                          <p:spTgt spid="4715008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7954306" grpId="0" animBg="1"/>
      <p:bldP spid="2139698102" grpId="0" animBg="1"/>
      <p:bldP spid="296136002" grpId="0" animBg="1"/>
      <p:bldP spid="1935915051" grpId="0" animBg="1"/>
      <p:bldP spid="268937665" grpId="0" animBg="1"/>
      <p:bldP spid="866527151" grpId="0" animBg="1"/>
      <p:bldP spid="628918759" grpId="0"/>
      <p:bldP spid="628918759" grpId="1"/>
      <p:bldP spid="628918759" grpId="2"/>
      <p:bldP spid="628918759" grpId="3"/>
      <p:bldP spid="471500828" grpId="0"/>
      <p:bldP spid="471500828" grpId="1"/>
      <p:bldP spid="1561124387" grpId="0"/>
      <p:bldP spid="1561124387" grpId="1"/>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36368617" name="Title 1"/>
          <p:cNvSpPr>
            <a:spLocks noGrp="1"/>
          </p:cNvSpPr>
          <p:nvPr>
            <p:ph type="title"/>
          </p:nvPr>
        </p:nvSpPr>
        <p:spPr bwMode="auto"/>
        <p:txBody>
          <a:bodyPr/>
          <a:lstStyle/>
          <a:p>
            <a:pPr>
              <a:defRPr/>
            </a:pPr>
            <a:r>
              <a:rPr lang="en-US"/>
              <a:t>From channel to buffer and back</a:t>
            </a:r>
            <a:endParaRPr lang="he-IL"/>
          </a:p>
        </p:txBody>
      </p:sp>
      <p:sp>
        <p:nvSpPr>
          <p:cNvPr id="1778496151" name="Content Placeholder 2"/>
          <p:cNvSpPr>
            <a:spLocks noGrp="1"/>
          </p:cNvSpPr>
          <p:nvPr>
            <p:ph idx="1"/>
          </p:nvPr>
        </p:nvSpPr>
        <p:spPr bwMode="auto"/>
        <p:txBody>
          <a:bodyPr/>
          <a:lstStyle/>
          <a:p>
            <a:pPr>
              <a:defRPr/>
            </a:pPr>
            <a:r>
              <a:rPr lang="en-US"/>
              <a:t>Reading from channel to a buffer:</a:t>
            </a:r>
            <a:endParaRPr/>
          </a:p>
          <a:p>
            <a:pPr>
              <a:defRPr/>
            </a:pPr>
            <a:endParaRPr lang="en-US"/>
          </a:p>
          <a:p>
            <a:pPr>
              <a:defRPr/>
            </a:pPr>
            <a:r>
              <a:rPr lang="en-US"/>
              <a:t>Writing from a buffer to a channel:</a:t>
            </a:r>
            <a:endParaRPr/>
          </a:p>
          <a:p>
            <a:pPr>
              <a:defRPr/>
            </a:pPr>
            <a:endParaRPr lang="he-IL"/>
          </a:p>
        </p:txBody>
      </p:sp>
      <p:pic>
        <p:nvPicPr>
          <p:cNvPr id="310607974" name="Picture 6"/>
          <p:cNvPicPr>
            <a:picLocks noChangeAspect="1"/>
          </p:cNvPicPr>
          <p:nvPr/>
        </p:nvPicPr>
        <p:blipFill rotWithShape="1">
          <a:blip r:embed="rId3"/>
          <a:stretch/>
        </p:blipFill>
        <p:spPr bwMode="auto">
          <a:xfrm>
            <a:off x="838200" y="3424335"/>
            <a:ext cx="6878814" cy="352425"/>
          </a:xfrm>
          <a:prstGeom prst="rect">
            <a:avLst/>
          </a:prstGeom>
        </p:spPr>
      </p:pic>
      <p:pic>
        <p:nvPicPr>
          <p:cNvPr id="2" name="Picture 1">
            <a:extLst>
              <a:ext uri="{FF2B5EF4-FFF2-40B4-BE49-F238E27FC236}">
                <a16:creationId xmlns:a16="http://schemas.microsoft.com/office/drawing/2014/main" id="{D5C349D2-50AB-39E4-B890-2FE233B2164F}"/>
              </a:ext>
            </a:extLst>
          </p:cNvPr>
          <p:cNvPicPr>
            <a:picLocks noChangeAspect="1"/>
          </p:cNvPicPr>
          <p:nvPr/>
        </p:nvPicPr>
        <p:blipFill>
          <a:blip r:embed="rId4"/>
          <a:stretch>
            <a:fillRect/>
          </a:stretch>
        </p:blipFill>
        <p:spPr>
          <a:xfrm>
            <a:off x="838200" y="2390774"/>
            <a:ext cx="6546972" cy="3524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78496151">
                                            <p:txEl>
                                              <p:pRg st="0" end="0"/>
                                            </p:txEl>
                                          </p:spTgt>
                                        </p:tgtEl>
                                        <p:attrNameLst>
                                          <p:attrName>style.visibility</p:attrName>
                                        </p:attrNameLst>
                                      </p:cBhvr>
                                      <p:to>
                                        <p:strVal val="visible"/>
                                      </p:to>
                                    </p:set>
                                  </p:childTnLst>
                                </p:cTn>
                              </p:par>
                            </p:childTnLst>
                          </p:cTn>
                        </p:par>
                      </p:childTnLst>
                    </p:cTn>
                  </p:par>
                  <p:par>
                    <p:cTn id="7" fill="hold">
                      <p:stCondLst>
                        <p:cond delay="indefinite"/>
                      </p:stCond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778496151">
                                            <p:txEl>
                                              <p:pRg st="2" end="2"/>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1060797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8496151"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08874036" name="מלבן 3"/>
          <p:cNvSpPr/>
          <p:nvPr/>
        </p:nvSpPr>
        <p:spPr bwMode="auto">
          <a:xfrm>
            <a:off x="3674823" y="314387"/>
            <a:ext cx="4842351" cy="923330"/>
          </a:xfrm>
          <a:prstGeom prst="rect">
            <a:avLst/>
          </a:prstGeom>
          <a:noFill/>
        </p:spPr>
        <p:txBody>
          <a:bodyPr wrap="none" lIns="91440" tIns="45720" rIns="91440" bIns="45720">
            <a:spAutoFit/>
          </a:bodyPr>
          <a:lstStyle/>
          <a:p>
            <a:pPr algn="ctr">
              <a:defRPr/>
            </a:pPr>
            <a:r>
              <a:rPr lang="en-US" sz="5400" b="1" cap="none" spc="0">
                <a:ln w="13462">
                  <a:solidFill>
                    <a:schemeClr val="bg1"/>
                  </a:solidFill>
                  <a:prstDash val="solid"/>
                </a:ln>
                <a:solidFill>
                  <a:schemeClr val="tx1">
                    <a:lumMod val="85000"/>
                    <a:lumOff val="15000"/>
                  </a:schemeClr>
                </a:solidFill>
              </a:rPr>
              <a:t>STOMP Protocol</a:t>
            </a:r>
            <a:endParaRPr lang="he-IL" sz="5400" b="1" cap="none" spc="0">
              <a:ln w="13462">
                <a:solidFill>
                  <a:schemeClr val="bg1"/>
                </a:solidFill>
                <a:prstDash val="solid"/>
              </a:ln>
              <a:solidFill>
                <a:schemeClr val="tx1">
                  <a:lumMod val="85000"/>
                  <a:lumOff val="15000"/>
                </a:schemeClr>
              </a:solidFill>
            </a:endParaRPr>
          </a:p>
        </p:txBody>
      </p:sp>
      <p:pic>
        <p:nvPicPr>
          <p:cNvPr id="802234641" name="תמונה 5"/>
          <p:cNvPicPr>
            <a:picLocks noChangeAspect="1"/>
          </p:cNvPicPr>
          <p:nvPr/>
        </p:nvPicPr>
        <p:blipFill rotWithShape="1">
          <a:blip r:embed="rId3"/>
          <a:stretch/>
        </p:blipFill>
        <p:spPr bwMode="auto">
          <a:xfrm>
            <a:off x="1675446" y="2159349"/>
            <a:ext cx="8841103" cy="2539301"/>
          </a:xfrm>
          <a:prstGeom prst="rect">
            <a:avLst/>
          </a:prstGeom>
        </p:spPr>
      </p:pic>
      <p:sp>
        <p:nvSpPr>
          <p:cNvPr id="101685622" name="תיבת טקסט 1"/>
          <p:cNvSpPr txBox="1"/>
          <p:nvPr/>
        </p:nvSpPr>
        <p:spPr bwMode="auto">
          <a:xfrm>
            <a:off x="848548" y="5779628"/>
            <a:ext cx="10129458" cy="823319"/>
          </a:xfrm>
          <a:prstGeom prst="rect">
            <a:avLst/>
          </a:prstGeom>
          <a:noFill/>
        </p:spPr>
        <p:txBody>
          <a:bodyPr wrap="square" rtlCol="1">
            <a:spAutoFit/>
          </a:bodyPr>
          <a:lstStyle/>
          <a:p>
            <a:pPr algn="ctr">
              <a:defRPr/>
            </a:pPr>
            <a:r>
              <a:rPr lang="en-US" sz="2400" b="1" u="sng"/>
              <a:t>Disclaimer:</a:t>
            </a:r>
            <a:r>
              <a:rPr lang="en-US" sz="2400"/>
              <a:t> In any case of ambiguity between these slides and the assignment description, follow the assignment description.</a:t>
            </a:r>
            <a:endParaRPr sz="2400"/>
          </a:p>
        </p:txBody>
      </p:sp>
      <p:sp>
        <p:nvSpPr>
          <p:cNvPr id="1016097776" name="TextBox 1016097775"/>
          <p:cNvSpPr txBox="1"/>
          <p:nvPr/>
        </p:nvSpPr>
        <p:spPr bwMode="auto">
          <a:xfrm>
            <a:off x="6308525" y="4842864"/>
            <a:ext cx="4669482" cy="366119"/>
          </a:xfrm>
          <a:prstGeom prst="rect">
            <a:avLst/>
          </a:prstGeom>
          <a:noFill/>
        </p:spPr>
        <p:txBody>
          <a:bodyPr vertOverflow="overflow" horzOverflow="overflow" vert="horz" wrap="none" lIns="91440" tIns="45720" rIns="91440" bIns="45720" numCol="1" spcCol="0" rtlCol="0" fromWordArt="0" anchor="t" anchorCtr="0" forceAA="0" compatLnSpc="0">
            <a:spAutoFit/>
          </a:bodyPr>
          <a:lstStyle/>
          <a:p>
            <a:pPr>
              <a:defRPr/>
            </a:pPr>
            <a:r>
              <a:rPr lang="en-US"/>
              <a:t>OR...Brace Yourselves, Assignment 3 is coming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88740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022346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1609777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16856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39996193" name="TextBox 4"/>
          <p:cNvSpPr txBox="1"/>
          <p:nvPr/>
        </p:nvSpPr>
        <p:spPr bwMode="auto">
          <a:xfrm>
            <a:off x="5012412" y="2812687"/>
            <a:ext cx="1943100" cy="1471669"/>
          </a:xfrm>
          <a:prstGeom prst="rect">
            <a:avLst/>
          </a:prstGeom>
          <a:solidFill>
            <a:schemeClr val="accent6">
              <a:lumMod val="20000"/>
              <a:lumOff val="80000"/>
            </a:schemeClr>
          </a:solidFill>
          <a:ln>
            <a:solidFill>
              <a:srgbClr val="0070C0"/>
            </a:solidFill>
          </a:ln>
        </p:spPr>
        <p:txBody>
          <a:bodyPr wrap="square" lIns="91440" tIns="0" rIns="0" bIns="0" rtlCol="1">
            <a:noAutofit/>
          </a:bodyPr>
          <a:lstStyle/>
          <a:p>
            <a:pPr>
              <a:defRPr/>
            </a:pPr>
            <a:r>
              <a:rPr lang="en-US" b="0">
                <a:latin typeface="JetBrains Mono"/>
              </a:rPr>
              <a:t>COMMAND</a:t>
            </a:r>
            <a:endParaRPr/>
          </a:p>
          <a:p>
            <a:pPr>
              <a:defRPr/>
            </a:pPr>
            <a:r>
              <a:rPr lang="en-US">
                <a:latin typeface="JetBrains Mono"/>
              </a:rPr>
              <a:t>header1:value1</a:t>
            </a:r>
            <a:endParaRPr/>
          </a:p>
          <a:p>
            <a:pPr>
              <a:defRPr/>
            </a:pPr>
            <a:r>
              <a:rPr lang="en-US" b="0">
                <a:latin typeface="JetBrains Mono"/>
              </a:rPr>
              <a:t>header2:value2</a:t>
            </a:r>
            <a:endParaRPr/>
          </a:p>
          <a:p>
            <a:pPr>
              <a:defRPr/>
            </a:pPr>
            <a:endParaRPr lang="en-US">
              <a:latin typeface="JetBrains Mono"/>
            </a:endParaRPr>
          </a:p>
          <a:p>
            <a:pPr>
              <a:defRPr/>
            </a:pPr>
            <a:r>
              <a:rPr lang="en-US" b="0">
                <a:latin typeface="JetBrains Mono"/>
              </a:rPr>
              <a:t>Body^@</a:t>
            </a:r>
            <a:endParaRPr/>
          </a:p>
          <a:p>
            <a:pPr>
              <a:defRPr/>
            </a:pPr>
            <a:endParaRPr lang="en-US" b="0">
              <a:latin typeface="JetBrains Mono"/>
            </a:endParaRPr>
          </a:p>
          <a:p>
            <a:pPr>
              <a:defRPr/>
            </a:pPr>
            <a:br>
              <a:rPr lang="en-US" b="0">
                <a:latin typeface="JetBrains Mono"/>
              </a:rPr>
            </a:br>
            <a:endParaRPr lang="en-US" b="0">
              <a:latin typeface="JetBrains Mono"/>
            </a:endParaRPr>
          </a:p>
        </p:txBody>
      </p:sp>
      <p:sp>
        <p:nvSpPr>
          <p:cNvPr id="292180138" name="מלבן 3"/>
          <p:cNvSpPr/>
          <p:nvPr/>
        </p:nvSpPr>
        <p:spPr bwMode="auto">
          <a:xfrm>
            <a:off x="3843047" y="106569"/>
            <a:ext cx="4505914" cy="923330"/>
          </a:xfrm>
          <a:prstGeom prst="rect">
            <a:avLst/>
          </a:prstGeom>
          <a:noFill/>
        </p:spPr>
        <p:txBody>
          <a:bodyPr wrap="none" lIns="91440" tIns="45720" rIns="91440" bIns="45720">
            <a:spAutoFit/>
          </a:bodyPr>
          <a:lstStyle/>
          <a:p>
            <a:pPr algn="ctr">
              <a:defRPr/>
            </a:pPr>
            <a:r>
              <a:rPr lang="en-US" sz="5400" b="1">
                <a:ln w="13462">
                  <a:solidFill>
                    <a:schemeClr val="bg1"/>
                  </a:solidFill>
                  <a:prstDash val="solid"/>
                </a:ln>
                <a:solidFill>
                  <a:schemeClr val="tx1">
                    <a:lumMod val="85000"/>
                    <a:lumOff val="15000"/>
                  </a:schemeClr>
                </a:solidFill>
              </a:rPr>
              <a:t>STOMP Frames</a:t>
            </a:r>
            <a:endParaRPr lang="he-IL" sz="5400" b="1" cap="none" spc="0">
              <a:ln w="13462">
                <a:solidFill>
                  <a:schemeClr val="bg1"/>
                </a:solidFill>
                <a:prstDash val="solid"/>
              </a:ln>
              <a:solidFill>
                <a:schemeClr val="tx1">
                  <a:lumMod val="85000"/>
                  <a:lumOff val="15000"/>
                </a:schemeClr>
              </a:solidFill>
            </a:endParaRPr>
          </a:p>
        </p:txBody>
      </p:sp>
      <p:sp>
        <p:nvSpPr>
          <p:cNvPr id="1236427888" name="תיבת טקסט 1"/>
          <p:cNvSpPr txBox="1"/>
          <p:nvPr/>
        </p:nvSpPr>
        <p:spPr bwMode="auto">
          <a:xfrm>
            <a:off x="1136468" y="1136468"/>
            <a:ext cx="10542084" cy="1189079"/>
          </a:xfrm>
          <a:prstGeom prst="rect">
            <a:avLst/>
          </a:prstGeom>
          <a:noFill/>
        </p:spPr>
        <p:txBody>
          <a:bodyPr wrap="square" rtlCol="1">
            <a:spAutoFit/>
          </a:bodyPr>
          <a:lstStyle/>
          <a:p>
            <a:pPr marL="457200" indent="-457200">
              <a:buFont typeface="Arial"/>
              <a:buChar char="•"/>
              <a:defRPr/>
            </a:pPr>
            <a:r>
              <a:rPr lang="en-US" sz="2400"/>
              <a:t>STOMP uses frames to structure messages sent between clients and servers over a reliable two-way streaming protocol (e.g., TCP)</a:t>
            </a:r>
            <a:endParaRPr/>
          </a:p>
          <a:p>
            <a:pPr marL="457200" indent="-457200">
              <a:buFont typeface="Arial"/>
              <a:buChar char="•"/>
              <a:defRPr/>
            </a:pPr>
            <a:r>
              <a:rPr lang="en-US" sz="2400"/>
              <a:t>The structure of a STOMP frame is as follows:</a:t>
            </a:r>
            <a:endParaRPr/>
          </a:p>
        </p:txBody>
      </p:sp>
      <p:cxnSp>
        <p:nvCxnSpPr>
          <p:cNvPr id="647988075" name="מחבר חץ ישר 10"/>
          <p:cNvCxnSpPr/>
          <p:nvPr/>
        </p:nvCxnSpPr>
        <p:spPr bwMode="auto">
          <a:xfrm flipH="1" flipV="1">
            <a:off x="5664373" y="4136612"/>
            <a:ext cx="473381" cy="9128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82035331" name="תיבת טקסט 15"/>
          <p:cNvSpPr txBox="1"/>
          <p:nvPr/>
        </p:nvSpPr>
        <p:spPr bwMode="auto">
          <a:xfrm>
            <a:off x="5045446" y="5040092"/>
            <a:ext cx="2325186" cy="646331"/>
          </a:xfrm>
          <a:prstGeom prst="rect">
            <a:avLst/>
          </a:prstGeom>
          <a:noFill/>
        </p:spPr>
        <p:txBody>
          <a:bodyPr wrap="square" rtlCol="1">
            <a:spAutoFit/>
          </a:bodyPr>
          <a:lstStyle/>
          <a:p>
            <a:pPr algn="ctr">
              <a:defRPr/>
            </a:pPr>
            <a:r>
              <a:rPr lang="en-US"/>
              <a:t>Null character</a:t>
            </a:r>
            <a:endParaRPr/>
          </a:p>
          <a:p>
            <a:pPr algn="ctr">
              <a:defRPr/>
            </a:pPr>
            <a:r>
              <a:rPr lang="en-US"/>
              <a:t> (</a:t>
            </a:r>
            <a:r>
              <a:rPr lang="en-US">
                <a:solidFill>
                  <a:srgbClr val="00B050"/>
                </a:solidFill>
              </a:rPr>
              <a:t>‘\0’</a:t>
            </a:r>
            <a:r>
              <a:rPr lang="en-US"/>
              <a:t>)</a:t>
            </a:r>
            <a:endParaRPr lang="he-IL"/>
          </a:p>
        </p:txBody>
      </p:sp>
      <p:cxnSp>
        <p:nvCxnSpPr>
          <p:cNvPr id="1228007252" name="מחבר חץ ישר 18"/>
          <p:cNvCxnSpPr/>
          <p:nvPr/>
        </p:nvCxnSpPr>
        <p:spPr bwMode="auto">
          <a:xfrm flipH="1">
            <a:off x="6577041" y="3313282"/>
            <a:ext cx="157624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70879396" name="תיבת טקסט 19"/>
          <p:cNvSpPr txBox="1"/>
          <p:nvPr/>
        </p:nvSpPr>
        <p:spPr bwMode="auto">
          <a:xfrm>
            <a:off x="7988334" y="3124113"/>
            <a:ext cx="2879963" cy="646331"/>
          </a:xfrm>
          <a:prstGeom prst="rect">
            <a:avLst/>
          </a:prstGeom>
          <a:noFill/>
        </p:spPr>
        <p:txBody>
          <a:bodyPr wrap="square" rtlCol="1">
            <a:spAutoFit/>
          </a:bodyPr>
          <a:lstStyle/>
          <a:p>
            <a:pPr algn="ctr">
              <a:defRPr/>
            </a:pPr>
            <a:r>
              <a:rPr lang="en-US"/>
              <a:t>Zero or more headers in &lt;key&gt;: &lt;value&gt; format</a:t>
            </a:r>
            <a:endParaRPr/>
          </a:p>
        </p:txBody>
      </p:sp>
      <p:cxnSp>
        <p:nvCxnSpPr>
          <p:cNvPr id="153503810" name="מחבר חץ ישר 25"/>
          <p:cNvCxnSpPr/>
          <p:nvPr/>
        </p:nvCxnSpPr>
        <p:spPr bwMode="auto">
          <a:xfrm flipH="1">
            <a:off x="6253009" y="2963963"/>
            <a:ext cx="191526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05174937" name="תיבת טקסט 26"/>
          <p:cNvSpPr txBox="1"/>
          <p:nvPr/>
        </p:nvSpPr>
        <p:spPr bwMode="auto">
          <a:xfrm>
            <a:off x="7988334" y="2812687"/>
            <a:ext cx="2102264" cy="369332"/>
          </a:xfrm>
          <a:prstGeom prst="rect">
            <a:avLst/>
          </a:prstGeom>
          <a:noFill/>
        </p:spPr>
        <p:txBody>
          <a:bodyPr wrap="square" rtlCol="1">
            <a:spAutoFit/>
          </a:bodyPr>
          <a:lstStyle/>
          <a:p>
            <a:pPr algn="ctr">
              <a:defRPr/>
            </a:pPr>
            <a:r>
              <a:rPr lang="en-US"/>
              <a:t>Command type</a:t>
            </a:r>
            <a:endParaRPr/>
          </a:p>
        </p:txBody>
      </p:sp>
      <p:cxnSp>
        <p:nvCxnSpPr>
          <p:cNvPr id="1047160281" name="מחבר חץ ישר 28"/>
          <p:cNvCxnSpPr/>
          <p:nvPr/>
        </p:nvCxnSpPr>
        <p:spPr bwMode="auto">
          <a:xfrm flipV="1">
            <a:off x="4828351" y="4136612"/>
            <a:ext cx="434191" cy="9128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10121683" name="תיבת טקסט 29"/>
          <p:cNvSpPr txBox="1"/>
          <p:nvPr/>
        </p:nvSpPr>
        <p:spPr bwMode="auto">
          <a:xfrm>
            <a:off x="3339187" y="5079893"/>
            <a:ext cx="2325186" cy="1200329"/>
          </a:xfrm>
          <a:prstGeom prst="rect">
            <a:avLst/>
          </a:prstGeom>
          <a:noFill/>
        </p:spPr>
        <p:txBody>
          <a:bodyPr wrap="square" rtlCol="1">
            <a:spAutoFit/>
          </a:bodyPr>
          <a:lstStyle/>
          <a:p>
            <a:pPr algn="ctr">
              <a:defRPr/>
            </a:pPr>
            <a:r>
              <a:rPr lang="en-US"/>
              <a:t>Frame body</a:t>
            </a:r>
            <a:endParaRPr/>
          </a:p>
          <a:p>
            <a:pPr algn="ctr">
              <a:defRPr/>
            </a:pPr>
            <a:r>
              <a:rPr lang="en-US"/>
              <a:t>(can only be included in SEND, MESSAGE and ERROR commands)</a:t>
            </a:r>
            <a:endParaRPr lang="he-IL"/>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39996193">
                                            <p:txEl>
                                              <p:pRg st="0" end="0"/>
                                            </p:txEl>
                                          </p:spTgt>
                                        </p:tgtEl>
                                        <p:attrNameLst>
                                          <p:attrName>style.visibility</p:attrName>
                                        </p:attrNameLst>
                                      </p:cBhvr>
                                      <p:to>
                                        <p:strVal val="visible"/>
                                      </p:to>
                                    </p:set>
                                    <p:animEffect transition="in" filter="fade">
                                      <p:cBhvr>
                                        <p:cTn id="7" dur="500"/>
                                        <p:tgtEl>
                                          <p:spTgt spid="193999619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939996193">
                                            <p:txEl>
                                              <p:pRg st="1" end="1"/>
                                            </p:txEl>
                                          </p:spTgt>
                                        </p:tgtEl>
                                        <p:attrNameLst>
                                          <p:attrName>style.visibility</p:attrName>
                                        </p:attrNameLst>
                                      </p:cBhvr>
                                      <p:to>
                                        <p:strVal val="visible"/>
                                      </p:to>
                                    </p:set>
                                    <p:animEffect transition="in" filter="fade">
                                      <p:cBhvr>
                                        <p:cTn id="10" dur="500"/>
                                        <p:tgtEl>
                                          <p:spTgt spid="193999619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939996193">
                                            <p:txEl>
                                              <p:pRg st="2" end="2"/>
                                            </p:txEl>
                                          </p:spTgt>
                                        </p:tgtEl>
                                        <p:attrNameLst>
                                          <p:attrName>style.visibility</p:attrName>
                                        </p:attrNameLst>
                                      </p:cBhvr>
                                      <p:to>
                                        <p:strVal val="visible"/>
                                      </p:to>
                                    </p:set>
                                    <p:animEffect transition="in" filter="fade">
                                      <p:cBhvr>
                                        <p:cTn id="13" dur="500"/>
                                        <p:tgtEl>
                                          <p:spTgt spid="193999619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939996193">
                                            <p:txEl>
                                              <p:pRg st="4" end="4"/>
                                            </p:txEl>
                                          </p:spTgt>
                                        </p:tgtEl>
                                        <p:attrNameLst>
                                          <p:attrName>style.visibility</p:attrName>
                                        </p:attrNameLst>
                                      </p:cBhvr>
                                      <p:to>
                                        <p:strVal val="visible"/>
                                      </p:to>
                                    </p:set>
                                    <p:animEffect transition="in" filter="fade">
                                      <p:cBhvr>
                                        <p:cTn id="16" dur="500"/>
                                        <p:tgtEl>
                                          <p:spTgt spid="193999619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96334697" name="מלבן 3"/>
          <p:cNvSpPr/>
          <p:nvPr/>
        </p:nvSpPr>
        <p:spPr bwMode="auto">
          <a:xfrm>
            <a:off x="4387848" y="106569"/>
            <a:ext cx="3416321" cy="923330"/>
          </a:xfrm>
          <a:prstGeom prst="rect">
            <a:avLst/>
          </a:prstGeom>
          <a:noFill/>
        </p:spPr>
        <p:txBody>
          <a:bodyPr wrap="none" lIns="91440" tIns="45720" rIns="91440" bIns="45720">
            <a:spAutoFit/>
          </a:bodyPr>
          <a:lstStyle/>
          <a:p>
            <a:pPr algn="ctr">
              <a:defRPr/>
            </a:pPr>
            <a:r>
              <a:rPr lang="en-US" sz="5400" b="1">
                <a:ln w="13462">
                  <a:solidFill>
                    <a:schemeClr val="bg1"/>
                  </a:solidFill>
                  <a:prstDash val="solid"/>
                </a:ln>
                <a:solidFill>
                  <a:schemeClr val="tx1">
                    <a:lumMod val="85000"/>
                    <a:lumOff val="15000"/>
                  </a:schemeClr>
                </a:solidFill>
              </a:rPr>
              <a:t>Connecting</a:t>
            </a:r>
            <a:endParaRPr lang="he-IL" sz="5400" b="1" cap="none" spc="0">
              <a:ln w="13462">
                <a:solidFill>
                  <a:schemeClr val="bg1"/>
                </a:solidFill>
                <a:prstDash val="solid"/>
              </a:ln>
              <a:solidFill>
                <a:schemeClr val="tx1">
                  <a:lumMod val="85000"/>
                  <a:lumOff val="15000"/>
                </a:schemeClr>
              </a:solidFill>
            </a:endParaRPr>
          </a:p>
        </p:txBody>
      </p:sp>
      <p:sp>
        <p:nvSpPr>
          <p:cNvPr id="1138569893" name="תיבת טקסט 1"/>
          <p:cNvSpPr txBox="1"/>
          <p:nvPr/>
        </p:nvSpPr>
        <p:spPr bwMode="auto">
          <a:xfrm>
            <a:off x="1136468" y="1136468"/>
            <a:ext cx="5490493" cy="823319"/>
          </a:xfrm>
          <a:prstGeom prst="rect">
            <a:avLst/>
          </a:prstGeom>
          <a:noFill/>
        </p:spPr>
        <p:txBody>
          <a:bodyPr wrap="square" rtlCol="1">
            <a:spAutoFit/>
          </a:bodyPr>
          <a:lstStyle/>
          <a:p>
            <a:pPr marL="457200" indent="-457200">
              <a:buFont typeface="Arial"/>
              <a:buChar char="•"/>
              <a:defRPr/>
            </a:pPr>
            <a:r>
              <a:rPr lang="en-US" sz="2400"/>
              <a:t>Client initiates a connection by sending a CONNECT/STOMP frame.</a:t>
            </a:r>
            <a:endParaRPr/>
          </a:p>
        </p:txBody>
      </p:sp>
      <p:sp>
        <p:nvSpPr>
          <p:cNvPr id="1232567472" name="תיבת טקסט 5"/>
          <p:cNvSpPr txBox="1"/>
          <p:nvPr/>
        </p:nvSpPr>
        <p:spPr bwMode="auto">
          <a:xfrm>
            <a:off x="1136470" y="2028352"/>
            <a:ext cx="8381604" cy="830997"/>
          </a:xfrm>
          <a:prstGeom prst="rect">
            <a:avLst/>
          </a:prstGeom>
          <a:noFill/>
        </p:spPr>
        <p:txBody>
          <a:bodyPr wrap="square" rtlCol="1">
            <a:spAutoFit/>
          </a:bodyPr>
          <a:lstStyle/>
          <a:p>
            <a:pPr marL="457200" indent="-457200">
              <a:buFont typeface="Arial"/>
              <a:buChar char="•"/>
              <a:defRPr/>
            </a:pPr>
            <a:r>
              <a:rPr lang="en-US" sz="2400"/>
              <a:t>accept-version – the version of STOMP the client supports</a:t>
            </a:r>
            <a:endParaRPr/>
          </a:p>
          <a:p>
            <a:pPr marL="457200" indent="-457200">
              <a:buFont typeface="Arial"/>
              <a:buChar char="•"/>
              <a:defRPr/>
            </a:pPr>
            <a:r>
              <a:rPr lang="en-US" sz="2400"/>
              <a:t>host – virtual host the client requests to connect to</a:t>
            </a:r>
            <a:endParaRPr/>
          </a:p>
        </p:txBody>
      </p:sp>
      <p:sp>
        <p:nvSpPr>
          <p:cNvPr id="93242557" name="תיבת טקסט 7"/>
          <p:cNvSpPr txBox="1"/>
          <p:nvPr/>
        </p:nvSpPr>
        <p:spPr bwMode="auto">
          <a:xfrm>
            <a:off x="1136468" y="3336638"/>
            <a:ext cx="9569404" cy="823319"/>
          </a:xfrm>
          <a:prstGeom prst="rect">
            <a:avLst/>
          </a:prstGeom>
          <a:noFill/>
        </p:spPr>
        <p:txBody>
          <a:bodyPr wrap="square">
            <a:spAutoFit/>
          </a:bodyPr>
          <a:lstStyle/>
          <a:p>
            <a:pPr marL="457200" indent="-457200">
              <a:buFont typeface="Arial"/>
              <a:buChar char="•"/>
              <a:defRPr/>
            </a:pPr>
            <a:r>
              <a:rPr lang="en-US" sz="2400"/>
              <a:t>Also includes login (username) and passcode (password) for authentication purposes</a:t>
            </a:r>
            <a:r>
              <a:rPr lang="en-US"/>
              <a:t>.</a:t>
            </a:r>
            <a:endParaRPr/>
          </a:p>
        </p:txBody>
      </p:sp>
      <p:sp>
        <p:nvSpPr>
          <p:cNvPr id="986369580" name="תיבת טקסט 8"/>
          <p:cNvSpPr txBox="1"/>
          <p:nvPr/>
        </p:nvSpPr>
        <p:spPr bwMode="auto">
          <a:xfrm>
            <a:off x="1136468" y="4596700"/>
            <a:ext cx="9569404" cy="1189079"/>
          </a:xfrm>
          <a:prstGeom prst="rect">
            <a:avLst/>
          </a:prstGeom>
          <a:noFill/>
        </p:spPr>
        <p:txBody>
          <a:bodyPr wrap="square">
            <a:spAutoFit/>
          </a:bodyPr>
          <a:lstStyle/>
          <a:p>
            <a:pPr marL="457200" indent="-457200">
              <a:buFont typeface="Arial"/>
              <a:buChar char="•"/>
              <a:defRPr/>
            </a:pPr>
            <a:r>
              <a:rPr lang="en-US" sz="2400"/>
              <a:t>If the server accepts the connection,</a:t>
            </a:r>
            <a:endParaRPr/>
          </a:p>
          <a:p>
            <a:pPr>
              <a:defRPr/>
            </a:pPr>
            <a:r>
              <a:rPr lang="en-US" sz="2400"/>
              <a:t>	it will respond with a CONNECTED frame</a:t>
            </a:r>
            <a:endParaRPr/>
          </a:p>
          <a:p>
            <a:pPr marL="457200" indent="-457200">
              <a:buFont typeface="Arial"/>
              <a:buChar char="•"/>
              <a:defRPr/>
            </a:pPr>
            <a:r>
              <a:rPr lang="en-US" sz="2400"/>
              <a:t>Otherwise, it should send an ERROR frame.</a:t>
            </a:r>
            <a:endParaRPr/>
          </a:p>
        </p:txBody>
      </p:sp>
      <p:sp>
        <p:nvSpPr>
          <p:cNvPr id="1144527145" name="TextBox 4"/>
          <p:cNvSpPr txBox="1"/>
          <p:nvPr/>
        </p:nvSpPr>
        <p:spPr bwMode="auto">
          <a:xfrm>
            <a:off x="9518073" y="934404"/>
            <a:ext cx="2380993" cy="2091766"/>
          </a:xfrm>
          <a:prstGeom prst="rect">
            <a:avLst/>
          </a:prstGeom>
          <a:solidFill>
            <a:schemeClr val="accent6">
              <a:lumMod val="20000"/>
              <a:lumOff val="80000"/>
            </a:schemeClr>
          </a:solidFill>
          <a:ln>
            <a:solidFill>
              <a:srgbClr val="0070C0"/>
            </a:solidFill>
          </a:ln>
        </p:spPr>
        <p:txBody>
          <a:bodyPr wrap="square" lIns="91440" tIns="0" rIns="0" bIns="0" rtlCol="1">
            <a:noAutofit/>
          </a:bodyPr>
          <a:lstStyle/>
          <a:p>
            <a:pPr>
              <a:defRPr/>
            </a:pPr>
            <a:r>
              <a:rPr lang="en-US" b="0">
                <a:latin typeface="JetBrains Mono"/>
              </a:rPr>
              <a:t>CONNECT</a:t>
            </a:r>
            <a:endParaRPr/>
          </a:p>
          <a:p>
            <a:pPr>
              <a:defRPr/>
            </a:pPr>
            <a:r>
              <a:rPr lang="en-US">
                <a:latin typeface="JetBrains Mono"/>
              </a:rPr>
              <a:t>accept-version:1.2</a:t>
            </a:r>
            <a:endParaRPr/>
          </a:p>
          <a:p>
            <a:pPr>
              <a:defRPr/>
            </a:pPr>
            <a:r>
              <a:rPr lang="en-US" b="0">
                <a:latin typeface="JetBrains Mono"/>
              </a:rPr>
              <a:t>host:stomp.github.org</a:t>
            </a:r>
          </a:p>
          <a:p>
            <a:pPr>
              <a:defRPr/>
            </a:pPr>
            <a:r>
              <a:rPr lang="en-US">
                <a:latin typeface="JetBrains Mono"/>
              </a:rPr>
              <a:t>login:user1</a:t>
            </a:r>
            <a:endParaRPr/>
          </a:p>
          <a:p>
            <a:pPr>
              <a:defRPr/>
            </a:pPr>
            <a:r>
              <a:rPr lang="en-US" b="0">
                <a:latin typeface="JetBrains Mono"/>
              </a:rPr>
              <a:t>passcode:pass1</a:t>
            </a:r>
            <a:endParaRPr/>
          </a:p>
          <a:p>
            <a:pPr>
              <a:defRPr/>
            </a:pPr>
            <a:endParaRPr lang="en-US">
              <a:latin typeface="JetBrains Mono"/>
            </a:endParaRPr>
          </a:p>
          <a:p>
            <a:pPr>
              <a:defRPr/>
            </a:pPr>
            <a:r>
              <a:rPr lang="en-US" b="0">
                <a:latin typeface="JetBrains Mono"/>
              </a:rPr>
              <a:t>^@</a:t>
            </a:r>
            <a:br>
              <a:rPr lang="en-US" b="0">
                <a:latin typeface="JetBrains Mono"/>
              </a:rPr>
            </a:br>
            <a:endParaRPr lang="en-US" b="0">
              <a:latin typeface="JetBrains Mono"/>
            </a:endParaRPr>
          </a:p>
        </p:txBody>
      </p:sp>
      <p:sp>
        <p:nvSpPr>
          <p:cNvPr id="1840411591" name="TextBox 4"/>
          <p:cNvSpPr txBox="1"/>
          <p:nvPr/>
        </p:nvSpPr>
        <p:spPr bwMode="auto">
          <a:xfrm>
            <a:off x="9659294" y="4603013"/>
            <a:ext cx="2239774" cy="1194016"/>
          </a:xfrm>
          <a:prstGeom prst="rect">
            <a:avLst/>
          </a:prstGeom>
          <a:solidFill>
            <a:schemeClr val="accent6">
              <a:lumMod val="20000"/>
              <a:lumOff val="80000"/>
            </a:schemeClr>
          </a:solidFill>
          <a:ln>
            <a:solidFill>
              <a:srgbClr val="0070C0"/>
            </a:solidFill>
          </a:ln>
        </p:spPr>
        <p:txBody>
          <a:bodyPr wrap="square" lIns="91440" tIns="0" rIns="0" bIns="0" rtlCol="1">
            <a:noAutofit/>
          </a:bodyPr>
          <a:lstStyle/>
          <a:p>
            <a:pPr>
              <a:defRPr/>
            </a:pPr>
            <a:r>
              <a:rPr lang="en-US" b="0">
                <a:latin typeface="JetBrains Mono"/>
              </a:rPr>
              <a:t>CONNECTED</a:t>
            </a:r>
            <a:endParaRPr/>
          </a:p>
          <a:p>
            <a:pPr>
              <a:defRPr/>
            </a:pPr>
            <a:r>
              <a:rPr lang="en-US">
                <a:latin typeface="JetBrains Mono"/>
              </a:rPr>
              <a:t>version:1.2</a:t>
            </a:r>
            <a:endParaRPr/>
          </a:p>
          <a:p>
            <a:pPr>
              <a:defRPr/>
            </a:pPr>
            <a:endParaRPr lang="en-US">
              <a:latin typeface="JetBrains Mono"/>
            </a:endParaRPr>
          </a:p>
          <a:p>
            <a:pPr>
              <a:defRPr/>
            </a:pPr>
            <a:r>
              <a:rPr lang="en-US" b="0">
                <a:latin typeface="JetBrains Mono"/>
              </a:rPr>
              <a:t>^@</a:t>
            </a:r>
            <a:endParaRPr/>
          </a:p>
          <a:p>
            <a:pPr>
              <a:defRPr/>
            </a:pPr>
            <a:endParaRPr lang="en-US" b="0">
              <a:latin typeface="JetBrains Mono"/>
            </a:endParaRPr>
          </a:p>
          <a:p>
            <a:pPr>
              <a:defRPr/>
            </a:pPr>
            <a:br>
              <a:rPr lang="en-US" b="0">
                <a:latin typeface="JetBrains Mono"/>
              </a:rPr>
            </a:br>
            <a:endParaRPr lang="en-US" b="0">
              <a:latin typeface="JetBrains Mon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44527145">
                                            <p:txEl>
                                              <p:pRg st="0" end="0"/>
                                            </p:txEl>
                                          </p:spTgt>
                                        </p:tgtEl>
                                        <p:attrNameLst>
                                          <p:attrName>style.visibility</p:attrName>
                                        </p:attrNameLst>
                                      </p:cBhvr>
                                      <p:to>
                                        <p:strVal val="visible"/>
                                      </p:to>
                                    </p:set>
                                    <p:animEffect transition="in" filter="fade">
                                      <p:cBhvr>
                                        <p:cTn id="7" dur="500"/>
                                        <p:tgtEl>
                                          <p:spTgt spid="114452714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144527145">
                                            <p:txEl>
                                              <p:pRg st="1" end="1"/>
                                            </p:txEl>
                                          </p:spTgt>
                                        </p:tgtEl>
                                        <p:attrNameLst>
                                          <p:attrName>style.visibility</p:attrName>
                                        </p:attrNameLst>
                                      </p:cBhvr>
                                      <p:to>
                                        <p:strVal val="visible"/>
                                      </p:to>
                                    </p:set>
                                    <p:animEffect transition="in" filter="fade">
                                      <p:cBhvr>
                                        <p:cTn id="10" dur="500"/>
                                        <p:tgtEl>
                                          <p:spTgt spid="1144527145">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144527145">
                                            <p:txEl>
                                              <p:pRg st="2" end="2"/>
                                            </p:txEl>
                                          </p:spTgt>
                                        </p:tgtEl>
                                        <p:attrNameLst>
                                          <p:attrName>style.visibility</p:attrName>
                                        </p:attrNameLst>
                                      </p:cBhvr>
                                      <p:to>
                                        <p:strVal val="visible"/>
                                      </p:to>
                                    </p:set>
                                    <p:animEffect transition="in" filter="fade">
                                      <p:cBhvr>
                                        <p:cTn id="13" dur="500"/>
                                        <p:tgtEl>
                                          <p:spTgt spid="1144527145">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144527145">
                                            <p:txEl>
                                              <p:pRg st="3" end="3"/>
                                            </p:txEl>
                                          </p:spTgt>
                                        </p:tgtEl>
                                        <p:attrNameLst>
                                          <p:attrName>style.visibility</p:attrName>
                                        </p:attrNameLst>
                                      </p:cBhvr>
                                      <p:to>
                                        <p:strVal val="visible"/>
                                      </p:to>
                                    </p:set>
                                    <p:animEffect transition="in" filter="fade">
                                      <p:cBhvr>
                                        <p:cTn id="16" dur="500"/>
                                        <p:tgtEl>
                                          <p:spTgt spid="1144527145">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144527145">
                                            <p:txEl>
                                              <p:pRg st="4" end="4"/>
                                            </p:txEl>
                                          </p:spTgt>
                                        </p:tgtEl>
                                        <p:attrNameLst>
                                          <p:attrName>style.visibility</p:attrName>
                                        </p:attrNameLst>
                                      </p:cBhvr>
                                      <p:to>
                                        <p:strVal val="visible"/>
                                      </p:to>
                                    </p:set>
                                    <p:animEffect transition="in" filter="fade">
                                      <p:cBhvr>
                                        <p:cTn id="19" dur="500"/>
                                        <p:tgtEl>
                                          <p:spTgt spid="1144527145">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144527145">
                                            <p:txEl>
                                              <p:pRg st="6" end="6"/>
                                            </p:txEl>
                                          </p:spTgt>
                                        </p:tgtEl>
                                        <p:attrNameLst>
                                          <p:attrName>style.visibility</p:attrName>
                                        </p:attrNameLst>
                                      </p:cBhvr>
                                      <p:to>
                                        <p:strVal val="visible"/>
                                      </p:to>
                                    </p:set>
                                    <p:animEffect transition="in" filter="fade">
                                      <p:cBhvr>
                                        <p:cTn id="22" dur="500"/>
                                        <p:tgtEl>
                                          <p:spTgt spid="1144527145">
                                            <p:txEl>
                                              <p:pRg st="6" end="6"/>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840411591">
                                            <p:txEl>
                                              <p:pRg st="0" end="0"/>
                                            </p:txEl>
                                          </p:spTgt>
                                        </p:tgtEl>
                                        <p:attrNameLst>
                                          <p:attrName>style.visibility</p:attrName>
                                        </p:attrNameLst>
                                      </p:cBhvr>
                                      <p:to>
                                        <p:strVal val="visible"/>
                                      </p:to>
                                    </p:set>
                                    <p:animEffect transition="in" filter="fade">
                                      <p:cBhvr>
                                        <p:cTn id="25" dur="500"/>
                                        <p:tgtEl>
                                          <p:spTgt spid="1840411591">
                                            <p:txEl>
                                              <p:pRg st="0" end="0"/>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840411591">
                                            <p:txEl>
                                              <p:pRg st="1" end="1"/>
                                            </p:txEl>
                                          </p:spTgt>
                                        </p:tgtEl>
                                        <p:attrNameLst>
                                          <p:attrName>style.visibility</p:attrName>
                                        </p:attrNameLst>
                                      </p:cBhvr>
                                      <p:to>
                                        <p:strVal val="visible"/>
                                      </p:to>
                                    </p:set>
                                    <p:animEffect transition="in" filter="fade">
                                      <p:cBhvr>
                                        <p:cTn id="28" dur="500"/>
                                        <p:tgtEl>
                                          <p:spTgt spid="1840411591">
                                            <p:txEl>
                                              <p:pRg st="1" end="1"/>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840411591">
                                            <p:txEl>
                                              <p:pRg st="3" end="3"/>
                                            </p:txEl>
                                          </p:spTgt>
                                        </p:tgtEl>
                                        <p:attrNameLst>
                                          <p:attrName>style.visibility</p:attrName>
                                        </p:attrNameLst>
                                      </p:cBhvr>
                                      <p:to>
                                        <p:strVal val="visible"/>
                                      </p:to>
                                    </p:set>
                                    <p:animEffect transition="in" filter="fade">
                                      <p:cBhvr>
                                        <p:cTn id="31" dur="500"/>
                                        <p:tgtEl>
                                          <p:spTgt spid="184041159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50653953" name="מלבן 3"/>
          <p:cNvSpPr/>
          <p:nvPr/>
        </p:nvSpPr>
        <p:spPr bwMode="auto">
          <a:xfrm>
            <a:off x="4357489" y="106569"/>
            <a:ext cx="3477042" cy="923330"/>
          </a:xfrm>
          <a:prstGeom prst="rect">
            <a:avLst/>
          </a:prstGeom>
          <a:noFill/>
        </p:spPr>
        <p:txBody>
          <a:bodyPr wrap="none" lIns="91440" tIns="45720" rIns="91440" bIns="45720">
            <a:spAutoFit/>
          </a:bodyPr>
          <a:lstStyle/>
          <a:p>
            <a:pPr algn="ctr">
              <a:defRPr/>
            </a:pPr>
            <a:r>
              <a:rPr lang="en-US" sz="5400" b="1">
                <a:ln w="13462">
                  <a:solidFill>
                    <a:schemeClr val="bg1"/>
                  </a:solidFill>
                  <a:prstDash val="solid"/>
                </a:ln>
                <a:solidFill>
                  <a:schemeClr val="tx1">
                    <a:lumMod val="85000"/>
                    <a:lumOff val="15000"/>
                  </a:schemeClr>
                </a:solidFill>
              </a:rPr>
              <a:t>Subscribing</a:t>
            </a:r>
            <a:endParaRPr lang="he-IL" sz="5400" b="1" cap="none" spc="0">
              <a:ln w="13462">
                <a:solidFill>
                  <a:schemeClr val="bg1"/>
                </a:solidFill>
                <a:prstDash val="solid"/>
              </a:ln>
              <a:solidFill>
                <a:schemeClr val="tx1">
                  <a:lumMod val="85000"/>
                  <a:lumOff val="15000"/>
                </a:schemeClr>
              </a:solidFill>
            </a:endParaRPr>
          </a:p>
        </p:txBody>
      </p:sp>
      <p:sp>
        <p:nvSpPr>
          <p:cNvPr id="912795509" name="תיבת טקסט 1"/>
          <p:cNvSpPr txBox="1"/>
          <p:nvPr/>
        </p:nvSpPr>
        <p:spPr bwMode="auto">
          <a:xfrm>
            <a:off x="1136467" y="1136468"/>
            <a:ext cx="6698422" cy="823319"/>
          </a:xfrm>
          <a:prstGeom prst="rect">
            <a:avLst/>
          </a:prstGeom>
          <a:noFill/>
        </p:spPr>
        <p:txBody>
          <a:bodyPr wrap="square" rtlCol="1">
            <a:spAutoFit/>
          </a:bodyPr>
          <a:lstStyle/>
          <a:p>
            <a:pPr marL="457200" indent="-457200">
              <a:buFont typeface="Arial"/>
              <a:buChar char="•"/>
              <a:defRPr/>
            </a:pPr>
            <a:r>
              <a:rPr lang="en-US" sz="2400"/>
              <a:t>Client subscribes to a specific destination (topic) by sending a SUBSCRIBE frame to the server</a:t>
            </a:r>
            <a:r>
              <a:rPr lang="en-US"/>
              <a:t>.</a:t>
            </a:r>
            <a:endParaRPr/>
          </a:p>
        </p:txBody>
      </p:sp>
      <p:sp>
        <p:nvSpPr>
          <p:cNvPr id="47197321" name="תיבת טקסט 5"/>
          <p:cNvSpPr txBox="1"/>
          <p:nvPr/>
        </p:nvSpPr>
        <p:spPr bwMode="auto">
          <a:xfrm>
            <a:off x="1136468" y="2138183"/>
            <a:ext cx="10823165" cy="1200329"/>
          </a:xfrm>
          <a:prstGeom prst="rect">
            <a:avLst/>
          </a:prstGeom>
          <a:noFill/>
        </p:spPr>
        <p:txBody>
          <a:bodyPr wrap="square" rtlCol="1">
            <a:spAutoFit/>
          </a:bodyPr>
          <a:lstStyle/>
          <a:p>
            <a:pPr marL="457200" indent="-457200">
              <a:buFont typeface="Arial"/>
              <a:buChar char="•"/>
              <a:defRPr/>
            </a:pPr>
            <a:r>
              <a:rPr lang="en-US" sz="2400"/>
              <a:t>Mandatory headers:</a:t>
            </a:r>
            <a:endParaRPr/>
          </a:p>
          <a:p>
            <a:pPr marL="914400" lvl="1" indent="-457200">
              <a:buFont typeface="Arial"/>
              <a:buChar char="•"/>
              <a:defRPr/>
            </a:pPr>
            <a:r>
              <a:rPr lang="en-US" sz="2400"/>
              <a:t>id –  subscription identifier</a:t>
            </a:r>
            <a:endParaRPr/>
          </a:p>
          <a:p>
            <a:pPr marL="914400" lvl="1" indent="-457200">
              <a:buFont typeface="Arial"/>
              <a:buChar char="•"/>
              <a:defRPr/>
            </a:pPr>
            <a:r>
              <a:rPr lang="en-US" sz="2400"/>
              <a:t>destination –  subscription destination</a:t>
            </a:r>
            <a:endParaRPr/>
          </a:p>
        </p:txBody>
      </p:sp>
      <p:sp>
        <p:nvSpPr>
          <p:cNvPr id="704238198" name="תיבת טקסט 8"/>
          <p:cNvSpPr txBox="1"/>
          <p:nvPr/>
        </p:nvSpPr>
        <p:spPr bwMode="auto">
          <a:xfrm>
            <a:off x="1136468" y="4040584"/>
            <a:ext cx="7617193" cy="823319"/>
          </a:xfrm>
          <a:prstGeom prst="rect">
            <a:avLst/>
          </a:prstGeom>
          <a:noFill/>
        </p:spPr>
        <p:txBody>
          <a:bodyPr wrap="square">
            <a:spAutoFit/>
          </a:bodyPr>
          <a:lstStyle/>
          <a:p>
            <a:pPr marL="457200" indent="-457200">
              <a:buFont typeface="Arial"/>
              <a:buChar char="•"/>
              <a:defRPr/>
            </a:pPr>
            <a:r>
              <a:rPr lang="en-US" sz="2400"/>
              <a:t>If the server can’t create the subscription, it must send the client an ERROR frame and close the connection.</a:t>
            </a:r>
            <a:endParaRPr/>
          </a:p>
        </p:txBody>
      </p:sp>
      <p:sp>
        <p:nvSpPr>
          <p:cNvPr id="1224867947" name="TextBox 4"/>
          <p:cNvSpPr txBox="1"/>
          <p:nvPr/>
        </p:nvSpPr>
        <p:spPr bwMode="auto">
          <a:xfrm>
            <a:off x="9278910" y="1436110"/>
            <a:ext cx="2239774" cy="1415156"/>
          </a:xfrm>
          <a:prstGeom prst="rect">
            <a:avLst/>
          </a:prstGeom>
          <a:solidFill>
            <a:schemeClr val="accent6">
              <a:lumMod val="20000"/>
              <a:lumOff val="80000"/>
            </a:schemeClr>
          </a:solidFill>
          <a:ln>
            <a:solidFill>
              <a:srgbClr val="0070C0"/>
            </a:solidFill>
          </a:ln>
        </p:spPr>
        <p:txBody>
          <a:bodyPr wrap="square" lIns="91440" tIns="0" rIns="0" bIns="0" rtlCol="1">
            <a:noAutofit/>
          </a:bodyPr>
          <a:lstStyle/>
          <a:p>
            <a:pPr>
              <a:defRPr/>
            </a:pPr>
            <a:r>
              <a:rPr lang="en-US" b="0">
                <a:latin typeface="JetBrains Mono"/>
              </a:rPr>
              <a:t>SUBSCRIBE</a:t>
            </a:r>
            <a:endParaRPr/>
          </a:p>
          <a:p>
            <a:pPr>
              <a:defRPr/>
            </a:pPr>
            <a:r>
              <a:rPr lang="en-US">
                <a:latin typeface="JetBrains Mono"/>
              </a:rPr>
              <a:t>id:0</a:t>
            </a:r>
            <a:endParaRPr/>
          </a:p>
          <a:p>
            <a:pPr>
              <a:defRPr/>
            </a:pPr>
            <a:r>
              <a:rPr lang="en-US" b="0">
                <a:latin typeface="JetBrains Mono"/>
              </a:rPr>
              <a:t>destination:/topic/a</a:t>
            </a:r>
            <a:endParaRPr/>
          </a:p>
          <a:p>
            <a:pPr>
              <a:defRPr/>
            </a:pPr>
            <a:endParaRPr lang="en-US">
              <a:latin typeface="JetBrains Mono"/>
            </a:endParaRPr>
          </a:p>
          <a:p>
            <a:pPr>
              <a:defRPr/>
            </a:pPr>
            <a:r>
              <a:rPr lang="en-US" b="0">
                <a:latin typeface="JetBrains Mono"/>
              </a:rPr>
              <a:t>^@</a:t>
            </a:r>
            <a:endParaRPr/>
          </a:p>
          <a:p>
            <a:pPr>
              <a:defRPr/>
            </a:pPr>
            <a:endParaRPr lang="en-US" b="0">
              <a:latin typeface="JetBrains Mono"/>
            </a:endParaRPr>
          </a:p>
          <a:p>
            <a:pPr>
              <a:defRPr/>
            </a:pPr>
            <a:br>
              <a:rPr lang="en-US" b="0">
                <a:latin typeface="JetBrains Mono"/>
              </a:rPr>
            </a:br>
            <a:endParaRPr lang="en-US" b="0">
              <a:latin typeface="JetBrains Mono"/>
            </a:endParaRPr>
          </a:p>
        </p:txBody>
      </p:sp>
      <p:sp>
        <p:nvSpPr>
          <p:cNvPr id="2052118939" name="תיבת טקסט 24"/>
          <p:cNvSpPr txBox="1"/>
          <p:nvPr/>
        </p:nvSpPr>
        <p:spPr bwMode="auto">
          <a:xfrm>
            <a:off x="1136466" y="4886327"/>
            <a:ext cx="8144242" cy="823319"/>
          </a:xfrm>
          <a:prstGeom prst="rect">
            <a:avLst/>
          </a:prstGeom>
          <a:noFill/>
        </p:spPr>
        <p:txBody>
          <a:bodyPr wrap="square">
            <a:spAutoFit/>
          </a:bodyPr>
          <a:lstStyle/>
          <a:p>
            <a:pPr marL="457200" indent="-457200">
              <a:buFont typeface="Arial"/>
              <a:buChar char="•"/>
              <a:defRPr/>
            </a:pPr>
            <a:r>
              <a:rPr lang="en-US" sz="2400"/>
              <a:t>The client can cancel a certain subscription by sending the server an UNSUBSCRIBE frame with the subscription ID.</a:t>
            </a:r>
            <a:endParaRPr/>
          </a:p>
        </p:txBody>
      </p:sp>
      <p:sp>
        <p:nvSpPr>
          <p:cNvPr id="45156534" name="TextBox 4"/>
          <p:cNvSpPr txBox="1"/>
          <p:nvPr/>
        </p:nvSpPr>
        <p:spPr bwMode="auto">
          <a:xfrm>
            <a:off x="9278910" y="4302124"/>
            <a:ext cx="2239774" cy="1229597"/>
          </a:xfrm>
          <a:prstGeom prst="rect">
            <a:avLst/>
          </a:prstGeom>
          <a:solidFill>
            <a:schemeClr val="accent6">
              <a:lumMod val="20000"/>
              <a:lumOff val="80000"/>
            </a:schemeClr>
          </a:solidFill>
          <a:ln>
            <a:solidFill>
              <a:srgbClr val="0070C0"/>
            </a:solidFill>
          </a:ln>
        </p:spPr>
        <p:txBody>
          <a:bodyPr wrap="square" lIns="91440" tIns="0" rIns="0" bIns="0" rtlCol="1">
            <a:noAutofit/>
          </a:bodyPr>
          <a:lstStyle/>
          <a:p>
            <a:pPr>
              <a:defRPr/>
            </a:pPr>
            <a:r>
              <a:rPr lang="en-US" b="0">
                <a:latin typeface="JetBrains Mono"/>
              </a:rPr>
              <a:t>UNSUBSCRIBE</a:t>
            </a:r>
            <a:endParaRPr/>
          </a:p>
          <a:p>
            <a:pPr>
              <a:defRPr/>
            </a:pPr>
            <a:r>
              <a:rPr lang="en-US">
                <a:latin typeface="JetBrains Mono"/>
              </a:rPr>
              <a:t>id:0</a:t>
            </a:r>
            <a:endParaRPr/>
          </a:p>
          <a:p>
            <a:pPr>
              <a:defRPr/>
            </a:pPr>
            <a:endParaRPr lang="en-US">
              <a:latin typeface="JetBrains Mono"/>
            </a:endParaRPr>
          </a:p>
          <a:p>
            <a:pPr>
              <a:defRPr/>
            </a:pPr>
            <a:r>
              <a:rPr lang="en-US" b="0">
                <a:latin typeface="JetBrains Mono"/>
              </a:rPr>
              <a:t>^@</a:t>
            </a:r>
            <a:endParaRPr/>
          </a:p>
          <a:p>
            <a:pPr>
              <a:defRPr/>
            </a:pPr>
            <a:endParaRPr lang="en-US" b="0">
              <a:latin typeface="JetBrains Mono"/>
            </a:endParaRPr>
          </a:p>
          <a:p>
            <a:pPr>
              <a:defRPr/>
            </a:pPr>
            <a:br>
              <a:rPr lang="en-US" b="0">
                <a:latin typeface="JetBrains Mono"/>
              </a:rPr>
            </a:br>
            <a:endParaRPr lang="en-US" b="0">
              <a:latin typeface="JetBrains Mon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224867947">
                                            <p:txEl>
                                              <p:pRg st="0" end="0"/>
                                            </p:txEl>
                                          </p:spTgt>
                                        </p:tgtEl>
                                        <p:attrNameLst>
                                          <p:attrName>style.visibility</p:attrName>
                                        </p:attrNameLst>
                                      </p:cBhvr>
                                      <p:to>
                                        <p:strVal val="visible"/>
                                      </p:to>
                                    </p:set>
                                    <p:animEffect transition="in" filter="fade">
                                      <p:cBhvr>
                                        <p:cTn id="7" dur="500"/>
                                        <p:tgtEl>
                                          <p:spTgt spid="122486794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224867947">
                                            <p:txEl>
                                              <p:pRg st="1" end="1"/>
                                            </p:txEl>
                                          </p:spTgt>
                                        </p:tgtEl>
                                        <p:attrNameLst>
                                          <p:attrName>style.visibility</p:attrName>
                                        </p:attrNameLst>
                                      </p:cBhvr>
                                      <p:to>
                                        <p:strVal val="visible"/>
                                      </p:to>
                                    </p:set>
                                    <p:animEffect transition="in" filter="fade">
                                      <p:cBhvr>
                                        <p:cTn id="10" dur="500"/>
                                        <p:tgtEl>
                                          <p:spTgt spid="1224867947">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224867947">
                                            <p:txEl>
                                              <p:pRg st="2" end="2"/>
                                            </p:txEl>
                                          </p:spTgt>
                                        </p:tgtEl>
                                        <p:attrNameLst>
                                          <p:attrName>style.visibility</p:attrName>
                                        </p:attrNameLst>
                                      </p:cBhvr>
                                      <p:to>
                                        <p:strVal val="visible"/>
                                      </p:to>
                                    </p:set>
                                    <p:animEffect transition="in" filter="fade">
                                      <p:cBhvr>
                                        <p:cTn id="13" dur="500"/>
                                        <p:tgtEl>
                                          <p:spTgt spid="1224867947">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224867947">
                                            <p:txEl>
                                              <p:pRg st="4" end="4"/>
                                            </p:txEl>
                                          </p:spTgt>
                                        </p:tgtEl>
                                        <p:attrNameLst>
                                          <p:attrName>style.visibility</p:attrName>
                                        </p:attrNameLst>
                                      </p:cBhvr>
                                      <p:to>
                                        <p:strVal val="visible"/>
                                      </p:to>
                                    </p:set>
                                    <p:animEffect transition="in" filter="fade">
                                      <p:cBhvr>
                                        <p:cTn id="16" dur="500"/>
                                        <p:tgtEl>
                                          <p:spTgt spid="1224867947">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45156534">
                                            <p:txEl>
                                              <p:pRg st="0" end="0"/>
                                            </p:txEl>
                                          </p:spTgt>
                                        </p:tgtEl>
                                        <p:attrNameLst>
                                          <p:attrName>style.visibility</p:attrName>
                                        </p:attrNameLst>
                                      </p:cBhvr>
                                      <p:to>
                                        <p:strVal val="visible"/>
                                      </p:to>
                                    </p:set>
                                    <p:animEffect transition="in" filter="fade">
                                      <p:cBhvr>
                                        <p:cTn id="19" dur="500"/>
                                        <p:tgtEl>
                                          <p:spTgt spid="45156534">
                                            <p:txEl>
                                              <p:pRg st="0" end="0"/>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45156534">
                                            <p:txEl>
                                              <p:pRg st="1" end="1"/>
                                            </p:txEl>
                                          </p:spTgt>
                                        </p:tgtEl>
                                        <p:attrNameLst>
                                          <p:attrName>style.visibility</p:attrName>
                                        </p:attrNameLst>
                                      </p:cBhvr>
                                      <p:to>
                                        <p:strVal val="visible"/>
                                      </p:to>
                                    </p:set>
                                    <p:animEffect transition="in" filter="fade">
                                      <p:cBhvr>
                                        <p:cTn id="22" dur="500"/>
                                        <p:tgtEl>
                                          <p:spTgt spid="45156534">
                                            <p:txEl>
                                              <p:pRg st="1" end="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45156534">
                                            <p:txEl>
                                              <p:pRg st="3" end="3"/>
                                            </p:txEl>
                                          </p:spTgt>
                                        </p:tgtEl>
                                        <p:attrNameLst>
                                          <p:attrName>style.visibility</p:attrName>
                                        </p:attrNameLst>
                                      </p:cBhvr>
                                      <p:to>
                                        <p:strVal val="visible"/>
                                      </p:to>
                                    </p:set>
                                    <p:animEffect transition="in" filter="fade">
                                      <p:cBhvr>
                                        <p:cTn id="25" dur="500"/>
                                        <p:tgtEl>
                                          <p:spTgt spid="4515653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65000798" name="מלבן 3"/>
          <p:cNvSpPr/>
          <p:nvPr/>
        </p:nvSpPr>
        <p:spPr bwMode="auto">
          <a:xfrm>
            <a:off x="3384891" y="106569"/>
            <a:ext cx="5422255" cy="923330"/>
          </a:xfrm>
          <a:prstGeom prst="rect">
            <a:avLst/>
          </a:prstGeom>
          <a:noFill/>
        </p:spPr>
        <p:txBody>
          <a:bodyPr wrap="none" lIns="91440" tIns="45720" rIns="91440" bIns="45720">
            <a:spAutoFit/>
          </a:bodyPr>
          <a:lstStyle/>
          <a:p>
            <a:pPr algn="ctr">
              <a:defRPr/>
            </a:pPr>
            <a:r>
              <a:rPr lang="en-US" sz="5400" b="1">
                <a:ln w="13462">
                  <a:solidFill>
                    <a:schemeClr val="bg1"/>
                  </a:solidFill>
                  <a:prstDash val="solid"/>
                </a:ln>
                <a:solidFill>
                  <a:schemeClr val="tx1">
                    <a:lumMod val="85000"/>
                    <a:lumOff val="15000"/>
                  </a:schemeClr>
                </a:solidFill>
              </a:rPr>
              <a:t>Sending Messages</a:t>
            </a:r>
            <a:endParaRPr lang="he-IL" sz="5400" b="1" cap="none" spc="0">
              <a:ln w="13462">
                <a:solidFill>
                  <a:schemeClr val="bg1"/>
                </a:solidFill>
                <a:prstDash val="solid"/>
              </a:ln>
              <a:solidFill>
                <a:schemeClr val="tx1">
                  <a:lumMod val="85000"/>
                  <a:lumOff val="15000"/>
                </a:schemeClr>
              </a:solidFill>
            </a:endParaRPr>
          </a:p>
        </p:txBody>
      </p:sp>
      <p:sp>
        <p:nvSpPr>
          <p:cNvPr id="1748790935" name="תיבת טקסט 1"/>
          <p:cNvSpPr txBox="1"/>
          <p:nvPr/>
        </p:nvSpPr>
        <p:spPr bwMode="auto">
          <a:xfrm>
            <a:off x="1136467" y="1136468"/>
            <a:ext cx="6348982" cy="823319"/>
          </a:xfrm>
          <a:prstGeom prst="rect">
            <a:avLst/>
          </a:prstGeom>
          <a:noFill/>
        </p:spPr>
        <p:txBody>
          <a:bodyPr wrap="square" rtlCol="1">
            <a:spAutoFit/>
          </a:bodyPr>
          <a:lstStyle/>
          <a:p>
            <a:pPr marL="457200" indent="-457200">
              <a:buFont typeface="Arial"/>
              <a:buChar char="•"/>
              <a:defRPr/>
            </a:pPr>
            <a:r>
              <a:rPr lang="en-US" sz="2400" b="0" i="0" u="none" strike="noStrike" cap="none" spc="0">
                <a:solidFill>
                  <a:schemeClr val="tx1"/>
                </a:solidFill>
                <a:latin typeface="Calibri"/>
                <a:ea typeface="Calibri"/>
                <a:cs typeface="Calibri"/>
              </a:rPr>
              <a:t>The client can send a message to a specific destination using the SEND frame.</a:t>
            </a:r>
            <a:endParaRPr/>
          </a:p>
        </p:txBody>
      </p:sp>
      <p:sp>
        <p:nvSpPr>
          <p:cNvPr id="1860628736" name="תיבת טקסט 5"/>
          <p:cNvSpPr txBox="1"/>
          <p:nvPr/>
        </p:nvSpPr>
        <p:spPr bwMode="auto">
          <a:xfrm>
            <a:off x="1136468" y="2138183"/>
            <a:ext cx="10823165" cy="830997"/>
          </a:xfrm>
          <a:prstGeom prst="rect">
            <a:avLst/>
          </a:prstGeom>
          <a:noFill/>
        </p:spPr>
        <p:txBody>
          <a:bodyPr wrap="square" rtlCol="1">
            <a:spAutoFit/>
          </a:bodyPr>
          <a:lstStyle/>
          <a:p>
            <a:pPr marL="457200" indent="-457200">
              <a:buFont typeface="Arial"/>
              <a:buChar char="•"/>
              <a:defRPr/>
            </a:pPr>
            <a:r>
              <a:rPr lang="en-US" sz="2400"/>
              <a:t>Mandatory headers:</a:t>
            </a:r>
            <a:endParaRPr/>
          </a:p>
          <a:p>
            <a:pPr marL="914400" lvl="1" indent="-457200">
              <a:buFont typeface="Arial"/>
              <a:buChar char="•"/>
              <a:defRPr/>
            </a:pPr>
            <a:r>
              <a:rPr lang="en-US" sz="2400"/>
              <a:t>destination –  subscription destination</a:t>
            </a:r>
            <a:endParaRPr/>
          </a:p>
        </p:txBody>
      </p:sp>
      <p:sp>
        <p:nvSpPr>
          <p:cNvPr id="120841878" name="תיבת טקסט 19"/>
          <p:cNvSpPr txBox="1"/>
          <p:nvPr/>
        </p:nvSpPr>
        <p:spPr bwMode="auto">
          <a:xfrm>
            <a:off x="1136467" y="4678969"/>
            <a:ext cx="6699502" cy="1189079"/>
          </a:xfrm>
          <a:prstGeom prst="rect">
            <a:avLst/>
          </a:prstGeom>
          <a:noFill/>
        </p:spPr>
        <p:txBody>
          <a:bodyPr wrap="square">
            <a:spAutoFit/>
          </a:bodyPr>
          <a:lstStyle/>
          <a:p>
            <a:pPr marL="457200" indent="-457200">
              <a:buFont typeface="Arial"/>
              <a:buChar char="•"/>
              <a:defRPr/>
            </a:pPr>
            <a:r>
              <a:rPr lang="en-US" sz="2400" b="0" i="0" u="none" strike="noStrike" cap="none" spc="0">
                <a:solidFill>
                  <a:schemeClr val="tx1"/>
                </a:solidFill>
                <a:latin typeface="Calibri"/>
                <a:ea typeface="Calibri"/>
                <a:cs typeface="Calibri"/>
              </a:rPr>
              <a:t>The clients subscribed to this destination will receive the following frame from the server (each with a unique message-id value).</a:t>
            </a:r>
            <a:endParaRPr/>
          </a:p>
        </p:txBody>
      </p:sp>
      <p:sp>
        <p:nvSpPr>
          <p:cNvPr id="381509684" name="TextBox 4"/>
          <p:cNvSpPr txBox="1"/>
          <p:nvPr/>
        </p:nvSpPr>
        <p:spPr bwMode="auto">
          <a:xfrm>
            <a:off x="8725490" y="1434336"/>
            <a:ext cx="2374007" cy="1407693"/>
          </a:xfrm>
          <a:prstGeom prst="rect">
            <a:avLst/>
          </a:prstGeom>
          <a:solidFill>
            <a:schemeClr val="accent6">
              <a:lumMod val="20000"/>
              <a:lumOff val="80000"/>
            </a:schemeClr>
          </a:solidFill>
          <a:ln>
            <a:solidFill>
              <a:srgbClr val="0070C0"/>
            </a:solidFill>
          </a:ln>
        </p:spPr>
        <p:txBody>
          <a:bodyPr wrap="square" lIns="91440" tIns="0" rIns="0" bIns="0" rtlCol="1">
            <a:noAutofit/>
          </a:bodyPr>
          <a:lstStyle/>
          <a:p>
            <a:pPr>
              <a:defRPr/>
            </a:pPr>
            <a:r>
              <a:rPr lang="en-US">
                <a:latin typeface="JetBrains Mono"/>
              </a:rPr>
              <a:t>SEND</a:t>
            </a:r>
            <a:endParaRPr/>
          </a:p>
          <a:p>
            <a:pPr>
              <a:defRPr/>
            </a:pPr>
            <a:r>
              <a:rPr lang="en-US">
                <a:latin typeface="JetBrains Mono"/>
              </a:rPr>
              <a:t>destination:/topic/a</a:t>
            </a:r>
            <a:endParaRPr/>
          </a:p>
          <a:p>
            <a:pPr>
              <a:defRPr/>
            </a:pPr>
            <a:endParaRPr lang="en-US">
              <a:latin typeface="JetBrains Mono"/>
            </a:endParaRPr>
          </a:p>
          <a:p>
            <a:pPr>
              <a:defRPr/>
            </a:pPr>
            <a:r>
              <a:rPr lang="en-US">
                <a:latin typeface="JetBrains Mono"/>
              </a:rPr>
              <a:t>hello topic a</a:t>
            </a:r>
            <a:endParaRPr/>
          </a:p>
          <a:p>
            <a:pPr>
              <a:defRPr/>
            </a:pPr>
            <a:r>
              <a:rPr lang="en-US">
                <a:latin typeface="JetBrains Mono"/>
              </a:rPr>
              <a:t>^@</a:t>
            </a:r>
            <a:endParaRPr lang="en-US" b="0">
              <a:latin typeface="JetBrains Mono"/>
            </a:endParaRPr>
          </a:p>
        </p:txBody>
      </p:sp>
      <p:sp>
        <p:nvSpPr>
          <p:cNvPr id="114569273" name="TextBox 4"/>
          <p:cNvSpPr txBox="1"/>
          <p:nvPr/>
        </p:nvSpPr>
        <p:spPr bwMode="auto">
          <a:xfrm>
            <a:off x="8710144" y="4286605"/>
            <a:ext cx="2374007" cy="1985057"/>
          </a:xfrm>
          <a:prstGeom prst="rect">
            <a:avLst/>
          </a:prstGeom>
          <a:solidFill>
            <a:schemeClr val="accent6">
              <a:lumMod val="20000"/>
              <a:lumOff val="80000"/>
            </a:schemeClr>
          </a:solidFill>
          <a:ln>
            <a:solidFill>
              <a:srgbClr val="0070C0"/>
            </a:solidFill>
          </a:ln>
        </p:spPr>
        <p:txBody>
          <a:bodyPr wrap="square" lIns="91440" tIns="0" rIns="0" bIns="0" rtlCol="1">
            <a:noAutofit/>
          </a:bodyPr>
          <a:lstStyle/>
          <a:p>
            <a:pPr>
              <a:defRPr/>
            </a:pPr>
            <a:r>
              <a:rPr lang="en-US">
                <a:latin typeface="JetBrains Mono"/>
              </a:rPr>
              <a:t>MESSAGE</a:t>
            </a:r>
            <a:endParaRPr/>
          </a:p>
          <a:p>
            <a:pPr>
              <a:defRPr/>
            </a:pPr>
            <a:r>
              <a:rPr lang="en-US">
                <a:latin typeface="JetBrains Mono"/>
              </a:rPr>
              <a:t>subscription:0</a:t>
            </a:r>
            <a:endParaRPr/>
          </a:p>
          <a:p>
            <a:pPr>
              <a:defRPr/>
            </a:pPr>
            <a:r>
              <a:rPr lang="en-US">
                <a:latin typeface="JetBrains Mono"/>
              </a:rPr>
              <a:t>message-id:27</a:t>
            </a:r>
            <a:endParaRPr/>
          </a:p>
          <a:p>
            <a:pPr>
              <a:defRPr/>
            </a:pPr>
            <a:r>
              <a:rPr lang="en-US">
                <a:latin typeface="JetBrains Mono"/>
              </a:rPr>
              <a:t>destination:/topic/a</a:t>
            </a:r>
            <a:endParaRPr/>
          </a:p>
          <a:p>
            <a:pPr>
              <a:defRPr/>
            </a:pPr>
            <a:endParaRPr lang="en-US">
              <a:latin typeface="JetBrains Mono"/>
            </a:endParaRPr>
          </a:p>
          <a:p>
            <a:pPr>
              <a:defRPr/>
            </a:pPr>
            <a:r>
              <a:rPr lang="en-US">
                <a:latin typeface="JetBrains Mono"/>
              </a:rPr>
              <a:t>hello topic a</a:t>
            </a:r>
            <a:endParaRPr/>
          </a:p>
          <a:p>
            <a:pPr>
              <a:defRPr/>
            </a:pPr>
            <a:r>
              <a:rPr lang="en-US">
                <a:latin typeface="JetBrains Mono"/>
              </a:rPr>
              <a:t>^@</a:t>
            </a:r>
            <a:endParaRPr lang="en-US" b="0">
              <a:latin typeface="JetBrains Mon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1509684">
                                            <p:txEl>
                                              <p:pRg st="0" end="0"/>
                                            </p:txEl>
                                          </p:spTgt>
                                        </p:tgtEl>
                                        <p:attrNameLst>
                                          <p:attrName>style.visibility</p:attrName>
                                        </p:attrNameLst>
                                      </p:cBhvr>
                                      <p:to>
                                        <p:strVal val="visible"/>
                                      </p:to>
                                    </p:set>
                                    <p:animEffect transition="in" filter="fade">
                                      <p:cBhvr>
                                        <p:cTn id="7" dur="500"/>
                                        <p:tgtEl>
                                          <p:spTgt spid="38150968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81509684">
                                            <p:txEl>
                                              <p:pRg st="1" end="1"/>
                                            </p:txEl>
                                          </p:spTgt>
                                        </p:tgtEl>
                                        <p:attrNameLst>
                                          <p:attrName>style.visibility</p:attrName>
                                        </p:attrNameLst>
                                      </p:cBhvr>
                                      <p:to>
                                        <p:strVal val="visible"/>
                                      </p:to>
                                    </p:set>
                                    <p:animEffect transition="in" filter="fade">
                                      <p:cBhvr>
                                        <p:cTn id="10" dur="500"/>
                                        <p:tgtEl>
                                          <p:spTgt spid="381509684">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81509684">
                                            <p:txEl>
                                              <p:pRg st="3" end="3"/>
                                            </p:txEl>
                                          </p:spTgt>
                                        </p:tgtEl>
                                        <p:attrNameLst>
                                          <p:attrName>style.visibility</p:attrName>
                                        </p:attrNameLst>
                                      </p:cBhvr>
                                      <p:to>
                                        <p:strVal val="visible"/>
                                      </p:to>
                                    </p:set>
                                    <p:animEffect transition="in" filter="fade">
                                      <p:cBhvr>
                                        <p:cTn id="13" dur="500"/>
                                        <p:tgtEl>
                                          <p:spTgt spid="381509684">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81509684">
                                            <p:txEl>
                                              <p:pRg st="4" end="4"/>
                                            </p:txEl>
                                          </p:spTgt>
                                        </p:tgtEl>
                                        <p:attrNameLst>
                                          <p:attrName>style.visibility</p:attrName>
                                        </p:attrNameLst>
                                      </p:cBhvr>
                                      <p:to>
                                        <p:strVal val="visible"/>
                                      </p:to>
                                    </p:set>
                                    <p:animEffect transition="in" filter="fade">
                                      <p:cBhvr>
                                        <p:cTn id="16" dur="500"/>
                                        <p:tgtEl>
                                          <p:spTgt spid="381509684">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14569273">
                                            <p:txEl>
                                              <p:pRg st="0" end="0"/>
                                            </p:txEl>
                                          </p:spTgt>
                                        </p:tgtEl>
                                        <p:attrNameLst>
                                          <p:attrName>style.visibility</p:attrName>
                                        </p:attrNameLst>
                                      </p:cBhvr>
                                      <p:to>
                                        <p:strVal val="visible"/>
                                      </p:to>
                                    </p:set>
                                    <p:animEffect transition="in" filter="fade">
                                      <p:cBhvr>
                                        <p:cTn id="19" dur="500"/>
                                        <p:tgtEl>
                                          <p:spTgt spid="114569273">
                                            <p:txEl>
                                              <p:pRg st="0" end="0"/>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14569273">
                                            <p:txEl>
                                              <p:pRg st="1" end="1"/>
                                            </p:txEl>
                                          </p:spTgt>
                                        </p:tgtEl>
                                        <p:attrNameLst>
                                          <p:attrName>style.visibility</p:attrName>
                                        </p:attrNameLst>
                                      </p:cBhvr>
                                      <p:to>
                                        <p:strVal val="visible"/>
                                      </p:to>
                                    </p:set>
                                    <p:animEffect transition="in" filter="fade">
                                      <p:cBhvr>
                                        <p:cTn id="22" dur="500"/>
                                        <p:tgtEl>
                                          <p:spTgt spid="114569273">
                                            <p:txEl>
                                              <p:pRg st="1" end="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14569273">
                                            <p:txEl>
                                              <p:pRg st="2" end="2"/>
                                            </p:txEl>
                                          </p:spTgt>
                                        </p:tgtEl>
                                        <p:attrNameLst>
                                          <p:attrName>style.visibility</p:attrName>
                                        </p:attrNameLst>
                                      </p:cBhvr>
                                      <p:to>
                                        <p:strVal val="visible"/>
                                      </p:to>
                                    </p:set>
                                    <p:animEffect transition="in" filter="fade">
                                      <p:cBhvr>
                                        <p:cTn id="25" dur="500"/>
                                        <p:tgtEl>
                                          <p:spTgt spid="114569273">
                                            <p:txEl>
                                              <p:pRg st="2" end="2"/>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14569273">
                                            <p:txEl>
                                              <p:pRg st="3" end="3"/>
                                            </p:txEl>
                                          </p:spTgt>
                                        </p:tgtEl>
                                        <p:attrNameLst>
                                          <p:attrName>style.visibility</p:attrName>
                                        </p:attrNameLst>
                                      </p:cBhvr>
                                      <p:to>
                                        <p:strVal val="visible"/>
                                      </p:to>
                                    </p:set>
                                    <p:animEffect transition="in" filter="fade">
                                      <p:cBhvr>
                                        <p:cTn id="28" dur="500"/>
                                        <p:tgtEl>
                                          <p:spTgt spid="114569273">
                                            <p:txEl>
                                              <p:pRg st="3" end="3"/>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14569273">
                                            <p:txEl>
                                              <p:pRg st="5" end="5"/>
                                            </p:txEl>
                                          </p:spTgt>
                                        </p:tgtEl>
                                        <p:attrNameLst>
                                          <p:attrName>style.visibility</p:attrName>
                                        </p:attrNameLst>
                                      </p:cBhvr>
                                      <p:to>
                                        <p:strVal val="visible"/>
                                      </p:to>
                                    </p:set>
                                    <p:animEffect transition="in" filter="fade">
                                      <p:cBhvr>
                                        <p:cTn id="31" dur="500"/>
                                        <p:tgtEl>
                                          <p:spTgt spid="114569273">
                                            <p:txEl>
                                              <p:pRg st="5" end="5"/>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114569273">
                                            <p:txEl>
                                              <p:pRg st="6" end="6"/>
                                            </p:txEl>
                                          </p:spTgt>
                                        </p:tgtEl>
                                        <p:attrNameLst>
                                          <p:attrName>style.visibility</p:attrName>
                                        </p:attrNameLst>
                                      </p:cBhvr>
                                      <p:to>
                                        <p:strVal val="visible"/>
                                      </p:to>
                                    </p:set>
                                    <p:animEffect transition="in" filter="fade">
                                      <p:cBhvr>
                                        <p:cTn id="34" dur="500"/>
                                        <p:tgtEl>
                                          <p:spTgt spid="11456927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81886480" name="מלבן 3"/>
          <p:cNvSpPr/>
          <p:nvPr/>
        </p:nvSpPr>
        <p:spPr bwMode="auto">
          <a:xfrm>
            <a:off x="3987206" y="106569"/>
            <a:ext cx="4217629" cy="923330"/>
          </a:xfrm>
          <a:prstGeom prst="rect">
            <a:avLst/>
          </a:prstGeom>
          <a:noFill/>
        </p:spPr>
        <p:txBody>
          <a:bodyPr wrap="none" lIns="91440" tIns="45720" rIns="91440" bIns="45720">
            <a:spAutoFit/>
          </a:bodyPr>
          <a:lstStyle/>
          <a:p>
            <a:pPr algn="ctr">
              <a:defRPr/>
            </a:pPr>
            <a:r>
              <a:rPr lang="en-US" sz="5400" b="1">
                <a:ln w="13462">
                  <a:solidFill>
                    <a:schemeClr val="bg1"/>
                  </a:solidFill>
                  <a:prstDash val="solid"/>
                </a:ln>
                <a:solidFill>
                  <a:schemeClr val="tx1">
                    <a:lumMod val="85000"/>
                    <a:lumOff val="15000"/>
                  </a:schemeClr>
                </a:solidFill>
              </a:rPr>
              <a:t>Disconnecting</a:t>
            </a:r>
            <a:endParaRPr lang="he-IL" sz="5400" b="1" cap="none" spc="0">
              <a:ln w="13462">
                <a:solidFill>
                  <a:schemeClr val="bg1"/>
                </a:solidFill>
                <a:prstDash val="solid"/>
              </a:ln>
              <a:solidFill>
                <a:schemeClr val="tx1">
                  <a:lumMod val="85000"/>
                  <a:lumOff val="15000"/>
                </a:schemeClr>
              </a:solidFill>
            </a:endParaRPr>
          </a:p>
        </p:txBody>
      </p:sp>
      <p:sp>
        <p:nvSpPr>
          <p:cNvPr id="2143271131" name="תיבת טקסט 1"/>
          <p:cNvSpPr txBox="1"/>
          <p:nvPr/>
        </p:nvSpPr>
        <p:spPr bwMode="auto">
          <a:xfrm>
            <a:off x="1136466" y="2243090"/>
            <a:ext cx="6348622" cy="823319"/>
          </a:xfrm>
          <a:prstGeom prst="rect">
            <a:avLst/>
          </a:prstGeom>
          <a:noFill/>
        </p:spPr>
        <p:txBody>
          <a:bodyPr wrap="square" rtlCol="1">
            <a:spAutoFit/>
          </a:bodyPr>
          <a:lstStyle/>
          <a:p>
            <a:pPr marL="457200" indent="-457200">
              <a:buFont typeface="Arial"/>
              <a:buChar char="•"/>
              <a:defRPr/>
            </a:pPr>
            <a:r>
              <a:rPr lang="en-US" sz="2400" b="0" i="0" u="none" strike="noStrike" cap="none" spc="0">
                <a:solidFill>
                  <a:schemeClr val="tx1"/>
                </a:solidFill>
                <a:latin typeface="Calibri"/>
                <a:ea typeface="Calibri"/>
                <a:cs typeface="Calibri"/>
              </a:rPr>
              <a:t>Instead, the client can disconnect from the server by sending a DISCONNECT frame.</a:t>
            </a:r>
            <a:endParaRPr/>
          </a:p>
        </p:txBody>
      </p:sp>
      <p:sp>
        <p:nvSpPr>
          <p:cNvPr id="897042214" name="תיבת טקסט 5"/>
          <p:cNvSpPr txBox="1"/>
          <p:nvPr/>
        </p:nvSpPr>
        <p:spPr bwMode="auto">
          <a:xfrm>
            <a:off x="1136468" y="3343455"/>
            <a:ext cx="6118772" cy="830997"/>
          </a:xfrm>
          <a:prstGeom prst="rect">
            <a:avLst/>
          </a:prstGeom>
          <a:noFill/>
        </p:spPr>
        <p:txBody>
          <a:bodyPr wrap="square" rtlCol="1">
            <a:spAutoFit/>
          </a:bodyPr>
          <a:lstStyle/>
          <a:p>
            <a:pPr marL="457200" indent="-457200">
              <a:buFont typeface="Arial"/>
              <a:buChar char="•"/>
              <a:defRPr/>
            </a:pPr>
            <a:r>
              <a:rPr lang="en-US" sz="2400"/>
              <a:t>By adding a receipt header, the server will </a:t>
            </a:r>
            <a:endParaRPr/>
          </a:p>
          <a:p>
            <a:pPr>
              <a:defRPr/>
            </a:pPr>
            <a:r>
              <a:rPr lang="en-US" sz="2400"/>
              <a:t>	send back a RECEIPT frame</a:t>
            </a:r>
            <a:endParaRPr/>
          </a:p>
        </p:txBody>
      </p:sp>
      <p:sp>
        <p:nvSpPr>
          <p:cNvPr id="547641611" name="תיבת טקסט 19"/>
          <p:cNvSpPr txBox="1"/>
          <p:nvPr/>
        </p:nvSpPr>
        <p:spPr bwMode="auto">
          <a:xfrm>
            <a:off x="1136466" y="4493392"/>
            <a:ext cx="6699142" cy="457559"/>
          </a:xfrm>
          <a:prstGeom prst="rect">
            <a:avLst/>
          </a:prstGeom>
          <a:noFill/>
        </p:spPr>
        <p:txBody>
          <a:bodyPr wrap="square">
            <a:spAutoFit/>
          </a:bodyPr>
          <a:lstStyle/>
          <a:p>
            <a:pPr marL="457200" indent="-457200">
              <a:buFont typeface="Arial"/>
              <a:buChar char="•"/>
              <a:defRPr/>
            </a:pPr>
            <a:r>
              <a:rPr lang="en-US" sz="2400" b="0" i="0" u="none" strike="noStrike" cap="none" spc="0">
                <a:solidFill>
                  <a:schemeClr val="tx1"/>
                </a:solidFill>
                <a:latin typeface="Calibri"/>
                <a:ea typeface="Calibri"/>
                <a:cs typeface="Calibri"/>
              </a:rPr>
              <a:t>At last, the client can close the socket gracefully.</a:t>
            </a:r>
            <a:endParaRPr/>
          </a:p>
        </p:txBody>
      </p:sp>
      <p:sp>
        <p:nvSpPr>
          <p:cNvPr id="779290313" name="תיבת טקסט 10"/>
          <p:cNvSpPr txBox="1"/>
          <p:nvPr/>
        </p:nvSpPr>
        <p:spPr bwMode="auto">
          <a:xfrm>
            <a:off x="1136466" y="1299265"/>
            <a:ext cx="8579955" cy="823319"/>
          </a:xfrm>
          <a:prstGeom prst="rect">
            <a:avLst/>
          </a:prstGeom>
          <a:noFill/>
        </p:spPr>
        <p:txBody>
          <a:bodyPr wrap="square" rtlCol="1">
            <a:spAutoFit/>
          </a:bodyPr>
          <a:lstStyle/>
          <a:p>
            <a:pPr marL="457200" indent="-457200">
              <a:buFont typeface="Arial"/>
              <a:buChar char="•"/>
              <a:defRPr/>
            </a:pPr>
            <a:r>
              <a:rPr lang="en-US" sz="2400" b="0" i="0" u="none" strike="noStrike" cap="none" spc="0">
                <a:solidFill>
                  <a:schemeClr val="tx1"/>
                </a:solidFill>
                <a:latin typeface="Calibri"/>
                <a:ea typeface="Calibri"/>
                <a:cs typeface="Calibri"/>
              </a:rPr>
              <a:t>The client can disconnect from the server by closing the socket, but the server may not have received all the sent frames.</a:t>
            </a:r>
            <a:endParaRPr/>
          </a:p>
        </p:txBody>
      </p:sp>
      <p:sp>
        <p:nvSpPr>
          <p:cNvPr id="653086674" name="TextBox 4"/>
          <p:cNvSpPr txBox="1"/>
          <p:nvPr/>
        </p:nvSpPr>
        <p:spPr bwMode="auto">
          <a:xfrm>
            <a:off x="8681526" y="2243090"/>
            <a:ext cx="2374007" cy="830998"/>
          </a:xfrm>
          <a:prstGeom prst="rect">
            <a:avLst/>
          </a:prstGeom>
          <a:solidFill>
            <a:schemeClr val="accent6">
              <a:lumMod val="20000"/>
              <a:lumOff val="80000"/>
            </a:schemeClr>
          </a:solidFill>
          <a:ln>
            <a:solidFill>
              <a:srgbClr val="0070C0"/>
            </a:solidFill>
          </a:ln>
        </p:spPr>
        <p:txBody>
          <a:bodyPr wrap="square" lIns="91440" tIns="0" rIns="0" bIns="0" rtlCol="1">
            <a:noAutofit/>
          </a:bodyPr>
          <a:lstStyle/>
          <a:p>
            <a:pPr>
              <a:defRPr/>
            </a:pPr>
            <a:r>
              <a:rPr lang="en-US">
                <a:latin typeface="JetBrains Mono"/>
              </a:rPr>
              <a:t>DISCONNECT</a:t>
            </a:r>
            <a:endParaRPr/>
          </a:p>
          <a:p>
            <a:pPr>
              <a:defRPr/>
            </a:pPr>
            <a:r>
              <a:rPr lang="en-US">
                <a:latin typeface="JetBrains Mono"/>
              </a:rPr>
              <a:t>receipt:77</a:t>
            </a:r>
            <a:endParaRPr/>
          </a:p>
          <a:p>
            <a:pPr>
              <a:defRPr/>
            </a:pPr>
            <a:r>
              <a:rPr lang="en-US">
                <a:latin typeface="JetBrains Mono"/>
              </a:rPr>
              <a:t>^@</a:t>
            </a:r>
            <a:endParaRPr lang="en-US" b="0">
              <a:latin typeface="JetBrains Mono"/>
            </a:endParaRPr>
          </a:p>
        </p:txBody>
      </p:sp>
      <p:sp>
        <p:nvSpPr>
          <p:cNvPr id="889093488" name="TextBox 4"/>
          <p:cNvSpPr txBox="1"/>
          <p:nvPr/>
        </p:nvSpPr>
        <p:spPr bwMode="auto">
          <a:xfrm>
            <a:off x="8681525" y="3333058"/>
            <a:ext cx="2374007" cy="841394"/>
          </a:xfrm>
          <a:prstGeom prst="rect">
            <a:avLst/>
          </a:prstGeom>
          <a:solidFill>
            <a:schemeClr val="accent6">
              <a:lumMod val="20000"/>
              <a:lumOff val="80000"/>
            </a:schemeClr>
          </a:solidFill>
          <a:ln>
            <a:solidFill>
              <a:srgbClr val="0070C0"/>
            </a:solidFill>
          </a:ln>
        </p:spPr>
        <p:txBody>
          <a:bodyPr wrap="square" lIns="91440" tIns="0" rIns="0" bIns="0" rtlCol="1">
            <a:noAutofit/>
          </a:bodyPr>
          <a:lstStyle/>
          <a:p>
            <a:pPr>
              <a:defRPr/>
            </a:pPr>
            <a:r>
              <a:rPr lang="en-US">
                <a:latin typeface="JetBrains Mono"/>
              </a:rPr>
              <a:t>RECEIPT</a:t>
            </a:r>
            <a:endParaRPr/>
          </a:p>
          <a:p>
            <a:pPr>
              <a:defRPr/>
            </a:pPr>
            <a:r>
              <a:rPr lang="en-US">
                <a:latin typeface="JetBrains Mono"/>
              </a:rPr>
              <a:t>receipt-id:77</a:t>
            </a:r>
            <a:endParaRPr/>
          </a:p>
          <a:p>
            <a:pPr>
              <a:defRPr/>
            </a:pPr>
            <a:r>
              <a:rPr lang="en-US">
                <a:latin typeface="JetBrains Mono"/>
              </a:rPr>
              <a:t>^@</a:t>
            </a:r>
            <a:endParaRPr lang="en-US" b="0">
              <a:latin typeface="JetBrains Mon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53086674">
                                            <p:txEl>
                                              <p:pRg st="0" end="0"/>
                                            </p:txEl>
                                          </p:spTgt>
                                        </p:tgtEl>
                                        <p:attrNameLst>
                                          <p:attrName>style.visibility</p:attrName>
                                        </p:attrNameLst>
                                      </p:cBhvr>
                                      <p:to>
                                        <p:strVal val="visible"/>
                                      </p:to>
                                    </p:set>
                                    <p:animEffect transition="in" filter="fade">
                                      <p:cBhvr>
                                        <p:cTn id="7" dur="500"/>
                                        <p:tgtEl>
                                          <p:spTgt spid="65308667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53086674">
                                            <p:txEl>
                                              <p:pRg st="1" end="1"/>
                                            </p:txEl>
                                          </p:spTgt>
                                        </p:tgtEl>
                                        <p:attrNameLst>
                                          <p:attrName>style.visibility</p:attrName>
                                        </p:attrNameLst>
                                      </p:cBhvr>
                                      <p:to>
                                        <p:strVal val="visible"/>
                                      </p:to>
                                    </p:set>
                                    <p:animEffect transition="in" filter="fade">
                                      <p:cBhvr>
                                        <p:cTn id="10" dur="500"/>
                                        <p:tgtEl>
                                          <p:spTgt spid="653086674">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653086674">
                                            <p:txEl>
                                              <p:pRg st="2" end="2"/>
                                            </p:txEl>
                                          </p:spTgt>
                                        </p:tgtEl>
                                        <p:attrNameLst>
                                          <p:attrName>style.visibility</p:attrName>
                                        </p:attrNameLst>
                                      </p:cBhvr>
                                      <p:to>
                                        <p:strVal val="visible"/>
                                      </p:to>
                                    </p:set>
                                    <p:animEffect transition="in" filter="fade">
                                      <p:cBhvr>
                                        <p:cTn id="13" dur="500"/>
                                        <p:tgtEl>
                                          <p:spTgt spid="653086674">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889093488">
                                            <p:txEl>
                                              <p:pRg st="0" end="0"/>
                                            </p:txEl>
                                          </p:spTgt>
                                        </p:tgtEl>
                                        <p:attrNameLst>
                                          <p:attrName>style.visibility</p:attrName>
                                        </p:attrNameLst>
                                      </p:cBhvr>
                                      <p:to>
                                        <p:strVal val="visible"/>
                                      </p:to>
                                    </p:set>
                                    <p:animEffect transition="in" filter="fade">
                                      <p:cBhvr>
                                        <p:cTn id="16" dur="500"/>
                                        <p:tgtEl>
                                          <p:spTgt spid="889093488">
                                            <p:txEl>
                                              <p:pRg st="0" end="0"/>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889093488">
                                            <p:txEl>
                                              <p:pRg st="1" end="1"/>
                                            </p:txEl>
                                          </p:spTgt>
                                        </p:tgtEl>
                                        <p:attrNameLst>
                                          <p:attrName>style.visibility</p:attrName>
                                        </p:attrNameLst>
                                      </p:cBhvr>
                                      <p:to>
                                        <p:strVal val="visible"/>
                                      </p:to>
                                    </p:set>
                                    <p:animEffect transition="in" filter="fade">
                                      <p:cBhvr>
                                        <p:cTn id="19" dur="500"/>
                                        <p:tgtEl>
                                          <p:spTgt spid="889093488">
                                            <p:txEl>
                                              <p:pRg st="1" end="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889093488">
                                            <p:txEl>
                                              <p:pRg st="2" end="2"/>
                                            </p:txEl>
                                          </p:spTgt>
                                        </p:tgtEl>
                                        <p:attrNameLst>
                                          <p:attrName>style.visibility</p:attrName>
                                        </p:attrNameLst>
                                      </p:cBhvr>
                                      <p:to>
                                        <p:strVal val="visible"/>
                                      </p:to>
                                    </p:set>
                                    <p:animEffect transition="in" filter="fade">
                                      <p:cBhvr>
                                        <p:cTn id="22" dur="500"/>
                                        <p:tgtEl>
                                          <p:spTgt spid="88909348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7594722" name="מלבן 3"/>
          <p:cNvSpPr/>
          <p:nvPr/>
        </p:nvSpPr>
        <p:spPr bwMode="auto">
          <a:xfrm>
            <a:off x="5148934" y="106569"/>
            <a:ext cx="1894173" cy="923330"/>
          </a:xfrm>
          <a:prstGeom prst="rect">
            <a:avLst/>
          </a:prstGeom>
          <a:noFill/>
        </p:spPr>
        <p:txBody>
          <a:bodyPr wrap="none" lIns="91440" tIns="45720" rIns="91440" bIns="45720">
            <a:spAutoFit/>
          </a:bodyPr>
          <a:lstStyle/>
          <a:p>
            <a:pPr algn="ctr">
              <a:defRPr/>
            </a:pPr>
            <a:r>
              <a:rPr lang="en-US" sz="5400" b="1">
                <a:ln w="13462">
                  <a:solidFill>
                    <a:schemeClr val="bg1"/>
                  </a:solidFill>
                  <a:prstDash val="solid"/>
                </a:ln>
                <a:solidFill>
                  <a:schemeClr val="tx1">
                    <a:lumMod val="85000"/>
                    <a:lumOff val="15000"/>
                  </a:schemeClr>
                </a:solidFill>
              </a:rPr>
              <a:t>Errors</a:t>
            </a:r>
            <a:endParaRPr lang="he-IL" sz="5400" b="1" cap="none" spc="0">
              <a:ln w="13462">
                <a:solidFill>
                  <a:schemeClr val="bg1"/>
                </a:solidFill>
                <a:prstDash val="solid"/>
              </a:ln>
              <a:solidFill>
                <a:schemeClr val="tx1">
                  <a:lumMod val="85000"/>
                  <a:lumOff val="15000"/>
                </a:schemeClr>
              </a:solidFill>
            </a:endParaRPr>
          </a:p>
        </p:txBody>
      </p:sp>
      <p:sp>
        <p:nvSpPr>
          <p:cNvPr id="548178511" name="תיבת טקסט 10"/>
          <p:cNvSpPr txBox="1"/>
          <p:nvPr/>
        </p:nvSpPr>
        <p:spPr bwMode="auto">
          <a:xfrm>
            <a:off x="1136466" y="1299265"/>
            <a:ext cx="8115059" cy="823319"/>
          </a:xfrm>
          <a:prstGeom prst="rect">
            <a:avLst/>
          </a:prstGeom>
          <a:noFill/>
        </p:spPr>
        <p:txBody>
          <a:bodyPr wrap="square" rtlCol="1">
            <a:spAutoFit/>
          </a:bodyPr>
          <a:lstStyle/>
          <a:p>
            <a:pPr marL="457200" indent="-457200">
              <a:buFont typeface="Arial"/>
              <a:buChar char="•"/>
              <a:defRPr/>
            </a:pPr>
            <a:r>
              <a:rPr lang="en-US" sz="2400" b="0" i="0" u="none" strike="noStrike" cap="none" spc="0">
                <a:solidFill>
                  <a:schemeClr val="tx1"/>
                </a:solidFill>
                <a:latin typeface="Calibri"/>
                <a:ea typeface="Calibri"/>
                <a:cs typeface="Calibri"/>
              </a:rPr>
              <a:t>When something goes wrong, the server should send the client an ERROR frame that describes the issue.</a:t>
            </a:r>
            <a:endParaRPr/>
          </a:p>
        </p:txBody>
      </p:sp>
      <p:sp>
        <p:nvSpPr>
          <p:cNvPr id="841338872" name="TextBox 4"/>
          <p:cNvSpPr txBox="1"/>
          <p:nvPr/>
        </p:nvSpPr>
        <p:spPr bwMode="auto">
          <a:xfrm>
            <a:off x="1599609" y="2144817"/>
            <a:ext cx="8575015" cy="4145650"/>
          </a:xfrm>
          <a:prstGeom prst="rect">
            <a:avLst/>
          </a:prstGeom>
          <a:solidFill>
            <a:schemeClr val="accent6">
              <a:lumMod val="20000"/>
              <a:lumOff val="80000"/>
            </a:schemeClr>
          </a:solidFill>
          <a:ln>
            <a:solidFill>
              <a:srgbClr val="FF0000"/>
            </a:solidFill>
          </a:ln>
        </p:spPr>
        <p:txBody>
          <a:bodyPr wrap="square" lIns="91440" tIns="0" rIns="0" bIns="0" rtlCol="1">
            <a:noAutofit/>
          </a:bodyPr>
          <a:lstStyle/>
          <a:p>
            <a:pPr>
              <a:defRPr/>
            </a:pPr>
            <a:r>
              <a:rPr lang="en-GB">
                <a:latin typeface="JetBrains Mono"/>
              </a:rPr>
              <a:t>ERROR</a:t>
            </a:r>
            <a:endParaRPr/>
          </a:p>
          <a:p>
            <a:pPr>
              <a:defRPr/>
            </a:pPr>
            <a:r>
              <a:rPr lang="en-GB">
                <a:latin typeface="JetBrains Mono"/>
              </a:rPr>
              <a:t>receipt-id:message-12345</a:t>
            </a:r>
            <a:endParaRPr/>
          </a:p>
          <a:p>
            <a:pPr>
              <a:defRPr/>
            </a:pPr>
            <a:r>
              <a:rPr lang="en-GB">
                <a:latin typeface="JetBrains Mono"/>
              </a:rPr>
              <a:t>message:malformed frame received</a:t>
            </a:r>
            <a:endParaRPr/>
          </a:p>
          <a:p>
            <a:pPr>
              <a:defRPr/>
            </a:pPr>
            <a:endParaRPr lang="en-GB">
              <a:latin typeface="JetBrains Mono"/>
            </a:endParaRPr>
          </a:p>
          <a:p>
            <a:pPr>
              <a:defRPr/>
            </a:pPr>
            <a:r>
              <a:rPr lang="en-GB">
                <a:latin typeface="JetBrains Mono"/>
              </a:rPr>
              <a:t>The message:</a:t>
            </a:r>
            <a:endParaRPr/>
          </a:p>
          <a:p>
            <a:pPr>
              <a:defRPr/>
            </a:pPr>
            <a:r>
              <a:rPr lang="en-GB">
                <a:latin typeface="JetBrains Mono"/>
              </a:rPr>
              <a:t>----</a:t>
            </a:r>
            <a:endParaRPr/>
          </a:p>
          <a:p>
            <a:pPr>
              <a:defRPr/>
            </a:pPr>
            <a:r>
              <a:rPr lang="en-GB">
                <a:latin typeface="JetBrains Mono"/>
              </a:rPr>
              <a:t>MESSAGE</a:t>
            </a:r>
            <a:endParaRPr/>
          </a:p>
          <a:p>
            <a:pPr>
              <a:defRPr/>
            </a:pPr>
            <a:r>
              <a:rPr lang="en-GB">
                <a:latin typeface="JetBrains Mono"/>
              </a:rPr>
              <a:t>destined:/topic/a</a:t>
            </a:r>
            <a:endParaRPr/>
          </a:p>
          <a:p>
            <a:pPr>
              <a:defRPr/>
            </a:pPr>
            <a:r>
              <a:rPr lang="en-GB">
                <a:latin typeface="JetBrains Mono"/>
              </a:rPr>
              <a:t>receipt:message-12345</a:t>
            </a:r>
            <a:endParaRPr/>
          </a:p>
          <a:p>
            <a:pPr>
              <a:defRPr/>
            </a:pPr>
            <a:endParaRPr lang="en-GB">
              <a:latin typeface="JetBrains Mono"/>
            </a:endParaRPr>
          </a:p>
          <a:p>
            <a:pPr>
              <a:defRPr/>
            </a:pPr>
            <a:r>
              <a:rPr lang="en-GB">
                <a:latin typeface="JetBrains Mono"/>
              </a:rPr>
              <a:t>Hello topic a!</a:t>
            </a:r>
            <a:endParaRPr/>
          </a:p>
          <a:p>
            <a:pPr>
              <a:defRPr/>
            </a:pPr>
            <a:r>
              <a:rPr lang="en-GB">
                <a:latin typeface="JetBrains Mono"/>
              </a:rPr>
              <a:t>----</a:t>
            </a:r>
            <a:endParaRPr/>
          </a:p>
          <a:p>
            <a:pPr>
              <a:defRPr/>
            </a:pPr>
            <a:r>
              <a:rPr lang="en-GB">
                <a:latin typeface="JetBrains Mono"/>
              </a:rPr>
              <a:t>Did not contain a destination header, which is REQUIRED for message propagation.</a:t>
            </a:r>
            <a:endParaRPr/>
          </a:p>
          <a:p>
            <a:pPr>
              <a:defRPr/>
            </a:pPr>
            <a:r>
              <a:rPr lang="en-GB">
                <a:latin typeface="JetBrains Mono"/>
              </a:rPr>
              <a:t>^@</a:t>
            </a:r>
            <a:endParaRPr lang="en-US" b="0">
              <a:latin typeface="JetBrains Mon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41338872">
                                            <p:txEl>
                                              <p:pRg st="0" end="0"/>
                                            </p:txEl>
                                          </p:spTgt>
                                        </p:tgtEl>
                                        <p:attrNameLst>
                                          <p:attrName>style.visibility</p:attrName>
                                        </p:attrNameLst>
                                      </p:cBhvr>
                                      <p:to>
                                        <p:strVal val="visible"/>
                                      </p:to>
                                    </p:set>
                                    <p:animEffect transition="in" filter="fade">
                                      <p:cBhvr>
                                        <p:cTn id="7" dur="500"/>
                                        <p:tgtEl>
                                          <p:spTgt spid="84133887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41338872">
                                            <p:txEl>
                                              <p:pRg st="1" end="1"/>
                                            </p:txEl>
                                          </p:spTgt>
                                        </p:tgtEl>
                                        <p:attrNameLst>
                                          <p:attrName>style.visibility</p:attrName>
                                        </p:attrNameLst>
                                      </p:cBhvr>
                                      <p:to>
                                        <p:strVal val="visible"/>
                                      </p:to>
                                    </p:set>
                                    <p:animEffect transition="in" filter="fade">
                                      <p:cBhvr>
                                        <p:cTn id="10" dur="500"/>
                                        <p:tgtEl>
                                          <p:spTgt spid="841338872">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841338872">
                                            <p:txEl>
                                              <p:pRg st="2" end="2"/>
                                            </p:txEl>
                                          </p:spTgt>
                                        </p:tgtEl>
                                        <p:attrNameLst>
                                          <p:attrName>style.visibility</p:attrName>
                                        </p:attrNameLst>
                                      </p:cBhvr>
                                      <p:to>
                                        <p:strVal val="visible"/>
                                      </p:to>
                                    </p:set>
                                    <p:animEffect transition="in" filter="fade">
                                      <p:cBhvr>
                                        <p:cTn id="13" dur="500"/>
                                        <p:tgtEl>
                                          <p:spTgt spid="841338872">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841338872">
                                            <p:txEl>
                                              <p:pRg st="4" end="4"/>
                                            </p:txEl>
                                          </p:spTgt>
                                        </p:tgtEl>
                                        <p:attrNameLst>
                                          <p:attrName>style.visibility</p:attrName>
                                        </p:attrNameLst>
                                      </p:cBhvr>
                                      <p:to>
                                        <p:strVal val="visible"/>
                                      </p:to>
                                    </p:set>
                                    <p:animEffect transition="in" filter="fade">
                                      <p:cBhvr>
                                        <p:cTn id="16" dur="500"/>
                                        <p:tgtEl>
                                          <p:spTgt spid="841338872">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841338872">
                                            <p:txEl>
                                              <p:pRg st="5" end="5"/>
                                            </p:txEl>
                                          </p:spTgt>
                                        </p:tgtEl>
                                        <p:attrNameLst>
                                          <p:attrName>style.visibility</p:attrName>
                                        </p:attrNameLst>
                                      </p:cBhvr>
                                      <p:to>
                                        <p:strVal val="visible"/>
                                      </p:to>
                                    </p:set>
                                    <p:animEffect transition="in" filter="fade">
                                      <p:cBhvr>
                                        <p:cTn id="19" dur="500"/>
                                        <p:tgtEl>
                                          <p:spTgt spid="841338872">
                                            <p:txEl>
                                              <p:pRg st="5" end="5"/>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841338872">
                                            <p:txEl>
                                              <p:pRg st="6" end="6"/>
                                            </p:txEl>
                                          </p:spTgt>
                                        </p:tgtEl>
                                        <p:attrNameLst>
                                          <p:attrName>style.visibility</p:attrName>
                                        </p:attrNameLst>
                                      </p:cBhvr>
                                      <p:to>
                                        <p:strVal val="visible"/>
                                      </p:to>
                                    </p:set>
                                    <p:animEffect transition="in" filter="fade">
                                      <p:cBhvr>
                                        <p:cTn id="22" dur="500"/>
                                        <p:tgtEl>
                                          <p:spTgt spid="841338872">
                                            <p:txEl>
                                              <p:pRg st="6" end="6"/>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841338872">
                                            <p:txEl>
                                              <p:pRg st="7" end="7"/>
                                            </p:txEl>
                                          </p:spTgt>
                                        </p:tgtEl>
                                        <p:attrNameLst>
                                          <p:attrName>style.visibility</p:attrName>
                                        </p:attrNameLst>
                                      </p:cBhvr>
                                      <p:to>
                                        <p:strVal val="visible"/>
                                      </p:to>
                                    </p:set>
                                    <p:animEffect transition="in" filter="fade">
                                      <p:cBhvr>
                                        <p:cTn id="25" dur="500"/>
                                        <p:tgtEl>
                                          <p:spTgt spid="841338872">
                                            <p:txEl>
                                              <p:pRg st="7" end="7"/>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841338872">
                                            <p:txEl>
                                              <p:pRg st="8" end="8"/>
                                            </p:txEl>
                                          </p:spTgt>
                                        </p:tgtEl>
                                        <p:attrNameLst>
                                          <p:attrName>style.visibility</p:attrName>
                                        </p:attrNameLst>
                                      </p:cBhvr>
                                      <p:to>
                                        <p:strVal val="visible"/>
                                      </p:to>
                                    </p:set>
                                    <p:animEffect transition="in" filter="fade">
                                      <p:cBhvr>
                                        <p:cTn id="28" dur="500"/>
                                        <p:tgtEl>
                                          <p:spTgt spid="841338872">
                                            <p:txEl>
                                              <p:pRg st="8" end="8"/>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841338872">
                                            <p:txEl>
                                              <p:pRg st="10" end="10"/>
                                            </p:txEl>
                                          </p:spTgt>
                                        </p:tgtEl>
                                        <p:attrNameLst>
                                          <p:attrName>style.visibility</p:attrName>
                                        </p:attrNameLst>
                                      </p:cBhvr>
                                      <p:to>
                                        <p:strVal val="visible"/>
                                      </p:to>
                                    </p:set>
                                    <p:animEffect transition="in" filter="fade">
                                      <p:cBhvr>
                                        <p:cTn id="31" dur="500"/>
                                        <p:tgtEl>
                                          <p:spTgt spid="841338872">
                                            <p:txEl>
                                              <p:pRg st="10" end="10"/>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841338872">
                                            <p:txEl>
                                              <p:pRg st="11" end="11"/>
                                            </p:txEl>
                                          </p:spTgt>
                                        </p:tgtEl>
                                        <p:attrNameLst>
                                          <p:attrName>style.visibility</p:attrName>
                                        </p:attrNameLst>
                                      </p:cBhvr>
                                      <p:to>
                                        <p:strVal val="visible"/>
                                      </p:to>
                                    </p:set>
                                    <p:animEffect transition="in" filter="fade">
                                      <p:cBhvr>
                                        <p:cTn id="34" dur="500"/>
                                        <p:tgtEl>
                                          <p:spTgt spid="841338872">
                                            <p:txEl>
                                              <p:pRg st="11" end="11"/>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841338872">
                                            <p:txEl>
                                              <p:pRg st="12" end="12"/>
                                            </p:txEl>
                                          </p:spTgt>
                                        </p:tgtEl>
                                        <p:attrNameLst>
                                          <p:attrName>style.visibility</p:attrName>
                                        </p:attrNameLst>
                                      </p:cBhvr>
                                      <p:to>
                                        <p:strVal val="visible"/>
                                      </p:to>
                                    </p:set>
                                    <p:animEffect transition="in" filter="fade">
                                      <p:cBhvr>
                                        <p:cTn id="37" dur="500"/>
                                        <p:tgtEl>
                                          <p:spTgt spid="841338872">
                                            <p:txEl>
                                              <p:pRg st="12" end="12"/>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841338872">
                                            <p:txEl>
                                              <p:pRg st="13" end="13"/>
                                            </p:txEl>
                                          </p:spTgt>
                                        </p:tgtEl>
                                        <p:attrNameLst>
                                          <p:attrName>style.visibility</p:attrName>
                                        </p:attrNameLst>
                                      </p:cBhvr>
                                      <p:to>
                                        <p:strVal val="visible"/>
                                      </p:to>
                                    </p:set>
                                    <p:animEffect transition="in" filter="fade">
                                      <p:cBhvr>
                                        <p:cTn id="40" dur="500"/>
                                        <p:tgtEl>
                                          <p:spTgt spid="841338872">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82144386" name="Title 1"/>
          <p:cNvSpPr>
            <a:spLocks noGrp="1"/>
          </p:cNvSpPr>
          <p:nvPr>
            <p:ph type="title"/>
          </p:nvPr>
        </p:nvSpPr>
        <p:spPr bwMode="auto"/>
        <p:txBody>
          <a:bodyPr/>
          <a:lstStyle/>
          <a:p>
            <a:pPr>
              <a:defRPr/>
            </a:pPr>
            <a:r>
              <a:rPr lang="en-US"/>
              <a:t>Further Reading</a:t>
            </a:r>
            <a:endParaRPr/>
          </a:p>
        </p:txBody>
      </p:sp>
      <p:sp>
        <p:nvSpPr>
          <p:cNvPr id="566097816" name="Content Placeholder 2"/>
          <p:cNvSpPr>
            <a:spLocks noGrp="1"/>
          </p:cNvSpPr>
          <p:nvPr>
            <p:ph idx="1"/>
          </p:nvPr>
        </p:nvSpPr>
        <p:spPr bwMode="auto"/>
        <p:txBody>
          <a:bodyPr/>
          <a:lstStyle/>
          <a:p>
            <a:pPr>
              <a:defRPr/>
            </a:pPr>
            <a:r>
              <a:rPr lang="en-US"/>
              <a:t>C++11 Threads and Synchronization</a:t>
            </a:r>
          </a:p>
          <a:p>
            <a:pPr lvl="1">
              <a:defRPr/>
            </a:pPr>
            <a:r>
              <a:rPr lang="en-US" u="sng">
                <a:hlinkClick r:id="rId3"/>
              </a:rPr>
              <a:t>Concurrency std library (cppreference)</a:t>
            </a:r>
            <a:endParaRPr/>
          </a:p>
          <a:p>
            <a:pPr lvl="1">
              <a:defRPr/>
            </a:pPr>
            <a:r>
              <a:rPr lang="en-US" u="sng">
                <a:hlinkClick r:id="rId4"/>
              </a:rPr>
              <a:t>Threads (cppreference)</a:t>
            </a:r>
            <a:r>
              <a:rPr lang="en-US"/>
              <a:t>, </a:t>
            </a:r>
            <a:r>
              <a:rPr lang="en-US" u="sng">
                <a:hlinkClick r:id="rId5"/>
              </a:rPr>
              <a:t>Mutex(cppreference)</a:t>
            </a:r>
            <a:r>
              <a:rPr lang="en-US"/>
              <a:t>, </a:t>
            </a:r>
            <a:r>
              <a:rPr lang="en-US" u="sng">
                <a:solidFill>
                  <a:schemeClr val="hlink"/>
                </a:solidFill>
                <a:hlinkClick r:id="rId6"/>
              </a:rPr>
              <a:t>RAII (cppreference)</a:t>
            </a:r>
            <a:endParaRPr lang="en-US"/>
          </a:p>
          <a:p>
            <a:pPr lvl="0">
              <a:defRPr/>
            </a:pPr>
            <a:r>
              <a:rPr lang="en-US"/>
              <a:t>Java: TpC, Non-Blocking IO</a:t>
            </a:r>
          </a:p>
          <a:p>
            <a:pPr lvl="1">
              <a:defRPr/>
            </a:pPr>
            <a:r>
              <a:rPr lang="en-US" u="sng">
                <a:hlinkClick r:id="rId7"/>
              </a:rPr>
              <a:t>TpC</a:t>
            </a:r>
            <a:r>
              <a:rPr lang="en-US"/>
              <a:t>, </a:t>
            </a:r>
            <a:r>
              <a:rPr lang="en-US" u="sng">
                <a:hlinkClick r:id="rId8"/>
              </a:rPr>
              <a:t>Non-Blocking Time Server NIO Example</a:t>
            </a:r>
            <a:endParaRPr lang="en-US"/>
          </a:p>
          <a:p>
            <a:pPr lvl="0">
              <a:defRPr/>
            </a:pPr>
            <a:r>
              <a:rPr lang="en-US" u="sng">
                <a:hlinkClick r:id="rId9"/>
              </a:rPr>
              <a:t>Stomp</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TotalTime>
  <Words>2389</Words>
  <Application>Microsoft Office PowerPoint</Application>
  <PresentationFormat>Widescreen</PresentationFormat>
  <Paragraphs>396</Paragraphs>
  <Slides>36</Slides>
  <Notes>36</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vt:lpstr>
      <vt:lpstr>Calibri</vt:lpstr>
      <vt:lpstr>Calibri Light</vt:lpstr>
      <vt:lpstr>JetBrains Mono</vt:lpstr>
      <vt:lpstr>Office Theme</vt:lpstr>
      <vt:lpstr>SPL – PS10</vt:lpstr>
      <vt:lpstr>Overview</vt:lpstr>
      <vt:lpstr>Message Encoder Decoder</vt:lpstr>
      <vt:lpstr>Message Encoder Decoder</vt:lpstr>
      <vt:lpstr>Messaging Protocol</vt:lpstr>
      <vt:lpstr>Thread per Client Server</vt:lpstr>
      <vt:lpstr>Blocking Connection Handler</vt:lpstr>
      <vt:lpstr>Thread per client server (cont)</vt:lpstr>
      <vt:lpstr>PowerPoint Presentation</vt:lpstr>
      <vt:lpstr>Thread per Client in Java</vt:lpstr>
      <vt:lpstr>Multi-Threading in C++</vt:lpstr>
      <vt:lpstr>Multi-Threading in Java vs. C++</vt:lpstr>
      <vt:lpstr>Multi-Threading in Java vs. C++</vt:lpstr>
      <vt:lpstr>Multi-Threading in C++</vt:lpstr>
      <vt:lpstr>Mutex: the C++ version of synchronized</vt:lpstr>
      <vt:lpstr>RAII locking with std::lock_guard</vt:lpstr>
      <vt:lpstr>Threading in C++ example</vt:lpstr>
      <vt:lpstr>Threading in C++ example(cont)</vt:lpstr>
      <vt:lpstr>Publisher/Subscriber in C++</vt:lpstr>
      <vt:lpstr>TCP Client in C++</vt:lpstr>
      <vt:lpstr>Java NIO</vt:lpstr>
      <vt:lpstr>Channels</vt:lpstr>
      <vt:lpstr>Channels example</vt:lpstr>
      <vt:lpstr>Buffers</vt:lpstr>
      <vt:lpstr>Flipping</vt:lpstr>
      <vt:lpstr>Flipping (cont)</vt:lpstr>
      <vt:lpstr>PowerPoint Presentation</vt:lpstr>
      <vt:lpstr>From channel to buffer and back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Further Reading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SPL – PS10</dc:title>
  <dc:creator>Dolav Nitay</dc:creator>
  <cp:lastModifiedBy>לוטם סקירה</cp:lastModifiedBy>
  <cp:revision>106</cp:revision>
  <dcterms:created xsi:type="dcterms:W3CDTF">2018-12-13T13:04:42Z</dcterms:created>
  <dcterms:modified xsi:type="dcterms:W3CDTF">2025-12-29T08:05:01Z</dcterms:modified>
</cp:coreProperties>
</file>