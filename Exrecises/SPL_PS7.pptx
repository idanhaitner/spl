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73" r:id="rId4"/>
    <p:sldId id="279" r:id="rId5"/>
    <p:sldId id="277" r:id="rId6"/>
    <p:sldId id="278" r:id="rId7"/>
    <p:sldId id="276" r:id="rId8"/>
    <p:sldId id="258" r:id="rId9"/>
    <p:sldId id="259" r:id="rId10"/>
    <p:sldId id="272" r:id="rId11"/>
    <p:sldId id="275" r:id="rId12"/>
    <p:sldId id="260" r:id="rId13"/>
    <p:sldId id="261" r:id="rId14"/>
    <p:sldId id="262" r:id="rId15"/>
    <p:sldId id="263" r:id="rId16"/>
    <p:sldId id="264" r:id="rId17"/>
    <p:sldId id="265" r:id="rId18"/>
    <p:sldId id="270" r:id="rId19"/>
    <p:sldId id="271" r:id="rId20"/>
    <p:sldId id="274" r:id="rId21"/>
    <p:sldId id="266" r:id="rId22"/>
    <p:sldId id="267" r:id="rId23"/>
    <p:sldId id="268" r:id="rId24"/>
    <p:sldId id="26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57" autoAdjust="0"/>
    <p:restoredTop sz="94719"/>
  </p:normalViewPr>
  <p:slideViewPr>
    <p:cSldViewPr snapToGrid="0">
      <p:cViewPr varScale="1">
        <p:scale>
          <a:sx n="152" d="100"/>
          <a:sy n="152" d="100"/>
        </p:scale>
        <p:origin x="53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EB6C04-6A4F-714C-BF0D-ADAD47B33895}" type="datetimeFigureOut">
              <a:rPr lang="en-US" smtClean="0"/>
              <a:t>12/19/24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FAE03-7847-D642-BC33-D5C897F37728}" type="slidenum">
              <a:rPr lang="en-US" smtClean="0"/>
              <a:t>‹#›</a:t>
            </a:fld>
            <a:endParaRPr lang="en-US"/>
          </a:p>
        </p:txBody>
      </p:sp>
    </p:spTree>
    <p:extLst>
      <p:ext uri="{BB962C8B-B14F-4D97-AF65-F5344CB8AC3E}">
        <p14:creationId xmlns:p14="http://schemas.microsoft.com/office/powerpoint/2010/main" val="2929883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code example in the </a:t>
            </a:r>
            <a:r>
              <a:rPr lang="en-US" dirty="0" err="1"/>
              <a:t>main.java</a:t>
            </a:r>
            <a:r>
              <a:rPr lang="en-US" dirty="0"/>
              <a:t> file</a:t>
            </a:r>
          </a:p>
        </p:txBody>
      </p:sp>
      <p:sp>
        <p:nvSpPr>
          <p:cNvPr id="4" name="Slide Number Placeholder 3"/>
          <p:cNvSpPr>
            <a:spLocks noGrp="1"/>
          </p:cNvSpPr>
          <p:nvPr>
            <p:ph type="sldNum" sz="quarter" idx="5"/>
          </p:nvPr>
        </p:nvSpPr>
        <p:spPr/>
        <p:txBody>
          <a:bodyPr/>
          <a:lstStyle/>
          <a:p>
            <a:fld id="{743FAE03-7847-D642-BC33-D5C897F37728}" type="slidenum">
              <a:rPr lang="en-US" smtClean="0"/>
              <a:t>19</a:t>
            </a:fld>
            <a:endParaRPr lang="en-US"/>
          </a:p>
        </p:txBody>
      </p:sp>
    </p:spTree>
    <p:extLst>
      <p:ext uri="{BB962C8B-B14F-4D97-AF65-F5344CB8AC3E}">
        <p14:creationId xmlns:p14="http://schemas.microsoft.com/office/powerpoint/2010/main" val="2664349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3173554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3356481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2241305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3832460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3754296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1895801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2977659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552520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3274603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1431066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E2ED264-19A8-46BA-87BB-C08F41786CD0}" type="slidenum">
              <a:rPr lang="he-IL" smtClean="0"/>
              <a:t>‹#›</a:t>
            </a:fld>
            <a:endParaRPr lang="he-IL"/>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84433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4081590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E2ED264-19A8-46BA-87BB-C08F41786CD0}" type="slidenum">
              <a:rPr lang="he-IL" smtClean="0"/>
              <a:t>‹#›</a:t>
            </a:fld>
            <a:endParaRPr lang="he-IL"/>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05304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2473159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3576535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78D038-5F0B-4089-83C5-F06D8D138375}" type="datetimeFigureOut">
              <a:rPr lang="he-IL" smtClean="0"/>
              <a:t>י"ח.כסלו.תשפ"ה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E2ED264-19A8-46BA-87BB-C08F41786CD0}" type="slidenum">
              <a:rPr lang="he-IL" smtClean="0"/>
              <a:t>‹#›</a:t>
            </a:fld>
            <a:endParaRPr lang="he-IL"/>
          </a:p>
        </p:txBody>
      </p:sp>
    </p:spTree>
    <p:extLst>
      <p:ext uri="{BB962C8B-B14F-4D97-AF65-F5344CB8AC3E}">
        <p14:creationId xmlns:p14="http://schemas.microsoft.com/office/powerpoint/2010/main" val="718642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C78D038-5F0B-4089-83C5-F06D8D138375}" type="datetimeFigureOut">
              <a:rPr lang="he-IL" smtClean="0"/>
              <a:t>י"ח.כסלו.תשפ"ה</a:t>
            </a:fld>
            <a:endParaRPr lang="he-IL"/>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E2ED264-19A8-46BA-87BB-C08F41786CD0}" type="slidenum">
              <a:rPr lang="he-IL" smtClean="0"/>
              <a:t>‹#›</a:t>
            </a:fld>
            <a:endParaRPr lang="he-IL"/>
          </a:p>
        </p:txBody>
      </p:sp>
    </p:spTree>
    <p:extLst>
      <p:ext uri="{BB962C8B-B14F-4D97-AF65-F5344CB8AC3E}">
        <p14:creationId xmlns:p14="http://schemas.microsoft.com/office/powerpoint/2010/main" val="37348034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AF983-F0F3-4EE9-9A2E-D94B77FBD0C0}"/>
              </a:ext>
            </a:extLst>
          </p:cNvPr>
          <p:cNvSpPr>
            <a:spLocks noGrp="1"/>
          </p:cNvSpPr>
          <p:nvPr>
            <p:ph type="ctrTitle"/>
          </p:nvPr>
        </p:nvSpPr>
        <p:spPr/>
        <p:txBody>
          <a:bodyPr/>
          <a:lstStyle/>
          <a:p>
            <a:r>
              <a:rPr lang="en-US" dirty="0"/>
              <a:t>SPL – PS7</a:t>
            </a:r>
            <a:endParaRPr lang="he-IL" dirty="0"/>
          </a:p>
        </p:txBody>
      </p:sp>
      <p:sp>
        <p:nvSpPr>
          <p:cNvPr id="3" name="Subtitle 2">
            <a:extLst>
              <a:ext uri="{FF2B5EF4-FFF2-40B4-BE49-F238E27FC236}">
                <a16:creationId xmlns:a16="http://schemas.microsoft.com/office/drawing/2014/main" id="{FB11409C-7C68-404D-B34E-F095079BB2B4}"/>
              </a:ext>
            </a:extLst>
          </p:cNvPr>
          <p:cNvSpPr>
            <a:spLocks noGrp="1"/>
          </p:cNvSpPr>
          <p:nvPr>
            <p:ph type="subTitle" idx="1"/>
          </p:nvPr>
        </p:nvSpPr>
        <p:spPr/>
        <p:txBody>
          <a:bodyPr/>
          <a:lstStyle/>
          <a:p>
            <a:r>
              <a:rPr lang="en-US" dirty="0"/>
              <a:t>Synchronization and liveness</a:t>
            </a:r>
            <a:endParaRPr lang="he-IL" dirty="0"/>
          </a:p>
        </p:txBody>
      </p:sp>
    </p:spTree>
    <p:extLst>
      <p:ext uri="{BB962C8B-B14F-4D97-AF65-F5344CB8AC3E}">
        <p14:creationId xmlns:p14="http://schemas.microsoft.com/office/powerpoint/2010/main" val="1911835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1CC11-1044-43C2-9CE8-8F8D0E444DC1}"/>
              </a:ext>
            </a:extLst>
          </p:cNvPr>
          <p:cNvSpPr>
            <a:spLocks noGrp="1"/>
          </p:cNvSpPr>
          <p:nvPr>
            <p:ph type="title"/>
          </p:nvPr>
        </p:nvSpPr>
        <p:spPr/>
        <p:txBody>
          <a:bodyPr/>
          <a:lstStyle/>
          <a:p>
            <a:r>
              <a:rPr lang="en-US" dirty="0"/>
              <a:t>Overview</a:t>
            </a:r>
            <a:endParaRPr lang="he-IL" dirty="0"/>
          </a:p>
        </p:txBody>
      </p:sp>
      <p:sp>
        <p:nvSpPr>
          <p:cNvPr id="3" name="Content Placeholder 2">
            <a:extLst>
              <a:ext uri="{FF2B5EF4-FFF2-40B4-BE49-F238E27FC236}">
                <a16:creationId xmlns:a16="http://schemas.microsoft.com/office/drawing/2014/main" id="{67758F40-F281-4B7D-859A-8F0E12B707E1}"/>
              </a:ext>
            </a:extLst>
          </p:cNvPr>
          <p:cNvSpPr>
            <a:spLocks noGrp="1"/>
          </p:cNvSpPr>
          <p:nvPr>
            <p:ph idx="1"/>
          </p:nvPr>
        </p:nvSpPr>
        <p:spPr/>
        <p:txBody>
          <a:bodyPr/>
          <a:lstStyle/>
          <a:p>
            <a:r>
              <a:rPr lang="en-US" dirty="0"/>
              <a:t>Thread Confinement</a:t>
            </a:r>
          </a:p>
          <a:p>
            <a:r>
              <a:rPr lang="en-US" dirty="0"/>
              <a:t>Immutability</a:t>
            </a:r>
          </a:p>
          <a:p>
            <a:r>
              <a:rPr lang="en-US" dirty="0"/>
              <a:t>Locking and synchronization</a:t>
            </a:r>
          </a:p>
          <a:p>
            <a:r>
              <a:rPr lang="en-US" dirty="0"/>
              <a:t>Atomic actions</a:t>
            </a:r>
          </a:p>
          <a:p>
            <a:r>
              <a:rPr lang="en-US" dirty="0"/>
              <a:t>Guarded methods</a:t>
            </a:r>
          </a:p>
          <a:p>
            <a:r>
              <a:rPr lang="en-US" dirty="0"/>
              <a:t>Concurrency states</a:t>
            </a:r>
          </a:p>
          <a:p>
            <a:r>
              <a:rPr lang="en-US" dirty="0"/>
              <a:t>Producers-consumers pattern and blocking queues.</a:t>
            </a:r>
          </a:p>
        </p:txBody>
      </p:sp>
    </p:spTree>
    <p:extLst>
      <p:ext uri="{BB962C8B-B14F-4D97-AF65-F5344CB8AC3E}">
        <p14:creationId xmlns:p14="http://schemas.microsoft.com/office/powerpoint/2010/main" val="2497638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90DFEFA-E7BC-289D-4A78-7F09D96AD247}"/>
              </a:ext>
            </a:extLst>
          </p:cNvPr>
          <p:cNvSpPr>
            <a:spLocks noGrp="1"/>
          </p:cNvSpPr>
          <p:nvPr>
            <p:ph idx="1"/>
          </p:nvPr>
        </p:nvSpPr>
        <p:spPr>
          <a:xfrm>
            <a:off x="538411" y="1234613"/>
            <a:ext cx="10972359" cy="3880773"/>
          </a:xfrm>
        </p:spPr>
        <p:txBody>
          <a:bodyPr>
            <a:normAutofit/>
          </a:bodyPr>
          <a:lstStyle/>
          <a:p>
            <a:pPr marL="0" indent="0">
              <a:buNone/>
            </a:pPr>
            <a:r>
              <a:rPr lang="en-US" sz="1900" b="1" dirty="0"/>
              <a:t>The Idea - If a resource is accessed only by one thread, no synchronization is needed.</a:t>
            </a:r>
          </a:p>
          <a:p>
            <a:pPr marL="0" indent="0">
              <a:buNone/>
            </a:pPr>
            <a:endParaRPr lang="en-US" dirty="0"/>
          </a:p>
          <a:p>
            <a:r>
              <a:rPr lang="en-US" dirty="0"/>
              <a:t>You can confine certain variables to just one thread.</a:t>
            </a:r>
            <a:endParaRPr lang="he-IL" dirty="0"/>
          </a:p>
        </p:txBody>
      </p:sp>
      <p:sp>
        <p:nvSpPr>
          <p:cNvPr id="7" name="Title 1">
            <a:extLst>
              <a:ext uri="{FF2B5EF4-FFF2-40B4-BE49-F238E27FC236}">
                <a16:creationId xmlns:a16="http://schemas.microsoft.com/office/drawing/2014/main" id="{3C6C3202-9600-4273-A36D-65707092AF36}"/>
              </a:ext>
            </a:extLst>
          </p:cNvPr>
          <p:cNvSpPr>
            <a:spLocks noGrp="1"/>
          </p:cNvSpPr>
          <p:nvPr>
            <p:ph type="title"/>
          </p:nvPr>
        </p:nvSpPr>
        <p:spPr>
          <a:xfrm>
            <a:off x="2390488" y="144277"/>
            <a:ext cx="4471707" cy="660400"/>
          </a:xfrm>
        </p:spPr>
        <p:txBody>
          <a:bodyPr>
            <a:normAutofit/>
          </a:bodyPr>
          <a:lstStyle/>
          <a:p>
            <a:r>
              <a:rPr lang="en-US" dirty="0"/>
              <a:t>Thread Confinement</a:t>
            </a:r>
            <a:endParaRPr lang="he-IL" dirty="0"/>
          </a:p>
        </p:txBody>
      </p:sp>
      <p:pic>
        <p:nvPicPr>
          <p:cNvPr id="8" name="Picture 7" descr="A screen shot of a computer code&#10;&#10;Description automatically generated">
            <a:extLst>
              <a:ext uri="{FF2B5EF4-FFF2-40B4-BE49-F238E27FC236}">
                <a16:creationId xmlns:a16="http://schemas.microsoft.com/office/drawing/2014/main" id="{C8DDC0D6-3CA2-444C-DEC4-AE49AA38E9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230" y="3175001"/>
            <a:ext cx="4221739" cy="3208522"/>
          </a:xfrm>
          <a:prstGeom prst="rect">
            <a:avLst/>
          </a:prstGeom>
        </p:spPr>
      </p:pic>
      <p:pic>
        <p:nvPicPr>
          <p:cNvPr id="10" name="Picture 9" descr="A screen shot of a computer code&#10;&#10;Description automatically generated">
            <a:extLst>
              <a:ext uri="{FF2B5EF4-FFF2-40B4-BE49-F238E27FC236}">
                <a16:creationId xmlns:a16="http://schemas.microsoft.com/office/drawing/2014/main" id="{8D3F73CF-D24D-000A-D787-628BDD3CF9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6675" y="3175000"/>
            <a:ext cx="4413566" cy="3208522"/>
          </a:xfrm>
          <a:prstGeom prst="rect">
            <a:avLst/>
          </a:prstGeom>
        </p:spPr>
      </p:pic>
    </p:spTree>
    <p:extLst>
      <p:ext uri="{BB962C8B-B14F-4D97-AF65-F5344CB8AC3E}">
        <p14:creationId xmlns:p14="http://schemas.microsoft.com/office/powerpoint/2010/main" val="229735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90DFEFA-E7BC-289D-4A78-7F09D96AD247}"/>
              </a:ext>
            </a:extLst>
          </p:cNvPr>
          <p:cNvSpPr>
            <a:spLocks noGrp="1"/>
          </p:cNvSpPr>
          <p:nvPr>
            <p:ph idx="1"/>
          </p:nvPr>
        </p:nvSpPr>
        <p:spPr>
          <a:xfrm>
            <a:off x="963827" y="1311337"/>
            <a:ext cx="8596668" cy="3880773"/>
          </a:xfrm>
        </p:spPr>
        <p:txBody>
          <a:bodyPr>
            <a:normAutofit fontScale="85000" lnSpcReduction="20000"/>
          </a:bodyPr>
          <a:lstStyle/>
          <a:p>
            <a:pPr marL="0" indent="0">
              <a:buNone/>
            </a:pPr>
            <a:r>
              <a:rPr lang="en-US" sz="1900" b="1" dirty="0"/>
              <a:t>The Idea – Instead of modify an object, return a new one.</a:t>
            </a:r>
          </a:p>
          <a:p>
            <a:pPr marL="0" indent="0">
              <a:buNone/>
            </a:pPr>
            <a:endParaRPr lang="en-US" dirty="0"/>
          </a:p>
          <a:p>
            <a:pPr marL="0" indent="0">
              <a:buNone/>
            </a:pPr>
            <a:r>
              <a:rPr lang="en-US" dirty="0"/>
              <a:t>A class will be immutable if the following are true:</a:t>
            </a:r>
          </a:p>
          <a:p>
            <a:pPr marL="0" indent="0">
              <a:buNone/>
            </a:pPr>
            <a:endParaRPr lang="en-US" dirty="0"/>
          </a:p>
          <a:p>
            <a:r>
              <a:rPr lang="en-US" dirty="0"/>
              <a:t>All of it’s fields are final.</a:t>
            </a:r>
          </a:p>
          <a:p>
            <a:r>
              <a:rPr lang="en-US" dirty="0"/>
              <a:t>The class is declared final.</a:t>
            </a:r>
          </a:p>
          <a:p>
            <a:r>
              <a:rPr lang="en-US" dirty="0"/>
              <a:t>The </a:t>
            </a:r>
            <a:r>
              <a:rPr lang="en-US" dirty="0">
                <a:solidFill>
                  <a:srgbClr val="00B050"/>
                </a:solidFill>
                <a:latin typeface="JetBrains Mono" panose="02000009000000000000" pitchFamily="49" charset="0"/>
              </a:rPr>
              <a:t>this</a:t>
            </a:r>
            <a:r>
              <a:rPr lang="en-US" dirty="0"/>
              <a:t> reference is not allowed to escape during construction.</a:t>
            </a:r>
          </a:p>
          <a:p>
            <a:r>
              <a:rPr lang="en-US" dirty="0"/>
              <a:t>Any fields that contain references to mutable objects:</a:t>
            </a:r>
          </a:p>
          <a:p>
            <a:pPr lvl="1"/>
            <a:r>
              <a:rPr lang="en-US" dirty="0"/>
              <a:t>Are private</a:t>
            </a:r>
          </a:p>
          <a:p>
            <a:pPr lvl="1"/>
            <a:r>
              <a:rPr lang="en-US" dirty="0"/>
              <a:t>Are never returned or exposed to the caller</a:t>
            </a:r>
          </a:p>
          <a:p>
            <a:pPr lvl="1"/>
            <a:r>
              <a:rPr lang="en-US" dirty="0"/>
              <a:t>Are the only reference to the object they refer to</a:t>
            </a:r>
          </a:p>
          <a:p>
            <a:pPr lvl="1"/>
            <a:r>
              <a:rPr lang="en-US" dirty="0"/>
              <a:t>Do not change the state of the referenced object after construction.</a:t>
            </a:r>
          </a:p>
        </p:txBody>
      </p:sp>
      <p:sp>
        <p:nvSpPr>
          <p:cNvPr id="5" name="TextBox 4">
            <a:extLst>
              <a:ext uri="{FF2B5EF4-FFF2-40B4-BE49-F238E27FC236}">
                <a16:creationId xmlns:a16="http://schemas.microsoft.com/office/drawing/2014/main" id="{5F862547-DF9A-4D91-0DDC-C88B4F11296A}"/>
              </a:ext>
            </a:extLst>
          </p:cNvPr>
          <p:cNvSpPr txBox="1"/>
          <p:nvPr/>
        </p:nvSpPr>
        <p:spPr>
          <a:xfrm>
            <a:off x="1130644" y="3791727"/>
            <a:ext cx="4421659" cy="2800767"/>
          </a:xfrm>
          <a:prstGeom prst="rect">
            <a:avLst/>
          </a:prstGeom>
          <a:solidFill>
            <a:schemeClr val="bg1">
              <a:lumMod val="95000"/>
            </a:schemeClr>
          </a:solidFill>
        </p:spPr>
        <p:txBody>
          <a:bodyPr wrap="square">
            <a:spAutoFit/>
          </a:bodyPr>
          <a:lstStyle/>
          <a:p>
            <a:r>
              <a:rPr lang="en-US" sz="1600" b="0" dirty="0">
                <a:solidFill>
                  <a:srgbClr val="C678DD"/>
                </a:solidFill>
                <a:effectLst/>
                <a:latin typeface="JetBrains Mono" panose="02000009000000000000" pitchFamily="49" charset="0"/>
              </a:rPr>
              <a:t>public</a:t>
            </a:r>
            <a:r>
              <a:rPr lang="en-US" sz="1600" b="0" dirty="0">
                <a:solidFill>
                  <a:srgbClr val="E06C75"/>
                </a:solidFill>
                <a:effectLst/>
                <a:latin typeface="JetBrains Mono" panose="02000009000000000000" pitchFamily="49" charset="0"/>
              </a:rPr>
              <a:t> </a:t>
            </a:r>
            <a:r>
              <a:rPr lang="en-US" sz="1600" b="0" dirty="0">
                <a:solidFill>
                  <a:srgbClr val="C678DD"/>
                </a:solidFill>
                <a:effectLst/>
                <a:latin typeface="JetBrains Mono" panose="02000009000000000000" pitchFamily="49" charset="0"/>
              </a:rPr>
              <a:t>class</a:t>
            </a:r>
            <a:r>
              <a:rPr lang="en-US" sz="1600" b="0" dirty="0">
                <a:solidFill>
                  <a:srgbClr val="E06C75"/>
                </a:solidFill>
                <a:effectLst/>
                <a:latin typeface="JetBrains Mono" panose="02000009000000000000" pitchFamily="49" charset="0"/>
              </a:rPr>
              <a:t> </a:t>
            </a:r>
            <a:r>
              <a:rPr lang="en-US" sz="1600" b="0" dirty="0">
                <a:solidFill>
                  <a:srgbClr val="E5C07B"/>
                </a:solidFill>
                <a:effectLst/>
                <a:latin typeface="JetBrains Mono" panose="02000009000000000000" pitchFamily="49" charset="0"/>
              </a:rPr>
              <a:t>Escape</a:t>
            </a:r>
            <a:r>
              <a:rPr lang="en-US" sz="1600" b="0" dirty="0">
                <a:solidFill>
                  <a:srgbClr val="E06C75"/>
                </a:solidFill>
                <a:effectLst/>
                <a:latin typeface="JetBrains Mono" panose="02000009000000000000" pitchFamily="49" charset="0"/>
              </a:rPr>
              <a:t> </a:t>
            </a:r>
            <a:r>
              <a:rPr lang="en-US" sz="1600" b="0" dirty="0">
                <a:solidFill>
                  <a:srgbClr val="ABB2BF"/>
                </a:solidFill>
                <a:effectLst/>
                <a:latin typeface="JetBrains Mono" panose="02000009000000000000" pitchFamily="49" charset="0"/>
              </a:rPr>
              <a:t>{</a:t>
            </a:r>
          </a:p>
          <a:p>
            <a:r>
              <a:rPr lang="en-US" sz="1600" b="0" dirty="0">
                <a:solidFill>
                  <a:srgbClr val="C678DD"/>
                </a:solidFill>
                <a:effectLst/>
                <a:latin typeface="JetBrains Mono" panose="02000009000000000000" pitchFamily="49" charset="0"/>
              </a:rPr>
              <a:t>	private</a:t>
            </a:r>
            <a:r>
              <a:rPr lang="en-US" sz="1600" b="0" dirty="0">
                <a:solidFill>
                  <a:srgbClr val="E06C75"/>
                </a:solidFill>
                <a:effectLst/>
                <a:latin typeface="JetBrains Mono" panose="02000009000000000000" pitchFamily="49" charset="0"/>
              </a:rPr>
              <a:t> </a:t>
            </a:r>
            <a:r>
              <a:rPr lang="en-US" sz="1600" b="0" dirty="0">
                <a:solidFill>
                  <a:srgbClr val="C678DD"/>
                </a:solidFill>
                <a:effectLst/>
                <a:latin typeface="JetBrains Mono" panose="02000009000000000000" pitchFamily="49" charset="0"/>
              </a:rPr>
              <a:t>int</a:t>
            </a:r>
            <a:r>
              <a:rPr lang="en-US" sz="1600" b="0" dirty="0">
                <a:solidFill>
                  <a:srgbClr val="E06C75"/>
                </a:solidFill>
                <a:effectLst/>
                <a:latin typeface="JetBrains Mono" panose="02000009000000000000" pitchFamily="49" charset="0"/>
              </a:rPr>
              <a:t> x</a:t>
            </a:r>
            <a:r>
              <a:rPr lang="en-US" sz="1600" b="0" dirty="0">
                <a:solidFill>
                  <a:srgbClr val="ABB2BF"/>
                </a:solidFill>
                <a:effectLst/>
                <a:latin typeface="JetBrains Mono" panose="02000009000000000000" pitchFamily="49" charset="0"/>
              </a:rPr>
              <a:t>;</a:t>
            </a:r>
          </a:p>
          <a:p>
            <a:r>
              <a:rPr lang="en-US" sz="1600" b="0" dirty="0">
                <a:solidFill>
                  <a:srgbClr val="C678DD"/>
                </a:solidFill>
                <a:effectLst/>
                <a:latin typeface="JetBrains Mono" panose="02000009000000000000" pitchFamily="49" charset="0"/>
              </a:rPr>
              <a:t>	public</a:t>
            </a:r>
            <a:r>
              <a:rPr lang="en-US" sz="1600" b="0" dirty="0">
                <a:solidFill>
                  <a:srgbClr val="61AFEF"/>
                </a:solidFill>
                <a:effectLst/>
                <a:latin typeface="JetBrains Mono" panose="02000009000000000000" pitchFamily="49" charset="0"/>
              </a:rPr>
              <a:t> Escape</a:t>
            </a:r>
            <a:r>
              <a:rPr lang="en-US" sz="1600" b="0" dirty="0">
                <a:solidFill>
                  <a:srgbClr val="ABB2BF"/>
                </a:solidFill>
                <a:effectLst/>
                <a:latin typeface="JetBrains Mono" panose="02000009000000000000" pitchFamily="49" charset="0"/>
              </a:rPr>
              <a:t>(</a:t>
            </a:r>
            <a:r>
              <a:rPr lang="en-US" sz="1600" b="0" dirty="0">
                <a:solidFill>
                  <a:srgbClr val="E5C07B"/>
                </a:solidFill>
                <a:effectLst/>
                <a:latin typeface="JetBrains Mono" panose="02000009000000000000" pitchFamily="49" charset="0"/>
              </a:rPr>
              <a:t>Outside</a:t>
            </a:r>
            <a:r>
              <a:rPr lang="en-US" sz="1600" b="0" dirty="0">
                <a:solidFill>
                  <a:srgbClr val="ABB2BF"/>
                </a:solidFill>
                <a:effectLst/>
                <a:latin typeface="JetBrains Mono" panose="02000009000000000000" pitchFamily="49" charset="0"/>
              </a:rPr>
              <a:t> </a:t>
            </a:r>
            <a:r>
              <a:rPr lang="en-US" sz="1600" b="0" i="1" dirty="0">
                <a:solidFill>
                  <a:srgbClr val="E06C75"/>
                </a:solidFill>
                <a:effectLst/>
                <a:latin typeface="JetBrains Mono" panose="02000009000000000000" pitchFamily="49" charset="0"/>
              </a:rPr>
              <a:t>out</a:t>
            </a:r>
            <a:r>
              <a:rPr lang="en-US" sz="1600" b="0" dirty="0">
                <a:solidFill>
                  <a:srgbClr val="ABB2BF"/>
                </a:solidFill>
                <a:effectLst/>
                <a:latin typeface="JetBrains Mono" panose="02000009000000000000" pitchFamily="49" charset="0"/>
              </a:rPr>
              <a:t>){</a:t>
            </a:r>
          </a:p>
          <a:p>
            <a:r>
              <a:rPr lang="en-US" sz="1600" b="0" i="1" dirty="0">
                <a:solidFill>
                  <a:srgbClr val="E06C75"/>
                </a:solidFill>
                <a:effectLst/>
                <a:latin typeface="JetBrains Mono" panose="02000009000000000000" pitchFamily="49" charset="0"/>
              </a:rPr>
              <a:t>		</a:t>
            </a:r>
            <a:r>
              <a:rPr lang="en-US" sz="1600" b="0" i="1" dirty="0" err="1">
                <a:solidFill>
                  <a:srgbClr val="E06C75"/>
                </a:solidFill>
                <a:effectLst/>
                <a:latin typeface="JetBrains Mono" panose="02000009000000000000" pitchFamily="49" charset="0"/>
              </a:rPr>
              <a:t>out</a:t>
            </a:r>
            <a:r>
              <a:rPr lang="en-US" sz="1600" b="0" dirty="0" err="1">
                <a:solidFill>
                  <a:srgbClr val="ABB2BF"/>
                </a:solidFill>
                <a:effectLst/>
                <a:latin typeface="JetBrains Mono" panose="02000009000000000000" pitchFamily="49" charset="0"/>
              </a:rPr>
              <a:t>.</a:t>
            </a:r>
            <a:r>
              <a:rPr lang="en-US" sz="1600" b="0" dirty="0" err="1">
                <a:solidFill>
                  <a:srgbClr val="61AFEF"/>
                </a:solidFill>
                <a:effectLst/>
                <a:latin typeface="JetBrains Mono" panose="02000009000000000000" pitchFamily="49" charset="0"/>
              </a:rPr>
              <a:t>readEscape</a:t>
            </a:r>
            <a:r>
              <a:rPr lang="en-US" sz="1600" b="0" dirty="0">
                <a:solidFill>
                  <a:srgbClr val="ABB2BF"/>
                </a:solidFill>
                <a:effectLst/>
                <a:latin typeface="JetBrains Mono" panose="02000009000000000000" pitchFamily="49" charset="0"/>
              </a:rPr>
              <a:t>(</a:t>
            </a:r>
            <a:r>
              <a:rPr lang="en-US" sz="1600" b="0" dirty="0">
                <a:solidFill>
                  <a:srgbClr val="E5C07B"/>
                </a:solidFill>
                <a:effectLst/>
                <a:latin typeface="JetBrains Mono" panose="02000009000000000000" pitchFamily="49" charset="0"/>
              </a:rPr>
              <a:t>this</a:t>
            </a:r>
            <a:r>
              <a:rPr lang="en-US" sz="1600" b="0" dirty="0">
                <a:solidFill>
                  <a:srgbClr val="ABB2BF"/>
                </a:solidFill>
                <a:effectLst/>
                <a:latin typeface="JetBrains Mono" panose="02000009000000000000" pitchFamily="49" charset="0"/>
              </a:rPr>
              <a:t>);</a:t>
            </a:r>
          </a:p>
          <a:p>
            <a:r>
              <a:rPr lang="en-US" sz="1600" b="0" dirty="0">
                <a:solidFill>
                  <a:srgbClr val="E06C75"/>
                </a:solidFill>
                <a:effectLst/>
                <a:latin typeface="JetBrains Mono" panose="02000009000000000000" pitchFamily="49" charset="0"/>
              </a:rPr>
              <a:t>		x</a:t>
            </a:r>
            <a:r>
              <a:rPr lang="en-US" sz="1600" b="0" dirty="0">
                <a:solidFill>
                  <a:srgbClr val="ABB2BF"/>
                </a:solidFill>
                <a:effectLst/>
                <a:latin typeface="JetBrains Mono" panose="02000009000000000000" pitchFamily="49" charset="0"/>
              </a:rPr>
              <a:t> </a:t>
            </a:r>
            <a:r>
              <a:rPr lang="en-US" sz="1600" b="0" dirty="0">
                <a:solidFill>
                  <a:srgbClr val="56B6C2"/>
                </a:solidFill>
                <a:effectLst/>
                <a:latin typeface="JetBrains Mono" panose="02000009000000000000" pitchFamily="49" charset="0"/>
              </a:rPr>
              <a:t>=</a:t>
            </a:r>
            <a:r>
              <a:rPr lang="en-US" sz="1600" b="0" dirty="0">
                <a:solidFill>
                  <a:srgbClr val="ABB2BF"/>
                </a:solidFill>
                <a:effectLst/>
                <a:latin typeface="JetBrains Mono" panose="02000009000000000000" pitchFamily="49" charset="0"/>
              </a:rPr>
              <a:t> </a:t>
            </a:r>
            <a:r>
              <a:rPr lang="en-US" sz="1600" b="0" dirty="0">
                <a:solidFill>
                  <a:srgbClr val="D19A66"/>
                </a:solidFill>
                <a:effectLst/>
                <a:latin typeface="JetBrains Mono" panose="02000009000000000000" pitchFamily="49" charset="0"/>
              </a:rPr>
              <a:t>7</a:t>
            </a:r>
            <a:r>
              <a:rPr lang="en-US" sz="1600" b="0" dirty="0">
                <a:solidFill>
                  <a:srgbClr val="ABB2BF"/>
                </a:solidFill>
                <a:effectLst/>
                <a:latin typeface="JetBrains Mono" panose="02000009000000000000" pitchFamily="49" charset="0"/>
              </a:rPr>
              <a:t>;</a:t>
            </a:r>
          </a:p>
          <a:p>
            <a:r>
              <a:rPr lang="en-US" sz="1600" b="0" dirty="0">
                <a:solidFill>
                  <a:srgbClr val="ABB2BF"/>
                </a:solidFill>
                <a:effectLst/>
                <a:latin typeface="JetBrains Mono" panose="02000009000000000000" pitchFamily="49" charset="0"/>
              </a:rPr>
              <a:t>	}</a:t>
            </a:r>
          </a:p>
          <a:p>
            <a:br>
              <a:rPr lang="en-US" sz="1600" b="0" dirty="0">
                <a:solidFill>
                  <a:srgbClr val="ABB2BF"/>
                </a:solidFill>
                <a:effectLst/>
                <a:latin typeface="JetBrains Mono" panose="02000009000000000000" pitchFamily="49" charset="0"/>
              </a:rPr>
            </a:br>
            <a:r>
              <a:rPr lang="en-US" sz="1600" b="0" dirty="0">
                <a:solidFill>
                  <a:srgbClr val="ABB2BF"/>
                </a:solidFill>
                <a:effectLst/>
                <a:latin typeface="JetBrains Mono" panose="02000009000000000000" pitchFamily="49" charset="0"/>
              </a:rPr>
              <a:t>	</a:t>
            </a:r>
            <a:r>
              <a:rPr lang="en-US" sz="1600" b="0" dirty="0">
                <a:solidFill>
                  <a:srgbClr val="C678DD"/>
                </a:solidFill>
                <a:effectLst/>
                <a:latin typeface="JetBrains Mono" panose="02000009000000000000" pitchFamily="49" charset="0"/>
              </a:rPr>
              <a:t>public</a:t>
            </a:r>
            <a:r>
              <a:rPr lang="en-US" sz="1600" b="0" dirty="0">
                <a:solidFill>
                  <a:srgbClr val="61AFEF"/>
                </a:solidFill>
                <a:effectLst/>
                <a:latin typeface="JetBrains Mono" panose="02000009000000000000" pitchFamily="49" charset="0"/>
              </a:rPr>
              <a:t> </a:t>
            </a:r>
            <a:r>
              <a:rPr lang="en-US" sz="1600" b="0" dirty="0">
                <a:solidFill>
                  <a:srgbClr val="C678DD"/>
                </a:solidFill>
                <a:effectLst/>
                <a:latin typeface="JetBrains Mono" panose="02000009000000000000" pitchFamily="49" charset="0"/>
              </a:rPr>
              <a:t>int</a:t>
            </a:r>
            <a:r>
              <a:rPr lang="en-US" sz="1600" b="0" dirty="0">
                <a:solidFill>
                  <a:srgbClr val="61AFEF"/>
                </a:solidFill>
                <a:effectLst/>
                <a:latin typeface="JetBrains Mono" panose="02000009000000000000" pitchFamily="49" charset="0"/>
              </a:rPr>
              <a:t> </a:t>
            </a:r>
            <a:r>
              <a:rPr lang="en-US" sz="1600" b="0" dirty="0" err="1">
                <a:solidFill>
                  <a:srgbClr val="61AFEF"/>
                </a:solidFill>
                <a:effectLst/>
                <a:latin typeface="JetBrains Mono" panose="02000009000000000000" pitchFamily="49" charset="0"/>
              </a:rPr>
              <a:t>getX</a:t>
            </a:r>
            <a:r>
              <a:rPr lang="en-US" sz="1600" b="0" dirty="0">
                <a:solidFill>
                  <a:srgbClr val="ABB2BF"/>
                </a:solidFill>
                <a:effectLst/>
                <a:latin typeface="JetBrains Mono" panose="02000009000000000000" pitchFamily="49" charset="0"/>
              </a:rPr>
              <a:t>()</a:t>
            </a:r>
            <a:r>
              <a:rPr lang="en-US" sz="1600" b="0" dirty="0">
                <a:solidFill>
                  <a:srgbClr val="61AFEF"/>
                </a:solidFill>
                <a:effectLst/>
                <a:latin typeface="JetBrains Mono" panose="02000009000000000000" pitchFamily="49" charset="0"/>
              </a:rPr>
              <a:t> </a:t>
            </a:r>
            <a:r>
              <a:rPr lang="en-US" sz="1600" b="0" dirty="0">
                <a:solidFill>
                  <a:srgbClr val="ABB2BF"/>
                </a:solidFill>
                <a:effectLst/>
                <a:latin typeface="JetBrains Mono" panose="02000009000000000000" pitchFamily="49" charset="0"/>
              </a:rPr>
              <a:t>{</a:t>
            </a:r>
          </a:p>
          <a:p>
            <a:r>
              <a:rPr lang="en-US" sz="1600" b="0" dirty="0">
                <a:solidFill>
                  <a:srgbClr val="C678DD"/>
                </a:solidFill>
                <a:effectLst/>
                <a:latin typeface="JetBrains Mono" panose="02000009000000000000" pitchFamily="49" charset="0"/>
              </a:rPr>
              <a:t>		return</a:t>
            </a:r>
            <a:r>
              <a:rPr lang="en-US" sz="1600" b="0" dirty="0">
                <a:solidFill>
                  <a:srgbClr val="ABB2BF"/>
                </a:solidFill>
                <a:effectLst/>
                <a:latin typeface="JetBrains Mono" panose="02000009000000000000" pitchFamily="49" charset="0"/>
              </a:rPr>
              <a:t> </a:t>
            </a:r>
            <a:r>
              <a:rPr lang="en-US" sz="1600" b="0" dirty="0">
                <a:solidFill>
                  <a:srgbClr val="E06C75"/>
                </a:solidFill>
                <a:effectLst/>
                <a:latin typeface="JetBrains Mono" panose="02000009000000000000" pitchFamily="49" charset="0"/>
              </a:rPr>
              <a:t>x</a:t>
            </a:r>
            <a:r>
              <a:rPr lang="en-US" sz="1600" b="0" dirty="0">
                <a:solidFill>
                  <a:srgbClr val="ABB2BF"/>
                </a:solidFill>
                <a:effectLst/>
                <a:latin typeface="JetBrains Mono" panose="02000009000000000000" pitchFamily="49" charset="0"/>
              </a:rPr>
              <a:t>;</a:t>
            </a:r>
          </a:p>
          <a:p>
            <a:r>
              <a:rPr lang="en-US" sz="1600" b="0" dirty="0">
                <a:solidFill>
                  <a:srgbClr val="ABB2BF"/>
                </a:solidFill>
                <a:effectLst/>
                <a:latin typeface="JetBrains Mono" panose="02000009000000000000" pitchFamily="49" charset="0"/>
              </a:rPr>
              <a:t>	}</a:t>
            </a:r>
          </a:p>
          <a:p>
            <a:r>
              <a:rPr lang="en-US" sz="1600" b="0" dirty="0">
                <a:solidFill>
                  <a:srgbClr val="ABB2BF"/>
                </a:solidFill>
                <a:effectLst/>
                <a:latin typeface="JetBrains Mono" panose="02000009000000000000" pitchFamily="49" charset="0"/>
              </a:rPr>
              <a:t>}</a:t>
            </a:r>
          </a:p>
        </p:txBody>
      </p:sp>
      <p:sp>
        <p:nvSpPr>
          <p:cNvPr id="6" name="TextBox 5">
            <a:extLst>
              <a:ext uri="{FF2B5EF4-FFF2-40B4-BE49-F238E27FC236}">
                <a16:creationId xmlns:a16="http://schemas.microsoft.com/office/drawing/2014/main" id="{96E1ED66-97B8-0DD8-6A7F-41C0B3A556A3}"/>
              </a:ext>
            </a:extLst>
          </p:cNvPr>
          <p:cNvSpPr txBox="1"/>
          <p:nvPr/>
        </p:nvSpPr>
        <p:spPr>
          <a:xfrm>
            <a:off x="5801498" y="4212375"/>
            <a:ext cx="5426675" cy="1754326"/>
          </a:xfrm>
          <a:prstGeom prst="rect">
            <a:avLst/>
          </a:prstGeom>
          <a:solidFill>
            <a:schemeClr val="bg1">
              <a:lumMod val="95000"/>
            </a:schemeClr>
          </a:solidFill>
        </p:spPr>
        <p:txBody>
          <a:bodyPr wrap="square">
            <a:spAutoFit/>
          </a:bodyPr>
          <a:lstStyle/>
          <a:p>
            <a:r>
              <a:rPr lang="en-US" b="0" dirty="0">
                <a:solidFill>
                  <a:srgbClr val="C678DD"/>
                </a:solidFill>
                <a:effectLst/>
                <a:latin typeface="JetBrains Mono" panose="02000009000000000000" pitchFamily="49" charset="0"/>
              </a:rPr>
              <a:t>public</a:t>
            </a:r>
            <a:r>
              <a:rPr lang="en-US" b="0" dirty="0">
                <a:solidFill>
                  <a:srgbClr val="E06C75"/>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class</a:t>
            </a:r>
            <a:r>
              <a:rPr lang="en-US" b="0" dirty="0">
                <a:solidFill>
                  <a:srgbClr val="E06C75"/>
                </a:solidFill>
                <a:effectLst/>
                <a:latin typeface="JetBrains Mono" panose="02000009000000000000" pitchFamily="49" charset="0"/>
              </a:rPr>
              <a:t> </a:t>
            </a:r>
            <a:r>
              <a:rPr lang="en-US" b="0" dirty="0">
                <a:solidFill>
                  <a:srgbClr val="E5C07B"/>
                </a:solidFill>
                <a:effectLst/>
                <a:latin typeface="JetBrains Mono" panose="02000009000000000000" pitchFamily="49" charset="0"/>
              </a:rPr>
              <a:t>Outside</a:t>
            </a:r>
            <a:r>
              <a:rPr lang="en-US" b="0" dirty="0">
                <a:solidFill>
                  <a:srgbClr val="E06C75"/>
                </a:solidFill>
                <a:effectLst/>
                <a:latin typeface="JetBrains Mono" panose="02000009000000000000" pitchFamily="49" charset="0"/>
              </a:rPr>
              <a:t> </a:t>
            </a:r>
            <a:r>
              <a:rPr lang="en-US" b="0" dirty="0">
                <a:solidFill>
                  <a:srgbClr val="ABB2BF"/>
                </a:solidFill>
                <a:effectLst/>
                <a:latin typeface="JetBrains Mono" panose="02000009000000000000" pitchFamily="49" charset="0"/>
              </a:rPr>
              <a:t>{</a:t>
            </a:r>
          </a:p>
          <a:p>
            <a:r>
              <a:rPr lang="en-US" dirty="0">
                <a:solidFill>
                  <a:srgbClr val="C678DD"/>
                </a:solidFill>
                <a:latin typeface="JetBrains Mono" panose="02000009000000000000" pitchFamily="49" charset="0"/>
              </a:rPr>
              <a:t>	</a:t>
            </a:r>
            <a:r>
              <a:rPr lang="en-US" b="0" dirty="0">
                <a:solidFill>
                  <a:srgbClr val="C678DD"/>
                </a:solidFill>
                <a:effectLst/>
                <a:latin typeface="JetBrains Mono" panose="02000009000000000000" pitchFamily="49" charset="0"/>
              </a:rPr>
              <a:t>private</a:t>
            </a:r>
            <a:r>
              <a:rPr lang="en-US" b="0" dirty="0">
                <a:solidFill>
                  <a:srgbClr val="E06C75"/>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int</a:t>
            </a:r>
            <a:r>
              <a:rPr lang="en-US" b="0" dirty="0">
                <a:solidFill>
                  <a:srgbClr val="E06C75"/>
                </a:solidFill>
                <a:effectLst/>
                <a:latin typeface="JetBrains Mono" panose="02000009000000000000" pitchFamily="49" charset="0"/>
              </a:rPr>
              <a:t> x</a:t>
            </a:r>
            <a:r>
              <a:rPr lang="en-US" b="0" dirty="0">
                <a:solidFill>
                  <a:srgbClr val="ABB2BF"/>
                </a:solidFill>
                <a:effectLst/>
                <a:latin typeface="JetBrains Mono" panose="02000009000000000000" pitchFamily="49" charset="0"/>
              </a:rPr>
              <a:t>;</a:t>
            </a:r>
          </a:p>
          <a:p>
            <a:r>
              <a:rPr lang="en-US" b="0" dirty="0">
                <a:solidFill>
                  <a:srgbClr val="C678DD"/>
                </a:solidFill>
                <a:effectLst/>
                <a:latin typeface="JetBrains Mono" panose="02000009000000000000" pitchFamily="49" charset="0"/>
              </a:rPr>
              <a:t>	public</a:t>
            </a:r>
            <a:r>
              <a:rPr lang="en-US" b="0" dirty="0">
                <a:solidFill>
                  <a:srgbClr val="61AFE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void</a:t>
            </a:r>
            <a:r>
              <a:rPr lang="en-US" b="0" dirty="0">
                <a:solidFill>
                  <a:srgbClr val="61AFEF"/>
                </a:solidFill>
                <a:effectLst/>
                <a:latin typeface="JetBrains Mono" panose="02000009000000000000" pitchFamily="49" charset="0"/>
              </a:rPr>
              <a:t> </a:t>
            </a:r>
            <a:r>
              <a:rPr lang="en-US" b="0" dirty="0" err="1">
                <a:solidFill>
                  <a:srgbClr val="61AFEF"/>
                </a:solidFill>
                <a:effectLst/>
                <a:latin typeface="JetBrains Mono" panose="02000009000000000000" pitchFamily="49" charset="0"/>
              </a:rPr>
              <a:t>readEscape</a:t>
            </a:r>
            <a:r>
              <a:rPr lang="en-US" b="0" dirty="0">
                <a:solidFill>
                  <a:srgbClr val="ABB2BF"/>
                </a:solidFill>
                <a:effectLst/>
                <a:latin typeface="JetBrains Mono" panose="02000009000000000000" pitchFamily="49" charset="0"/>
              </a:rPr>
              <a:t>(</a:t>
            </a:r>
            <a:r>
              <a:rPr lang="en-US" b="0" dirty="0">
                <a:solidFill>
                  <a:srgbClr val="E5C07B"/>
                </a:solidFill>
                <a:effectLst/>
                <a:latin typeface="JetBrains Mono" panose="02000009000000000000" pitchFamily="49" charset="0"/>
              </a:rPr>
              <a:t>Escape</a:t>
            </a:r>
            <a:r>
              <a:rPr lang="en-US" b="0" dirty="0">
                <a:solidFill>
                  <a:srgbClr val="ABB2BF"/>
                </a:solidFill>
                <a:effectLst/>
                <a:latin typeface="JetBrains Mono" panose="02000009000000000000" pitchFamily="49" charset="0"/>
              </a:rPr>
              <a:t> </a:t>
            </a:r>
            <a:r>
              <a:rPr lang="en-US" b="0" i="1" dirty="0">
                <a:solidFill>
                  <a:srgbClr val="E06C75"/>
                </a:solidFill>
                <a:effectLst/>
                <a:latin typeface="JetBrains Mono" panose="02000009000000000000" pitchFamily="49" charset="0"/>
              </a:rPr>
              <a:t>esc</a:t>
            </a:r>
            <a:r>
              <a:rPr lang="en-US" b="0" dirty="0">
                <a:solidFill>
                  <a:srgbClr val="ABB2BF"/>
                </a:solidFill>
                <a:effectLst/>
                <a:latin typeface="JetBrains Mono" panose="02000009000000000000" pitchFamily="49" charset="0"/>
              </a:rPr>
              <a:t>){</a:t>
            </a:r>
          </a:p>
          <a:p>
            <a:r>
              <a:rPr lang="en-US" b="0" dirty="0">
                <a:solidFill>
                  <a:srgbClr val="E06C75"/>
                </a:solidFill>
                <a:effectLst/>
                <a:latin typeface="JetBrains Mono" panose="02000009000000000000" pitchFamily="49" charset="0"/>
              </a:rPr>
              <a:t>		x</a:t>
            </a:r>
            <a:r>
              <a:rPr lang="en-US" b="0" dirty="0">
                <a:solidFill>
                  <a:srgbClr val="ABB2BF"/>
                </a:solidFill>
                <a:effectLst/>
                <a:latin typeface="JetBrains Mono" panose="02000009000000000000" pitchFamily="49" charset="0"/>
              </a:rPr>
              <a:t> </a:t>
            </a:r>
            <a:r>
              <a:rPr lang="en-US" b="0" dirty="0">
                <a:solidFill>
                  <a:srgbClr val="56B6C2"/>
                </a:solidFill>
                <a:effectLst/>
                <a:latin typeface="JetBrains Mono" panose="02000009000000000000" pitchFamily="49" charset="0"/>
              </a:rPr>
              <a:t>=</a:t>
            </a:r>
            <a:r>
              <a:rPr lang="en-US" b="0" dirty="0">
                <a:solidFill>
                  <a:srgbClr val="ABB2BF"/>
                </a:solidFill>
                <a:effectLst/>
                <a:latin typeface="JetBrains Mono" panose="02000009000000000000" pitchFamily="49" charset="0"/>
              </a:rPr>
              <a:t> </a:t>
            </a:r>
            <a:r>
              <a:rPr lang="en-US" b="0" i="1" dirty="0" err="1">
                <a:solidFill>
                  <a:srgbClr val="E06C75"/>
                </a:solidFill>
                <a:effectLst/>
                <a:latin typeface="JetBrains Mono" panose="02000009000000000000" pitchFamily="49" charset="0"/>
              </a:rPr>
              <a:t>esc</a:t>
            </a:r>
            <a:r>
              <a:rPr lang="en-US" b="0" dirty="0" err="1">
                <a:solidFill>
                  <a:srgbClr val="ABB2BF"/>
                </a:solidFill>
                <a:effectLst/>
                <a:latin typeface="JetBrains Mono" panose="02000009000000000000" pitchFamily="49" charset="0"/>
              </a:rPr>
              <a:t>.</a:t>
            </a:r>
            <a:r>
              <a:rPr lang="en-US" b="0" dirty="0" err="1">
                <a:solidFill>
                  <a:srgbClr val="61AFEF"/>
                </a:solidFill>
                <a:effectLst/>
                <a:latin typeface="JetBrains Mono" panose="02000009000000000000" pitchFamily="49" charset="0"/>
              </a:rPr>
              <a:t>getX</a:t>
            </a:r>
            <a:r>
              <a:rPr lang="en-US" b="0" dirty="0">
                <a:solidFill>
                  <a:srgbClr val="ABB2BF"/>
                </a:solidFill>
                <a:effectLst/>
                <a:latin typeface="JetBrains Mono" panose="02000009000000000000" pitchFamily="49" charset="0"/>
              </a:rPr>
              <a:t>();</a:t>
            </a:r>
          </a:p>
          <a:p>
            <a:r>
              <a:rPr lang="en-US" b="0" dirty="0">
                <a:solidFill>
                  <a:srgbClr val="ABB2BF"/>
                </a:solidFill>
                <a:effectLst/>
                <a:latin typeface="JetBrains Mono" panose="02000009000000000000" pitchFamily="49" charset="0"/>
              </a:rPr>
              <a:t>	}</a:t>
            </a:r>
          </a:p>
          <a:p>
            <a:r>
              <a:rPr lang="en-US" b="0" dirty="0">
                <a:solidFill>
                  <a:srgbClr val="ABB2BF"/>
                </a:solidFill>
                <a:effectLst/>
                <a:latin typeface="JetBrains Mono" panose="02000009000000000000" pitchFamily="49" charset="0"/>
              </a:rPr>
              <a:t>}</a:t>
            </a:r>
          </a:p>
        </p:txBody>
      </p:sp>
      <p:sp>
        <p:nvSpPr>
          <p:cNvPr id="7" name="Title 1">
            <a:extLst>
              <a:ext uri="{FF2B5EF4-FFF2-40B4-BE49-F238E27FC236}">
                <a16:creationId xmlns:a16="http://schemas.microsoft.com/office/drawing/2014/main" id="{3C6C3202-9600-4273-A36D-65707092AF36}"/>
              </a:ext>
            </a:extLst>
          </p:cNvPr>
          <p:cNvSpPr>
            <a:spLocks noGrp="1"/>
          </p:cNvSpPr>
          <p:nvPr>
            <p:ph type="title"/>
          </p:nvPr>
        </p:nvSpPr>
        <p:spPr>
          <a:xfrm>
            <a:off x="3341473" y="230899"/>
            <a:ext cx="2970427" cy="660400"/>
          </a:xfrm>
        </p:spPr>
        <p:txBody>
          <a:bodyPr/>
          <a:lstStyle/>
          <a:p>
            <a:r>
              <a:rPr lang="en-US" dirty="0"/>
              <a:t>Immutability</a:t>
            </a:r>
            <a:endParaRPr lang="he-IL" dirty="0"/>
          </a:p>
        </p:txBody>
      </p:sp>
    </p:spTree>
    <p:extLst>
      <p:ext uri="{BB962C8B-B14F-4D97-AF65-F5344CB8AC3E}">
        <p14:creationId xmlns:p14="http://schemas.microsoft.com/office/powerpoint/2010/main" val="2341274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5"/>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90DFEFA-E7BC-289D-4A78-7F09D96AD247}"/>
              </a:ext>
            </a:extLst>
          </p:cNvPr>
          <p:cNvSpPr>
            <a:spLocks noGrp="1"/>
          </p:cNvSpPr>
          <p:nvPr>
            <p:ph idx="1"/>
          </p:nvPr>
        </p:nvSpPr>
        <p:spPr>
          <a:xfrm>
            <a:off x="341308" y="1311337"/>
            <a:ext cx="10694773" cy="3880773"/>
          </a:xfrm>
        </p:spPr>
        <p:txBody>
          <a:bodyPr>
            <a:normAutofit/>
          </a:bodyPr>
          <a:lstStyle/>
          <a:p>
            <a:pPr marL="0" indent="0">
              <a:buNone/>
            </a:pPr>
            <a:endParaRPr lang="en-US" dirty="0"/>
          </a:p>
          <a:p>
            <a:r>
              <a:rPr lang="en-US" dirty="0"/>
              <a:t>An immutable object’s state cannot be changed after construction.</a:t>
            </a:r>
          </a:p>
          <a:p>
            <a:r>
              <a:rPr lang="en-US" dirty="0"/>
              <a:t>It can be safely used by many threads as a </a:t>
            </a:r>
            <a:r>
              <a:rPr lang="en-US" b="1" dirty="0"/>
              <a:t>read only</a:t>
            </a:r>
            <a:r>
              <a:rPr lang="en-US" dirty="0"/>
              <a:t> object.</a:t>
            </a:r>
          </a:p>
          <a:p>
            <a:r>
              <a:rPr lang="en-US" dirty="0"/>
              <a:t>For example, the String, and Integer classes in Java are immutable.</a:t>
            </a:r>
          </a:p>
          <a:p>
            <a:r>
              <a:rPr lang="en-US" dirty="0"/>
              <a:t>The </a:t>
            </a:r>
            <a:r>
              <a:rPr lang="en-US" dirty="0">
                <a:solidFill>
                  <a:srgbClr val="C678DD"/>
                </a:solidFill>
                <a:latin typeface="JetBrains Mono" panose="02000009000000000000" pitchFamily="49" charset="0"/>
              </a:rPr>
              <a:t>final</a:t>
            </a:r>
            <a:r>
              <a:rPr lang="en-US" dirty="0"/>
              <a:t> keyword in Java is similar to the const keyword in C/C++.</a:t>
            </a:r>
          </a:p>
          <a:p>
            <a:r>
              <a:rPr lang="en-US" dirty="0">
                <a:solidFill>
                  <a:srgbClr val="C678DD"/>
                </a:solidFill>
                <a:latin typeface="JetBrains Mono" panose="02000009000000000000" pitchFamily="49" charset="0"/>
              </a:rPr>
              <a:t>final</a:t>
            </a:r>
            <a:r>
              <a:rPr lang="en-US" dirty="0"/>
              <a:t> fields can’t be modified, but objects they refer to can be modified if they are mutable.</a:t>
            </a:r>
          </a:p>
        </p:txBody>
      </p:sp>
      <p:pic>
        <p:nvPicPr>
          <p:cNvPr id="8" name="Picture 7">
            <a:extLst>
              <a:ext uri="{FF2B5EF4-FFF2-40B4-BE49-F238E27FC236}">
                <a16:creationId xmlns:a16="http://schemas.microsoft.com/office/drawing/2014/main" id="{58097E39-8852-EC86-1A68-09CD820EA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0619" y="4240747"/>
            <a:ext cx="5155293" cy="1561901"/>
          </a:xfrm>
          <a:prstGeom prst="rect">
            <a:avLst/>
          </a:prstGeom>
        </p:spPr>
      </p:pic>
      <p:sp>
        <p:nvSpPr>
          <p:cNvPr id="11" name="Title 1">
            <a:extLst>
              <a:ext uri="{FF2B5EF4-FFF2-40B4-BE49-F238E27FC236}">
                <a16:creationId xmlns:a16="http://schemas.microsoft.com/office/drawing/2014/main" id="{AEE13333-72EF-66DE-8FF6-824141DB0F60}"/>
              </a:ext>
            </a:extLst>
          </p:cNvPr>
          <p:cNvSpPr>
            <a:spLocks noGrp="1"/>
          </p:cNvSpPr>
          <p:nvPr>
            <p:ph type="title"/>
          </p:nvPr>
        </p:nvSpPr>
        <p:spPr>
          <a:xfrm>
            <a:off x="3341473" y="230899"/>
            <a:ext cx="2970427" cy="660400"/>
          </a:xfrm>
        </p:spPr>
        <p:txBody>
          <a:bodyPr/>
          <a:lstStyle/>
          <a:p>
            <a:r>
              <a:rPr lang="en-US" dirty="0"/>
              <a:t>Immutability</a:t>
            </a:r>
            <a:endParaRPr lang="he-IL" dirty="0"/>
          </a:p>
        </p:txBody>
      </p:sp>
    </p:spTree>
    <p:extLst>
      <p:ext uri="{BB962C8B-B14F-4D97-AF65-F5344CB8AC3E}">
        <p14:creationId xmlns:p14="http://schemas.microsoft.com/office/powerpoint/2010/main" val="412419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charRg st="1" end="6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charRg st="67" end="12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charRg st="128" end="19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charRg st="196" end="26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charRg st="264" end="35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90DFEFA-E7BC-289D-4A78-7F09D96AD247}"/>
              </a:ext>
            </a:extLst>
          </p:cNvPr>
          <p:cNvSpPr>
            <a:spLocks noGrp="1"/>
          </p:cNvSpPr>
          <p:nvPr>
            <p:ph idx="1"/>
          </p:nvPr>
        </p:nvSpPr>
        <p:spPr>
          <a:xfrm>
            <a:off x="403653" y="1311337"/>
            <a:ext cx="10694773" cy="2320863"/>
          </a:xfrm>
        </p:spPr>
        <p:txBody>
          <a:bodyPr>
            <a:normAutofit/>
          </a:bodyPr>
          <a:lstStyle/>
          <a:p>
            <a:pPr marL="0" indent="0">
              <a:buNone/>
            </a:pPr>
            <a:endParaRPr lang="en-US" dirty="0"/>
          </a:p>
          <a:p>
            <a:r>
              <a:rPr lang="en-US" dirty="0"/>
              <a:t>The class </a:t>
            </a:r>
            <a:r>
              <a:rPr lang="en-US" dirty="0" err="1">
                <a:solidFill>
                  <a:srgbClr val="00B050"/>
                </a:solidFill>
                <a:latin typeface="JetBrains Mono" panose="02000009000000000000" pitchFamily="49" charset="0"/>
              </a:rPr>
              <a:t>ThreeStooges</a:t>
            </a:r>
            <a:r>
              <a:rPr lang="en-US" dirty="0"/>
              <a:t> is immutable even though it consists of mutable objects.</a:t>
            </a:r>
          </a:p>
          <a:p>
            <a:r>
              <a:rPr lang="en-US" dirty="0"/>
              <a:t>The class is immutable due to its design, not just by using final keyword.</a:t>
            </a:r>
          </a:p>
          <a:p>
            <a:r>
              <a:rPr lang="en-US" dirty="0"/>
              <a:t>The class is declared to be final, which means that it cannot have subclasses.</a:t>
            </a:r>
          </a:p>
          <a:p>
            <a:r>
              <a:rPr lang="en-US" dirty="0"/>
              <a:t>The class member  </a:t>
            </a:r>
            <a:r>
              <a:rPr lang="en-US" dirty="0">
                <a:solidFill>
                  <a:srgbClr val="E06C75"/>
                </a:solidFill>
                <a:latin typeface="JetBrains Mono" panose="02000009000000000000" pitchFamily="49" charset="0"/>
              </a:rPr>
              <a:t>stooges</a:t>
            </a:r>
            <a:r>
              <a:rPr lang="en-US" dirty="0"/>
              <a:t> is considered mutable, even though it cannot  be changed from outside the class.</a:t>
            </a:r>
          </a:p>
          <a:p>
            <a:endParaRPr lang="en-US" dirty="0"/>
          </a:p>
          <a:p>
            <a:endParaRPr lang="en-US" dirty="0"/>
          </a:p>
        </p:txBody>
      </p:sp>
      <p:pic>
        <p:nvPicPr>
          <p:cNvPr id="5" name="Picture 4">
            <a:extLst>
              <a:ext uri="{FF2B5EF4-FFF2-40B4-BE49-F238E27FC236}">
                <a16:creationId xmlns:a16="http://schemas.microsoft.com/office/drawing/2014/main" id="{3383953A-C709-7854-E0C1-27A939DF72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2129" y="3569576"/>
            <a:ext cx="5205596" cy="3185401"/>
          </a:xfrm>
          <a:prstGeom prst="rect">
            <a:avLst/>
          </a:prstGeom>
        </p:spPr>
      </p:pic>
      <p:sp>
        <p:nvSpPr>
          <p:cNvPr id="10" name="Title 1">
            <a:extLst>
              <a:ext uri="{FF2B5EF4-FFF2-40B4-BE49-F238E27FC236}">
                <a16:creationId xmlns:a16="http://schemas.microsoft.com/office/drawing/2014/main" id="{2A3A008C-9EDB-2734-DEEA-F68E871294D7}"/>
              </a:ext>
            </a:extLst>
          </p:cNvPr>
          <p:cNvSpPr>
            <a:spLocks noGrp="1"/>
          </p:cNvSpPr>
          <p:nvPr>
            <p:ph type="title"/>
          </p:nvPr>
        </p:nvSpPr>
        <p:spPr>
          <a:xfrm>
            <a:off x="3341473" y="230899"/>
            <a:ext cx="2970427" cy="660400"/>
          </a:xfrm>
        </p:spPr>
        <p:txBody>
          <a:bodyPr/>
          <a:lstStyle/>
          <a:p>
            <a:r>
              <a:rPr lang="en-US" dirty="0"/>
              <a:t>Immutability</a:t>
            </a:r>
            <a:endParaRPr lang="he-IL" dirty="0"/>
          </a:p>
        </p:txBody>
      </p:sp>
    </p:spTree>
    <p:extLst>
      <p:ext uri="{BB962C8B-B14F-4D97-AF65-F5344CB8AC3E}">
        <p14:creationId xmlns:p14="http://schemas.microsoft.com/office/powerpoint/2010/main" val="864426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charRg st="1" end="8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charRg st="81" end="15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charRg st="156" end="23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4001C3E-8305-EC0A-E6B6-AD7EDC7AC328}"/>
              </a:ext>
            </a:extLst>
          </p:cNvPr>
          <p:cNvSpPr>
            <a:spLocks noGrp="1"/>
          </p:cNvSpPr>
          <p:nvPr>
            <p:ph type="title"/>
          </p:nvPr>
        </p:nvSpPr>
        <p:spPr>
          <a:xfrm>
            <a:off x="2468034" y="3022600"/>
            <a:ext cx="5621866" cy="1320800"/>
          </a:xfrm>
        </p:spPr>
        <p:txBody>
          <a:bodyPr/>
          <a:lstStyle/>
          <a:p>
            <a:r>
              <a:rPr lang="en-US" dirty="0"/>
              <a:t>Locking/ Synchronization</a:t>
            </a:r>
            <a:endParaRPr lang="he-IL" dirty="0"/>
          </a:p>
        </p:txBody>
      </p:sp>
    </p:spTree>
    <p:extLst>
      <p:ext uri="{BB962C8B-B14F-4D97-AF65-F5344CB8AC3E}">
        <p14:creationId xmlns:p14="http://schemas.microsoft.com/office/powerpoint/2010/main" val="1074502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17AF1-E4A0-49FC-B538-84E702BB9AA2}"/>
              </a:ext>
            </a:extLst>
          </p:cNvPr>
          <p:cNvSpPr>
            <a:spLocks noGrp="1"/>
          </p:cNvSpPr>
          <p:nvPr>
            <p:ph type="title"/>
          </p:nvPr>
        </p:nvSpPr>
        <p:spPr/>
        <p:txBody>
          <a:bodyPr/>
          <a:lstStyle/>
          <a:p>
            <a:r>
              <a:rPr lang="en-US" dirty="0"/>
              <a:t>Locking/ Synchronization</a:t>
            </a:r>
            <a:endParaRPr lang="he-IL" dirty="0"/>
          </a:p>
        </p:txBody>
      </p:sp>
      <p:sp>
        <p:nvSpPr>
          <p:cNvPr id="3" name="Content Placeholder 2">
            <a:extLst>
              <a:ext uri="{FF2B5EF4-FFF2-40B4-BE49-F238E27FC236}">
                <a16:creationId xmlns:a16="http://schemas.microsoft.com/office/drawing/2014/main" id="{5AE113D0-A8CD-4B98-ADA6-E8DBE36D4C3D}"/>
              </a:ext>
            </a:extLst>
          </p:cNvPr>
          <p:cNvSpPr>
            <a:spLocks noGrp="1"/>
          </p:cNvSpPr>
          <p:nvPr>
            <p:ph idx="1"/>
          </p:nvPr>
        </p:nvSpPr>
        <p:spPr>
          <a:xfrm>
            <a:off x="677334" y="1781448"/>
            <a:ext cx="8596668" cy="3880773"/>
          </a:xfrm>
        </p:spPr>
        <p:txBody>
          <a:bodyPr/>
          <a:lstStyle/>
          <a:p>
            <a:r>
              <a:rPr lang="en-US" dirty="0"/>
              <a:t>Sometimes we want to allow concurrent access to a resource which isn’t read only.</a:t>
            </a:r>
          </a:p>
          <a:p>
            <a:r>
              <a:rPr lang="en-US" dirty="0"/>
              <a:t>In concurrent / multi-thread programming, a monitor is a synchronization mechanism that controls concurrent access to an object.</a:t>
            </a:r>
          </a:p>
          <a:p>
            <a:r>
              <a:rPr lang="en-US" dirty="0"/>
              <a:t>The monitor ensures that only one thread can access a critical section of code at any given time, preventing potential conflicts and ensuring orderly execution.</a:t>
            </a:r>
          </a:p>
          <a:p>
            <a:r>
              <a:rPr lang="en-US" dirty="0"/>
              <a:t> Locking in Java is done using the “synchronized” keyword.</a:t>
            </a:r>
            <a:endParaRPr lang="he-IL" dirty="0"/>
          </a:p>
        </p:txBody>
      </p:sp>
      <p:sp>
        <p:nvSpPr>
          <p:cNvPr id="4" name="TextBox 3">
            <a:extLst>
              <a:ext uri="{FF2B5EF4-FFF2-40B4-BE49-F238E27FC236}">
                <a16:creationId xmlns:a16="http://schemas.microsoft.com/office/drawing/2014/main" id="{13414B30-E96D-9D20-F51A-269A0427C2AC}"/>
              </a:ext>
            </a:extLst>
          </p:cNvPr>
          <p:cNvSpPr txBox="1"/>
          <p:nvPr/>
        </p:nvSpPr>
        <p:spPr>
          <a:xfrm>
            <a:off x="677334" y="4514594"/>
            <a:ext cx="7206915" cy="1477328"/>
          </a:xfrm>
          <a:prstGeom prst="rect">
            <a:avLst/>
          </a:prstGeom>
          <a:noFill/>
        </p:spPr>
        <p:txBody>
          <a:bodyPr wrap="square" rtlCol="0">
            <a:spAutoFit/>
          </a:bodyPr>
          <a:lstStyle/>
          <a:p>
            <a:r>
              <a:rPr lang="en-US" b="0" dirty="0">
                <a:solidFill>
                  <a:srgbClr val="7F848E"/>
                </a:solidFill>
                <a:effectLst/>
                <a:latin typeface="JetBrains Mono" panose="02000009000000000000" pitchFamily="49" charset="0"/>
              </a:rPr>
              <a:t>/* notice the synchronized keyword */</a:t>
            </a:r>
            <a:r>
              <a:rPr lang="en-US" b="0" dirty="0">
                <a:solidFill>
                  <a:srgbClr val="E06C75"/>
                </a:solidFill>
                <a:effectLst/>
                <a:latin typeface="JetBrains Mono" panose="02000009000000000000" pitchFamily="49" charset="0"/>
              </a:rPr>
              <a:t> </a:t>
            </a:r>
            <a:endParaRPr lang="en-US" b="0" dirty="0">
              <a:solidFill>
                <a:srgbClr val="ABB2BF"/>
              </a:solidFill>
              <a:effectLst/>
              <a:latin typeface="JetBrains Mono" panose="02000009000000000000" pitchFamily="49" charset="0"/>
            </a:endParaRPr>
          </a:p>
          <a:p>
            <a:r>
              <a:rPr lang="en-US" b="0" dirty="0">
                <a:solidFill>
                  <a:srgbClr val="C678DD"/>
                </a:solidFill>
                <a:effectLst/>
                <a:latin typeface="JetBrains Mono" panose="02000009000000000000" pitchFamily="49" charset="0"/>
              </a:rPr>
              <a:t>public</a:t>
            </a:r>
            <a:r>
              <a:rPr lang="en-US" b="0" dirty="0">
                <a:solidFill>
                  <a:srgbClr val="61AFE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synchronized</a:t>
            </a:r>
            <a:r>
              <a:rPr lang="en-US" b="0" dirty="0">
                <a:solidFill>
                  <a:srgbClr val="61AFE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void</a:t>
            </a:r>
            <a:r>
              <a:rPr lang="en-US" b="0" dirty="0">
                <a:solidFill>
                  <a:srgbClr val="61AFEF"/>
                </a:solidFill>
                <a:effectLst/>
                <a:latin typeface="JetBrains Mono" panose="02000009000000000000" pitchFamily="49" charset="0"/>
              </a:rPr>
              <a:t> increment</a:t>
            </a:r>
            <a:r>
              <a:rPr lang="en-US" b="0" dirty="0">
                <a:solidFill>
                  <a:srgbClr val="ABB2BF"/>
                </a:solidFill>
                <a:effectLst/>
                <a:latin typeface="JetBrains Mono" panose="02000009000000000000" pitchFamily="49" charset="0"/>
              </a:rPr>
              <a:t>(){</a:t>
            </a:r>
          </a:p>
          <a:p>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a:t>
            </a:r>
          </a:p>
          <a:p>
            <a:r>
              <a:rPr lang="en-US" b="0" dirty="0">
                <a:solidFill>
                  <a:srgbClr val="ABB2BF"/>
                </a:solidFill>
                <a:effectLst/>
                <a:latin typeface="JetBrains Mono" panose="02000009000000000000" pitchFamily="49" charset="0"/>
              </a:rPr>
              <a:t>}</a:t>
            </a:r>
          </a:p>
          <a:p>
            <a:endParaRPr lang="en-US" dirty="0"/>
          </a:p>
        </p:txBody>
      </p:sp>
    </p:spTree>
    <p:extLst>
      <p:ext uri="{BB962C8B-B14F-4D97-AF65-F5344CB8AC3E}">
        <p14:creationId xmlns:p14="http://schemas.microsoft.com/office/powerpoint/2010/main" val="2410625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87848-B7CA-4B97-9707-BA02EC0400FA}"/>
              </a:ext>
            </a:extLst>
          </p:cNvPr>
          <p:cNvSpPr>
            <a:spLocks noGrp="1"/>
          </p:cNvSpPr>
          <p:nvPr>
            <p:ph type="title"/>
          </p:nvPr>
        </p:nvSpPr>
        <p:spPr/>
        <p:txBody>
          <a:bodyPr/>
          <a:lstStyle/>
          <a:p>
            <a:r>
              <a:rPr lang="en-US" dirty="0"/>
              <a:t>Synchronization (</a:t>
            </a:r>
            <a:r>
              <a:rPr lang="en-US" dirty="0" err="1"/>
              <a:t>cont</a:t>
            </a:r>
            <a:r>
              <a:rPr lang="en-US" dirty="0"/>
              <a:t>)</a:t>
            </a:r>
            <a:endParaRPr lang="he-IL" dirty="0"/>
          </a:p>
        </p:txBody>
      </p:sp>
      <p:sp>
        <p:nvSpPr>
          <p:cNvPr id="3" name="TextBox 2">
            <a:extLst>
              <a:ext uri="{FF2B5EF4-FFF2-40B4-BE49-F238E27FC236}">
                <a16:creationId xmlns:a16="http://schemas.microsoft.com/office/drawing/2014/main" id="{343EEDCF-4F00-2420-2967-B37E865828FA}"/>
              </a:ext>
            </a:extLst>
          </p:cNvPr>
          <p:cNvSpPr txBox="1"/>
          <p:nvPr/>
        </p:nvSpPr>
        <p:spPr>
          <a:xfrm>
            <a:off x="878305" y="1720516"/>
            <a:ext cx="4006516" cy="4247317"/>
          </a:xfrm>
          <a:prstGeom prst="rect">
            <a:avLst/>
          </a:prstGeom>
          <a:noFill/>
        </p:spPr>
        <p:txBody>
          <a:bodyPr wrap="square" rtlCol="0">
            <a:spAutoFit/>
          </a:bodyPr>
          <a:lstStyle/>
          <a:p>
            <a:r>
              <a:rPr lang="en-US" b="0" dirty="0">
                <a:solidFill>
                  <a:srgbClr val="C678DD"/>
                </a:solidFill>
                <a:effectLst/>
                <a:latin typeface="JetBrains Mono" panose="02000009000000000000" pitchFamily="49" charset="0"/>
              </a:rPr>
              <a:t>public</a:t>
            </a:r>
            <a:r>
              <a:rPr lang="en-US" b="0" dirty="0">
                <a:solidFill>
                  <a:srgbClr val="E06C75"/>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class</a:t>
            </a:r>
            <a:r>
              <a:rPr lang="en-US" b="0" dirty="0">
                <a:solidFill>
                  <a:srgbClr val="E06C75"/>
                </a:solidFill>
                <a:effectLst/>
                <a:latin typeface="JetBrains Mono" panose="02000009000000000000" pitchFamily="49" charset="0"/>
              </a:rPr>
              <a:t> </a:t>
            </a:r>
            <a:r>
              <a:rPr lang="en-US" b="0" dirty="0">
                <a:solidFill>
                  <a:srgbClr val="00B050"/>
                </a:solidFill>
                <a:effectLst/>
                <a:latin typeface="JetBrains Mono" panose="02000009000000000000" pitchFamily="49" charset="0"/>
              </a:rPr>
              <a:t>Counter</a:t>
            </a:r>
            <a:r>
              <a:rPr lang="en-US" b="0" dirty="0">
                <a:solidFill>
                  <a:srgbClr val="E5C07B"/>
                </a:solidFill>
                <a:effectLst/>
                <a:latin typeface="JetBrains Mono" panose="02000009000000000000" pitchFamily="49" charset="0"/>
              </a:rPr>
              <a:t> </a:t>
            </a:r>
            <a:r>
              <a:rPr lang="en-US" b="0" dirty="0">
                <a:solidFill>
                  <a:srgbClr val="ABB2BF"/>
                </a:solidFill>
                <a:effectLst/>
                <a:latin typeface="JetBrains Mono" panose="02000009000000000000" pitchFamily="49" charset="0"/>
              </a:rPr>
              <a:t>{</a:t>
            </a:r>
          </a:p>
          <a:p>
            <a:r>
              <a:rPr lang="en-US" dirty="0">
                <a:solidFill>
                  <a:srgbClr val="C678DD"/>
                </a:solidFill>
                <a:latin typeface="JetBrains Mono" panose="02000009000000000000" pitchFamily="49" charset="0"/>
              </a:rPr>
              <a:t>	</a:t>
            </a:r>
            <a:r>
              <a:rPr lang="en-US" b="0" dirty="0">
                <a:solidFill>
                  <a:srgbClr val="C678DD"/>
                </a:solidFill>
                <a:effectLst/>
                <a:latin typeface="JetBrains Mono" panose="02000009000000000000" pitchFamily="49" charset="0"/>
              </a:rPr>
              <a:t>private</a:t>
            </a:r>
            <a:r>
              <a:rPr lang="en-US" b="0" dirty="0">
                <a:solidFill>
                  <a:srgbClr val="E06C75"/>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int</a:t>
            </a:r>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a:t>
            </a:r>
          </a:p>
          <a:p>
            <a:br>
              <a:rPr lang="en-US" b="0" dirty="0">
                <a:solidFill>
                  <a:srgbClr val="ABB2BF"/>
                </a:solidFill>
                <a:effectLst/>
                <a:latin typeface="JetBrains Mono" panose="02000009000000000000" pitchFamily="49" charset="0"/>
              </a:rPr>
            </a:br>
            <a:r>
              <a:rPr lang="en-US" b="0" dirty="0">
                <a:solidFill>
                  <a:srgbClr val="ABB2B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public</a:t>
            </a:r>
            <a:r>
              <a:rPr lang="en-US" b="0" dirty="0">
                <a:solidFill>
                  <a:srgbClr val="61AFEF"/>
                </a:solidFill>
                <a:effectLst/>
                <a:latin typeface="JetBrains Mono" panose="02000009000000000000" pitchFamily="49" charset="0"/>
              </a:rPr>
              <a:t> Counter</a:t>
            </a:r>
            <a:r>
              <a:rPr lang="en-US" b="0" dirty="0">
                <a:solidFill>
                  <a:srgbClr val="ABB2BF"/>
                </a:solidFill>
                <a:effectLst/>
                <a:latin typeface="JetBrains Mono" panose="02000009000000000000" pitchFamily="49" charset="0"/>
              </a:rPr>
              <a:t>(){</a:t>
            </a:r>
          </a:p>
          <a:p>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 </a:t>
            </a:r>
            <a:r>
              <a:rPr lang="en-US" b="0" dirty="0">
                <a:solidFill>
                  <a:srgbClr val="56B6C2"/>
                </a:solidFill>
                <a:effectLst/>
                <a:latin typeface="JetBrains Mono" panose="02000009000000000000" pitchFamily="49" charset="0"/>
              </a:rPr>
              <a:t>=</a:t>
            </a:r>
            <a:r>
              <a:rPr lang="en-US" b="0" dirty="0">
                <a:solidFill>
                  <a:srgbClr val="ABB2BF"/>
                </a:solidFill>
                <a:effectLst/>
                <a:latin typeface="JetBrains Mono" panose="02000009000000000000" pitchFamily="49" charset="0"/>
              </a:rPr>
              <a:t> </a:t>
            </a:r>
            <a:r>
              <a:rPr lang="en-US" b="0" dirty="0">
                <a:solidFill>
                  <a:srgbClr val="D19A66"/>
                </a:solidFill>
                <a:effectLst/>
                <a:latin typeface="JetBrains Mono" panose="02000009000000000000" pitchFamily="49" charset="0"/>
              </a:rPr>
              <a:t>0</a:t>
            </a:r>
            <a:r>
              <a:rPr lang="en-US" b="0" dirty="0">
                <a:solidFill>
                  <a:srgbClr val="ABB2BF"/>
                </a:solidFill>
                <a:effectLst/>
                <a:latin typeface="JetBrains Mono" panose="02000009000000000000" pitchFamily="49" charset="0"/>
              </a:rPr>
              <a:t>;</a:t>
            </a:r>
          </a:p>
          <a:p>
            <a:r>
              <a:rPr lang="en-US" b="0" dirty="0">
                <a:solidFill>
                  <a:srgbClr val="ABB2BF"/>
                </a:solidFill>
                <a:effectLst/>
                <a:latin typeface="JetBrains Mono" panose="02000009000000000000" pitchFamily="49" charset="0"/>
              </a:rPr>
              <a:t>	}</a:t>
            </a:r>
          </a:p>
          <a:p>
            <a:br>
              <a:rPr lang="en-US" b="0" dirty="0">
                <a:solidFill>
                  <a:srgbClr val="ABB2BF"/>
                </a:solidFill>
                <a:effectLst/>
                <a:latin typeface="JetBrains Mono" panose="02000009000000000000" pitchFamily="49" charset="0"/>
              </a:rPr>
            </a:br>
            <a:r>
              <a:rPr lang="en-US" b="0" dirty="0">
                <a:solidFill>
                  <a:srgbClr val="ABB2B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public</a:t>
            </a:r>
            <a:r>
              <a:rPr lang="en-US" b="0" dirty="0">
                <a:solidFill>
                  <a:srgbClr val="61AFE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void</a:t>
            </a:r>
            <a:r>
              <a:rPr lang="en-US" b="0" dirty="0">
                <a:solidFill>
                  <a:srgbClr val="61AFEF"/>
                </a:solidFill>
                <a:effectLst/>
                <a:latin typeface="JetBrains Mono" panose="02000009000000000000" pitchFamily="49" charset="0"/>
              </a:rPr>
              <a:t> increment</a:t>
            </a:r>
            <a:r>
              <a:rPr lang="en-US" b="0" dirty="0">
                <a:solidFill>
                  <a:srgbClr val="ABB2BF"/>
                </a:solidFill>
                <a:effectLst/>
                <a:latin typeface="JetBrains Mono" panose="02000009000000000000" pitchFamily="49" charset="0"/>
              </a:rPr>
              <a:t>(){</a:t>
            </a:r>
          </a:p>
          <a:p>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a:t>
            </a:r>
          </a:p>
          <a:p>
            <a:r>
              <a:rPr lang="en-US" b="0" dirty="0">
                <a:solidFill>
                  <a:srgbClr val="ABB2BF"/>
                </a:solidFill>
                <a:effectLst/>
                <a:latin typeface="JetBrains Mono" panose="02000009000000000000" pitchFamily="49" charset="0"/>
              </a:rPr>
              <a:t>	}</a:t>
            </a:r>
          </a:p>
          <a:p>
            <a:br>
              <a:rPr lang="en-US" b="0" dirty="0">
                <a:solidFill>
                  <a:srgbClr val="ABB2BF"/>
                </a:solidFill>
                <a:effectLst/>
                <a:latin typeface="JetBrains Mono" panose="02000009000000000000" pitchFamily="49" charset="0"/>
              </a:rPr>
            </a:br>
            <a:r>
              <a:rPr lang="en-US" b="0" dirty="0">
                <a:solidFill>
                  <a:srgbClr val="ABB2B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public</a:t>
            </a:r>
            <a:r>
              <a:rPr lang="en-US" b="0" dirty="0">
                <a:solidFill>
                  <a:srgbClr val="61AFE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int</a:t>
            </a:r>
            <a:r>
              <a:rPr lang="en-US" b="0" dirty="0">
                <a:solidFill>
                  <a:srgbClr val="61AFEF"/>
                </a:solidFill>
                <a:effectLst/>
                <a:latin typeface="JetBrains Mono" panose="02000009000000000000" pitchFamily="49" charset="0"/>
              </a:rPr>
              <a:t> </a:t>
            </a:r>
            <a:r>
              <a:rPr lang="en-US" b="0" dirty="0" err="1">
                <a:solidFill>
                  <a:srgbClr val="61AFEF"/>
                </a:solidFill>
                <a:effectLst/>
                <a:latin typeface="JetBrains Mono" panose="02000009000000000000" pitchFamily="49" charset="0"/>
              </a:rPr>
              <a:t>getValue</a:t>
            </a:r>
            <a:r>
              <a:rPr lang="en-US" b="0" dirty="0">
                <a:solidFill>
                  <a:srgbClr val="ABB2BF"/>
                </a:solidFill>
                <a:effectLst/>
                <a:latin typeface="JetBrains Mono" panose="02000009000000000000" pitchFamily="49" charset="0"/>
              </a:rPr>
              <a:t>(){</a:t>
            </a:r>
          </a:p>
          <a:p>
            <a:r>
              <a:rPr lang="en-US" b="0" dirty="0">
                <a:solidFill>
                  <a:srgbClr val="C678DD"/>
                </a:solidFill>
                <a:effectLst/>
                <a:latin typeface="JetBrains Mono" panose="02000009000000000000" pitchFamily="49" charset="0"/>
              </a:rPr>
              <a:t>		return</a:t>
            </a:r>
            <a:r>
              <a:rPr lang="en-US" b="0" dirty="0">
                <a:solidFill>
                  <a:srgbClr val="ABB2BF"/>
                </a:solidFill>
                <a:effectLst/>
                <a:latin typeface="JetBrains Mono" panose="02000009000000000000" pitchFamily="49" charset="0"/>
              </a:rPr>
              <a:t> </a:t>
            </a:r>
            <a:r>
              <a:rPr lang="en-US" b="0" dirty="0">
                <a:solidFill>
                  <a:srgbClr val="E06C75"/>
                </a:solidFill>
                <a:effectLst/>
                <a:latin typeface="JetBrains Mono" panose="02000009000000000000" pitchFamily="49" charset="0"/>
              </a:rPr>
              <a:t>count</a:t>
            </a:r>
            <a:r>
              <a:rPr lang="en-US" b="0" dirty="0">
                <a:solidFill>
                  <a:srgbClr val="ABB2BF"/>
                </a:solidFill>
                <a:effectLst/>
                <a:latin typeface="JetBrains Mono" panose="02000009000000000000" pitchFamily="49" charset="0"/>
              </a:rPr>
              <a:t>;</a:t>
            </a:r>
          </a:p>
          <a:p>
            <a:r>
              <a:rPr lang="en-US" b="0" dirty="0">
                <a:solidFill>
                  <a:srgbClr val="ABB2BF"/>
                </a:solidFill>
                <a:effectLst/>
                <a:latin typeface="JetBrains Mono" panose="02000009000000000000" pitchFamily="49" charset="0"/>
              </a:rPr>
              <a:t>	}</a:t>
            </a:r>
          </a:p>
          <a:p>
            <a:r>
              <a:rPr lang="en-US" b="0" dirty="0">
                <a:solidFill>
                  <a:srgbClr val="ABB2BF"/>
                </a:solidFill>
                <a:effectLst/>
                <a:latin typeface="JetBrains Mono" panose="02000009000000000000" pitchFamily="49" charset="0"/>
              </a:rPr>
              <a:t>}</a:t>
            </a:r>
          </a:p>
        </p:txBody>
      </p:sp>
      <p:sp>
        <p:nvSpPr>
          <p:cNvPr id="5" name="Rectangle 4">
            <a:extLst>
              <a:ext uri="{FF2B5EF4-FFF2-40B4-BE49-F238E27FC236}">
                <a16:creationId xmlns:a16="http://schemas.microsoft.com/office/drawing/2014/main" id="{4E7DEEEE-0973-B115-5C0C-D5818B28F093}"/>
              </a:ext>
            </a:extLst>
          </p:cNvPr>
          <p:cNvSpPr/>
          <p:nvPr/>
        </p:nvSpPr>
        <p:spPr>
          <a:xfrm>
            <a:off x="1753299" y="3967993"/>
            <a:ext cx="1073791" cy="30200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7" name="Straight Arrow Connector 6">
            <a:extLst>
              <a:ext uri="{FF2B5EF4-FFF2-40B4-BE49-F238E27FC236}">
                <a16:creationId xmlns:a16="http://schemas.microsoft.com/office/drawing/2014/main" id="{A0069C52-22FC-B492-EB8C-423D1303D145}"/>
              </a:ext>
            </a:extLst>
          </p:cNvPr>
          <p:cNvCxnSpPr>
            <a:cxnSpLocks/>
          </p:cNvCxnSpPr>
          <p:nvPr/>
        </p:nvCxnSpPr>
        <p:spPr>
          <a:xfrm flipH="1">
            <a:off x="2885813" y="4118994"/>
            <a:ext cx="16442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E58137F-EFD3-425A-428A-0F885EC1F447}"/>
              </a:ext>
            </a:extLst>
          </p:cNvPr>
          <p:cNvSpPr/>
          <p:nvPr/>
        </p:nvSpPr>
        <p:spPr>
          <a:xfrm>
            <a:off x="4530055" y="3639190"/>
            <a:ext cx="3422708" cy="9596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L" sz="1400" dirty="0">
                <a:solidFill>
                  <a:schemeClr val="tx1"/>
                </a:solidFill>
              </a:rPr>
              <a:t>Critical Section - </a:t>
            </a:r>
            <a:r>
              <a:rPr lang="en-US" sz="1400" dirty="0">
                <a:solidFill>
                  <a:schemeClr val="tx1"/>
                </a:solidFill>
              </a:rPr>
              <a:t>part of a program where shared resources (variables, data structures) are accessed and modified.</a:t>
            </a:r>
            <a:endParaRPr lang="en-IL" sz="1400" dirty="0">
              <a:solidFill>
                <a:schemeClr val="tx1"/>
              </a:solidFill>
            </a:endParaRPr>
          </a:p>
        </p:txBody>
      </p:sp>
    </p:spTree>
    <p:extLst>
      <p:ext uri="{BB962C8B-B14F-4D97-AF65-F5344CB8AC3E}">
        <p14:creationId xmlns:p14="http://schemas.microsoft.com/office/powerpoint/2010/main" val="4260911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87848-B7CA-4B97-9707-BA02EC0400FA}"/>
              </a:ext>
            </a:extLst>
          </p:cNvPr>
          <p:cNvSpPr>
            <a:spLocks noGrp="1"/>
          </p:cNvSpPr>
          <p:nvPr>
            <p:ph type="title"/>
          </p:nvPr>
        </p:nvSpPr>
        <p:spPr/>
        <p:txBody>
          <a:bodyPr/>
          <a:lstStyle/>
          <a:p>
            <a:r>
              <a:rPr lang="en-US" dirty="0"/>
              <a:t>Synchronization (</a:t>
            </a:r>
            <a:r>
              <a:rPr lang="en-US" dirty="0" err="1"/>
              <a:t>cont</a:t>
            </a:r>
            <a:r>
              <a:rPr lang="en-US" dirty="0"/>
              <a:t>)</a:t>
            </a:r>
            <a:endParaRPr lang="he-IL" dirty="0"/>
          </a:p>
        </p:txBody>
      </p:sp>
      <p:sp>
        <p:nvSpPr>
          <p:cNvPr id="10" name="TextBox 9">
            <a:extLst>
              <a:ext uri="{FF2B5EF4-FFF2-40B4-BE49-F238E27FC236}">
                <a16:creationId xmlns:a16="http://schemas.microsoft.com/office/drawing/2014/main" id="{6F8ACF23-ECC9-4801-A5E1-E7EF18805306}"/>
              </a:ext>
            </a:extLst>
          </p:cNvPr>
          <p:cNvSpPr txBox="1"/>
          <p:nvPr/>
        </p:nvSpPr>
        <p:spPr>
          <a:xfrm>
            <a:off x="5398170" y="1690688"/>
            <a:ext cx="5623249" cy="923330"/>
          </a:xfrm>
          <a:prstGeom prst="rect">
            <a:avLst/>
          </a:prstGeom>
          <a:noFill/>
        </p:spPr>
        <p:txBody>
          <a:bodyPr wrap="square" rtlCol="1">
            <a:spAutoFit/>
          </a:bodyPr>
          <a:lstStyle/>
          <a:p>
            <a:pPr marL="285750" indent="-285750">
              <a:buFont typeface="Arial" panose="020B0604020202020204" pitchFamily="34" charset="0"/>
              <a:buChar char="•"/>
            </a:pPr>
            <a:r>
              <a:rPr lang="en-US" dirty="0"/>
              <a:t>We can synchronize on a specific lock (object).</a:t>
            </a:r>
          </a:p>
          <a:p>
            <a:pPr marL="285750" indent="-285750">
              <a:buFont typeface="Arial" panose="020B0604020202020204" pitchFamily="34" charset="0"/>
              <a:buChar char="•"/>
            </a:pPr>
            <a:r>
              <a:rPr lang="en-US" dirty="0"/>
              <a:t>When “synchronized” appears in the signature of the function, the lock used is “this”</a:t>
            </a:r>
          </a:p>
        </p:txBody>
      </p:sp>
      <p:sp>
        <p:nvSpPr>
          <p:cNvPr id="4" name="TextBox 3">
            <a:extLst>
              <a:ext uri="{FF2B5EF4-FFF2-40B4-BE49-F238E27FC236}">
                <a16:creationId xmlns:a16="http://schemas.microsoft.com/office/drawing/2014/main" id="{4123CC86-A65D-D7C6-1DEA-50C0E0CB1E50}"/>
              </a:ext>
            </a:extLst>
          </p:cNvPr>
          <p:cNvSpPr txBox="1"/>
          <p:nvPr/>
        </p:nvSpPr>
        <p:spPr>
          <a:xfrm>
            <a:off x="677334" y="1159937"/>
            <a:ext cx="4608095" cy="5909310"/>
          </a:xfrm>
          <a:prstGeom prst="rect">
            <a:avLst/>
          </a:prstGeom>
          <a:noFill/>
        </p:spPr>
        <p:txBody>
          <a:bodyPr wrap="square" rtlCol="0">
            <a:spAutoFit/>
          </a:bodyPr>
          <a:lstStyle/>
          <a:p>
            <a:r>
              <a:rPr lang="en-US" b="0" dirty="0">
                <a:solidFill>
                  <a:srgbClr val="C678DD"/>
                </a:solidFill>
                <a:effectLst/>
                <a:latin typeface="JetBrains Mono" panose="02000009000000000000" pitchFamily="49" charset="0"/>
              </a:rPr>
              <a:t>public</a:t>
            </a:r>
            <a:r>
              <a:rPr lang="en-US" b="0" dirty="0">
                <a:solidFill>
                  <a:srgbClr val="E06C75"/>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class</a:t>
            </a:r>
            <a:r>
              <a:rPr lang="en-US" b="0" dirty="0">
                <a:solidFill>
                  <a:srgbClr val="E06C75"/>
                </a:solidFill>
                <a:effectLst/>
                <a:latin typeface="JetBrains Mono" panose="02000009000000000000" pitchFamily="49" charset="0"/>
              </a:rPr>
              <a:t> </a:t>
            </a:r>
            <a:r>
              <a:rPr lang="en-US" b="0" dirty="0">
                <a:solidFill>
                  <a:srgbClr val="00B050"/>
                </a:solidFill>
                <a:effectLst/>
                <a:latin typeface="JetBrains Mono" panose="02000009000000000000" pitchFamily="49" charset="0"/>
              </a:rPr>
              <a:t>Counter </a:t>
            </a:r>
            <a:r>
              <a:rPr lang="en-US" b="0" dirty="0">
                <a:solidFill>
                  <a:srgbClr val="ABB2BF"/>
                </a:solidFill>
                <a:effectLst/>
                <a:latin typeface="JetBrains Mono" panose="02000009000000000000" pitchFamily="49" charset="0"/>
              </a:rPr>
              <a:t>{</a:t>
            </a:r>
          </a:p>
          <a:p>
            <a:r>
              <a:rPr lang="en-US" b="0" dirty="0">
                <a:solidFill>
                  <a:srgbClr val="C678DD"/>
                </a:solidFill>
                <a:effectLst/>
                <a:latin typeface="JetBrains Mono" panose="02000009000000000000" pitchFamily="49" charset="0"/>
              </a:rPr>
              <a:t>	private</a:t>
            </a:r>
            <a:r>
              <a:rPr lang="en-US" b="0" dirty="0">
                <a:solidFill>
                  <a:srgbClr val="E06C75"/>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int</a:t>
            </a:r>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a:t>
            </a:r>
          </a:p>
          <a:p>
            <a:r>
              <a:rPr lang="en-US" b="0" dirty="0">
                <a:solidFill>
                  <a:srgbClr val="C678DD"/>
                </a:solidFill>
                <a:effectLst/>
                <a:latin typeface="JetBrains Mono" panose="02000009000000000000" pitchFamily="49" charset="0"/>
              </a:rPr>
              <a:t>	</a:t>
            </a:r>
            <a:r>
              <a:rPr lang="en-US" b="1" dirty="0">
                <a:solidFill>
                  <a:srgbClr val="C678DD"/>
                </a:solidFill>
                <a:effectLst/>
                <a:latin typeface="JetBrains Mono" panose="02000009000000000000" pitchFamily="49" charset="0"/>
              </a:rPr>
              <a:t>private</a:t>
            </a:r>
            <a:r>
              <a:rPr lang="en-US" b="1" dirty="0">
                <a:solidFill>
                  <a:srgbClr val="E06C75"/>
                </a:solidFill>
                <a:effectLst/>
                <a:latin typeface="JetBrains Mono" panose="02000009000000000000" pitchFamily="49" charset="0"/>
              </a:rPr>
              <a:t> </a:t>
            </a:r>
            <a:r>
              <a:rPr lang="en-US" b="1" dirty="0">
                <a:solidFill>
                  <a:srgbClr val="00B050"/>
                </a:solidFill>
                <a:effectLst/>
                <a:latin typeface="JetBrains Mono" panose="02000009000000000000" pitchFamily="49" charset="0"/>
              </a:rPr>
              <a:t>Object</a:t>
            </a:r>
            <a:r>
              <a:rPr lang="en-US" b="1" dirty="0">
                <a:solidFill>
                  <a:srgbClr val="E06C75"/>
                </a:solidFill>
                <a:effectLst/>
                <a:latin typeface="JetBrains Mono" panose="02000009000000000000" pitchFamily="49" charset="0"/>
              </a:rPr>
              <a:t> </a:t>
            </a:r>
            <a:r>
              <a:rPr lang="en-US" b="1" dirty="0" err="1">
                <a:solidFill>
                  <a:srgbClr val="E06C75"/>
                </a:solidFill>
                <a:effectLst/>
                <a:latin typeface="JetBrains Mono" panose="02000009000000000000" pitchFamily="49" charset="0"/>
              </a:rPr>
              <a:t>someLock</a:t>
            </a:r>
            <a:r>
              <a:rPr lang="en-US" b="1" dirty="0">
                <a:solidFill>
                  <a:srgbClr val="ABB2BF"/>
                </a:solidFill>
                <a:effectLst/>
                <a:latin typeface="JetBrains Mono" panose="02000009000000000000" pitchFamily="49" charset="0"/>
              </a:rPr>
              <a:t>;</a:t>
            </a:r>
          </a:p>
          <a:p>
            <a:endParaRPr lang="en-US" b="0" dirty="0">
              <a:solidFill>
                <a:srgbClr val="ABB2BF"/>
              </a:solidFill>
              <a:effectLst/>
              <a:latin typeface="JetBrains Mono" panose="02000009000000000000" pitchFamily="49" charset="0"/>
            </a:endParaRPr>
          </a:p>
          <a:p>
            <a:r>
              <a:rPr lang="en-US" b="0" dirty="0">
                <a:solidFill>
                  <a:srgbClr val="C678DD"/>
                </a:solidFill>
                <a:effectLst/>
                <a:latin typeface="JetBrains Mono" panose="02000009000000000000" pitchFamily="49" charset="0"/>
              </a:rPr>
              <a:t>	public</a:t>
            </a:r>
            <a:r>
              <a:rPr lang="en-US" b="0" dirty="0">
                <a:solidFill>
                  <a:srgbClr val="61AFEF"/>
                </a:solidFill>
                <a:effectLst/>
                <a:latin typeface="JetBrains Mono" panose="02000009000000000000" pitchFamily="49" charset="0"/>
              </a:rPr>
              <a:t> Counter</a:t>
            </a:r>
            <a:r>
              <a:rPr lang="en-US" b="0" dirty="0">
                <a:solidFill>
                  <a:srgbClr val="ABB2BF"/>
                </a:solidFill>
                <a:effectLst/>
                <a:latin typeface="JetBrains Mono" panose="02000009000000000000" pitchFamily="49" charset="0"/>
              </a:rPr>
              <a:t>() {</a:t>
            </a:r>
          </a:p>
          <a:p>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 </a:t>
            </a:r>
            <a:r>
              <a:rPr lang="en-US" b="0" dirty="0">
                <a:solidFill>
                  <a:srgbClr val="56B6C2"/>
                </a:solidFill>
                <a:effectLst/>
                <a:latin typeface="JetBrains Mono" panose="02000009000000000000" pitchFamily="49" charset="0"/>
              </a:rPr>
              <a:t>=</a:t>
            </a:r>
            <a:r>
              <a:rPr lang="en-US" b="0" dirty="0">
                <a:solidFill>
                  <a:srgbClr val="ABB2BF"/>
                </a:solidFill>
                <a:effectLst/>
                <a:latin typeface="JetBrains Mono" panose="02000009000000000000" pitchFamily="49" charset="0"/>
              </a:rPr>
              <a:t> </a:t>
            </a:r>
            <a:r>
              <a:rPr lang="en-US" b="0" dirty="0">
                <a:solidFill>
                  <a:srgbClr val="D19A66"/>
                </a:solidFill>
                <a:effectLst/>
                <a:latin typeface="JetBrains Mono" panose="02000009000000000000" pitchFamily="49" charset="0"/>
              </a:rPr>
              <a:t>0</a:t>
            </a:r>
            <a:r>
              <a:rPr lang="en-US" b="0" dirty="0">
                <a:solidFill>
                  <a:srgbClr val="ABB2BF"/>
                </a:solidFill>
                <a:effectLst/>
                <a:latin typeface="JetBrains Mono" panose="02000009000000000000" pitchFamily="49" charset="0"/>
              </a:rPr>
              <a:t>;</a:t>
            </a:r>
          </a:p>
          <a:p>
            <a:r>
              <a:rPr lang="en-US" b="0" dirty="0">
                <a:solidFill>
                  <a:srgbClr val="E06C75"/>
                </a:solidFill>
                <a:effectLst/>
                <a:latin typeface="JetBrains Mono" panose="02000009000000000000" pitchFamily="49" charset="0"/>
              </a:rPr>
              <a:t>		</a:t>
            </a:r>
            <a:r>
              <a:rPr lang="en-US" b="1" dirty="0" err="1">
                <a:solidFill>
                  <a:srgbClr val="E06C75"/>
                </a:solidFill>
                <a:effectLst/>
                <a:latin typeface="JetBrains Mono" panose="02000009000000000000" pitchFamily="49" charset="0"/>
              </a:rPr>
              <a:t>someLock</a:t>
            </a:r>
            <a:r>
              <a:rPr lang="en-US" b="1" dirty="0">
                <a:solidFill>
                  <a:srgbClr val="ABB2BF"/>
                </a:solidFill>
                <a:effectLst/>
                <a:latin typeface="JetBrains Mono" panose="02000009000000000000" pitchFamily="49" charset="0"/>
              </a:rPr>
              <a:t> </a:t>
            </a:r>
            <a:r>
              <a:rPr lang="en-US" b="1" dirty="0">
                <a:solidFill>
                  <a:srgbClr val="56B6C2"/>
                </a:solidFill>
                <a:effectLst/>
                <a:latin typeface="JetBrains Mono" panose="02000009000000000000" pitchFamily="49" charset="0"/>
              </a:rPr>
              <a:t>=</a:t>
            </a:r>
            <a:r>
              <a:rPr lang="en-US" b="1" dirty="0">
                <a:solidFill>
                  <a:srgbClr val="ABB2BF"/>
                </a:solidFill>
                <a:effectLst/>
                <a:latin typeface="JetBrains Mono" panose="02000009000000000000" pitchFamily="49" charset="0"/>
              </a:rPr>
              <a:t> </a:t>
            </a:r>
            <a:r>
              <a:rPr lang="en-US" b="1" dirty="0">
                <a:solidFill>
                  <a:srgbClr val="C678DD"/>
                </a:solidFill>
                <a:effectLst/>
                <a:latin typeface="JetBrains Mono" panose="02000009000000000000" pitchFamily="49" charset="0"/>
              </a:rPr>
              <a:t>new</a:t>
            </a:r>
            <a:r>
              <a:rPr lang="en-US" b="1" dirty="0">
                <a:solidFill>
                  <a:srgbClr val="ABB2BF"/>
                </a:solidFill>
                <a:effectLst/>
                <a:latin typeface="JetBrains Mono" panose="02000009000000000000" pitchFamily="49" charset="0"/>
              </a:rPr>
              <a:t> </a:t>
            </a:r>
            <a:r>
              <a:rPr lang="en-US" b="1" dirty="0">
                <a:solidFill>
                  <a:srgbClr val="61AFEF"/>
                </a:solidFill>
                <a:effectLst/>
                <a:latin typeface="JetBrains Mono" panose="02000009000000000000" pitchFamily="49" charset="0"/>
              </a:rPr>
              <a:t>Object</a:t>
            </a:r>
            <a:r>
              <a:rPr lang="en-US" b="1" dirty="0">
                <a:solidFill>
                  <a:srgbClr val="ABB2BF"/>
                </a:solidFill>
                <a:effectLst/>
                <a:latin typeface="JetBrains Mono" panose="02000009000000000000" pitchFamily="49" charset="0"/>
              </a:rPr>
              <a:t>();</a:t>
            </a:r>
          </a:p>
          <a:p>
            <a:r>
              <a:rPr lang="en-US" b="0" dirty="0">
                <a:solidFill>
                  <a:srgbClr val="ABB2BF"/>
                </a:solidFill>
                <a:effectLst/>
                <a:latin typeface="JetBrains Mono" panose="02000009000000000000" pitchFamily="49" charset="0"/>
              </a:rPr>
              <a:t>	}</a:t>
            </a:r>
          </a:p>
          <a:p>
            <a:endParaRPr lang="en-US" b="0" dirty="0">
              <a:solidFill>
                <a:srgbClr val="ABB2BF"/>
              </a:solidFill>
              <a:effectLst/>
              <a:latin typeface="JetBrains Mono" panose="02000009000000000000" pitchFamily="49" charset="0"/>
            </a:endParaRPr>
          </a:p>
          <a:p>
            <a:r>
              <a:rPr lang="en-US" b="0" dirty="0">
                <a:solidFill>
                  <a:srgbClr val="C678DD"/>
                </a:solidFill>
                <a:effectLst/>
                <a:latin typeface="JetBrains Mono" panose="02000009000000000000" pitchFamily="49" charset="0"/>
              </a:rPr>
              <a:t>	public</a:t>
            </a:r>
            <a:r>
              <a:rPr lang="en-US" b="0" dirty="0">
                <a:solidFill>
                  <a:srgbClr val="61AFE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void</a:t>
            </a:r>
            <a:r>
              <a:rPr lang="en-US" b="0" dirty="0">
                <a:solidFill>
                  <a:srgbClr val="61AFEF"/>
                </a:solidFill>
                <a:effectLst/>
                <a:latin typeface="JetBrains Mono" panose="02000009000000000000" pitchFamily="49" charset="0"/>
              </a:rPr>
              <a:t> increment</a:t>
            </a:r>
            <a:r>
              <a:rPr lang="en-US" b="0" dirty="0">
                <a:solidFill>
                  <a:srgbClr val="ABB2BF"/>
                </a:solidFill>
                <a:effectLst/>
                <a:latin typeface="JetBrains Mono" panose="02000009000000000000" pitchFamily="49" charset="0"/>
              </a:rPr>
              <a:t>() {</a:t>
            </a:r>
          </a:p>
          <a:p>
            <a:r>
              <a:rPr lang="en-US" b="0" dirty="0">
                <a:solidFill>
                  <a:srgbClr val="C678DD"/>
                </a:solidFill>
                <a:effectLst/>
                <a:latin typeface="JetBrains Mono" panose="02000009000000000000" pitchFamily="49" charset="0"/>
              </a:rPr>
              <a:t>		</a:t>
            </a:r>
            <a:r>
              <a:rPr lang="en-US" b="1" dirty="0">
                <a:solidFill>
                  <a:srgbClr val="C678DD"/>
                </a:solidFill>
                <a:effectLst/>
                <a:latin typeface="JetBrains Mono" panose="02000009000000000000" pitchFamily="49" charset="0"/>
              </a:rPr>
              <a:t>synchronized</a:t>
            </a:r>
            <a:r>
              <a:rPr lang="en-US" dirty="0">
                <a:solidFill>
                  <a:srgbClr val="ABB2BF"/>
                </a:solidFill>
                <a:effectLst/>
                <a:latin typeface="JetBrains Mono" panose="02000009000000000000" pitchFamily="49" charset="0"/>
              </a:rPr>
              <a:t>(</a:t>
            </a:r>
            <a:r>
              <a:rPr lang="en-US" b="1" dirty="0" err="1">
                <a:solidFill>
                  <a:srgbClr val="E06C75"/>
                </a:solidFill>
                <a:effectLst/>
                <a:latin typeface="JetBrains Mono" panose="02000009000000000000" pitchFamily="49" charset="0"/>
              </a:rPr>
              <a:t>someLock</a:t>
            </a:r>
            <a:r>
              <a:rPr lang="en-US" dirty="0">
                <a:solidFill>
                  <a:srgbClr val="ABB2BF"/>
                </a:solidFill>
                <a:effectLst/>
                <a:latin typeface="JetBrains Mono" panose="02000009000000000000" pitchFamily="49" charset="0"/>
              </a:rPr>
              <a:t>)</a:t>
            </a:r>
            <a:r>
              <a:rPr lang="en-US" b="1" dirty="0">
                <a:solidFill>
                  <a:srgbClr val="ABB2BF"/>
                </a:solidFill>
                <a:effectLst/>
                <a:latin typeface="JetBrains Mono" panose="02000009000000000000" pitchFamily="49" charset="0"/>
              </a:rPr>
              <a:t> </a:t>
            </a:r>
            <a:r>
              <a:rPr lang="en-US" b="0" dirty="0">
                <a:solidFill>
                  <a:srgbClr val="ABB2BF"/>
                </a:solidFill>
                <a:effectLst/>
                <a:latin typeface="JetBrains Mono" panose="02000009000000000000" pitchFamily="49" charset="0"/>
              </a:rPr>
              <a:t>{</a:t>
            </a:r>
          </a:p>
          <a:p>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a:t>
            </a:r>
          </a:p>
          <a:p>
            <a:r>
              <a:rPr lang="en-US" b="0" dirty="0">
                <a:solidFill>
                  <a:srgbClr val="ABB2BF"/>
                </a:solidFill>
                <a:effectLst/>
                <a:latin typeface="JetBrains Mono" panose="02000009000000000000" pitchFamily="49" charset="0"/>
              </a:rPr>
              <a:t>		}</a:t>
            </a:r>
          </a:p>
          <a:p>
            <a:r>
              <a:rPr lang="en-US" b="0" dirty="0">
                <a:solidFill>
                  <a:srgbClr val="ABB2BF"/>
                </a:solidFill>
                <a:effectLst/>
                <a:latin typeface="JetBrains Mono" panose="02000009000000000000" pitchFamily="49" charset="0"/>
              </a:rPr>
              <a:t>	}</a:t>
            </a:r>
          </a:p>
          <a:p>
            <a:r>
              <a:rPr lang="en-US" b="0" dirty="0">
                <a:solidFill>
                  <a:srgbClr val="C678DD"/>
                </a:solidFill>
                <a:effectLst/>
                <a:latin typeface="JetBrains Mono" panose="02000009000000000000" pitchFamily="49" charset="0"/>
              </a:rPr>
              <a:t>	public</a:t>
            </a:r>
            <a:r>
              <a:rPr lang="en-US" b="0" dirty="0">
                <a:solidFill>
                  <a:srgbClr val="61AFE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int</a:t>
            </a:r>
            <a:r>
              <a:rPr lang="en-US" b="0" dirty="0">
                <a:solidFill>
                  <a:srgbClr val="61AFEF"/>
                </a:solidFill>
                <a:effectLst/>
                <a:latin typeface="JetBrains Mono" panose="02000009000000000000" pitchFamily="49" charset="0"/>
              </a:rPr>
              <a:t> </a:t>
            </a:r>
            <a:r>
              <a:rPr lang="en-US" b="0" dirty="0" err="1">
                <a:solidFill>
                  <a:srgbClr val="61AFEF"/>
                </a:solidFill>
                <a:effectLst/>
                <a:latin typeface="JetBrains Mono" panose="02000009000000000000" pitchFamily="49" charset="0"/>
              </a:rPr>
              <a:t>getValue</a:t>
            </a:r>
            <a:r>
              <a:rPr lang="en-US" b="0" dirty="0">
                <a:solidFill>
                  <a:srgbClr val="ABB2BF"/>
                </a:solidFill>
                <a:effectLst/>
                <a:latin typeface="JetBrains Mono" panose="02000009000000000000" pitchFamily="49" charset="0"/>
              </a:rPr>
              <a:t>() {</a:t>
            </a:r>
          </a:p>
          <a:p>
            <a:r>
              <a:rPr lang="en-US" b="1" dirty="0">
                <a:solidFill>
                  <a:srgbClr val="C678DD"/>
                </a:solidFill>
                <a:latin typeface="JetBrains Mono" panose="02000009000000000000" pitchFamily="49" charset="0"/>
              </a:rPr>
              <a:t>	synchronized</a:t>
            </a:r>
            <a:r>
              <a:rPr lang="en-US" dirty="0">
                <a:solidFill>
                  <a:srgbClr val="ABB2BF"/>
                </a:solidFill>
                <a:latin typeface="JetBrains Mono" panose="02000009000000000000" pitchFamily="49" charset="0"/>
              </a:rPr>
              <a:t>(</a:t>
            </a:r>
            <a:r>
              <a:rPr lang="en-US" b="1" dirty="0" err="1">
                <a:solidFill>
                  <a:srgbClr val="E06C75"/>
                </a:solidFill>
                <a:latin typeface="JetBrains Mono" panose="02000009000000000000" pitchFamily="49" charset="0"/>
              </a:rPr>
              <a:t>someLock</a:t>
            </a:r>
            <a:r>
              <a:rPr lang="en-US" dirty="0">
                <a:solidFill>
                  <a:srgbClr val="ABB2BF"/>
                </a:solidFill>
                <a:latin typeface="JetBrains Mono" panose="02000009000000000000" pitchFamily="49" charset="0"/>
              </a:rPr>
              <a:t>)</a:t>
            </a:r>
            <a:r>
              <a:rPr lang="en-US" b="1" dirty="0">
                <a:solidFill>
                  <a:srgbClr val="ABB2BF"/>
                </a:solidFill>
                <a:latin typeface="JetBrains Mono" panose="02000009000000000000" pitchFamily="49" charset="0"/>
              </a:rPr>
              <a:t> {</a:t>
            </a:r>
            <a:endParaRPr lang="en-US" b="0" dirty="0">
              <a:solidFill>
                <a:srgbClr val="ABB2BF"/>
              </a:solidFill>
              <a:effectLst/>
              <a:latin typeface="JetBrains Mono" panose="02000009000000000000" pitchFamily="49" charset="0"/>
            </a:endParaRPr>
          </a:p>
          <a:p>
            <a:r>
              <a:rPr lang="en-US" b="0" dirty="0">
                <a:solidFill>
                  <a:srgbClr val="C678DD"/>
                </a:solidFill>
                <a:effectLst/>
                <a:latin typeface="JetBrains Mono" panose="02000009000000000000" pitchFamily="49" charset="0"/>
              </a:rPr>
              <a:t>		return</a:t>
            </a:r>
            <a:r>
              <a:rPr lang="en-US" b="0" dirty="0">
                <a:solidFill>
                  <a:srgbClr val="ABB2BF"/>
                </a:solidFill>
                <a:effectLst/>
                <a:latin typeface="JetBrains Mono" panose="02000009000000000000" pitchFamily="49" charset="0"/>
              </a:rPr>
              <a:t> </a:t>
            </a:r>
            <a:r>
              <a:rPr lang="en-US" b="0" dirty="0">
                <a:solidFill>
                  <a:srgbClr val="E06C75"/>
                </a:solidFill>
                <a:effectLst/>
                <a:latin typeface="JetBrains Mono" panose="02000009000000000000" pitchFamily="49" charset="0"/>
              </a:rPr>
              <a:t>count</a:t>
            </a:r>
            <a:r>
              <a:rPr lang="en-US" b="0" dirty="0">
                <a:solidFill>
                  <a:srgbClr val="ABB2BF"/>
                </a:solidFill>
                <a:effectLst/>
                <a:latin typeface="JetBrains Mono" panose="02000009000000000000" pitchFamily="49" charset="0"/>
              </a:rPr>
              <a:t>;</a:t>
            </a:r>
          </a:p>
          <a:p>
            <a:r>
              <a:rPr lang="en-US" dirty="0">
                <a:solidFill>
                  <a:srgbClr val="ABB2BF"/>
                </a:solidFill>
                <a:latin typeface="JetBrains Mono" panose="02000009000000000000" pitchFamily="49" charset="0"/>
              </a:rPr>
              <a:t>		}</a:t>
            </a:r>
            <a:endParaRPr lang="en-US" b="0" dirty="0">
              <a:solidFill>
                <a:srgbClr val="ABB2BF"/>
              </a:solidFill>
              <a:effectLst/>
              <a:latin typeface="JetBrains Mono" panose="02000009000000000000" pitchFamily="49" charset="0"/>
            </a:endParaRPr>
          </a:p>
          <a:p>
            <a:r>
              <a:rPr lang="en-US" b="0" dirty="0">
                <a:solidFill>
                  <a:srgbClr val="ABB2BF"/>
                </a:solidFill>
                <a:effectLst/>
                <a:latin typeface="JetBrains Mono" panose="02000009000000000000" pitchFamily="49" charset="0"/>
              </a:rPr>
              <a:t>	}</a:t>
            </a:r>
          </a:p>
          <a:p>
            <a:r>
              <a:rPr lang="en-US" b="0" dirty="0">
                <a:solidFill>
                  <a:srgbClr val="ABB2BF"/>
                </a:solidFill>
                <a:effectLst/>
                <a:latin typeface="JetBrains Mono" panose="02000009000000000000" pitchFamily="49" charset="0"/>
              </a:rPr>
              <a:t>}</a:t>
            </a:r>
          </a:p>
          <a:p>
            <a:endParaRPr lang="en-US" dirty="0"/>
          </a:p>
        </p:txBody>
      </p:sp>
      <p:sp>
        <p:nvSpPr>
          <p:cNvPr id="3" name="TextBox 2">
            <a:extLst>
              <a:ext uri="{FF2B5EF4-FFF2-40B4-BE49-F238E27FC236}">
                <a16:creationId xmlns:a16="http://schemas.microsoft.com/office/drawing/2014/main" id="{07C3F788-40B1-152D-717A-6F7E6B344476}"/>
              </a:ext>
            </a:extLst>
          </p:cNvPr>
          <p:cNvSpPr txBox="1"/>
          <p:nvPr/>
        </p:nvSpPr>
        <p:spPr>
          <a:xfrm>
            <a:off x="677333" y="1159937"/>
            <a:ext cx="4608095" cy="5632311"/>
          </a:xfrm>
          <a:prstGeom prst="rect">
            <a:avLst/>
          </a:prstGeom>
          <a:noFill/>
        </p:spPr>
        <p:txBody>
          <a:bodyPr wrap="square" rtlCol="0">
            <a:spAutoFit/>
          </a:bodyPr>
          <a:lstStyle/>
          <a:p>
            <a:r>
              <a:rPr lang="en-US" b="0" dirty="0">
                <a:solidFill>
                  <a:srgbClr val="C678DD"/>
                </a:solidFill>
                <a:effectLst/>
                <a:latin typeface="JetBrains Mono" panose="02000009000000000000" pitchFamily="49" charset="0"/>
              </a:rPr>
              <a:t>public</a:t>
            </a:r>
            <a:r>
              <a:rPr lang="en-US" b="0" dirty="0">
                <a:solidFill>
                  <a:srgbClr val="E06C75"/>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class</a:t>
            </a:r>
            <a:r>
              <a:rPr lang="en-US" b="0" dirty="0">
                <a:solidFill>
                  <a:srgbClr val="E06C75"/>
                </a:solidFill>
                <a:effectLst/>
                <a:latin typeface="JetBrains Mono" panose="02000009000000000000" pitchFamily="49" charset="0"/>
              </a:rPr>
              <a:t> </a:t>
            </a:r>
            <a:r>
              <a:rPr lang="en-US" b="0" dirty="0">
                <a:solidFill>
                  <a:srgbClr val="00B050"/>
                </a:solidFill>
                <a:effectLst/>
                <a:latin typeface="JetBrains Mono" panose="02000009000000000000" pitchFamily="49" charset="0"/>
              </a:rPr>
              <a:t>Counter </a:t>
            </a:r>
            <a:r>
              <a:rPr lang="en-US" b="0" dirty="0">
                <a:solidFill>
                  <a:srgbClr val="ABB2BF"/>
                </a:solidFill>
                <a:effectLst/>
                <a:latin typeface="JetBrains Mono" panose="02000009000000000000" pitchFamily="49" charset="0"/>
              </a:rPr>
              <a:t>{</a:t>
            </a:r>
          </a:p>
          <a:p>
            <a:r>
              <a:rPr lang="en-US" b="0" dirty="0">
                <a:solidFill>
                  <a:srgbClr val="C678DD"/>
                </a:solidFill>
                <a:effectLst/>
                <a:latin typeface="JetBrains Mono" panose="02000009000000000000" pitchFamily="49" charset="0"/>
              </a:rPr>
              <a:t>	private</a:t>
            </a:r>
            <a:r>
              <a:rPr lang="en-US" b="0" dirty="0">
                <a:solidFill>
                  <a:srgbClr val="E06C75"/>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int</a:t>
            </a:r>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a:t>
            </a:r>
          </a:p>
          <a:p>
            <a:r>
              <a:rPr lang="en-US" b="0" dirty="0">
                <a:solidFill>
                  <a:srgbClr val="C678DD"/>
                </a:solidFill>
                <a:effectLst/>
                <a:latin typeface="JetBrains Mono" panose="02000009000000000000" pitchFamily="49" charset="0"/>
              </a:rPr>
              <a:t>	</a:t>
            </a:r>
            <a:endParaRPr lang="en-US" b="0" dirty="0">
              <a:solidFill>
                <a:srgbClr val="ABB2BF"/>
              </a:solidFill>
              <a:effectLst/>
              <a:latin typeface="JetBrains Mono" panose="02000009000000000000" pitchFamily="49" charset="0"/>
            </a:endParaRPr>
          </a:p>
          <a:p>
            <a:r>
              <a:rPr lang="en-US" b="0" dirty="0">
                <a:solidFill>
                  <a:srgbClr val="C678DD"/>
                </a:solidFill>
                <a:effectLst/>
                <a:latin typeface="JetBrains Mono" panose="02000009000000000000" pitchFamily="49" charset="0"/>
              </a:rPr>
              <a:t>	public</a:t>
            </a:r>
            <a:r>
              <a:rPr lang="en-US" b="0" dirty="0">
                <a:solidFill>
                  <a:srgbClr val="61AFEF"/>
                </a:solidFill>
                <a:effectLst/>
                <a:latin typeface="JetBrains Mono" panose="02000009000000000000" pitchFamily="49" charset="0"/>
              </a:rPr>
              <a:t> Counter</a:t>
            </a:r>
            <a:r>
              <a:rPr lang="en-US" b="0" dirty="0">
                <a:solidFill>
                  <a:srgbClr val="ABB2BF"/>
                </a:solidFill>
                <a:effectLst/>
                <a:latin typeface="JetBrains Mono" panose="02000009000000000000" pitchFamily="49" charset="0"/>
              </a:rPr>
              <a:t>() {</a:t>
            </a:r>
          </a:p>
          <a:p>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 </a:t>
            </a:r>
            <a:r>
              <a:rPr lang="en-US" b="0" dirty="0">
                <a:solidFill>
                  <a:srgbClr val="56B6C2"/>
                </a:solidFill>
                <a:effectLst/>
                <a:latin typeface="JetBrains Mono" panose="02000009000000000000" pitchFamily="49" charset="0"/>
              </a:rPr>
              <a:t>=</a:t>
            </a:r>
            <a:r>
              <a:rPr lang="en-US" b="0" dirty="0">
                <a:solidFill>
                  <a:srgbClr val="ABB2BF"/>
                </a:solidFill>
                <a:effectLst/>
                <a:latin typeface="JetBrains Mono" panose="02000009000000000000" pitchFamily="49" charset="0"/>
              </a:rPr>
              <a:t> </a:t>
            </a:r>
            <a:r>
              <a:rPr lang="en-US" b="0" dirty="0">
                <a:solidFill>
                  <a:srgbClr val="D19A66"/>
                </a:solidFill>
                <a:effectLst/>
                <a:latin typeface="JetBrains Mono" panose="02000009000000000000" pitchFamily="49" charset="0"/>
              </a:rPr>
              <a:t>0</a:t>
            </a:r>
            <a:r>
              <a:rPr lang="en-US" b="0" dirty="0">
                <a:solidFill>
                  <a:srgbClr val="ABB2BF"/>
                </a:solidFill>
                <a:effectLst/>
                <a:latin typeface="JetBrains Mono" panose="02000009000000000000" pitchFamily="49" charset="0"/>
              </a:rPr>
              <a:t>;</a:t>
            </a:r>
            <a:br>
              <a:rPr lang="en-US" b="0" dirty="0">
                <a:solidFill>
                  <a:srgbClr val="ABB2BF"/>
                </a:solidFill>
                <a:effectLst/>
                <a:latin typeface="JetBrains Mono" panose="02000009000000000000" pitchFamily="49" charset="0"/>
              </a:rPr>
            </a:br>
            <a:r>
              <a:rPr lang="en-US" b="0" dirty="0">
                <a:solidFill>
                  <a:srgbClr val="ABB2BF"/>
                </a:solidFill>
                <a:effectLst/>
                <a:latin typeface="JetBrains Mono" panose="02000009000000000000" pitchFamily="49" charset="0"/>
              </a:rPr>
              <a:t>	}</a:t>
            </a:r>
          </a:p>
          <a:p>
            <a:endParaRPr lang="en-US" b="0" dirty="0">
              <a:solidFill>
                <a:srgbClr val="ABB2BF"/>
              </a:solidFill>
              <a:effectLst/>
              <a:latin typeface="JetBrains Mono" panose="02000009000000000000" pitchFamily="49" charset="0"/>
            </a:endParaRPr>
          </a:p>
          <a:p>
            <a:r>
              <a:rPr lang="en-US" b="0" dirty="0">
                <a:solidFill>
                  <a:srgbClr val="C678DD"/>
                </a:solidFill>
                <a:effectLst/>
                <a:latin typeface="JetBrains Mono" panose="02000009000000000000" pitchFamily="49" charset="0"/>
              </a:rPr>
              <a:t>	public</a:t>
            </a:r>
            <a:r>
              <a:rPr lang="en-US" b="0" dirty="0">
                <a:solidFill>
                  <a:srgbClr val="61AFE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void</a:t>
            </a:r>
            <a:r>
              <a:rPr lang="en-US" b="0" dirty="0">
                <a:solidFill>
                  <a:srgbClr val="61AFEF"/>
                </a:solidFill>
                <a:effectLst/>
                <a:latin typeface="JetBrains Mono" panose="02000009000000000000" pitchFamily="49" charset="0"/>
              </a:rPr>
              <a:t> increment</a:t>
            </a:r>
            <a:r>
              <a:rPr lang="en-US" b="0" dirty="0">
                <a:solidFill>
                  <a:srgbClr val="ABB2BF"/>
                </a:solidFill>
                <a:effectLst/>
                <a:latin typeface="JetBrains Mono" panose="02000009000000000000" pitchFamily="49" charset="0"/>
              </a:rPr>
              <a:t>() {</a:t>
            </a:r>
          </a:p>
          <a:p>
            <a:r>
              <a:rPr lang="en-US" b="0" dirty="0">
                <a:solidFill>
                  <a:srgbClr val="C678DD"/>
                </a:solidFill>
                <a:effectLst/>
                <a:latin typeface="JetBrains Mono" panose="02000009000000000000" pitchFamily="49" charset="0"/>
              </a:rPr>
              <a:t>		</a:t>
            </a:r>
            <a:r>
              <a:rPr lang="en-US" b="1" dirty="0">
                <a:solidFill>
                  <a:srgbClr val="C678DD"/>
                </a:solidFill>
                <a:effectLst/>
                <a:latin typeface="JetBrains Mono" panose="02000009000000000000" pitchFamily="49" charset="0"/>
              </a:rPr>
              <a:t>synchronized</a:t>
            </a:r>
            <a:r>
              <a:rPr lang="en-US" dirty="0">
                <a:solidFill>
                  <a:srgbClr val="ABB2BF"/>
                </a:solidFill>
                <a:effectLst/>
                <a:latin typeface="JetBrains Mono" panose="02000009000000000000" pitchFamily="49" charset="0"/>
              </a:rPr>
              <a:t>(</a:t>
            </a:r>
            <a:r>
              <a:rPr lang="en-US" b="1" dirty="0">
                <a:solidFill>
                  <a:srgbClr val="E06C75"/>
                </a:solidFill>
                <a:effectLst/>
                <a:latin typeface="JetBrains Mono" panose="02000009000000000000" pitchFamily="49" charset="0"/>
              </a:rPr>
              <a:t>this</a:t>
            </a:r>
            <a:r>
              <a:rPr lang="en-US" dirty="0">
                <a:solidFill>
                  <a:srgbClr val="ABB2BF"/>
                </a:solidFill>
                <a:effectLst/>
                <a:latin typeface="JetBrains Mono" panose="02000009000000000000" pitchFamily="49" charset="0"/>
              </a:rPr>
              <a:t>)</a:t>
            </a:r>
            <a:r>
              <a:rPr lang="en-US" b="1" dirty="0">
                <a:solidFill>
                  <a:srgbClr val="ABB2BF"/>
                </a:solidFill>
                <a:effectLst/>
                <a:latin typeface="JetBrains Mono" panose="02000009000000000000" pitchFamily="49" charset="0"/>
              </a:rPr>
              <a:t> </a:t>
            </a:r>
            <a:r>
              <a:rPr lang="en-US" b="0" dirty="0">
                <a:solidFill>
                  <a:srgbClr val="ABB2BF"/>
                </a:solidFill>
                <a:effectLst/>
                <a:latin typeface="JetBrains Mono" panose="02000009000000000000" pitchFamily="49" charset="0"/>
              </a:rPr>
              <a:t>{</a:t>
            </a:r>
          </a:p>
          <a:p>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a:t>
            </a:r>
          </a:p>
          <a:p>
            <a:r>
              <a:rPr lang="en-US" b="0" dirty="0">
                <a:solidFill>
                  <a:srgbClr val="ABB2BF"/>
                </a:solidFill>
                <a:effectLst/>
                <a:latin typeface="JetBrains Mono" panose="02000009000000000000" pitchFamily="49" charset="0"/>
              </a:rPr>
              <a:t>		}</a:t>
            </a:r>
          </a:p>
          <a:p>
            <a:r>
              <a:rPr lang="en-US" b="0" dirty="0">
                <a:solidFill>
                  <a:srgbClr val="ABB2BF"/>
                </a:solidFill>
                <a:effectLst/>
                <a:latin typeface="JetBrains Mono" panose="02000009000000000000" pitchFamily="49" charset="0"/>
              </a:rPr>
              <a:t>	}</a:t>
            </a:r>
          </a:p>
          <a:p>
            <a:r>
              <a:rPr lang="en-US" b="0" dirty="0">
                <a:solidFill>
                  <a:srgbClr val="C678DD"/>
                </a:solidFill>
                <a:effectLst/>
                <a:latin typeface="JetBrains Mono" panose="02000009000000000000" pitchFamily="49" charset="0"/>
              </a:rPr>
              <a:t>	public</a:t>
            </a:r>
            <a:r>
              <a:rPr lang="en-US" b="0" dirty="0">
                <a:solidFill>
                  <a:srgbClr val="61AFE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int</a:t>
            </a:r>
            <a:r>
              <a:rPr lang="en-US" b="0" dirty="0">
                <a:solidFill>
                  <a:srgbClr val="61AFEF"/>
                </a:solidFill>
                <a:effectLst/>
                <a:latin typeface="JetBrains Mono" panose="02000009000000000000" pitchFamily="49" charset="0"/>
              </a:rPr>
              <a:t> </a:t>
            </a:r>
            <a:r>
              <a:rPr lang="en-US" b="0" dirty="0" err="1">
                <a:solidFill>
                  <a:srgbClr val="61AFEF"/>
                </a:solidFill>
                <a:effectLst/>
                <a:latin typeface="JetBrains Mono" panose="02000009000000000000" pitchFamily="49" charset="0"/>
              </a:rPr>
              <a:t>getValue</a:t>
            </a:r>
            <a:r>
              <a:rPr lang="en-US" b="0" dirty="0">
                <a:solidFill>
                  <a:srgbClr val="ABB2BF"/>
                </a:solidFill>
                <a:effectLst/>
                <a:latin typeface="JetBrains Mono" panose="02000009000000000000" pitchFamily="49" charset="0"/>
              </a:rPr>
              <a:t>() {</a:t>
            </a:r>
          </a:p>
          <a:p>
            <a:r>
              <a:rPr lang="en-US" b="1" dirty="0">
                <a:solidFill>
                  <a:srgbClr val="C678DD"/>
                </a:solidFill>
                <a:latin typeface="JetBrains Mono" panose="02000009000000000000" pitchFamily="49" charset="0"/>
              </a:rPr>
              <a:t>	synchronized</a:t>
            </a:r>
            <a:r>
              <a:rPr lang="en-US" dirty="0">
                <a:solidFill>
                  <a:srgbClr val="ABB2BF"/>
                </a:solidFill>
                <a:latin typeface="JetBrains Mono" panose="02000009000000000000" pitchFamily="49" charset="0"/>
              </a:rPr>
              <a:t>(</a:t>
            </a:r>
            <a:r>
              <a:rPr lang="en-US" b="1" dirty="0">
                <a:solidFill>
                  <a:srgbClr val="E06C75"/>
                </a:solidFill>
                <a:latin typeface="JetBrains Mono" panose="02000009000000000000" pitchFamily="49" charset="0"/>
              </a:rPr>
              <a:t>this</a:t>
            </a:r>
            <a:r>
              <a:rPr lang="en-US" dirty="0">
                <a:solidFill>
                  <a:srgbClr val="ABB2BF"/>
                </a:solidFill>
                <a:latin typeface="JetBrains Mono" panose="02000009000000000000" pitchFamily="49" charset="0"/>
              </a:rPr>
              <a:t>)</a:t>
            </a:r>
            <a:r>
              <a:rPr lang="en-US" b="1" dirty="0">
                <a:solidFill>
                  <a:srgbClr val="ABB2BF"/>
                </a:solidFill>
                <a:latin typeface="JetBrains Mono" panose="02000009000000000000" pitchFamily="49" charset="0"/>
              </a:rPr>
              <a:t> {</a:t>
            </a:r>
            <a:endParaRPr lang="en-US" b="0" dirty="0">
              <a:solidFill>
                <a:srgbClr val="ABB2BF"/>
              </a:solidFill>
              <a:effectLst/>
              <a:latin typeface="JetBrains Mono" panose="02000009000000000000" pitchFamily="49" charset="0"/>
            </a:endParaRPr>
          </a:p>
          <a:p>
            <a:r>
              <a:rPr lang="en-US" b="0" dirty="0">
                <a:solidFill>
                  <a:srgbClr val="C678DD"/>
                </a:solidFill>
                <a:effectLst/>
                <a:latin typeface="JetBrains Mono" panose="02000009000000000000" pitchFamily="49" charset="0"/>
              </a:rPr>
              <a:t>		return</a:t>
            </a:r>
            <a:r>
              <a:rPr lang="en-US" b="0" dirty="0">
                <a:solidFill>
                  <a:srgbClr val="ABB2BF"/>
                </a:solidFill>
                <a:effectLst/>
                <a:latin typeface="JetBrains Mono" panose="02000009000000000000" pitchFamily="49" charset="0"/>
              </a:rPr>
              <a:t> </a:t>
            </a:r>
            <a:r>
              <a:rPr lang="en-US" b="0" dirty="0">
                <a:solidFill>
                  <a:srgbClr val="E06C75"/>
                </a:solidFill>
                <a:effectLst/>
                <a:latin typeface="JetBrains Mono" panose="02000009000000000000" pitchFamily="49" charset="0"/>
              </a:rPr>
              <a:t>count</a:t>
            </a:r>
            <a:r>
              <a:rPr lang="en-US" b="0" dirty="0">
                <a:solidFill>
                  <a:srgbClr val="ABB2BF"/>
                </a:solidFill>
                <a:effectLst/>
                <a:latin typeface="JetBrains Mono" panose="02000009000000000000" pitchFamily="49" charset="0"/>
              </a:rPr>
              <a:t>;</a:t>
            </a:r>
          </a:p>
          <a:p>
            <a:r>
              <a:rPr lang="en-US" dirty="0">
                <a:solidFill>
                  <a:srgbClr val="ABB2BF"/>
                </a:solidFill>
                <a:latin typeface="JetBrains Mono" panose="02000009000000000000" pitchFamily="49" charset="0"/>
              </a:rPr>
              <a:t>		}</a:t>
            </a:r>
            <a:endParaRPr lang="en-US" b="0" dirty="0">
              <a:solidFill>
                <a:srgbClr val="ABB2BF"/>
              </a:solidFill>
              <a:effectLst/>
              <a:latin typeface="JetBrains Mono" panose="02000009000000000000" pitchFamily="49" charset="0"/>
            </a:endParaRPr>
          </a:p>
          <a:p>
            <a:r>
              <a:rPr lang="en-US" b="0" dirty="0">
                <a:solidFill>
                  <a:srgbClr val="ABB2BF"/>
                </a:solidFill>
                <a:effectLst/>
                <a:latin typeface="JetBrains Mono" panose="02000009000000000000" pitchFamily="49" charset="0"/>
              </a:rPr>
              <a:t>	}</a:t>
            </a:r>
          </a:p>
          <a:p>
            <a:r>
              <a:rPr lang="en-US" b="0" dirty="0">
                <a:solidFill>
                  <a:srgbClr val="ABB2BF"/>
                </a:solidFill>
                <a:effectLst/>
                <a:latin typeface="JetBrains Mono" panose="02000009000000000000" pitchFamily="49" charset="0"/>
              </a:rPr>
              <a:t>}</a:t>
            </a:r>
          </a:p>
          <a:p>
            <a:endParaRPr lang="en-US" dirty="0"/>
          </a:p>
          <a:p>
            <a:endParaRPr lang="en-US" dirty="0"/>
          </a:p>
        </p:txBody>
      </p:sp>
      <p:sp>
        <p:nvSpPr>
          <p:cNvPr id="7" name="TextBox 6">
            <a:extLst>
              <a:ext uri="{FF2B5EF4-FFF2-40B4-BE49-F238E27FC236}">
                <a16:creationId xmlns:a16="http://schemas.microsoft.com/office/drawing/2014/main" id="{D68A9820-F39E-017C-793C-6648954AD205}"/>
              </a:ext>
            </a:extLst>
          </p:cNvPr>
          <p:cNvSpPr txBox="1"/>
          <p:nvPr/>
        </p:nvSpPr>
        <p:spPr>
          <a:xfrm>
            <a:off x="677333" y="1159937"/>
            <a:ext cx="4608095" cy="4524315"/>
          </a:xfrm>
          <a:prstGeom prst="rect">
            <a:avLst/>
          </a:prstGeom>
          <a:noFill/>
        </p:spPr>
        <p:txBody>
          <a:bodyPr wrap="square" rtlCol="0">
            <a:spAutoFit/>
          </a:bodyPr>
          <a:lstStyle/>
          <a:p>
            <a:r>
              <a:rPr lang="en-US" b="0" dirty="0">
                <a:solidFill>
                  <a:srgbClr val="C678DD"/>
                </a:solidFill>
                <a:effectLst/>
                <a:latin typeface="JetBrains Mono" panose="02000009000000000000" pitchFamily="49" charset="0"/>
              </a:rPr>
              <a:t>public</a:t>
            </a:r>
            <a:r>
              <a:rPr lang="en-US" b="0" dirty="0">
                <a:solidFill>
                  <a:srgbClr val="E06C75"/>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class</a:t>
            </a:r>
            <a:r>
              <a:rPr lang="en-US" b="0" dirty="0">
                <a:solidFill>
                  <a:srgbClr val="E06C75"/>
                </a:solidFill>
                <a:effectLst/>
                <a:latin typeface="JetBrains Mono" panose="02000009000000000000" pitchFamily="49" charset="0"/>
              </a:rPr>
              <a:t> </a:t>
            </a:r>
            <a:r>
              <a:rPr lang="en-US" b="0" dirty="0">
                <a:solidFill>
                  <a:srgbClr val="00B050"/>
                </a:solidFill>
                <a:effectLst/>
                <a:latin typeface="JetBrains Mono" panose="02000009000000000000" pitchFamily="49" charset="0"/>
              </a:rPr>
              <a:t>Counter </a:t>
            </a:r>
            <a:r>
              <a:rPr lang="en-US" b="0" dirty="0">
                <a:solidFill>
                  <a:srgbClr val="ABB2BF"/>
                </a:solidFill>
                <a:effectLst/>
                <a:latin typeface="JetBrains Mono" panose="02000009000000000000" pitchFamily="49" charset="0"/>
              </a:rPr>
              <a:t>{</a:t>
            </a:r>
          </a:p>
          <a:p>
            <a:r>
              <a:rPr lang="en-US" b="0" dirty="0">
                <a:solidFill>
                  <a:srgbClr val="C678DD"/>
                </a:solidFill>
                <a:effectLst/>
                <a:latin typeface="JetBrains Mono" panose="02000009000000000000" pitchFamily="49" charset="0"/>
              </a:rPr>
              <a:t>	private</a:t>
            </a:r>
            <a:r>
              <a:rPr lang="en-US" b="0" dirty="0">
                <a:solidFill>
                  <a:srgbClr val="E06C75"/>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int</a:t>
            </a:r>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a:t>
            </a:r>
          </a:p>
          <a:p>
            <a:r>
              <a:rPr lang="en-US" b="0" dirty="0">
                <a:solidFill>
                  <a:srgbClr val="C678DD"/>
                </a:solidFill>
                <a:effectLst/>
                <a:latin typeface="JetBrains Mono" panose="02000009000000000000" pitchFamily="49" charset="0"/>
              </a:rPr>
              <a:t>	</a:t>
            </a:r>
            <a:endParaRPr lang="en-US" b="0" dirty="0">
              <a:solidFill>
                <a:srgbClr val="ABB2BF"/>
              </a:solidFill>
              <a:effectLst/>
              <a:latin typeface="JetBrains Mono" panose="02000009000000000000" pitchFamily="49" charset="0"/>
            </a:endParaRPr>
          </a:p>
          <a:p>
            <a:r>
              <a:rPr lang="en-US" b="0" dirty="0">
                <a:solidFill>
                  <a:srgbClr val="C678DD"/>
                </a:solidFill>
                <a:effectLst/>
                <a:latin typeface="JetBrains Mono" panose="02000009000000000000" pitchFamily="49" charset="0"/>
              </a:rPr>
              <a:t>	public</a:t>
            </a:r>
            <a:r>
              <a:rPr lang="en-US" b="0" dirty="0">
                <a:solidFill>
                  <a:srgbClr val="61AFEF"/>
                </a:solidFill>
                <a:effectLst/>
                <a:latin typeface="JetBrains Mono" panose="02000009000000000000" pitchFamily="49" charset="0"/>
              </a:rPr>
              <a:t> Counter</a:t>
            </a:r>
            <a:r>
              <a:rPr lang="en-US" b="0" dirty="0">
                <a:solidFill>
                  <a:srgbClr val="ABB2BF"/>
                </a:solidFill>
                <a:effectLst/>
                <a:latin typeface="JetBrains Mono" panose="02000009000000000000" pitchFamily="49" charset="0"/>
              </a:rPr>
              <a:t>() {</a:t>
            </a:r>
          </a:p>
          <a:p>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 </a:t>
            </a:r>
            <a:r>
              <a:rPr lang="en-US" b="0" dirty="0">
                <a:solidFill>
                  <a:srgbClr val="56B6C2"/>
                </a:solidFill>
                <a:effectLst/>
                <a:latin typeface="JetBrains Mono" panose="02000009000000000000" pitchFamily="49" charset="0"/>
              </a:rPr>
              <a:t>=</a:t>
            </a:r>
            <a:r>
              <a:rPr lang="en-US" b="0" dirty="0">
                <a:solidFill>
                  <a:srgbClr val="ABB2BF"/>
                </a:solidFill>
                <a:effectLst/>
                <a:latin typeface="JetBrains Mono" panose="02000009000000000000" pitchFamily="49" charset="0"/>
              </a:rPr>
              <a:t> </a:t>
            </a:r>
            <a:r>
              <a:rPr lang="en-US" b="0" dirty="0">
                <a:solidFill>
                  <a:srgbClr val="D19A66"/>
                </a:solidFill>
                <a:effectLst/>
                <a:latin typeface="JetBrains Mono" panose="02000009000000000000" pitchFamily="49" charset="0"/>
              </a:rPr>
              <a:t>0</a:t>
            </a:r>
            <a:r>
              <a:rPr lang="en-US" b="0" dirty="0">
                <a:solidFill>
                  <a:srgbClr val="ABB2BF"/>
                </a:solidFill>
                <a:effectLst/>
                <a:latin typeface="JetBrains Mono" panose="02000009000000000000" pitchFamily="49" charset="0"/>
              </a:rPr>
              <a:t>;</a:t>
            </a:r>
            <a:br>
              <a:rPr lang="en-US" b="0" dirty="0">
                <a:solidFill>
                  <a:srgbClr val="ABB2BF"/>
                </a:solidFill>
                <a:effectLst/>
                <a:latin typeface="JetBrains Mono" panose="02000009000000000000" pitchFamily="49" charset="0"/>
              </a:rPr>
            </a:br>
            <a:r>
              <a:rPr lang="en-US" b="0" dirty="0">
                <a:solidFill>
                  <a:srgbClr val="ABB2BF"/>
                </a:solidFill>
                <a:effectLst/>
                <a:latin typeface="JetBrains Mono" panose="02000009000000000000" pitchFamily="49" charset="0"/>
              </a:rPr>
              <a:t>	}</a:t>
            </a:r>
          </a:p>
          <a:p>
            <a:endParaRPr lang="en-US" b="0" dirty="0">
              <a:solidFill>
                <a:srgbClr val="ABB2BF"/>
              </a:solidFill>
              <a:effectLst/>
              <a:latin typeface="JetBrains Mono" panose="02000009000000000000" pitchFamily="49" charset="0"/>
            </a:endParaRPr>
          </a:p>
          <a:p>
            <a:r>
              <a:rPr lang="en-US" b="0" dirty="0">
                <a:solidFill>
                  <a:srgbClr val="C678DD"/>
                </a:solidFill>
                <a:effectLst/>
                <a:latin typeface="JetBrains Mono" panose="02000009000000000000" pitchFamily="49" charset="0"/>
              </a:rPr>
              <a:t>	public</a:t>
            </a:r>
            <a:r>
              <a:rPr lang="en-US" b="1" dirty="0">
                <a:solidFill>
                  <a:srgbClr val="C678DD"/>
                </a:solidFill>
                <a:latin typeface="JetBrains Mono" panose="02000009000000000000" pitchFamily="49" charset="0"/>
              </a:rPr>
              <a:t> synchronized</a:t>
            </a:r>
            <a:r>
              <a:rPr lang="en-US" b="0" dirty="0">
                <a:solidFill>
                  <a:srgbClr val="61AFE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void</a:t>
            </a:r>
            <a:r>
              <a:rPr lang="en-US" b="0" dirty="0">
                <a:solidFill>
                  <a:srgbClr val="61AFEF"/>
                </a:solidFill>
                <a:effectLst/>
                <a:latin typeface="JetBrains Mono" panose="02000009000000000000" pitchFamily="49" charset="0"/>
              </a:rPr>
              <a:t> increment</a:t>
            </a:r>
            <a:r>
              <a:rPr lang="en-US" b="0" dirty="0">
                <a:solidFill>
                  <a:srgbClr val="ABB2BF"/>
                </a:solidFill>
                <a:effectLst/>
                <a:latin typeface="JetBrains Mono" panose="02000009000000000000" pitchFamily="49" charset="0"/>
              </a:rPr>
              <a:t>() {</a:t>
            </a:r>
            <a:r>
              <a:rPr lang="en-US" b="0" dirty="0">
                <a:solidFill>
                  <a:srgbClr val="E06C75"/>
                </a:solidFill>
                <a:effectLst/>
                <a:latin typeface="JetBrains Mono" panose="02000009000000000000" pitchFamily="49" charset="0"/>
              </a:rPr>
              <a:t>			count</a:t>
            </a:r>
            <a:r>
              <a:rPr lang="en-US" b="0" dirty="0">
                <a:solidFill>
                  <a:srgbClr val="ABB2BF"/>
                </a:solidFill>
                <a:effectLst/>
                <a:latin typeface="JetBrains Mono" panose="02000009000000000000" pitchFamily="49" charset="0"/>
              </a:rPr>
              <a:t>++;</a:t>
            </a:r>
          </a:p>
          <a:p>
            <a:r>
              <a:rPr lang="en-US" b="0" dirty="0">
                <a:solidFill>
                  <a:srgbClr val="ABB2BF"/>
                </a:solidFill>
                <a:effectLst/>
                <a:latin typeface="JetBrains Mono" panose="02000009000000000000" pitchFamily="49" charset="0"/>
              </a:rPr>
              <a:t>	}</a:t>
            </a:r>
          </a:p>
          <a:p>
            <a:r>
              <a:rPr lang="en-US" b="0" dirty="0">
                <a:solidFill>
                  <a:srgbClr val="C678DD"/>
                </a:solidFill>
                <a:effectLst/>
                <a:latin typeface="JetBrains Mono" panose="02000009000000000000" pitchFamily="49" charset="0"/>
              </a:rPr>
              <a:t>	public </a:t>
            </a:r>
            <a:r>
              <a:rPr lang="en-US" b="1" dirty="0">
                <a:solidFill>
                  <a:srgbClr val="C678DD"/>
                </a:solidFill>
                <a:latin typeface="JetBrains Mono" panose="02000009000000000000" pitchFamily="49" charset="0"/>
              </a:rPr>
              <a:t>synchronized</a:t>
            </a:r>
            <a:r>
              <a:rPr lang="en-US" b="0" dirty="0">
                <a:solidFill>
                  <a:srgbClr val="61AFEF"/>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int</a:t>
            </a:r>
            <a:r>
              <a:rPr lang="en-US" b="0" dirty="0">
                <a:solidFill>
                  <a:srgbClr val="61AFEF"/>
                </a:solidFill>
                <a:effectLst/>
                <a:latin typeface="JetBrains Mono" panose="02000009000000000000" pitchFamily="49" charset="0"/>
              </a:rPr>
              <a:t> </a:t>
            </a:r>
            <a:r>
              <a:rPr lang="en-US" b="0" dirty="0" err="1">
                <a:solidFill>
                  <a:srgbClr val="61AFEF"/>
                </a:solidFill>
                <a:effectLst/>
                <a:latin typeface="JetBrains Mono" panose="02000009000000000000" pitchFamily="49" charset="0"/>
              </a:rPr>
              <a:t>getValue</a:t>
            </a:r>
            <a:r>
              <a:rPr lang="en-US" b="0" dirty="0">
                <a:solidFill>
                  <a:srgbClr val="ABB2BF"/>
                </a:solidFill>
                <a:effectLst/>
                <a:latin typeface="JetBrains Mono" panose="02000009000000000000" pitchFamily="49" charset="0"/>
              </a:rPr>
              <a:t>() {</a:t>
            </a:r>
          </a:p>
          <a:p>
            <a:r>
              <a:rPr lang="en-US" b="0" dirty="0">
                <a:solidFill>
                  <a:srgbClr val="C678DD"/>
                </a:solidFill>
                <a:effectLst/>
                <a:latin typeface="JetBrains Mono" panose="02000009000000000000" pitchFamily="49" charset="0"/>
              </a:rPr>
              <a:t>		return</a:t>
            </a:r>
            <a:r>
              <a:rPr lang="en-US" b="0" dirty="0">
                <a:solidFill>
                  <a:srgbClr val="ABB2BF"/>
                </a:solidFill>
                <a:effectLst/>
                <a:latin typeface="JetBrains Mono" panose="02000009000000000000" pitchFamily="49" charset="0"/>
              </a:rPr>
              <a:t> </a:t>
            </a:r>
            <a:r>
              <a:rPr lang="en-US" b="0" dirty="0">
                <a:solidFill>
                  <a:srgbClr val="E06C75"/>
                </a:solidFill>
                <a:effectLst/>
                <a:latin typeface="JetBrains Mono" panose="02000009000000000000" pitchFamily="49" charset="0"/>
              </a:rPr>
              <a:t>count</a:t>
            </a:r>
            <a:r>
              <a:rPr lang="en-US" b="0" dirty="0">
                <a:solidFill>
                  <a:srgbClr val="ABB2BF"/>
                </a:solidFill>
                <a:effectLst/>
                <a:latin typeface="JetBrains Mono" panose="02000009000000000000" pitchFamily="49" charset="0"/>
              </a:rPr>
              <a:t>;</a:t>
            </a:r>
          </a:p>
          <a:p>
            <a:r>
              <a:rPr lang="en-US" b="0" dirty="0">
                <a:solidFill>
                  <a:srgbClr val="ABB2BF"/>
                </a:solidFill>
                <a:effectLst/>
                <a:latin typeface="JetBrains Mono" panose="02000009000000000000" pitchFamily="49" charset="0"/>
              </a:rPr>
              <a:t>	}</a:t>
            </a:r>
          </a:p>
          <a:p>
            <a:r>
              <a:rPr lang="en-US" b="0" dirty="0">
                <a:solidFill>
                  <a:srgbClr val="ABB2BF"/>
                </a:solidFill>
                <a:effectLst/>
                <a:latin typeface="JetBrains Mono" panose="02000009000000000000" pitchFamily="49" charset="0"/>
              </a:rPr>
              <a:t>}</a:t>
            </a:r>
          </a:p>
          <a:p>
            <a:endParaRPr lang="en-US" dirty="0"/>
          </a:p>
          <a:p>
            <a:endParaRPr lang="en-US" dirty="0"/>
          </a:p>
        </p:txBody>
      </p:sp>
    </p:spTree>
    <p:extLst>
      <p:ext uri="{BB962C8B-B14F-4D97-AF65-F5344CB8AC3E}">
        <p14:creationId xmlns:p14="http://schemas.microsoft.com/office/powerpoint/2010/main" val="96550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p:bldP spid="4" grpId="1"/>
      <p:bldP spid="3" grpId="0"/>
      <p:bldP spid="3" grpId="1"/>
      <p:bldP spid="7"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B0FAB-B3D7-31A4-F0E0-48A6C6872922}"/>
              </a:ext>
            </a:extLst>
          </p:cNvPr>
          <p:cNvSpPr>
            <a:spLocks noGrp="1"/>
          </p:cNvSpPr>
          <p:nvPr>
            <p:ph type="title"/>
          </p:nvPr>
        </p:nvSpPr>
        <p:spPr/>
        <p:txBody>
          <a:bodyPr/>
          <a:lstStyle/>
          <a:p>
            <a:pPr algn="l" defTabSz="457200" rtl="1" eaLnBrk="1" latinLnBrk="0" hangingPunct="1">
              <a:spcBef>
                <a:spcPct val="0"/>
              </a:spcBef>
              <a:buNone/>
            </a:pPr>
            <a:r>
              <a:rPr lang="en-US" dirty="0"/>
              <a:t>Visibility</a:t>
            </a:r>
            <a:endParaRPr lang="en-IL" dirty="0"/>
          </a:p>
        </p:txBody>
      </p:sp>
      <p:sp>
        <p:nvSpPr>
          <p:cNvPr id="4" name="Content Placeholder 2">
            <a:extLst>
              <a:ext uri="{FF2B5EF4-FFF2-40B4-BE49-F238E27FC236}">
                <a16:creationId xmlns:a16="http://schemas.microsoft.com/office/drawing/2014/main" id="{2A249AB3-7C0E-0EC2-6D0B-5DEA07C9A11C}"/>
              </a:ext>
            </a:extLst>
          </p:cNvPr>
          <p:cNvSpPr>
            <a:spLocks noGrp="1"/>
          </p:cNvSpPr>
          <p:nvPr>
            <p:ph idx="1"/>
          </p:nvPr>
        </p:nvSpPr>
        <p:spPr>
          <a:xfrm>
            <a:off x="677334" y="2160589"/>
            <a:ext cx="8596668" cy="3880773"/>
          </a:xfrm>
        </p:spPr>
        <p:txBody>
          <a:bodyPr/>
          <a:lstStyle/>
          <a:p>
            <a:r>
              <a:rPr lang="en-US" dirty="0"/>
              <a:t>In a multithreaded environment, each thread may have its own local cache of variables, and changes made by one thread may not be immediately visible to other threads due to these local caches</a:t>
            </a:r>
            <a:endParaRPr lang="he-IL" dirty="0"/>
          </a:p>
          <a:p>
            <a:r>
              <a:rPr lang="en-US" dirty="0"/>
              <a:t>The ’volatile’ keyword can be used to mark a variable, indicating that its value may be changed by multiple threads concurrently. When a variable is declared as ‘volatile’, it ensures that read and write operations on the variable are immediately visible to other </a:t>
            </a:r>
            <a:r>
              <a:rPr lang="en-US"/>
              <a:t>threads.</a:t>
            </a:r>
            <a:endParaRPr lang="en-US" dirty="0"/>
          </a:p>
        </p:txBody>
      </p:sp>
    </p:spTree>
    <p:extLst>
      <p:ext uri="{BB962C8B-B14F-4D97-AF65-F5344CB8AC3E}">
        <p14:creationId xmlns:p14="http://schemas.microsoft.com/office/powerpoint/2010/main" val="1146324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FDB16-5382-4012-A6D9-AEB8FA376A72}"/>
              </a:ext>
            </a:extLst>
          </p:cNvPr>
          <p:cNvSpPr>
            <a:spLocks noGrp="1"/>
          </p:cNvSpPr>
          <p:nvPr>
            <p:ph type="title"/>
          </p:nvPr>
        </p:nvSpPr>
        <p:spPr/>
        <p:txBody>
          <a:bodyPr/>
          <a:lstStyle/>
          <a:p>
            <a:r>
              <a:rPr lang="en-US" dirty="0"/>
              <a:t>Atomic operations</a:t>
            </a:r>
            <a:endParaRPr lang="he-IL" dirty="0"/>
          </a:p>
        </p:txBody>
      </p:sp>
      <p:sp>
        <p:nvSpPr>
          <p:cNvPr id="3" name="Content Placeholder 2">
            <a:extLst>
              <a:ext uri="{FF2B5EF4-FFF2-40B4-BE49-F238E27FC236}">
                <a16:creationId xmlns:a16="http://schemas.microsoft.com/office/drawing/2014/main" id="{E82B839A-554A-4FE7-A7B5-45ED055F4C78}"/>
              </a:ext>
            </a:extLst>
          </p:cNvPr>
          <p:cNvSpPr>
            <a:spLocks noGrp="1"/>
          </p:cNvSpPr>
          <p:nvPr>
            <p:ph idx="1"/>
          </p:nvPr>
        </p:nvSpPr>
        <p:spPr/>
        <p:txBody>
          <a:bodyPr/>
          <a:lstStyle/>
          <a:p>
            <a:r>
              <a:rPr lang="en-US" dirty="0"/>
              <a:t>Operations that appear to the rest of the system as if they </a:t>
            </a:r>
            <a:r>
              <a:rPr lang="en-US" b="1" dirty="0"/>
              <a:t>occur at once.</a:t>
            </a:r>
          </a:p>
          <a:p>
            <a:r>
              <a:rPr lang="en-US" dirty="0"/>
              <a:t>Java provides high level interface for atomic operations in Java’s Atomic library.</a:t>
            </a:r>
            <a:endParaRPr lang="he-IL" dirty="0"/>
          </a:p>
        </p:txBody>
      </p:sp>
      <p:sp>
        <p:nvSpPr>
          <p:cNvPr id="4" name="TextBox 3">
            <a:extLst>
              <a:ext uri="{FF2B5EF4-FFF2-40B4-BE49-F238E27FC236}">
                <a16:creationId xmlns:a16="http://schemas.microsoft.com/office/drawing/2014/main" id="{BF2E2B04-C2F4-BB85-E2FC-14BD6F8482F2}"/>
              </a:ext>
            </a:extLst>
          </p:cNvPr>
          <p:cNvSpPr txBox="1"/>
          <p:nvPr/>
        </p:nvSpPr>
        <p:spPr>
          <a:xfrm>
            <a:off x="3344778" y="3020301"/>
            <a:ext cx="5522496" cy="4031873"/>
          </a:xfrm>
          <a:prstGeom prst="rect">
            <a:avLst/>
          </a:prstGeom>
          <a:noFill/>
        </p:spPr>
        <p:txBody>
          <a:bodyPr wrap="square" rtlCol="0">
            <a:spAutoFit/>
          </a:bodyPr>
          <a:lstStyle/>
          <a:p>
            <a:r>
              <a:rPr lang="en-US" sz="1600" b="0" dirty="0">
                <a:solidFill>
                  <a:srgbClr val="C678DD"/>
                </a:solidFill>
                <a:effectLst/>
                <a:latin typeface="JetBrains Mono" panose="02000009000000000000" pitchFamily="49" charset="0"/>
              </a:rPr>
              <a:t>public</a:t>
            </a:r>
            <a:r>
              <a:rPr lang="en-US" sz="1600" b="0" dirty="0">
                <a:solidFill>
                  <a:srgbClr val="E06C75"/>
                </a:solidFill>
                <a:effectLst/>
                <a:latin typeface="JetBrains Mono" panose="02000009000000000000" pitchFamily="49" charset="0"/>
              </a:rPr>
              <a:t> </a:t>
            </a:r>
            <a:r>
              <a:rPr lang="en-US" sz="1600" b="0" dirty="0">
                <a:solidFill>
                  <a:srgbClr val="C678DD"/>
                </a:solidFill>
                <a:effectLst/>
                <a:latin typeface="JetBrains Mono" panose="02000009000000000000" pitchFamily="49" charset="0"/>
              </a:rPr>
              <a:t>class</a:t>
            </a:r>
            <a:r>
              <a:rPr lang="en-US" sz="1600" b="0" dirty="0">
                <a:solidFill>
                  <a:srgbClr val="E06C75"/>
                </a:solidFill>
                <a:effectLst/>
                <a:latin typeface="JetBrains Mono" panose="02000009000000000000" pitchFamily="49" charset="0"/>
              </a:rPr>
              <a:t> </a:t>
            </a:r>
            <a:r>
              <a:rPr lang="en-US" sz="1600" b="0" dirty="0">
                <a:solidFill>
                  <a:srgbClr val="00B050"/>
                </a:solidFill>
                <a:effectLst/>
                <a:latin typeface="JetBrains Mono" panose="02000009000000000000" pitchFamily="49" charset="0"/>
              </a:rPr>
              <a:t>Counter</a:t>
            </a:r>
            <a:r>
              <a:rPr lang="en-US" sz="1600" b="0" dirty="0">
                <a:solidFill>
                  <a:srgbClr val="ABB2BF"/>
                </a:solidFill>
                <a:effectLst/>
                <a:latin typeface="JetBrains Mono" panose="02000009000000000000" pitchFamily="49" charset="0"/>
              </a:rPr>
              <a:t>{</a:t>
            </a:r>
          </a:p>
          <a:p>
            <a:r>
              <a:rPr lang="en-US" sz="1600" b="0" dirty="0">
                <a:solidFill>
                  <a:srgbClr val="C678DD"/>
                </a:solidFill>
                <a:effectLst/>
                <a:latin typeface="JetBrains Mono" panose="02000009000000000000" pitchFamily="49" charset="0"/>
              </a:rPr>
              <a:t>	</a:t>
            </a:r>
            <a:r>
              <a:rPr lang="en-US" sz="1600" b="1" dirty="0">
                <a:solidFill>
                  <a:srgbClr val="C678DD"/>
                </a:solidFill>
                <a:effectLst/>
                <a:latin typeface="JetBrains Mono" panose="02000009000000000000" pitchFamily="49" charset="0"/>
              </a:rPr>
              <a:t>private</a:t>
            </a:r>
            <a:r>
              <a:rPr lang="en-US" sz="1600" b="1" dirty="0">
                <a:solidFill>
                  <a:srgbClr val="E06C75"/>
                </a:solidFill>
                <a:effectLst/>
                <a:latin typeface="JetBrains Mono" panose="02000009000000000000" pitchFamily="49" charset="0"/>
              </a:rPr>
              <a:t> </a:t>
            </a:r>
            <a:r>
              <a:rPr lang="en-US" sz="1600" b="1" dirty="0" err="1">
                <a:solidFill>
                  <a:srgbClr val="00B050"/>
                </a:solidFill>
                <a:effectLst/>
                <a:latin typeface="JetBrains Mono" panose="02000009000000000000" pitchFamily="49" charset="0"/>
              </a:rPr>
              <a:t>AtomicInteger</a:t>
            </a:r>
            <a:r>
              <a:rPr lang="en-US" sz="1600" b="1" dirty="0">
                <a:solidFill>
                  <a:srgbClr val="E06C75"/>
                </a:solidFill>
                <a:effectLst/>
                <a:latin typeface="JetBrains Mono" panose="02000009000000000000" pitchFamily="49" charset="0"/>
              </a:rPr>
              <a:t> count</a:t>
            </a:r>
            <a:r>
              <a:rPr lang="en-US" sz="1600" b="1" dirty="0">
                <a:solidFill>
                  <a:srgbClr val="ABB2BF"/>
                </a:solidFill>
                <a:effectLst/>
                <a:latin typeface="JetBrains Mono" panose="02000009000000000000" pitchFamily="49" charset="0"/>
              </a:rPr>
              <a:t>;</a:t>
            </a:r>
          </a:p>
          <a:p>
            <a:endParaRPr lang="en-US" sz="1600" b="0" dirty="0">
              <a:solidFill>
                <a:srgbClr val="ABB2BF"/>
              </a:solidFill>
              <a:effectLst/>
              <a:latin typeface="JetBrains Mono" panose="02000009000000000000" pitchFamily="49" charset="0"/>
            </a:endParaRPr>
          </a:p>
          <a:p>
            <a:r>
              <a:rPr lang="en-US" sz="1600" b="0" dirty="0">
                <a:solidFill>
                  <a:srgbClr val="C678DD"/>
                </a:solidFill>
                <a:effectLst/>
                <a:latin typeface="JetBrains Mono" panose="02000009000000000000" pitchFamily="49" charset="0"/>
              </a:rPr>
              <a:t>	public</a:t>
            </a:r>
            <a:r>
              <a:rPr lang="en-US" sz="1600" b="0" dirty="0">
                <a:solidFill>
                  <a:srgbClr val="61AFEF"/>
                </a:solidFill>
                <a:effectLst/>
                <a:latin typeface="JetBrains Mono" panose="02000009000000000000" pitchFamily="49" charset="0"/>
              </a:rPr>
              <a:t> Counter</a:t>
            </a:r>
            <a:r>
              <a:rPr lang="en-US" sz="1600" b="0" dirty="0">
                <a:solidFill>
                  <a:srgbClr val="ABB2BF"/>
                </a:solidFill>
                <a:effectLst/>
                <a:latin typeface="JetBrains Mono" panose="02000009000000000000" pitchFamily="49" charset="0"/>
              </a:rPr>
              <a:t>(){</a:t>
            </a:r>
          </a:p>
          <a:p>
            <a:r>
              <a:rPr lang="en-US" sz="1600" b="0" dirty="0">
                <a:solidFill>
                  <a:srgbClr val="E06C75"/>
                </a:solidFill>
                <a:effectLst/>
                <a:latin typeface="JetBrains Mono" panose="02000009000000000000" pitchFamily="49" charset="0"/>
              </a:rPr>
              <a:t>		</a:t>
            </a:r>
            <a:r>
              <a:rPr lang="en-US" sz="1600" b="1" dirty="0">
                <a:solidFill>
                  <a:srgbClr val="E06C75"/>
                </a:solidFill>
                <a:effectLst/>
                <a:latin typeface="JetBrains Mono" panose="02000009000000000000" pitchFamily="49" charset="0"/>
              </a:rPr>
              <a:t>count</a:t>
            </a:r>
            <a:r>
              <a:rPr lang="en-US" sz="1600" b="1" dirty="0">
                <a:solidFill>
                  <a:srgbClr val="ABB2BF"/>
                </a:solidFill>
                <a:effectLst/>
                <a:latin typeface="JetBrains Mono" panose="02000009000000000000" pitchFamily="49" charset="0"/>
              </a:rPr>
              <a:t> </a:t>
            </a:r>
            <a:r>
              <a:rPr lang="en-US" sz="1600" b="1" dirty="0">
                <a:solidFill>
                  <a:srgbClr val="56B6C2"/>
                </a:solidFill>
                <a:effectLst/>
                <a:latin typeface="JetBrains Mono" panose="02000009000000000000" pitchFamily="49" charset="0"/>
              </a:rPr>
              <a:t>=</a:t>
            </a:r>
            <a:r>
              <a:rPr lang="en-US" sz="1600" b="1" dirty="0">
                <a:solidFill>
                  <a:srgbClr val="ABB2BF"/>
                </a:solidFill>
                <a:effectLst/>
                <a:latin typeface="JetBrains Mono" panose="02000009000000000000" pitchFamily="49" charset="0"/>
              </a:rPr>
              <a:t> </a:t>
            </a:r>
            <a:r>
              <a:rPr lang="en-US" sz="1600" b="1" dirty="0">
                <a:solidFill>
                  <a:srgbClr val="C678DD"/>
                </a:solidFill>
                <a:effectLst/>
                <a:latin typeface="JetBrains Mono" panose="02000009000000000000" pitchFamily="49" charset="0"/>
              </a:rPr>
              <a:t>new</a:t>
            </a:r>
            <a:r>
              <a:rPr lang="en-US" sz="1600" b="1" dirty="0">
                <a:solidFill>
                  <a:srgbClr val="ABB2BF"/>
                </a:solidFill>
                <a:effectLst/>
                <a:latin typeface="JetBrains Mono" panose="02000009000000000000" pitchFamily="49" charset="0"/>
              </a:rPr>
              <a:t> </a:t>
            </a:r>
            <a:r>
              <a:rPr lang="en-US" sz="1600" b="1" dirty="0" err="1">
                <a:solidFill>
                  <a:srgbClr val="61AFEF"/>
                </a:solidFill>
                <a:effectLst/>
                <a:latin typeface="JetBrains Mono" panose="02000009000000000000" pitchFamily="49" charset="0"/>
              </a:rPr>
              <a:t>AtomicInteger</a:t>
            </a:r>
            <a:r>
              <a:rPr lang="en-US" sz="1600" b="1" dirty="0">
                <a:solidFill>
                  <a:srgbClr val="ABB2BF"/>
                </a:solidFill>
                <a:effectLst/>
                <a:latin typeface="JetBrains Mono" panose="02000009000000000000" pitchFamily="49" charset="0"/>
              </a:rPr>
              <a:t>();</a:t>
            </a:r>
          </a:p>
          <a:p>
            <a:r>
              <a:rPr lang="en-US" sz="1600" b="0" dirty="0">
                <a:solidFill>
                  <a:srgbClr val="ABB2BF"/>
                </a:solidFill>
                <a:effectLst/>
                <a:latin typeface="JetBrains Mono" panose="02000009000000000000" pitchFamily="49" charset="0"/>
              </a:rPr>
              <a:t>	}</a:t>
            </a:r>
          </a:p>
          <a:p>
            <a:endParaRPr lang="en-US" sz="1600" b="0" dirty="0">
              <a:solidFill>
                <a:srgbClr val="ABB2BF"/>
              </a:solidFill>
              <a:effectLst/>
              <a:latin typeface="JetBrains Mono" panose="02000009000000000000" pitchFamily="49" charset="0"/>
            </a:endParaRPr>
          </a:p>
          <a:p>
            <a:r>
              <a:rPr lang="en-US" sz="1600" b="0" dirty="0">
                <a:solidFill>
                  <a:srgbClr val="C678DD"/>
                </a:solidFill>
                <a:effectLst/>
                <a:latin typeface="JetBrains Mono" panose="02000009000000000000" pitchFamily="49" charset="0"/>
              </a:rPr>
              <a:t>	public</a:t>
            </a:r>
            <a:r>
              <a:rPr lang="en-US" sz="1600" b="0" dirty="0">
                <a:solidFill>
                  <a:srgbClr val="61AFEF"/>
                </a:solidFill>
                <a:effectLst/>
                <a:latin typeface="JetBrains Mono" panose="02000009000000000000" pitchFamily="49" charset="0"/>
              </a:rPr>
              <a:t> </a:t>
            </a:r>
            <a:r>
              <a:rPr lang="en-US" sz="1600" b="0" dirty="0">
                <a:solidFill>
                  <a:srgbClr val="C678DD"/>
                </a:solidFill>
                <a:effectLst/>
                <a:latin typeface="JetBrains Mono" panose="02000009000000000000" pitchFamily="49" charset="0"/>
              </a:rPr>
              <a:t>void</a:t>
            </a:r>
            <a:r>
              <a:rPr lang="en-US" sz="1600" b="0" dirty="0">
                <a:solidFill>
                  <a:srgbClr val="61AFEF"/>
                </a:solidFill>
                <a:effectLst/>
                <a:latin typeface="JetBrains Mono" panose="02000009000000000000" pitchFamily="49" charset="0"/>
              </a:rPr>
              <a:t> increment</a:t>
            </a:r>
            <a:r>
              <a:rPr lang="en-US" sz="1600" b="0" dirty="0">
                <a:solidFill>
                  <a:srgbClr val="ABB2BF"/>
                </a:solidFill>
                <a:effectLst/>
                <a:latin typeface="JetBrains Mono" panose="02000009000000000000" pitchFamily="49" charset="0"/>
              </a:rPr>
              <a:t>(){</a:t>
            </a:r>
          </a:p>
          <a:p>
            <a:r>
              <a:rPr lang="en-US" sz="1600" b="0" dirty="0">
                <a:solidFill>
                  <a:srgbClr val="E06C75"/>
                </a:solidFill>
                <a:effectLst/>
                <a:latin typeface="JetBrains Mono" panose="02000009000000000000" pitchFamily="49" charset="0"/>
              </a:rPr>
              <a:t>		</a:t>
            </a:r>
            <a:r>
              <a:rPr lang="en-US" sz="1600" b="1" dirty="0" err="1">
                <a:solidFill>
                  <a:srgbClr val="E06C75"/>
                </a:solidFill>
                <a:effectLst/>
                <a:latin typeface="JetBrains Mono" panose="02000009000000000000" pitchFamily="49" charset="0"/>
              </a:rPr>
              <a:t>count</a:t>
            </a:r>
            <a:r>
              <a:rPr lang="en-US" sz="1600" b="1" dirty="0" err="1">
                <a:solidFill>
                  <a:srgbClr val="ABB2BF"/>
                </a:solidFill>
                <a:effectLst/>
                <a:latin typeface="JetBrains Mono" panose="02000009000000000000" pitchFamily="49" charset="0"/>
              </a:rPr>
              <a:t>.</a:t>
            </a:r>
            <a:r>
              <a:rPr lang="en-US" sz="1600" b="1" dirty="0" err="1">
                <a:solidFill>
                  <a:srgbClr val="61AFEF"/>
                </a:solidFill>
                <a:effectLst/>
                <a:latin typeface="JetBrains Mono" panose="02000009000000000000" pitchFamily="49" charset="0"/>
              </a:rPr>
              <a:t>incrementAndGet</a:t>
            </a:r>
            <a:r>
              <a:rPr lang="en-US" sz="1600" b="1" dirty="0">
                <a:solidFill>
                  <a:srgbClr val="ABB2BF"/>
                </a:solidFill>
                <a:effectLst/>
                <a:latin typeface="JetBrains Mono" panose="02000009000000000000" pitchFamily="49" charset="0"/>
              </a:rPr>
              <a:t>();</a:t>
            </a:r>
          </a:p>
          <a:p>
            <a:r>
              <a:rPr lang="en-US" sz="1600" b="0" dirty="0">
                <a:solidFill>
                  <a:srgbClr val="ABB2BF"/>
                </a:solidFill>
                <a:effectLst/>
                <a:latin typeface="JetBrains Mono" panose="02000009000000000000" pitchFamily="49" charset="0"/>
              </a:rPr>
              <a:t>	}</a:t>
            </a:r>
          </a:p>
          <a:p>
            <a:endParaRPr lang="en-US" sz="1600" b="0" dirty="0">
              <a:solidFill>
                <a:srgbClr val="ABB2BF"/>
              </a:solidFill>
              <a:effectLst/>
              <a:latin typeface="JetBrains Mono" panose="02000009000000000000" pitchFamily="49" charset="0"/>
            </a:endParaRPr>
          </a:p>
          <a:p>
            <a:r>
              <a:rPr lang="en-US" sz="1600" b="0" dirty="0">
                <a:solidFill>
                  <a:srgbClr val="C678DD"/>
                </a:solidFill>
                <a:effectLst/>
                <a:latin typeface="JetBrains Mono" panose="02000009000000000000" pitchFamily="49" charset="0"/>
              </a:rPr>
              <a:t>	public</a:t>
            </a:r>
            <a:r>
              <a:rPr lang="en-US" sz="1600" b="0" dirty="0">
                <a:solidFill>
                  <a:srgbClr val="61AFEF"/>
                </a:solidFill>
                <a:effectLst/>
                <a:latin typeface="JetBrains Mono" panose="02000009000000000000" pitchFamily="49" charset="0"/>
              </a:rPr>
              <a:t> </a:t>
            </a:r>
            <a:r>
              <a:rPr lang="en-US" sz="1600" b="0" dirty="0">
                <a:solidFill>
                  <a:srgbClr val="C678DD"/>
                </a:solidFill>
                <a:effectLst/>
                <a:latin typeface="JetBrains Mono" panose="02000009000000000000" pitchFamily="49" charset="0"/>
              </a:rPr>
              <a:t>int</a:t>
            </a:r>
            <a:r>
              <a:rPr lang="en-US" sz="1600" b="0" dirty="0">
                <a:solidFill>
                  <a:srgbClr val="61AFEF"/>
                </a:solidFill>
                <a:effectLst/>
                <a:latin typeface="JetBrains Mono" panose="02000009000000000000" pitchFamily="49" charset="0"/>
              </a:rPr>
              <a:t> </a:t>
            </a:r>
            <a:r>
              <a:rPr lang="en-US" sz="1600" b="0" dirty="0" err="1">
                <a:solidFill>
                  <a:srgbClr val="61AFEF"/>
                </a:solidFill>
                <a:effectLst/>
                <a:latin typeface="JetBrains Mono" panose="02000009000000000000" pitchFamily="49" charset="0"/>
              </a:rPr>
              <a:t>getValue</a:t>
            </a:r>
            <a:r>
              <a:rPr lang="en-US" sz="1600" b="0" dirty="0">
                <a:solidFill>
                  <a:srgbClr val="ABB2BF"/>
                </a:solidFill>
                <a:effectLst/>
                <a:latin typeface="JetBrains Mono" panose="02000009000000000000" pitchFamily="49" charset="0"/>
              </a:rPr>
              <a:t>(){</a:t>
            </a:r>
          </a:p>
          <a:p>
            <a:r>
              <a:rPr lang="en-US" sz="1600" b="0" dirty="0">
                <a:solidFill>
                  <a:srgbClr val="C678DD"/>
                </a:solidFill>
                <a:effectLst/>
                <a:latin typeface="JetBrains Mono" panose="02000009000000000000" pitchFamily="49" charset="0"/>
              </a:rPr>
              <a:t>		</a:t>
            </a:r>
            <a:r>
              <a:rPr lang="en-US" sz="1600" b="1" dirty="0">
                <a:solidFill>
                  <a:srgbClr val="C678DD"/>
                </a:solidFill>
                <a:effectLst/>
                <a:latin typeface="JetBrains Mono" panose="02000009000000000000" pitchFamily="49" charset="0"/>
              </a:rPr>
              <a:t>return</a:t>
            </a:r>
            <a:r>
              <a:rPr lang="en-US" sz="1600" b="1" dirty="0">
                <a:solidFill>
                  <a:srgbClr val="ABB2BF"/>
                </a:solidFill>
                <a:effectLst/>
                <a:latin typeface="JetBrains Mono" panose="02000009000000000000" pitchFamily="49" charset="0"/>
              </a:rPr>
              <a:t> </a:t>
            </a:r>
            <a:r>
              <a:rPr lang="en-US" sz="1600" b="1" dirty="0" err="1">
                <a:solidFill>
                  <a:srgbClr val="E06C75"/>
                </a:solidFill>
                <a:effectLst/>
                <a:latin typeface="JetBrains Mono" panose="02000009000000000000" pitchFamily="49" charset="0"/>
              </a:rPr>
              <a:t>count</a:t>
            </a:r>
            <a:r>
              <a:rPr lang="en-US" sz="1600" b="1" dirty="0" err="1">
                <a:solidFill>
                  <a:srgbClr val="ABB2BF"/>
                </a:solidFill>
                <a:effectLst/>
                <a:latin typeface="JetBrains Mono" panose="02000009000000000000" pitchFamily="49" charset="0"/>
              </a:rPr>
              <a:t>.</a:t>
            </a:r>
            <a:r>
              <a:rPr lang="en-US" sz="1600" b="1" dirty="0" err="1">
                <a:solidFill>
                  <a:srgbClr val="61AFEF"/>
                </a:solidFill>
                <a:effectLst/>
                <a:latin typeface="JetBrains Mono" panose="02000009000000000000" pitchFamily="49" charset="0"/>
              </a:rPr>
              <a:t>get</a:t>
            </a:r>
            <a:r>
              <a:rPr lang="en-US" sz="1600" b="1" dirty="0">
                <a:solidFill>
                  <a:srgbClr val="ABB2BF"/>
                </a:solidFill>
                <a:effectLst/>
                <a:latin typeface="JetBrains Mono" panose="02000009000000000000" pitchFamily="49" charset="0"/>
              </a:rPr>
              <a:t>();</a:t>
            </a:r>
          </a:p>
          <a:p>
            <a:r>
              <a:rPr lang="en-US" sz="1600" b="0" dirty="0">
                <a:solidFill>
                  <a:srgbClr val="ABB2BF"/>
                </a:solidFill>
                <a:effectLst/>
                <a:latin typeface="JetBrains Mono" panose="02000009000000000000" pitchFamily="49" charset="0"/>
              </a:rPr>
              <a:t>	}</a:t>
            </a:r>
          </a:p>
          <a:p>
            <a:r>
              <a:rPr lang="en-US" sz="1600" b="0" dirty="0">
                <a:solidFill>
                  <a:srgbClr val="ABB2BF"/>
                </a:solidFill>
                <a:effectLst/>
                <a:latin typeface="JetBrains Mono" panose="02000009000000000000" pitchFamily="49" charset="0"/>
              </a:rPr>
              <a:t>}</a:t>
            </a:r>
          </a:p>
          <a:p>
            <a:endParaRPr lang="en-US" sz="1600" dirty="0"/>
          </a:p>
        </p:txBody>
      </p:sp>
    </p:spTree>
    <p:extLst>
      <p:ext uri="{BB962C8B-B14F-4D97-AF65-F5344CB8AC3E}">
        <p14:creationId xmlns:p14="http://schemas.microsoft.com/office/powerpoint/2010/main" val="112593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97BE5-2318-46D2-B2C2-BDB3D3351452}"/>
              </a:ext>
            </a:extLst>
          </p:cNvPr>
          <p:cNvSpPr>
            <a:spLocks noGrp="1"/>
          </p:cNvSpPr>
          <p:nvPr>
            <p:ph type="title"/>
          </p:nvPr>
        </p:nvSpPr>
        <p:spPr/>
        <p:txBody>
          <a:bodyPr/>
          <a:lstStyle/>
          <a:p>
            <a:r>
              <a:rPr lang="en-US" dirty="0"/>
              <a:t>Atomic operations (</a:t>
            </a:r>
            <a:r>
              <a:rPr lang="en-US" dirty="0" err="1"/>
              <a:t>cont</a:t>
            </a:r>
            <a:r>
              <a:rPr lang="en-US" dirty="0"/>
              <a:t>)</a:t>
            </a:r>
            <a:endParaRPr lang="he-IL" dirty="0"/>
          </a:p>
        </p:txBody>
      </p:sp>
      <p:sp>
        <p:nvSpPr>
          <p:cNvPr id="3" name="Content Placeholder 2">
            <a:extLst>
              <a:ext uri="{FF2B5EF4-FFF2-40B4-BE49-F238E27FC236}">
                <a16:creationId xmlns:a16="http://schemas.microsoft.com/office/drawing/2014/main" id="{706078D8-71D7-49B3-9600-BDA28C80DC92}"/>
              </a:ext>
            </a:extLst>
          </p:cNvPr>
          <p:cNvSpPr>
            <a:spLocks noGrp="1"/>
          </p:cNvSpPr>
          <p:nvPr>
            <p:ph idx="1"/>
          </p:nvPr>
        </p:nvSpPr>
        <p:spPr/>
        <p:txBody>
          <a:bodyPr>
            <a:normAutofit/>
          </a:bodyPr>
          <a:lstStyle/>
          <a:p>
            <a:r>
              <a:rPr lang="en-US" dirty="0"/>
              <a:t>The increment and get method is implemented as follows in Java 8</a:t>
            </a:r>
          </a:p>
          <a:p>
            <a:endParaRPr lang="en-US" dirty="0"/>
          </a:p>
          <a:p>
            <a:endParaRPr lang="en-US" dirty="0"/>
          </a:p>
          <a:p>
            <a:endParaRPr lang="en-US" dirty="0"/>
          </a:p>
          <a:p>
            <a:endParaRPr lang="en-US" dirty="0"/>
          </a:p>
          <a:p>
            <a:endParaRPr lang="en-US" dirty="0"/>
          </a:p>
          <a:p>
            <a:r>
              <a:rPr lang="en-US" dirty="0"/>
              <a:t>The </a:t>
            </a:r>
            <a:r>
              <a:rPr lang="en-US" b="1" dirty="0" err="1"/>
              <a:t>comareAndSet</a:t>
            </a:r>
            <a:r>
              <a:rPr lang="en-US" dirty="0"/>
              <a:t> action is </a:t>
            </a:r>
            <a:r>
              <a:rPr lang="en-US" b="1" dirty="0"/>
              <a:t>atomic</a:t>
            </a:r>
            <a:r>
              <a:rPr lang="en-US" dirty="0"/>
              <a:t> in Java.</a:t>
            </a:r>
          </a:p>
          <a:p>
            <a:r>
              <a:rPr lang="en-US" dirty="0"/>
              <a:t>It checks whether the value of current is equal to the value of the variable, and if so, sets the variable.</a:t>
            </a:r>
            <a:endParaRPr lang="he-IL" dirty="0"/>
          </a:p>
        </p:txBody>
      </p:sp>
      <p:sp>
        <p:nvSpPr>
          <p:cNvPr id="4" name="TextBox 3">
            <a:extLst>
              <a:ext uri="{FF2B5EF4-FFF2-40B4-BE49-F238E27FC236}">
                <a16:creationId xmlns:a16="http://schemas.microsoft.com/office/drawing/2014/main" id="{C9CF0372-5302-07CA-ED93-DC3B47E50A73}"/>
              </a:ext>
            </a:extLst>
          </p:cNvPr>
          <p:cNvSpPr txBox="1"/>
          <p:nvPr/>
        </p:nvSpPr>
        <p:spPr>
          <a:xfrm>
            <a:off x="1022685" y="2466474"/>
            <a:ext cx="5402179" cy="2062103"/>
          </a:xfrm>
          <a:prstGeom prst="rect">
            <a:avLst/>
          </a:prstGeom>
          <a:noFill/>
        </p:spPr>
        <p:txBody>
          <a:bodyPr wrap="square" rtlCol="0">
            <a:spAutoFit/>
          </a:bodyPr>
          <a:lstStyle/>
          <a:p>
            <a:r>
              <a:rPr lang="en-US" sz="1600" b="0" dirty="0">
                <a:solidFill>
                  <a:srgbClr val="C678DD"/>
                </a:solidFill>
                <a:effectLst/>
                <a:latin typeface="JetBrains Mono" panose="02000009000000000000" pitchFamily="49" charset="0"/>
              </a:rPr>
              <a:t>public</a:t>
            </a:r>
            <a:r>
              <a:rPr lang="en-US" sz="1600" b="0" dirty="0">
                <a:solidFill>
                  <a:srgbClr val="61AFEF"/>
                </a:solidFill>
                <a:effectLst/>
                <a:latin typeface="JetBrains Mono" panose="02000009000000000000" pitchFamily="49" charset="0"/>
              </a:rPr>
              <a:t> </a:t>
            </a:r>
            <a:r>
              <a:rPr lang="en-US" sz="1600" b="0" dirty="0">
                <a:solidFill>
                  <a:srgbClr val="C678DD"/>
                </a:solidFill>
                <a:effectLst/>
                <a:latin typeface="JetBrains Mono" panose="02000009000000000000" pitchFamily="49" charset="0"/>
              </a:rPr>
              <a:t>final</a:t>
            </a:r>
            <a:r>
              <a:rPr lang="en-US" sz="1600" b="0" dirty="0">
                <a:solidFill>
                  <a:srgbClr val="61AFEF"/>
                </a:solidFill>
                <a:effectLst/>
                <a:latin typeface="JetBrains Mono" panose="02000009000000000000" pitchFamily="49" charset="0"/>
              </a:rPr>
              <a:t> </a:t>
            </a:r>
            <a:r>
              <a:rPr lang="en-US" sz="1600" b="0" dirty="0">
                <a:solidFill>
                  <a:srgbClr val="C678DD"/>
                </a:solidFill>
                <a:effectLst/>
                <a:latin typeface="JetBrains Mono" panose="02000009000000000000" pitchFamily="49" charset="0"/>
              </a:rPr>
              <a:t>int</a:t>
            </a:r>
            <a:r>
              <a:rPr lang="en-US" sz="1600" b="0" dirty="0">
                <a:solidFill>
                  <a:srgbClr val="61AFEF"/>
                </a:solidFill>
                <a:effectLst/>
                <a:latin typeface="JetBrains Mono" panose="02000009000000000000" pitchFamily="49" charset="0"/>
              </a:rPr>
              <a:t> </a:t>
            </a:r>
            <a:r>
              <a:rPr lang="en-US" sz="1600" b="1" dirty="0" err="1">
                <a:solidFill>
                  <a:srgbClr val="61AFEF"/>
                </a:solidFill>
                <a:effectLst/>
                <a:latin typeface="JetBrains Mono" panose="02000009000000000000" pitchFamily="49" charset="0"/>
              </a:rPr>
              <a:t>incrementAndGet</a:t>
            </a:r>
            <a:r>
              <a:rPr lang="en-US" sz="1600" b="0" dirty="0">
                <a:solidFill>
                  <a:srgbClr val="ABB2BF"/>
                </a:solidFill>
                <a:effectLst/>
                <a:latin typeface="JetBrains Mono" panose="02000009000000000000" pitchFamily="49" charset="0"/>
              </a:rPr>
              <a:t>()</a:t>
            </a:r>
            <a:r>
              <a:rPr lang="en-US" sz="1600" b="0" dirty="0">
                <a:solidFill>
                  <a:srgbClr val="61AFEF"/>
                </a:solidFill>
                <a:effectLst/>
                <a:latin typeface="JetBrains Mono" panose="02000009000000000000" pitchFamily="49" charset="0"/>
              </a:rPr>
              <a:t> </a:t>
            </a:r>
            <a:r>
              <a:rPr lang="en-US" sz="1600" b="0" dirty="0">
                <a:solidFill>
                  <a:srgbClr val="ABB2BF"/>
                </a:solidFill>
                <a:effectLst/>
                <a:latin typeface="JetBrains Mono" panose="02000009000000000000" pitchFamily="49" charset="0"/>
              </a:rPr>
              <a:t>{</a:t>
            </a:r>
          </a:p>
          <a:p>
            <a:r>
              <a:rPr lang="en-US" sz="1600" b="0" dirty="0">
                <a:solidFill>
                  <a:srgbClr val="C678DD"/>
                </a:solidFill>
                <a:effectLst/>
                <a:latin typeface="JetBrains Mono" panose="02000009000000000000" pitchFamily="49" charset="0"/>
              </a:rPr>
              <a:t>	for</a:t>
            </a:r>
            <a:r>
              <a:rPr lang="en-US" sz="1600" b="0" dirty="0">
                <a:solidFill>
                  <a:srgbClr val="ABB2BF"/>
                </a:solidFill>
                <a:effectLst/>
                <a:latin typeface="JetBrains Mono" panose="02000009000000000000" pitchFamily="49" charset="0"/>
              </a:rPr>
              <a:t> (;;) {</a:t>
            </a:r>
          </a:p>
          <a:p>
            <a:r>
              <a:rPr lang="en-US" sz="1600" b="0" dirty="0">
                <a:solidFill>
                  <a:srgbClr val="C678DD"/>
                </a:solidFill>
                <a:effectLst/>
                <a:latin typeface="JetBrains Mono" panose="02000009000000000000" pitchFamily="49" charset="0"/>
              </a:rPr>
              <a:t>		int</a:t>
            </a:r>
            <a:r>
              <a:rPr lang="en-US" sz="1600" b="0" dirty="0">
                <a:solidFill>
                  <a:srgbClr val="ABB2BF"/>
                </a:solidFill>
                <a:effectLst/>
                <a:latin typeface="JetBrains Mono" panose="02000009000000000000" pitchFamily="49" charset="0"/>
              </a:rPr>
              <a:t> </a:t>
            </a:r>
            <a:r>
              <a:rPr lang="en-US" sz="1600" b="0" dirty="0">
                <a:solidFill>
                  <a:srgbClr val="E06C75"/>
                </a:solidFill>
                <a:effectLst/>
                <a:latin typeface="JetBrains Mono" panose="02000009000000000000" pitchFamily="49" charset="0"/>
              </a:rPr>
              <a:t>current</a:t>
            </a:r>
            <a:r>
              <a:rPr lang="en-US" sz="1600" b="0" dirty="0">
                <a:solidFill>
                  <a:srgbClr val="ABB2BF"/>
                </a:solidFill>
                <a:effectLst/>
                <a:latin typeface="JetBrains Mono" panose="02000009000000000000" pitchFamily="49" charset="0"/>
              </a:rPr>
              <a:t> </a:t>
            </a:r>
            <a:r>
              <a:rPr lang="en-US" sz="1600" b="0" dirty="0">
                <a:solidFill>
                  <a:srgbClr val="56B6C2"/>
                </a:solidFill>
                <a:effectLst/>
                <a:latin typeface="JetBrains Mono" panose="02000009000000000000" pitchFamily="49" charset="0"/>
              </a:rPr>
              <a:t>=</a:t>
            </a:r>
            <a:r>
              <a:rPr lang="en-US" sz="1600" b="0" dirty="0">
                <a:solidFill>
                  <a:srgbClr val="ABB2BF"/>
                </a:solidFill>
                <a:effectLst/>
                <a:latin typeface="JetBrains Mono" panose="02000009000000000000" pitchFamily="49" charset="0"/>
              </a:rPr>
              <a:t> </a:t>
            </a:r>
            <a:r>
              <a:rPr lang="en-US" sz="1600" b="0" dirty="0">
                <a:solidFill>
                  <a:srgbClr val="61AFEF"/>
                </a:solidFill>
                <a:effectLst/>
                <a:latin typeface="JetBrains Mono" panose="02000009000000000000" pitchFamily="49" charset="0"/>
              </a:rPr>
              <a:t>get</a:t>
            </a:r>
            <a:r>
              <a:rPr lang="en-US" sz="1600" b="0" dirty="0">
                <a:solidFill>
                  <a:srgbClr val="ABB2BF"/>
                </a:solidFill>
                <a:effectLst/>
                <a:latin typeface="JetBrains Mono" panose="02000009000000000000" pitchFamily="49" charset="0"/>
              </a:rPr>
              <a:t>();</a:t>
            </a:r>
          </a:p>
          <a:p>
            <a:r>
              <a:rPr lang="en-US" sz="1600" b="0" dirty="0">
                <a:solidFill>
                  <a:srgbClr val="C678DD"/>
                </a:solidFill>
                <a:effectLst/>
                <a:latin typeface="JetBrains Mono" panose="02000009000000000000" pitchFamily="49" charset="0"/>
              </a:rPr>
              <a:t>		int</a:t>
            </a:r>
            <a:r>
              <a:rPr lang="en-US" sz="1600" b="0" dirty="0">
                <a:solidFill>
                  <a:srgbClr val="ABB2BF"/>
                </a:solidFill>
                <a:effectLst/>
                <a:latin typeface="JetBrains Mono" panose="02000009000000000000" pitchFamily="49" charset="0"/>
              </a:rPr>
              <a:t> </a:t>
            </a:r>
            <a:r>
              <a:rPr lang="en-US" sz="1600" b="0" dirty="0">
                <a:solidFill>
                  <a:srgbClr val="E06C75"/>
                </a:solidFill>
                <a:effectLst/>
                <a:latin typeface="JetBrains Mono" panose="02000009000000000000" pitchFamily="49" charset="0"/>
              </a:rPr>
              <a:t>next</a:t>
            </a:r>
            <a:r>
              <a:rPr lang="en-US" sz="1600" b="0" dirty="0">
                <a:solidFill>
                  <a:srgbClr val="ABB2BF"/>
                </a:solidFill>
                <a:effectLst/>
                <a:latin typeface="JetBrains Mono" panose="02000009000000000000" pitchFamily="49" charset="0"/>
              </a:rPr>
              <a:t> </a:t>
            </a:r>
            <a:r>
              <a:rPr lang="en-US" sz="1600" b="0" dirty="0">
                <a:solidFill>
                  <a:srgbClr val="56B6C2"/>
                </a:solidFill>
                <a:effectLst/>
                <a:latin typeface="JetBrains Mono" panose="02000009000000000000" pitchFamily="49" charset="0"/>
              </a:rPr>
              <a:t>=</a:t>
            </a:r>
            <a:r>
              <a:rPr lang="en-US" sz="1600" b="0" dirty="0">
                <a:solidFill>
                  <a:srgbClr val="ABB2BF"/>
                </a:solidFill>
                <a:effectLst/>
                <a:latin typeface="JetBrains Mono" panose="02000009000000000000" pitchFamily="49" charset="0"/>
              </a:rPr>
              <a:t> </a:t>
            </a:r>
            <a:r>
              <a:rPr lang="en-US" sz="1600" b="0" dirty="0">
                <a:solidFill>
                  <a:srgbClr val="E06C75"/>
                </a:solidFill>
                <a:effectLst/>
                <a:latin typeface="JetBrains Mono" panose="02000009000000000000" pitchFamily="49" charset="0"/>
              </a:rPr>
              <a:t>current</a:t>
            </a:r>
            <a:r>
              <a:rPr lang="en-US" sz="1600" b="0" dirty="0">
                <a:solidFill>
                  <a:srgbClr val="ABB2BF"/>
                </a:solidFill>
                <a:effectLst/>
                <a:latin typeface="JetBrains Mono" panose="02000009000000000000" pitchFamily="49" charset="0"/>
              </a:rPr>
              <a:t> </a:t>
            </a:r>
            <a:r>
              <a:rPr lang="en-US" sz="1600" b="0" dirty="0">
                <a:solidFill>
                  <a:srgbClr val="56B6C2"/>
                </a:solidFill>
                <a:effectLst/>
                <a:latin typeface="JetBrains Mono" panose="02000009000000000000" pitchFamily="49" charset="0"/>
              </a:rPr>
              <a:t>+</a:t>
            </a:r>
            <a:r>
              <a:rPr lang="en-US" sz="1600" b="0" dirty="0">
                <a:solidFill>
                  <a:srgbClr val="ABB2BF"/>
                </a:solidFill>
                <a:effectLst/>
                <a:latin typeface="JetBrains Mono" panose="02000009000000000000" pitchFamily="49" charset="0"/>
              </a:rPr>
              <a:t> </a:t>
            </a:r>
            <a:r>
              <a:rPr lang="en-US" sz="1600" b="0" dirty="0">
                <a:solidFill>
                  <a:srgbClr val="D19A66"/>
                </a:solidFill>
                <a:effectLst/>
                <a:latin typeface="JetBrains Mono" panose="02000009000000000000" pitchFamily="49" charset="0"/>
              </a:rPr>
              <a:t>1</a:t>
            </a:r>
            <a:r>
              <a:rPr lang="en-US" sz="1600" b="0" dirty="0">
                <a:solidFill>
                  <a:srgbClr val="ABB2BF"/>
                </a:solidFill>
                <a:effectLst/>
                <a:latin typeface="JetBrains Mono" panose="02000009000000000000" pitchFamily="49" charset="0"/>
              </a:rPr>
              <a:t>;</a:t>
            </a:r>
          </a:p>
          <a:p>
            <a:r>
              <a:rPr lang="en-US" sz="1600" b="0" dirty="0">
                <a:solidFill>
                  <a:srgbClr val="C678DD"/>
                </a:solidFill>
                <a:effectLst/>
                <a:latin typeface="JetBrains Mono" panose="02000009000000000000" pitchFamily="49" charset="0"/>
              </a:rPr>
              <a:t>		if</a:t>
            </a:r>
            <a:r>
              <a:rPr lang="en-US" sz="1600" b="0" dirty="0">
                <a:solidFill>
                  <a:srgbClr val="ABB2BF"/>
                </a:solidFill>
                <a:effectLst/>
                <a:latin typeface="JetBrains Mono" panose="02000009000000000000" pitchFamily="49" charset="0"/>
              </a:rPr>
              <a:t> (</a:t>
            </a:r>
            <a:r>
              <a:rPr lang="en-US" sz="1600" b="1" dirty="0" err="1">
                <a:solidFill>
                  <a:srgbClr val="61AFEF"/>
                </a:solidFill>
                <a:effectLst/>
                <a:latin typeface="JetBrains Mono" panose="02000009000000000000" pitchFamily="49" charset="0"/>
              </a:rPr>
              <a:t>compareAndSet</a:t>
            </a:r>
            <a:r>
              <a:rPr lang="en-US" sz="1600" b="0" dirty="0">
                <a:solidFill>
                  <a:srgbClr val="ABB2BF"/>
                </a:solidFill>
                <a:effectLst/>
                <a:latin typeface="JetBrains Mono" panose="02000009000000000000" pitchFamily="49" charset="0"/>
              </a:rPr>
              <a:t>(</a:t>
            </a:r>
            <a:r>
              <a:rPr lang="en-US" sz="1600" b="0" dirty="0">
                <a:solidFill>
                  <a:srgbClr val="E06C75"/>
                </a:solidFill>
                <a:effectLst/>
                <a:latin typeface="JetBrains Mono" panose="02000009000000000000" pitchFamily="49" charset="0"/>
              </a:rPr>
              <a:t>current</a:t>
            </a:r>
            <a:r>
              <a:rPr lang="en-US" sz="1600" b="0" dirty="0">
                <a:solidFill>
                  <a:srgbClr val="ABB2BF"/>
                </a:solidFill>
                <a:effectLst/>
                <a:latin typeface="JetBrains Mono" panose="02000009000000000000" pitchFamily="49" charset="0"/>
              </a:rPr>
              <a:t>, </a:t>
            </a:r>
            <a:r>
              <a:rPr lang="en-US" sz="1600" b="0" dirty="0">
                <a:solidFill>
                  <a:srgbClr val="E06C75"/>
                </a:solidFill>
                <a:effectLst/>
                <a:latin typeface="JetBrains Mono" panose="02000009000000000000" pitchFamily="49" charset="0"/>
              </a:rPr>
              <a:t>next</a:t>
            </a:r>
            <a:r>
              <a:rPr lang="en-US" sz="1600" b="0" dirty="0">
                <a:solidFill>
                  <a:srgbClr val="ABB2BF"/>
                </a:solidFill>
                <a:effectLst/>
                <a:latin typeface="JetBrains Mono" panose="02000009000000000000" pitchFamily="49" charset="0"/>
              </a:rPr>
              <a:t>))</a:t>
            </a:r>
          </a:p>
          <a:p>
            <a:r>
              <a:rPr lang="en-US" sz="1600" b="0" dirty="0">
                <a:solidFill>
                  <a:srgbClr val="C678DD"/>
                </a:solidFill>
                <a:effectLst/>
                <a:latin typeface="JetBrains Mono" panose="02000009000000000000" pitchFamily="49" charset="0"/>
              </a:rPr>
              <a:t>			return</a:t>
            </a:r>
            <a:r>
              <a:rPr lang="en-US" sz="1600" b="0" dirty="0">
                <a:solidFill>
                  <a:srgbClr val="ABB2BF"/>
                </a:solidFill>
                <a:effectLst/>
                <a:latin typeface="JetBrains Mono" panose="02000009000000000000" pitchFamily="49" charset="0"/>
              </a:rPr>
              <a:t> </a:t>
            </a:r>
            <a:r>
              <a:rPr lang="en-US" sz="1600" b="0" dirty="0">
                <a:solidFill>
                  <a:srgbClr val="E06C75"/>
                </a:solidFill>
                <a:effectLst/>
                <a:latin typeface="JetBrains Mono" panose="02000009000000000000" pitchFamily="49" charset="0"/>
              </a:rPr>
              <a:t>next</a:t>
            </a:r>
            <a:r>
              <a:rPr lang="en-US" sz="1600" b="0" dirty="0">
                <a:solidFill>
                  <a:srgbClr val="ABB2BF"/>
                </a:solidFill>
                <a:effectLst/>
                <a:latin typeface="JetBrains Mono" panose="02000009000000000000" pitchFamily="49" charset="0"/>
              </a:rPr>
              <a:t>;</a:t>
            </a:r>
          </a:p>
          <a:p>
            <a:r>
              <a:rPr lang="en-US" sz="1600" b="0" dirty="0">
                <a:solidFill>
                  <a:srgbClr val="ABB2BF"/>
                </a:solidFill>
                <a:effectLst/>
                <a:latin typeface="JetBrains Mono" panose="02000009000000000000" pitchFamily="49" charset="0"/>
              </a:rPr>
              <a:t>	}</a:t>
            </a:r>
          </a:p>
          <a:p>
            <a:r>
              <a:rPr lang="en-US" sz="1600" b="0" dirty="0">
                <a:solidFill>
                  <a:srgbClr val="ABB2BF"/>
                </a:solidFill>
                <a:effectLst/>
                <a:latin typeface="JetBrains Mono" panose="02000009000000000000" pitchFamily="49" charset="0"/>
              </a:rPr>
              <a:t>}</a:t>
            </a:r>
          </a:p>
        </p:txBody>
      </p:sp>
    </p:spTree>
    <p:extLst>
      <p:ext uri="{BB962C8B-B14F-4D97-AF65-F5344CB8AC3E}">
        <p14:creationId xmlns:p14="http://schemas.microsoft.com/office/powerpoint/2010/main" val="3390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A2D88-D80F-4B04-AFD5-E2A9B9DF5F6B}"/>
              </a:ext>
            </a:extLst>
          </p:cNvPr>
          <p:cNvSpPr>
            <a:spLocks noGrp="1"/>
          </p:cNvSpPr>
          <p:nvPr>
            <p:ph type="title"/>
          </p:nvPr>
        </p:nvSpPr>
        <p:spPr/>
        <p:txBody>
          <a:bodyPr/>
          <a:lstStyle/>
          <a:p>
            <a:r>
              <a:rPr lang="en-US" dirty="0"/>
              <a:t>Guarded methods (concept)</a:t>
            </a:r>
            <a:endParaRPr lang="he-IL" dirty="0"/>
          </a:p>
        </p:txBody>
      </p:sp>
      <p:sp>
        <p:nvSpPr>
          <p:cNvPr id="3" name="Content Placeholder 2">
            <a:extLst>
              <a:ext uri="{FF2B5EF4-FFF2-40B4-BE49-F238E27FC236}">
                <a16:creationId xmlns:a16="http://schemas.microsoft.com/office/drawing/2014/main" id="{BA583E9F-BFD7-485C-8DAC-C4639A91AB33}"/>
              </a:ext>
            </a:extLst>
          </p:cNvPr>
          <p:cNvSpPr>
            <a:spLocks noGrp="1"/>
          </p:cNvSpPr>
          <p:nvPr>
            <p:ph idx="1"/>
          </p:nvPr>
        </p:nvSpPr>
        <p:spPr/>
        <p:txBody>
          <a:bodyPr/>
          <a:lstStyle/>
          <a:p>
            <a:r>
              <a:rPr lang="en-US" dirty="0"/>
              <a:t>The guarded methods model delays the execution of a thread until a </a:t>
            </a:r>
            <a:r>
              <a:rPr lang="en-US" b="1" dirty="0"/>
              <a:t>condition is satisfied.</a:t>
            </a:r>
          </a:p>
          <a:p>
            <a:r>
              <a:rPr lang="en-US" dirty="0"/>
              <a:t>There are several approaches for checking if the condition is satisfied.</a:t>
            </a:r>
          </a:p>
          <a:p>
            <a:r>
              <a:rPr lang="en-US" dirty="0"/>
              <a:t>We’ll show an example.</a:t>
            </a:r>
          </a:p>
        </p:txBody>
      </p:sp>
      <p:pic>
        <p:nvPicPr>
          <p:cNvPr id="5" name="Picture 4">
            <a:extLst>
              <a:ext uri="{FF2B5EF4-FFF2-40B4-BE49-F238E27FC236}">
                <a16:creationId xmlns:a16="http://schemas.microsoft.com/office/drawing/2014/main" id="{DB899279-1AE5-41F6-AF8E-CFD66646A7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7219" y="3167548"/>
            <a:ext cx="3921684" cy="3690452"/>
          </a:xfrm>
          <a:prstGeom prst="rect">
            <a:avLst/>
          </a:prstGeom>
        </p:spPr>
      </p:pic>
    </p:spTree>
    <p:extLst>
      <p:ext uri="{BB962C8B-B14F-4D97-AF65-F5344CB8AC3E}">
        <p14:creationId xmlns:p14="http://schemas.microsoft.com/office/powerpoint/2010/main" val="3558694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123B4-9530-4798-8915-3B596DC2E445}"/>
              </a:ext>
            </a:extLst>
          </p:cNvPr>
          <p:cNvSpPr>
            <a:spLocks noGrp="1"/>
          </p:cNvSpPr>
          <p:nvPr>
            <p:ph type="title"/>
          </p:nvPr>
        </p:nvSpPr>
        <p:spPr/>
        <p:txBody>
          <a:bodyPr/>
          <a:lstStyle/>
          <a:p>
            <a:r>
              <a:rPr lang="en-US" dirty="0"/>
              <a:t>Busy waiting (</a:t>
            </a:r>
            <a:r>
              <a:rPr lang="en-US" dirty="0" err="1"/>
              <a:t>a.k.a</a:t>
            </a:r>
            <a:r>
              <a:rPr lang="en-US" dirty="0"/>
              <a:t> spinning)</a:t>
            </a:r>
            <a:endParaRPr lang="he-IL" dirty="0"/>
          </a:p>
        </p:txBody>
      </p:sp>
      <p:sp>
        <p:nvSpPr>
          <p:cNvPr id="3" name="Content Placeholder 2">
            <a:extLst>
              <a:ext uri="{FF2B5EF4-FFF2-40B4-BE49-F238E27FC236}">
                <a16:creationId xmlns:a16="http://schemas.microsoft.com/office/drawing/2014/main" id="{D46D8997-9FE1-447F-B2B8-3994CD785991}"/>
              </a:ext>
            </a:extLst>
          </p:cNvPr>
          <p:cNvSpPr>
            <a:spLocks noGrp="1"/>
          </p:cNvSpPr>
          <p:nvPr>
            <p:ph idx="1"/>
          </p:nvPr>
        </p:nvSpPr>
        <p:spPr/>
        <p:txBody>
          <a:bodyPr/>
          <a:lstStyle/>
          <a:p>
            <a:r>
              <a:rPr lang="en-US" dirty="0"/>
              <a:t>Each thread </a:t>
            </a:r>
            <a:r>
              <a:rPr lang="en-US" b="1" dirty="0"/>
              <a:t>constantly checks </a:t>
            </a:r>
            <a:r>
              <a:rPr lang="en-US" dirty="0"/>
              <a:t>whether the condition is met.</a:t>
            </a:r>
          </a:p>
          <a:p>
            <a:r>
              <a:rPr lang="en-US" dirty="0"/>
              <a:t>Appropriate in very specific cases, in which the expected waiting time is very short, and we want to react with no delay.</a:t>
            </a:r>
            <a:endParaRPr lang="he-IL" dirty="0"/>
          </a:p>
        </p:txBody>
      </p:sp>
    </p:spTree>
    <p:extLst>
      <p:ext uri="{BB962C8B-B14F-4D97-AF65-F5344CB8AC3E}">
        <p14:creationId xmlns:p14="http://schemas.microsoft.com/office/powerpoint/2010/main" val="386660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CB82E-957C-4C12-8BDA-2ACD4AC778B8}"/>
              </a:ext>
            </a:extLst>
          </p:cNvPr>
          <p:cNvSpPr>
            <a:spLocks noGrp="1"/>
          </p:cNvSpPr>
          <p:nvPr>
            <p:ph type="title"/>
          </p:nvPr>
        </p:nvSpPr>
        <p:spPr/>
        <p:txBody>
          <a:bodyPr/>
          <a:lstStyle/>
          <a:p>
            <a:r>
              <a:rPr lang="en-US" dirty="0"/>
              <a:t>Sleep &amp; Check</a:t>
            </a:r>
            <a:endParaRPr lang="he-IL" dirty="0"/>
          </a:p>
        </p:txBody>
      </p:sp>
      <p:sp>
        <p:nvSpPr>
          <p:cNvPr id="3" name="Content Placeholder 2">
            <a:extLst>
              <a:ext uri="{FF2B5EF4-FFF2-40B4-BE49-F238E27FC236}">
                <a16:creationId xmlns:a16="http://schemas.microsoft.com/office/drawing/2014/main" id="{300EB86A-E6A3-4F6C-9C72-4605291B690C}"/>
              </a:ext>
            </a:extLst>
          </p:cNvPr>
          <p:cNvSpPr>
            <a:spLocks noGrp="1"/>
          </p:cNvSpPr>
          <p:nvPr>
            <p:ph idx="1"/>
          </p:nvPr>
        </p:nvSpPr>
        <p:spPr/>
        <p:txBody>
          <a:bodyPr/>
          <a:lstStyle/>
          <a:p>
            <a:r>
              <a:rPr lang="en-US" dirty="0"/>
              <a:t>Similar to busy waiting, but the</a:t>
            </a:r>
            <a:r>
              <a:rPr lang="en-US" b="1" dirty="0"/>
              <a:t> thread sleeps </a:t>
            </a:r>
            <a:r>
              <a:rPr lang="en-US" dirty="0"/>
              <a:t>for an amount of time between </a:t>
            </a:r>
            <a:r>
              <a:rPr lang="en-US" b="1" dirty="0"/>
              <a:t>each checking</a:t>
            </a:r>
            <a:r>
              <a:rPr lang="en-US" dirty="0"/>
              <a:t>.</a:t>
            </a:r>
          </a:p>
          <a:p>
            <a:r>
              <a:rPr lang="en-US" b="1" dirty="0"/>
              <a:t>Less wasteful </a:t>
            </a:r>
            <a:r>
              <a:rPr lang="en-US" dirty="0"/>
              <a:t>of CPU resources.</a:t>
            </a:r>
          </a:p>
          <a:p>
            <a:r>
              <a:rPr lang="en-US" b="1" dirty="0"/>
              <a:t>Introduces a delay</a:t>
            </a:r>
            <a:r>
              <a:rPr lang="en-US" dirty="0"/>
              <a:t> in the reaction time of the thread.</a:t>
            </a:r>
            <a:endParaRPr lang="he-IL" dirty="0"/>
          </a:p>
        </p:txBody>
      </p:sp>
    </p:spTree>
    <p:extLst>
      <p:ext uri="{BB962C8B-B14F-4D97-AF65-F5344CB8AC3E}">
        <p14:creationId xmlns:p14="http://schemas.microsoft.com/office/powerpoint/2010/main" val="197691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463CB-4D37-4CAD-B913-9F43D43A0CC0}"/>
              </a:ext>
            </a:extLst>
          </p:cNvPr>
          <p:cNvSpPr>
            <a:spLocks noGrp="1"/>
          </p:cNvSpPr>
          <p:nvPr>
            <p:ph type="title"/>
          </p:nvPr>
        </p:nvSpPr>
        <p:spPr/>
        <p:txBody>
          <a:bodyPr/>
          <a:lstStyle/>
          <a:p>
            <a:r>
              <a:rPr lang="en-US" dirty="0"/>
              <a:t>Wait &amp; Notify</a:t>
            </a:r>
            <a:endParaRPr lang="he-IL" dirty="0"/>
          </a:p>
        </p:txBody>
      </p:sp>
      <p:sp>
        <p:nvSpPr>
          <p:cNvPr id="3" name="Content Placeholder 2">
            <a:extLst>
              <a:ext uri="{FF2B5EF4-FFF2-40B4-BE49-F238E27FC236}">
                <a16:creationId xmlns:a16="http://schemas.microsoft.com/office/drawing/2014/main" id="{BD61159B-6B63-44E2-A380-125BDEFCB816}"/>
              </a:ext>
            </a:extLst>
          </p:cNvPr>
          <p:cNvSpPr>
            <a:spLocks noGrp="1"/>
          </p:cNvSpPr>
          <p:nvPr>
            <p:ph idx="1"/>
          </p:nvPr>
        </p:nvSpPr>
        <p:spPr/>
        <p:txBody>
          <a:bodyPr/>
          <a:lstStyle/>
          <a:p>
            <a:r>
              <a:rPr lang="en-US" dirty="0"/>
              <a:t>Supports </a:t>
            </a:r>
            <a:r>
              <a:rPr lang="en-US" b="1" dirty="0"/>
              <a:t>communication</a:t>
            </a:r>
            <a:r>
              <a:rPr lang="en-US" dirty="0"/>
              <a:t> between threads.</a:t>
            </a:r>
          </a:p>
          <a:p>
            <a:r>
              <a:rPr lang="en-US" dirty="0"/>
              <a:t>A thread voluntarily </a:t>
            </a:r>
            <a:r>
              <a:rPr lang="en-US" b="1" dirty="0"/>
              <a:t>waits for a specific</a:t>
            </a:r>
            <a:r>
              <a:rPr lang="en-US" dirty="0"/>
              <a:t> </a:t>
            </a:r>
            <a:r>
              <a:rPr lang="en-US" b="1" dirty="0"/>
              <a:t>event</a:t>
            </a:r>
            <a:r>
              <a:rPr lang="en-US" dirty="0"/>
              <a:t> to occur.</a:t>
            </a:r>
          </a:p>
          <a:p>
            <a:r>
              <a:rPr lang="en-US" dirty="0"/>
              <a:t>Another thread can </a:t>
            </a:r>
            <a:r>
              <a:rPr lang="en-US" b="1" dirty="0"/>
              <a:t>notify</a:t>
            </a:r>
            <a:r>
              <a:rPr lang="en-US" dirty="0"/>
              <a:t> the waiting thread.</a:t>
            </a:r>
          </a:p>
          <a:p>
            <a:r>
              <a:rPr lang="en-US" dirty="0"/>
              <a:t>Supported in Java!</a:t>
            </a:r>
          </a:p>
          <a:p>
            <a:r>
              <a:rPr lang="en-US" dirty="0"/>
              <a:t>Let’s see an example.</a:t>
            </a:r>
            <a:endParaRPr lang="he-IL" dirty="0"/>
          </a:p>
        </p:txBody>
      </p:sp>
    </p:spTree>
    <p:extLst>
      <p:ext uri="{BB962C8B-B14F-4D97-AF65-F5344CB8AC3E}">
        <p14:creationId xmlns:p14="http://schemas.microsoft.com/office/powerpoint/2010/main" val="344539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24FF-162C-4B8B-A1D2-0FA46A3EC1F5}"/>
              </a:ext>
            </a:extLst>
          </p:cNvPr>
          <p:cNvSpPr>
            <a:spLocks noGrp="1"/>
          </p:cNvSpPr>
          <p:nvPr>
            <p:ph type="title"/>
          </p:nvPr>
        </p:nvSpPr>
        <p:spPr/>
        <p:txBody>
          <a:bodyPr/>
          <a:lstStyle/>
          <a:p>
            <a:r>
              <a:rPr lang="en-US" dirty="0"/>
              <a:t>Blocking queues</a:t>
            </a:r>
            <a:endParaRPr lang="he-IL" dirty="0"/>
          </a:p>
        </p:txBody>
      </p:sp>
      <p:sp>
        <p:nvSpPr>
          <p:cNvPr id="3" name="Content Placeholder 2">
            <a:extLst>
              <a:ext uri="{FF2B5EF4-FFF2-40B4-BE49-F238E27FC236}">
                <a16:creationId xmlns:a16="http://schemas.microsoft.com/office/drawing/2014/main" id="{A7D2880D-52BE-47C0-A107-0EAEE923DC03}"/>
              </a:ext>
            </a:extLst>
          </p:cNvPr>
          <p:cNvSpPr>
            <a:spLocks noGrp="1"/>
          </p:cNvSpPr>
          <p:nvPr>
            <p:ph idx="1"/>
          </p:nvPr>
        </p:nvSpPr>
        <p:spPr>
          <a:xfrm>
            <a:off x="677334" y="2160590"/>
            <a:ext cx="8596668" cy="1569199"/>
          </a:xfrm>
        </p:spPr>
        <p:txBody>
          <a:bodyPr>
            <a:normAutofit fontScale="92500"/>
          </a:bodyPr>
          <a:lstStyle/>
          <a:p>
            <a:r>
              <a:rPr lang="en-US" dirty="0"/>
              <a:t>A blocking queue is a queue that blocks a caller if it tries to put an element into a </a:t>
            </a:r>
            <a:r>
              <a:rPr lang="en-US" b="1" dirty="0"/>
              <a:t>full queue</a:t>
            </a:r>
            <a:r>
              <a:rPr lang="en-US" dirty="0"/>
              <a:t>, or take an element from an </a:t>
            </a:r>
            <a:r>
              <a:rPr lang="en-US" b="1" dirty="0"/>
              <a:t>empty queue</a:t>
            </a:r>
            <a:r>
              <a:rPr lang="en-US" dirty="0"/>
              <a:t>.</a:t>
            </a:r>
          </a:p>
          <a:p>
            <a:r>
              <a:rPr lang="en-US" dirty="0"/>
              <a:t>The Java API contains an interface for blocking queue.</a:t>
            </a:r>
          </a:p>
          <a:p>
            <a:r>
              <a:rPr lang="en-US" dirty="0"/>
              <a:t>We’ll show an implementation of a </a:t>
            </a:r>
            <a:r>
              <a:rPr lang="en-US" dirty="0" err="1">
                <a:solidFill>
                  <a:srgbClr val="00B050"/>
                </a:solidFill>
                <a:latin typeface="JetBrains Mono" panose="02000009000000000000" pitchFamily="49" charset="0"/>
              </a:rPr>
              <a:t>BlockingQueue</a:t>
            </a:r>
            <a:r>
              <a:rPr lang="en-US" dirty="0">
                <a:solidFill>
                  <a:srgbClr val="ABB2BF"/>
                </a:solidFill>
                <a:latin typeface="JetBrains Mono" panose="02000009000000000000" pitchFamily="49" charset="0"/>
              </a:rPr>
              <a:t>&lt;</a:t>
            </a:r>
            <a:r>
              <a:rPr lang="en-US" dirty="0">
                <a:solidFill>
                  <a:srgbClr val="00B050"/>
                </a:solidFill>
                <a:latin typeface="JetBrains Mono" panose="02000009000000000000" pitchFamily="49" charset="0"/>
              </a:rPr>
              <a:t>E</a:t>
            </a:r>
            <a:r>
              <a:rPr lang="en-US" dirty="0">
                <a:solidFill>
                  <a:srgbClr val="ABB2BF"/>
                </a:solidFill>
                <a:latin typeface="JetBrains Mono" panose="02000009000000000000" pitchFamily="49" charset="0"/>
              </a:rPr>
              <a:t>&gt; </a:t>
            </a:r>
            <a:r>
              <a:rPr lang="en-US" dirty="0"/>
              <a:t>with </a:t>
            </a:r>
            <a:r>
              <a:rPr lang="en-US" b="1" dirty="0"/>
              <a:t>wait() </a:t>
            </a:r>
            <a:r>
              <a:rPr lang="en-US" dirty="0"/>
              <a:t>and </a:t>
            </a:r>
            <a:r>
              <a:rPr lang="en-US" b="1" dirty="0" err="1"/>
              <a:t>notifyAll</a:t>
            </a:r>
            <a:r>
              <a:rPr lang="en-US" b="1" dirty="0"/>
              <a:t>()</a:t>
            </a:r>
            <a:endParaRPr lang="he-IL" b="1" dirty="0"/>
          </a:p>
        </p:txBody>
      </p:sp>
      <p:sp>
        <p:nvSpPr>
          <p:cNvPr id="4" name="TextBox 3">
            <a:extLst>
              <a:ext uri="{FF2B5EF4-FFF2-40B4-BE49-F238E27FC236}">
                <a16:creationId xmlns:a16="http://schemas.microsoft.com/office/drawing/2014/main" id="{CDF2A0BD-36CD-DE8D-3345-6951B4719979}"/>
              </a:ext>
            </a:extLst>
          </p:cNvPr>
          <p:cNvSpPr txBox="1"/>
          <p:nvPr/>
        </p:nvSpPr>
        <p:spPr>
          <a:xfrm>
            <a:off x="673767" y="3489158"/>
            <a:ext cx="8361948" cy="1754326"/>
          </a:xfrm>
          <a:prstGeom prst="rect">
            <a:avLst/>
          </a:prstGeom>
          <a:noFill/>
        </p:spPr>
        <p:txBody>
          <a:bodyPr wrap="square" rtlCol="0">
            <a:spAutoFit/>
          </a:bodyPr>
          <a:lstStyle/>
          <a:p>
            <a:br>
              <a:rPr lang="en-US" b="0" dirty="0">
                <a:solidFill>
                  <a:srgbClr val="ABB2BF"/>
                </a:solidFill>
                <a:effectLst/>
                <a:latin typeface="JetBrains Mono" panose="02000009000000000000" pitchFamily="49" charset="0"/>
              </a:rPr>
            </a:br>
            <a:r>
              <a:rPr lang="en-US" b="0" dirty="0">
                <a:solidFill>
                  <a:srgbClr val="C678DD"/>
                </a:solidFill>
                <a:effectLst/>
                <a:latin typeface="JetBrains Mono" panose="02000009000000000000" pitchFamily="49" charset="0"/>
              </a:rPr>
              <a:t>public</a:t>
            </a:r>
            <a:r>
              <a:rPr lang="en-US" b="0" dirty="0">
                <a:solidFill>
                  <a:srgbClr val="E06C75"/>
                </a:solidFill>
                <a:effectLst/>
                <a:latin typeface="JetBrains Mono" panose="02000009000000000000" pitchFamily="49" charset="0"/>
              </a:rPr>
              <a:t> </a:t>
            </a:r>
            <a:r>
              <a:rPr lang="en-US" b="0" dirty="0">
                <a:solidFill>
                  <a:srgbClr val="C678DD"/>
                </a:solidFill>
                <a:effectLst/>
                <a:latin typeface="JetBrains Mono" panose="02000009000000000000" pitchFamily="49" charset="0"/>
              </a:rPr>
              <a:t>interface</a:t>
            </a:r>
            <a:r>
              <a:rPr lang="en-US" b="0" dirty="0">
                <a:solidFill>
                  <a:srgbClr val="E06C75"/>
                </a:solidFill>
                <a:effectLst/>
                <a:latin typeface="JetBrains Mono" panose="02000009000000000000" pitchFamily="49" charset="0"/>
              </a:rPr>
              <a:t> </a:t>
            </a:r>
            <a:r>
              <a:rPr lang="en-US" b="0" dirty="0" err="1">
                <a:solidFill>
                  <a:srgbClr val="00B050"/>
                </a:solidFill>
                <a:effectLst/>
                <a:latin typeface="JetBrains Mono" panose="02000009000000000000" pitchFamily="49" charset="0"/>
              </a:rPr>
              <a:t>BlockingQueue</a:t>
            </a:r>
            <a:r>
              <a:rPr lang="en-US" b="0" dirty="0">
                <a:solidFill>
                  <a:srgbClr val="ABB2BF"/>
                </a:solidFill>
                <a:effectLst/>
                <a:latin typeface="JetBrains Mono" panose="02000009000000000000" pitchFamily="49" charset="0"/>
              </a:rPr>
              <a:t>&lt;</a:t>
            </a:r>
            <a:r>
              <a:rPr lang="en-US" b="0" dirty="0">
                <a:solidFill>
                  <a:srgbClr val="00B050"/>
                </a:solidFill>
                <a:effectLst/>
                <a:latin typeface="JetBrains Mono" panose="02000009000000000000" pitchFamily="49" charset="0"/>
              </a:rPr>
              <a:t>E</a:t>
            </a:r>
            <a:r>
              <a:rPr lang="en-US" b="0" dirty="0">
                <a:solidFill>
                  <a:srgbClr val="ABB2BF"/>
                </a:solidFill>
                <a:effectLst/>
                <a:latin typeface="JetBrains Mono" panose="02000009000000000000" pitchFamily="49" charset="0"/>
              </a:rPr>
              <a:t>&gt;</a:t>
            </a:r>
            <a:r>
              <a:rPr lang="en-US" b="0" dirty="0">
                <a:solidFill>
                  <a:srgbClr val="E06C75"/>
                </a:solidFill>
                <a:effectLst/>
                <a:latin typeface="JetBrains Mono" panose="02000009000000000000" pitchFamily="49" charset="0"/>
              </a:rPr>
              <a:t> </a:t>
            </a:r>
            <a:r>
              <a:rPr lang="en-US" b="0" dirty="0">
                <a:solidFill>
                  <a:srgbClr val="ABB2BF"/>
                </a:solidFill>
                <a:effectLst/>
                <a:latin typeface="JetBrains Mono" panose="02000009000000000000" pitchFamily="49" charset="0"/>
              </a:rPr>
              <a:t>{</a:t>
            </a:r>
          </a:p>
          <a:p>
            <a:r>
              <a:rPr lang="en-US" b="0" dirty="0">
                <a:solidFill>
                  <a:srgbClr val="C678DD"/>
                </a:solidFill>
                <a:effectLst/>
                <a:latin typeface="JetBrains Mono" panose="02000009000000000000" pitchFamily="49" charset="0"/>
              </a:rPr>
              <a:t>	void</a:t>
            </a:r>
            <a:r>
              <a:rPr lang="en-US" b="0" dirty="0">
                <a:solidFill>
                  <a:srgbClr val="61AFEF"/>
                </a:solidFill>
                <a:effectLst/>
                <a:latin typeface="JetBrains Mono" panose="02000009000000000000" pitchFamily="49" charset="0"/>
              </a:rPr>
              <a:t> put</a:t>
            </a:r>
            <a:r>
              <a:rPr lang="en-US" b="0" dirty="0">
                <a:solidFill>
                  <a:srgbClr val="ABB2BF"/>
                </a:solidFill>
                <a:effectLst/>
                <a:latin typeface="JetBrains Mono" panose="02000009000000000000" pitchFamily="49" charset="0"/>
              </a:rPr>
              <a:t>(</a:t>
            </a:r>
            <a:r>
              <a:rPr lang="en-US" b="0" dirty="0">
                <a:solidFill>
                  <a:srgbClr val="00B050"/>
                </a:solidFill>
                <a:effectLst/>
                <a:latin typeface="JetBrains Mono" panose="02000009000000000000" pitchFamily="49" charset="0"/>
              </a:rPr>
              <a:t>E</a:t>
            </a:r>
            <a:r>
              <a:rPr lang="en-US" b="0" dirty="0">
                <a:solidFill>
                  <a:srgbClr val="ABB2BF"/>
                </a:solidFill>
                <a:effectLst/>
                <a:latin typeface="JetBrains Mono" panose="02000009000000000000" pitchFamily="49" charset="0"/>
              </a:rPr>
              <a:t> </a:t>
            </a:r>
            <a:r>
              <a:rPr lang="en-US" b="0" i="1" dirty="0">
                <a:solidFill>
                  <a:srgbClr val="E06C75"/>
                </a:solidFill>
                <a:effectLst/>
                <a:latin typeface="JetBrains Mono" panose="02000009000000000000" pitchFamily="49" charset="0"/>
              </a:rPr>
              <a:t>o</a:t>
            </a:r>
            <a:r>
              <a:rPr lang="en-US" b="0" dirty="0">
                <a:solidFill>
                  <a:srgbClr val="ABB2BF"/>
                </a:solidFill>
                <a:effectLst/>
                <a:latin typeface="JetBrains Mono" panose="02000009000000000000" pitchFamily="49" charset="0"/>
              </a:rPr>
              <a:t>);</a:t>
            </a:r>
            <a:br>
              <a:rPr lang="en-US" b="0" dirty="0">
                <a:solidFill>
                  <a:srgbClr val="ABB2BF"/>
                </a:solidFill>
                <a:effectLst/>
                <a:latin typeface="JetBrains Mono" panose="02000009000000000000" pitchFamily="49" charset="0"/>
              </a:rPr>
            </a:br>
            <a:r>
              <a:rPr lang="en-US" b="0" dirty="0">
                <a:solidFill>
                  <a:srgbClr val="ABB2BF"/>
                </a:solidFill>
                <a:effectLst/>
                <a:latin typeface="JetBrains Mono" panose="02000009000000000000" pitchFamily="49" charset="0"/>
              </a:rPr>
              <a:t>	</a:t>
            </a:r>
            <a:r>
              <a:rPr lang="en-US" b="0" dirty="0">
                <a:solidFill>
                  <a:srgbClr val="00B050"/>
                </a:solidFill>
                <a:effectLst/>
                <a:latin typeface="JetBrains Mono" panose="02000009000000000000" pitchFamily="49" charset="0"/>
              </a:rPr>
              <a:t>E</a:t>
            </a:r>
            <a:r>
              <a:rPr lang="en-US" b="0" dirty="0">
                <a:solidFill>
                  <a:srgbClr val="61AFEF"/>
                </a:solidFill>
                <a:effectLst/>
                <a:latin typeface="JetBrains Mono" panose="02000009000000000000" pitchFamily="49" charset="0"/>
              </a:rPr>
              <a:t> take</a:t>
            </a:r>
            <a:r>
              <a:rPr lang="en-US" b="0" dirty="0">
                <a:solidFill>
                  <a:srgbClr val="ABB2BF"/>
                </a:solidFill>
                <a:effectLst/>
                <a:latin typeface="JetBrains Mono" panose="02000009000000000000" pitchFamily="49" charset="0"/>
              </a:rPr>
              <a:t>();</a:t>
            </a:r>
          </a:p>
          <a:p>
            <a:r>
              <a:rPr lang="en-US" b="0" dirty="0">
                <a:solidFill>
                  <a:srgbClr val="ABB2BF"/>
                </a:solidFill>
                <a:effectLst/>
                <a:latin typeface="JetBrains Mono" panose="02000009000000000000" pitchFamily="49" charset="0"/>
              </a:rPr>
              <a:t>}</a:t>
            </a:r>
          </a:p>
          <a:p>
            <a:endParaRPr lang="en-US" dirty="0"/>
          </a:p>
        </p:txBody>
      </p:sp>
      <p:sp>
        <p:nvSpPr>
          <p:cNvPr id="5" name="Content Placeholder 2">
            <a:extLst>
              <a:ext uri="{FF2B5EF4-FFF2-40B4-BE49-F238E27FC236}">
                <a16:creationId xmlns:a16="http://schemas.microsoft.com/office/drawing/2014/main" id="{428D2D4F-8F7D-DC48-CB3A-518FA896BEC4}"/>
              </a:ext>
            </a:extLst>
          </p:cNvPr>
          <p:cNvSpPr txBox="1">
            <a:spLocks/>
          </p:cNvSpPr>
          <p:nvPr/>
        </p:nvSpPr>
        <p:spPr>
          <a:xfrm>
            <a:off x="649260" y="5050716"/>
            <a:ext cx="8596668" cy="66428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In the code examples at </a:t>
            </a:r>
            <a:r>
              <a:rPr lang="en-US" dirty="0" err="1"/>
              <a:t>SimpleQueue.java</a:t>
            </a:r>
            <a:endParaRPr lang="en-US" dirty="0"/>
          </a:p>
        </p:txBody>
      </p:sp>
    </p:spTree>
    <p:extLst>
      <p:ext uri="{BB962C8B-B14F-4D97-AF65-F5344CB8AC3E}">
        <p14:creationId xmlns:p14="http://schemas.microsoft.com/office/powerpoint/2010/main" val="4205695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88DD-6F33-4E67-9DE8-91BE20817F23}"/>
              </a:ext>
            </a:extLst>
          </p:cNvPr>
          <p:cNvSpPr>
            <a:spLocks noGrp="1"/>
          </p:cNvSpPr>
          <p:nvPr>
            <p:ph type="title"/>
          </p:nvPr>
        </p:nvSpPr>
        <p:spPr/>
        <p:txBody>
          <a:bodyPr/>
          <a:lstStyle/>
          <a:p>
            <a:r>
              <a:rPr lang="en-US" dirty="0"/>
              <a:t>Producers Consumers problem.</a:t>
            </a:r>
            <a:endParaRPr lang="he-IL" dirty="0"/>
          </a:p>
        </p:txBody>
      </p:sp>
      <p:sp>
        <p:nvSpPr>
          <p:cNvPr id="3" name="Content Placeholder 2">
            <a:extLst>
              <a:ext uri="{FF2B5EF4-FFF2-40B4-BE49-F238E27FC236}">
                <a16:creationId xmlns:a16="http://schemas.microsoft.com/office/drawing/2014/main" id="{02C588C3-6EC2-4EF8-A97D-E0D7F2A697FF}"/>
              </a:ext>
            </a:extLst>
          </p:cNvPr>
          <p:cNvSpPr>
            <a:spLocks noGrp="1"/>
          </p:cNvSpPr>
          <p:nvPr>
            <p:ph idx="1"/>
          </p:nvPr>
        </p:nvSpPr>
        <p:spPr/>
        <p:txBody>
          <a:bodyPr/>
          <a:lstStyle/>
          <a:p>
            <a:r>
              <a:rPr lang="en-US" dirty="0"/>
              <a:t>The producers-consumers problem deals with the situation in which several producers generate some product, and several consumers consume the products produced.</a:t>
            </a:r>
          </a:p>
          <a:p>
            <a:r>
              <a:rPr lang="en-US" dirty="0"/>
              <a:t>A producer should block if the queue is full.</a:t>
            </a:r>
          </a:p>
          <a:p>
            <a:r>
              <a:rPr lang="en-US" dirty="0"/>
              <a:t>A consumer should block if the queue is empty.</a:t>
            </a:r>
          </a:p>
          <a:p>
            <a:r>
              <a:rPr lang="en-US" dirty="0"/>
              <a:t>This can be solved with the blocking queue we just saw.</a:t>
            </a:r>
            <a:br>
              <a:rPr lang="en-US" dirty="0"/>
            </a:br>
            <a:r>
              <a:rPr lang="en-US" dirty="0"/>
              <a:t>(A solution example is in the code example for this PS)</a:t>
            </a:r>
          </a:p>
        </p:txBody>
      </p:sp>
    </p:spTree>
    <p:extLst>
      <p:ext uri="{BB962C8B-B14F-4D97-AF65-F5344CB8AC3E}">
        <p14:creationId xmlns:p14="http://schemas.microsoft.com/office/powerpoint/2010/main" val="2418810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4001C3E-8305-EC0A-E6B6-AD7EDC7AC328}"/>
              </a:ext>
            </a:extLst>
          </p:cNvPr>
          <p:cNvSpPr>
            <a:spLocks noGrp="1"/>
          </p:cNvSpPr>
          <p:nvPr>
            <p:ph type="title"/>
          </p:nvPr>
        </p:nvSpPr>
        <p:spPr>
          <a:xfrm>
            <a:off x="4191000" y="3022600"/>
            <a:ext cx="2032000" cy="1320800"/>
          </a:xfrm>
        </p:spPr>
        <p:txBody>
          <a:bodyPr/>
          <a:lstStyle/>
          <a:p>
            <a:r>
              <a:rPr lang="en-US" dirty="0"/>
              <a:t>Liveness</a:t>
            </a:r>
            <a:endParaRPr lang="he-IL" dirty="0"/>
          </a:p>
        </p:txBody>
      </p:sp>
    </p:spTree>
    <p:extLst>
      <p:ext uri="{BB962C8B-B14F-4D97-AF65-F5344CB8AC3E}">
        <p14:creationId xmlns:p14="http://schemas.microsoft.com/office/powerpoint/2010/main" val="781669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2FDA5-8100-4A03-99AD-6CA2164DAB9B}"/>
              </a:ext>
            </a:extLst>
          </p:cNvPr>
          <p:cNvSpPr>
            <a:spLocks noGrp="1"/>
          </p:cNvSpPr>
          <p:nvPr>
            <p:ph type="title"/>
          </p:nvPr>
        </p:nvSpPr>
        <p:spPr/>
        <p:txBody>
          <a:bodyPr/>
          <a:lstStyle/>
          <a:p>
            <a:r>
              <a:rPr lang="en-US" dirty="0"/>
              <a:t>Liveness</a:t>
            </a:r>
            <a:endParaRPr lang="he-IL" dirty="0"/>
          </a:p>
        </p:txBody>
      </p:sp>
      <p:sp>
        <p:nvSpPr>
          <p:cNvPr id="3" name="Content Placeholder 2">
            <a:extLst>
              <a:ext uri="{FF2B5EF4-FFF2-40B4-BE49-F238E27FC236}">
                <a16:creationId xmlns:a16="http://schemas.microsoft.com/office/drawing/2014/main" id="{B58EAA64-EF54-4A76-A4D0-BB78A7B24AA4}"/>
              </a:ext>
            </a:extLst>
          </p:cNvPr>
          <p:cNvSpPr>
            <a:spLocks noGrp="1"/>
          </p:cNvSpPr>
          <p:nvPr>
            <p:ph idx="1"/>
          </p:nvPr>
        </p:nvSpPr>
        <p:spPr/>
        <p:txBody>
          <a:bodyPr/>
          <a:lstStyle/>
          <a:p>
            <a:r>
              <a:rPr lang="en-US" dirty="0"/>
              <a:t>A concurrent application’s ability to execute in a timely manner is known as it’s </a:t>
            </a:r>
            <a:r>
              <a:rPr lang="en-US" b="1" dirty="0"/>
              <a:t>liveness</a:t>
            </a:r>
            <a:r>
              <a:rPr lang="en-US" dirty="0"/>
              <a:t>.</a:t>
            </a:r>
          </a:p>
          <a:p>
            <a:r>
              <a:rPr lang="en-US" dirty="0"/>
              <a:t>There are several situations that can hinder </a:t>
            </a:r>
            <a:r>
              <a:rPr lang="en-US" b="1" dirty="0"/>
              <a:t>liveness</a:t>
            </a:r>
            <a:r>
              <a:rPr lang="en-US" dirty="0"/>
              <a:t>, we’ll go over some of them in this practical session.</a:t>
            </a:r>
            <a:endParaRPr lang="he-IL" dirty="0"/>
          </a:p>
        </p:txBody>
      </p:sp>
    </p:spTree>
    <p:extLst>
      <p:ext uri="{BB962C8B-B14F-4D97-AF65-F5344CB8AC3E}">
        <p14:creationId xmlns:p14="http://schemas.microsoft.com/office/powerpoint/2010/main" val="145928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5EDD6-AFD4-4EF0-A5C5-948EB4AB7970}"/>
              </a:ext>
            </a:extLst>
          </p:cNvPr>
          <p:cNvSpPr>
            <a:spLocks noGrp="1"/>
          </p:cNvSpPr>
          <p:nvPr>
            <p:ph type="title"/>
          </p:nvPr>
        </p:nvSpPr>
        <p:spPr/>
        <p:txBody>
          <a:bodyPr/>
          <a:lstStyle/>
          <a:p>
            <a:r>
              <a:rPr lang="en-US" dirty="0"/>
              <a:t>Deadlock</a:t>
            </a:r>
            <a:endParaRPr lang="he-IL" dirty="0"/>
          </a:p>
        </p:txBody>
      </p:sp>
      <p:sp>
        <p:nvSpPr>
          <p:cNvPr id="3" name="Content Placeholder 2">
            <a:extLst>
              <a:ext uri="{FF2B5EF4-FFF2-40B4-BE49-F238E27FC236}">
                <a16:creationId xmlns:a16="http://schemas.microsoft.com/office/drawing/2014/main" id="{A9C07FFB-FF47-4912-9F96-4676DCA366E3}"/>
              </a:ext>
            </a:extLst>
          </p:cNvPr>
          <p:cNvSpPr>
            <a:spLocks noGrp="1"/>
          </p:cNvSpPr>
          <p:nvPr>
            <p:ph idx="1"/>
          </p:nvPr>
        </p:nvSpPr>
        <p:spPr/>
        <p:txBody>
          <a:bodyPr/>
          <a:lstStyle/>
          <a:p>
            <a:r>
              <a:rPr lang="en-US" dirty="0"/>
              <a:t>A situation in which two or more threads are </a:t>
            </a:r>
            <a:r>
              <a:rPr lang="en-US" b="1" dirty="0"/>
              <a:t>blocked</a:t>
            </a:r>
            <a:r>
              <a:rPr lang="en-US" dirty="0"/>
              <a:t>, </a:t>
            </a:r>
            <a:r>
              <a:rPr lang="en-US" b="1" dirty="0"/>
              <a:t>waiting</a:t>
            </a:r>
            <a:r>
              <a:rPr lang="en-US" dirty="0"/>
              <a:t> </a:t>
            </a:r>
            <a:r>
              <a:rPr lang="en-US" b="1" dirty="0"/>
              <a:t>for each other forever.</a:t>
            </a:r>
          </a:p>
          <a:p>
            <a:r>
              <a:rPr lang="en-US" dirty="0"/>
              <a:t>Can be solved by resource ordering.</a:t>
            </a:r>
            <a:endParaRPr lang="he-IL" dirty="0"/>
          </a:p>
        </p:txBody>
      </p:sp>
      <p:pic>
        <p:nvPicPr>
          <p:cNvPr id="5" name="Picture 4">
            <a:extLst>
              <a:ext uri="{FF2B5EF4-FFF2-40B4-BE49-F238E27FC236}">
                <a16:creationId xmlns:a16="http://schemas.microsoft.com/office/drawing/2014/main" id="{886E2C0D-D426-4E47-AAD6-A84DA525DC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0979" y="3536350"/>
            <a:ext cx="4178944" cy="2397920"/>
          </a:xfrm>
          <a:prstGeom prst="rect">
            <a:avLst/>
          </a:prstGeom>
        </p:spPr>
      </p:pic>
    </p:spTree>
    <p:extLst>
      <p:ext uri="{BB962C8B-B14F-4D97-AF65-F5344CB8AC3E}">
        <p14:creationId xmlns:p14="http://schemas.microsoft.com/office/powerpoint/2010/main" val="341224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0C649-9710-4925-9130-18C6B3965472}"/>
              </a:ext>
            </a:extLst>
          </p:cNvPr>
          <p:cNvSpPr>
            <a:spLocks noGrp="1"/>
          </p:cNvSpPr>
          <p:nvPr>
            <p:ph type="title"/>
          </p:nvPr>
        </p:nvSpPr>
        <p:spPr/>
        <p:txBody>
          <a:bodyPr/>
          <a:lstStyle/>
          <a:p>
            <a:r>
              <a:rPr lang="en-US" dirty="0"/>
              <a:t>Starvation</a:t>
            </a:r>
            <a:endParaRPr lang="he-IL" dirty="0"/>
          </a:p>
        </p:txBody>
      </p:sp>
      <p:sp>
        <p:nvSpPr>
          <p:cNvPr id="3" name="Content Placeholder 2">
            <a:extLst>
              <a:ext uri="{FF2B5EF4-FFF2-40B4-BE49-F238E27FC236}">
                <a16:creationId xmlns:a16="http://schemas.microsoft.com/office/drawing/2014/main" id="{7CF3A611-8DFF-4833-B1B9-B4181FDA4A0E}"/>
              </a:ext>
            </a:extLst>
          </p:cNvPr>
          <p:cNvSpPr>
            <a:spLocks noGrp="1"/>
          </p:cNvSpPr>
          <p:nvPr>
            <p:ph idx="1"/>
          </p:nvPr>
        </p:nvSpPr>
        <p:spPr/>
        <p:txBody>
          <a:bodyPr/>
          <a:lstStyle/>
          <a:p>
            <a:r>
              <a:rPr lang="en-US" dirty="0"/>
              <a:t>Describes a situation in which a thread is unable to gain </a:t>
            </a:r>
            <a:r>
              <a:rPr lang="en-US" b="1" dirty="0"/>
              <a:t>regular access </a:t>
            </a:r>
            <a:r>
              <a:rPr lang="en-US" dirty="0"/>
              <a:t>to a shared resource.</a:t>
            </a:r>
          </a:p>
          <a:p>
            <a:r>
              <a:rPr lang="en-US" dirty="0"/>
              <a:t>Can happen when a shared resource is being held for a long period of time by a “greedy” thread.</a:t>
            </a:r>
          </a:p>
          <a:p>
            <a:r>
              <a:rPr lang="en-US" dirty="0"/>
              <a:t>Can also happen when using priority scheduling.</a:t>
            </a:r>
          </a:p>
          <a:p>
            <a:r>
              <a:rPr lang="en-US" dirty="0"/>
              <a:t>Can be solved by introducing fairness to the allocation of the shared resource.</a:t>
            </a:r>
          </a:p>
          <a:p>
            <a:r>
              <a:rPr lang="en-US" dirty="0"/>
              <a:t>In Java, can be done using </a:t>
            </a:r>
            <a:r>
              <a:rPr lang="en-US" b="1" dirty="0"/>
              <a:t>fair semaphores</a:t>
            </a:r>
            <a:r>
              <a:rPr lang="en-US" dirty="0"/>
              <a:t>.</a:t>
            </a:r>
          </a:p>
        </p:txBody>
      </p:sp>
    </p:spTree>
    <p:extLst>
      <p:ext uri="{BB962C8B-B14F-4D97-AF65-F5344CB8AC3E}">
        <p14:creationId xmlns:p14="http://schemas.microsoft.com/office/powerpoint/2010/main" val="1146572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0D840-243A-4BB8-AACF-DEF6DB9AB64A}"/>
              </a:ext>
            </a:extLst>
          </p:cNvPr>
          <p:cNvSpPr>
            <a:spLocks noGrp="1"/>
          </p:cNvSpPr>
          <p:nvPr>
            <p:ph type="title"/>
          </p:nvPr>
        </p:nvSpPr>
        <p:spPr/>
        <p:txBody>
          <a:bodyPr/>
          <a:lstStyle/>
          <a:p>
            <a:r>
              <a:rPr lang="en-US" dirty="0" err="1"/>
              <a:t>Livelock</a:t>
            </a:r>
            <a:endParaRPr lang="he-IL" dirty="0"/>
          </a:p>
        </p:txBody>
      </p:sp>
      <p:sp>
        <p:nvSpPr>
          <p:cNvPr id="3" name="Content Placeholder 2">
            <a:extLst>
              <a:ext uri="{FF2B5EF4-FFF2-40B4-BE49-F238E27FC236}">
                <a16:creationId xmlns:a16="http://schemas.microsoft.com/office/drawing/2014/main" id="{F3473380-D02C-404A-A6C2-EB1E477D7D80}"/>
              </a:ext>
            </a:extLst>
          </p:cNvPr>
          <p:cNvSpPr>
            <a:spLocks noGrp="1"/>
          </p:cNvSpPr>
          <p:nvPr>
            <p:ph idx="1"/>
          </p:nvPr>
        </p:nvSpPr>
        <p:spPr/>
        <p:txBody>
          <a:bodyPr/>
          <a:lstStyle/>
          <a:p>
            <a:r>
              <a:rPr lang="en-US" dirty="0"/>
              <a:t>Two threads are </a:t>
            </a:r>
            <a:r>
              <a:rPr lang="en-US" b="1" dirty="0"/>
              <a:t>unable to make further progress</a:t>
            </a:r>
            <a:r>
              <a:rPr lang="en-US" dirty="0"/>
              <a:t> – like in a deadlock.</a:t>
            </a:r>
          </a:p>
          <a:p>
            <a:r>
              <a:rPr lang="en-US" dirty="0"/>
              <a:t>Unlike deadlock, the threads are </a:t>
            </a:r>
            <a:r>
              <a:rPr lang="en-US" b="1" dirty="0"/>
              <a:t>not blocked </a:t>
            </a:r>
            <a:r>
              <a:rPr lang="en-US" dirty="0"/>
              <a:t>– they are too busy responding to each other to resume work.</a:t>
            </a:r>
            <a:endParaRPr lang="he-IL" dirty="0"/>
          </a:p>
        </p:txBody>
      </p:sp>
    </p:spTree>
    <p:extLst>
      <p:ext uri="{BB962C8B-B14F-4D97-AF65-F5344CB8AC3E}">
        <p14:creationId xmlns:p14="http://schemas.microsoft.com/office/powerpoint/2010/main" val="859208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{EED9DC13-DD42-D840-A709-2CC1C97D1D09}tf10001060</Template>
  <TotalTime>5260</TotalTime>
  <Words>1528</Words>
  <Application>Microsoft Macintosh PowerPoint</Application>
  <PresentationFormat>Widescreen</PresentationFormat>
  <Paragraphs>218</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JetBrains Mono</vt:lpstr>
      <vt:lpstr>Trebuchet MS</vt:lpstr>
      <vt:lpstr>Wingdings 3</vt:lpstr>
      <vt:lpstr>Facet</vt:lpstr>
      <vt:lpstr>SPL – PS7</vt:lpstr>
      <vt:lpstr>Overview</vt:lpstr>
      <vt:lpstr>Thread Confinement</vt:lpstr>
      <vt:lpstr>Immutability</vt:lpstr>
      <vt:lpstr>Immutability</vt:lpstr>
      <vt:lpstr>Immutability</vt:lpstr>
      <vt:lpstr>Locking/ Synchronization</vt:lpstr>
      <vt:lpstr>Locking/ Synchronization</vt:lpstr>
      <vt:lpstr>Synchronization (cont)</vt:lpstr>
      <vt:lpstr>Synchronization (cont)</vt:lpstr>
      <vt:lpstr>Visibility</vt:lpstr>
      <vt:lpstr>Atomic operations</vt:lpstr>
      <vt:lpstr>Atomic operations (cont)</vt:lpstr>
      <vt:lpstr>Guarded methods (concept)</vt:lpstr>
      <vt:lpstr>Busy waiting (a.k.a spinning)</vt:lpstr>
      <vt:lpstr>Sleep &amp; Check</vt:lpstr>
      <vt:lpstr>Wait &amp; Notify</vt:lpstr>
      <vt:lpstr>Blocking queues</vt:lpstr>
      <vt:lpstr>Producers Consumers problem.</vt:lpstr>
      <vt:lpstr>Liveness</vt:lpstr>
      <vt:lpstr>Liveness</vt:lpstr>
      <vt:lpstr>Deadlock</vt:lpstr>
      <vt:lpstr>Starvation</vt:lpstr>
      <vt:lpstr>Livelock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SPL – PS7</dc:title>
  <dc:creator>Dolav Nitay</dc:creator>
  <cp:lastModifiedBy>Nir Sorani</cp:lastModifiedBy>
  <cp:revision>83</cp:revision>
  <dcterms:created xsi:type="dcterms:W3CDTF">2018-11-23T15:06:30Z</dcterms:created>
  <dcterms:modified xsi:type="dcterms:W3CDTF">2024-12-19T22:11:19Z</dcterms:modified>
</cp:coreProperties>
</file>