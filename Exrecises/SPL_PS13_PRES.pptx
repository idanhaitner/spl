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84" r:id="rId2"/>
    <p:sldId id="500" r:id="rId3"/>
    <p:sldId id="501" r:id="rId4"/>
    <p:sldId id="450" r:id="rId5"/>
    <p:sldId id="477" r:id="rId6"/>
    <p:sldId id="482" r:id="rId7"/>
    <p:sldId id="478" r:id="rId8"/>
    <p:sldId id="502" r:id="rId9"/>
    <p:sldId id="479" r:id="rId10"/>
    <p:sldId id="480" r:id="rId11"/>
    <p:sldId id="481" r:id="rId12"/>
    <p:sldId id="483" r:id="rId13"/>
    <p:sldId id="484" r:id="rId14"/>
    <p:sldId id="485" r:id="rId15"/>
    <p:sldId id="487" r:id="rId16"/>
    <p:sldId id="486" r:id="rId17"/>
    <p:sldId id="490" r:id="rId18"/>
    <p:sldId id="496" r:id="rId19"/>
    <p:sldId id="491" r:id="rId20"/>
    <p:sldId id="497" r:id="rId21"/>
    <p:sldId id="492" r:id="rId22"/>
    <p:sldId id="493" r:id="rId23"/>
    <p:sldId id="494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8B8B8"/>
    <a:srgbClr val="0000FF"/>
    <a:srgbClr val="008000"/>
    <a:srgbClr val="0073BF"/>
    <a:srgbClr val="FDF1FB"/>
    <a:srgbClr val="FEF8FD"/>
    <a:srgbClr val="FCEAF9"/>
    <a:srgbClr val="FBE1F7"/>
    <a:srgbClr val="ECF3FA"/>
    <a:srgbClr val="D0D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3" autoAdjust="0"/>
    <p:restoredTop sz="94671" autoAdjust="0"/>
  </p:normalViewPr>
  <p:slideViewPr>
    <p:cSldViewPr snapToGrid="0">
      <p:cViewPr>
        <p:scale>
          <a:sx n="60" d="100"/>
          <a:sy n="60" d="100"/>
        </p:scale>
        <p:origin x="1278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7D31FC3-ED3B-4D11-8182-8A885B779288}" type="datetimeFigureOut">
              <a:rPr lang="he-IL" smtClean="0"/>
              <a:t>כ"ג/טבת/תש"פ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278BE08-F3A6-4479-9E52-198802CB93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85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8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3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6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2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2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0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9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7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2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4A6FF-A82F-465F-827F-FA57A6DEC021}" type="datetimeFigureOut">
              <a:rPr lang="en-US" smtClean="0"/>
              <a:t>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1E007-95BD-4179-9F64-0AC30A6B9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6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77987"/>
          </a:xfrm>
        </p:spPr>
        <p:txBody>
          <a:bodyPr/>
          <a:lstStyle/>
          <a:p>
            <a:r>
              <a:rPr lang="en-US" dirty="0" smtClean="0"/>
              <a:t>From </a:t>
            </a:r>
            <a:r>
              <a:rPr lang="en-US" dirty="0" err="1" smtClean="0"/>
              <a:t>Tirgul</a:t>
            </a:r>
            <a:r>
              <a:rPr lang="en-US" dirty="0" smtClean="0"/>
              <a:t>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2992437"/>
            <a:ext cx="8029576" cy="3227388"/>
          </a:xfrm>
        </p:spPr>
        <p:txBody>
          <a:bodyPr>
            <a:noAutofit/>
          </a:bodyPr>
          <a:lstStyle/>
          <a:p>
            <a:pPr marL="0" lvl="3">
              <a:spcBef>
                <a:spcPts val="1000"/>
              </a:spcBef>
            </a:pPr>
            <a:r>
              <a:rPr lang="en-US" sz="3600" b="1" dirty="0" smtClean="0">
                <a:solidFill>
                  <a:srgbClr val="232323"/>
                </a:solidFill>
                <a:latin typeface="Verdana"/>
              </a:rPr>
              <a:t>Join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294511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6251944"/>
            <a:ext cx="12192000" cy="60605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SQL Join Example</a:t>
            </a:r>
            <a:endParaRPr lang="en-US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581" y="1495425"/>
            <a:ext cx="6069370" cy="475652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108000" tIns="108000" rIns="36000" bIns="36000" rtlCol="1">
            <a:noAutofit/>
          </a:bodyPr>
          <a:lstStyle/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SELECT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*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FROM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smtClean="0">
                <a:ea typeface="Times New Roman"/>
                <a:cs typeface="Arial"/>
              </a:rPr>
              <a:t>Dogs</a:t>
            </a:r>
            <a:br>
              <a:rPr lang="en-US" sz="1600" dirty="0" smtClean="0">
                <a:ea typeface="Times New Roman"/>
                <a:cs typeface="Arial"/>
              </a:rPr>
            </a:br>
            <a:r>
              <a:rPr lang="en-US" sz="1600" b="1" dirty="0" smtClean="0">
                <a:solidFill>
                  <a:srgbClr val="0000FF"/>
                </a:solidFill>
                <a:ea typeface="Times New Roman"/>
                <a:cs typeface="Arial"/>
              </a:rPr>
              <a:t>JOIN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C</a:t>
            </a:r>
            <a:r>
              <a:rPr lang="en-US" sz="1600" dirty="0" smtClean="0">
                <a:ea typeface="Times New Roman"/>
                <a:cs typeface="Arial"/>
              </a:rPr>
              <a:t>ats 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ON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err="1">
                <a:ea typeface="Times New Roman"/>
                <a:cs typeface="Arial"/>
              </a:rPr>
              <a:t>D</a:t>
            </a:r>
            <a:r>
              <a:rPr lang="en-US" sz="1600" dirty="0" err="1" smtClean="0">
                <a:ea typeface="Times New Roman"/>
                <a:cs typeface="Arial"/>
              </a:rPr>
              <a:t>ogs.owner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= </a:t>
            </a:r>
            <a:r>
              <a:rPr lang="en-US" sz="1600" dirty="0" err="1">
                <a:ea typeface="Times New Roman"/>
                <a:cs typeface="Arial"/>
              </a:rPr>
              <a:t>C</a:t>
            </a:r>
            <a:r>
              <a:rPr lang="en-US" sz="1600" dirty="0" err="1" smtClean="0">
                <a:ea typeface="Times New Roman"/>
                <a:cs typeface="Arial"/>
              </a:rPr>
              <a:t>ats.owner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ORDER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BY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err="1" smtClean="0">
                <a:ea typeface="Times New Roman"/>
                <a:cs typeface="Arial"/>
              </a:rPr>
              <a:t>Dogs.owner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endParaRPr lang="en-US" sz="1600" dirty="0" smtClean="0">
              <a:ea typeface="Times New Roman"/>
              <a:cs typeface="Ari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SELECT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*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FROM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smtClean="0">
                <a:ea typeface="Times New Roman"/>
                <a:cs typeface="Arial"/>
              </a:rPr>
              <a:t>Dogs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r>
              <a:rPr lang="en-US" sz="1600" b="1" dirty="0" smtClean="0">
                <a:solidFill>
                  <a:srgbClr val="0000FF"/>
                </a:solidFill>
                <a:ea typeface="Times New Roman"/>
                <a:cs typeface="Arial"/>
              </a:rPr>
              <a:t>LEFT</a:t>
            </a:r>
            <a:r>
              <a:rPr lang="en-US" sz="1600" b="1" dirty="0" smtClean="0">
                <a:ea typeface="Times New Roman"/>
                <a:cs typeface="Arial"/>
              </a:rPr>
              <a:t> </a:t>
            </a:r>
            <a:r>
              <a:rPr lang="en-US" sz="1600" b="1" dirty="0">
                <a:solidFill>
                  <a:srgbClr val="0000FF"/>
                </a:solidFill>
                <a:ea typeface="Times New Roman"/>
                <a:cs typeface="Arial"/>
              </a:rPr>
              <a:t>JOIN</a:t>
            </a:r>
            <a:r>
              <a:rPr lang="en-US" sz="1600" b="1" dirty="0">
                <a:ea typeface="Times New Roman"/>
                <a:cs typeface="Arial"/>
              </a:rPr>
              <a:t> </a:t>
            </a:r>
            <a:r>
              <a:rPr lang="en-US" sz="1600" dirty="0" smtClean="0">
                <a:ea typeface="Times New Roman"/>
                <a:cs typeface="Arial"/>
              </a:rPr>
              <a:t>Cats 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ON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err="1" smtClean="0">
                <a:ea typeface="Times New Roman"/>
                <a:cs typeface="Arial"/>
              </a:rPr>
              <a:t>Dogs.owner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= </a:t>
            </a:r>
            <a:r>
              <a:rPr lang="en-US" sz="1600" dirty="0" err="1" smtClean="0">
                <a:ea typeface="Times New Roman"/>
                <a:cs typeface="Arial"/>
              </a:rPr>
              <a:t>Cats.owner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ORDER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BY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err="1" smtClean="0">
                <a:ea typeface="Times New Roman"/>
                <a:cs typeface="Arial"/>
              </a:rPr>
              <a:t>Dogs.owner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endParaRPr lang="en-US" sz="1600" dirty="0" smtClean="0">
              <a:ea typeface="Times New Roman"/>
              <a:cs typeface="Ari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SELECT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*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FROM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smtClean="0">
                <a:ea typeface="Times New Roman"/>
                <a:cs typeface="Arial"/>
              </a:rPr>
              <a:t>Dogs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r>
              <a:rPr lang="en-US" sz="1600" b="1" dirty="0" smtClean="0">
                <a:solidFill>
                  <a:srgbClr val="0000FF"/>
                </a:solidFill>
                <a:ea typeface="Times New Roman"/>
                <a:cs typeface="Arial"/>
              </a:rPr>
              <a:t>RIGHT </a:t>
            </a:r>
            <a:r>
              <a:rPr lang="en-US" sz="1600" b="1" dirty="0">
                <a:solidFill>
                  <a:srgbClr val="0000FF"/>
                </a:solidFill>
                <a:ea typeface="Times New Roman"/>
                <a:cs typeface="Arial"/>
              </a:rPr>
              <a:t>JOIN </a:t>
            </a:r>
            <a:r>
              <a:rPr lang="en-US" sz="1600" dirty="0" smtClean="0">
                <a:ea typeface="Times New Roman"/>
                <a:cs typeface="Arial"/>
              </a:rPr>
              <a:t>Cats 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ON</a:t>
            </a:r>
            <a:r>
              <a:rPr lang="en-US" sz="1600" dirty="0">
                <a:ea typeface="Times New Roman"/>
                <a:cs typeface="Arial"/>
              </a:rPr>
              <a:t> </a:t>
            </a:r>
            <a:r>
              <a:rPr lang="en-US" sz="1600" dirty="0" err="1" smtClean="0">
                <a:ea typeface="Times New Roman"/>
                <a:cs typeface="Arial"/>
              </a:rPr>
              <a:t>Dogs.owner</a:t>
            </a:r>
            <a:r>
              <a:rPr lang="en-US" sz="1600" dirty="0" smtClean="0">
                <a:ea typeface="Times New Roman"/>
                <a:cs typeface="Arial"/>
              </a:rPr>
              <a:t> </a:t>
            </a:r>
            <a:r>
              <a:rPr lang="en-US" sz="1600" dirty="0">
                <a:ea typeface="Times New Roman"/>
                <a:cs typeface="Arial"/>
              </a:rPr>
              <a:t>= </a:t>
            </a:r>
            <a:r>
              <a:rPr lang="en-US" sz="1600" dirty="0" err="1" smtClean="0">
                <a:ea typeface="Times New Roman"/>
                <a:cs typeface="Arial"/>
              </a:rPr>
              <a:t>Cats.owner</a:t>
            </a:r>
            <a:r>
              <a:rPr lang="en-US" sz="1600" dirty="0">
                <a:ea typeface="Times New Roman"/>
                <a:cs typeface="Arial"/>
              </a:rPr>
              <a:t/>
            </a:r>
            <a:br>
              <a:rPr lang="en-US" sz="1600" dirty="0">
                <a:ea typeface="Times New Roman"/>
                <a:cs typeface="Arial"/>
              </a:rPr>
            </a:br>
            <a:r>
              <a:rPr lang="en-US" sz="1600" dirty="0" smtClean="0">
                <a:solidFill>
                  <a:srgbClr val="0000FF"/>
                </a:solidFill>
                <a:ea typeface="Times New Roman"/>
                <a:cs typeface="Arial"/>
              </a:rPr>
              <a:t>ORDER </a:t>
            </a:r>
            <a:r>
              <a:rPr lang="en-US" sz="1600" dirty="0">
                <a:solidFill>
                  <a:srgbClr val="0000FF"/>
                </a:solidFill>
                <a:ea typeface="Times New Roman"/>
                <a:cs typeface="Arial"/>
              </a:rPr>
              <a:t>BY </a:t>
            </a:r>
            <a:r>
              <a:rPr lang="en-US" sz="1600" dirty="0" err="1" smtClean="0">
                <a:ea typeface="Times New Roman"/>
                <a:cs typeface="Arial"/>
              </a:rPr>
              <a:t>Dogs.owner</a:t>
            </a:r>
            <a:endParaRPr lang="en-US" sz="1600" dirty="0" smtClean="0">
              <a:ea typeface="Times New Roman"/>
              <a:cs typeface="Arial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600" dirty="0" smtClean="0">
              <a:ea typeface="Times New Roman"/>
            </a:endParaRPr>
          </a:p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smtClean="0">
                <a:solidFill>
                  <a:srgbClr val="0000FF"/>
                </a:solidFill>
                <a:ea typeface="Times New Roman"/>
              </a:rPr>
              <a:t>SELECT</a:t>
            </a:r>
            <a:r>
              <a:rPr lang="en-US" sz="1600" dirty="0" smtClean="0">
                <a:ea typeface="Times New Roman"/>
              </a:rPr>
              <a:t> </a:t>
            </a:r>
            <a:r>
              <a:rPr lang="en-US" sz="1600" dirty="0">
                <a:ea typeface="Times New Roman"/>
              </a:rPr>
              <a:t>* </a:t>
            </a:r>
            <a:r>
              <a:rPr lang="en-US" sz="1600" dirty="0">
                <a:solidFill>
                  <a:srgbClr val="0000FF"/>
                </a:solidFill>
                <a:ea typeface="Times New Roman"/>
              </a:rPr>
              <a:t>FROM</a:t>
            </a:r>
            <a:r>
              <a:rPr lang="en-US" sz="1600" dirty="0">
                <a:ea typeface="Times New Roman"/>
              </a:rPr>
              <a:t> </a:t>
            </a:r>
            <a:r>
              <a:rPr lang="en-US" sz="1600" dirty="0" smtClean="0">
                <a:ea typeface="Times New Roman"/>
              </a:rPr>
              <a:t>Dogs</a:t>
            </a:r>
            <a:r>
              <a:rPr lang="en-US" sz="1600" dirty="0">
                <a:ea typeface="Times New Roman"/>
              </a:rPr>
              <a:t/>
            </a:r>
            <a:br>
              <a:rPr lang="en-US" sz="1600" dirty="0">
                <a:ea typeface="Times New Roman"/>
              </a:rPr>
            </a:br>
            <a:r>
              <a:rPr lang="en-US" sz="1600" b="1" dirty="0" smtClean="0">
                <a:solidFill>
                  <a:srgbClr val="0000FF"/>
                </a:solidFill>
                <a:ea typeface="Times New Roman"/>
              </a:rPr>
              <a:t>OUTER </a:t>
            </a:r>
            <a:r>
              <a:rPr lang="en-US" sz="1600" b="1" dirty="0">
                <a:solidFill>
                  <a:srgbClr val="0000FF"/>
                </a:solidFill>
                <a:ea typeface="Times New Roman"/>
              </a:rPr>
              <a:t>JOIN </a:t>
            </a:r>
            <a:r>
              <a:rPr lang="en-US" sz="1600" dirty="0" smtClean="0">
                <a:ea typeface="Times New Roman"/>
              </a:rPr>
              <a:t>Cats  </a:t>
            </a:r>
            <a:r>
              <a:rPr lang="en-US" sz="1600" dirty="0">
                <a:solidFill>
                  <a:srgbClr val="0000FF"/>
                </a:solidFill>
                <a:ea typeface="Times New Roman"/>
              </a:rPr>
              <a:t>ON</a:t>
            </a:r>
            <a:r>
              <a:rPr lang="en-US" sz="1600" dirty="0">
                <a:ea typeface="Times New Roman"/>
              </a:rPr>
              <a:t> </a:t>
            </a:r>
            <a:r>
              <a:rPr lang="en-US" sz="1600" dirty="0" err="1" smtClean="0">
                <a:ea typeface="Times New Roman"/>
              </a:rPr>
              <a:t>Dogs.owner</a:t>
            </a:r>
            <a:r>
              <a:rPr lang="en-US" sz="1600" dirty="0" smtClean="0">
                <a:ea typeface="Times New Roman"/>
              </a:rPr>
              <a:t> </a:t>
            </a:r>
            <a:r>
              <a:rPr lang="en-US" sz="1600" dirty="0">
                <a:ea typeface="Times New Roman"/>
              </a:rPr>
              <a:t>= </a:t>
            </a:r>
            <a:r>
              <a:rPr lang="en-US" sz="1600" dirty="0" err="1" smtClean="0">
                <a:ea typeface="Times New Roman"/>
              </a:rPr>
              <a:t>Cats.owner</a:t>
            </a:r>
            <a:r>
              <a:rPr lang="en-US" sz="1600" dirty="0">
                <a:ea typeface="Times New Roman"/>
              </a:rPr>
              <a:t/>
            </a:r>
            <a:br>
              <a:rPr lang="en-US" sz="1600" dirty="0">
                <a:ea typeface="Times New Roman"/>
              </a:rPr>
            </a:br>
            <a:r>
              <a:rPr lang="en-US" sz="1600" dirty="0" smtClean="0">
                <a:solidFill>
                  <a:srgbClr val="0000FF"/>
                </a:solidFill>
                <a:ea typeface="Times New Roman"/>
              </a:rPr>
              <a:t>ORDER </a:t>
            </a:r>
            <a:r>
              <a:rPr lang="en-US" sz="1600" dirty="0">
                <a:solidFill>
                  <a:srgbClr val="0000FF"/>
                </a:solidFill>
                <a:ea typeface="Times New Roman"/>
              </a:rPr>
              <a:t>BY </a:t>
            </a:r>
            <a:r>
              <a:rPr lang="en-US" sz="1600" dirty="0" err="1" smtClean="0">
                <a:ea typeface="Times New Roman"/>
              </a:rPr>
              <a:t>Dogs.owner</a:t>
            </a:r>
            <a:r>
              <a:rPr lang="en-US" sz="1600" dirty="0">
                <a:ea typeface="Times New Roman"/>
              </a:rPr>
              <a:t/>
            </a:r>
            <a:br>
              <a:rPr lang="en-US" sz="1600" dirty="0">
                <a:ea typeface="Times New Roman"/>
              </a:rPr>
            </a:br>
            <a:endParaRPr lang="en-US" sz="1600" dirty="0">
              <a:ea typeface="Calibri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49996" y="1612289"/>
            <a:ext cx="4957010" cy="84644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rgbClr val="C00000"/>
            </a:solidFill>
          </a:ln>
        </p:spPr>
        <p:txBody>
          <a:bodyPr wrap="square" lIns="108000" tIns="108000" rIns="36000" bIns="36000" rtlCol="1">
            <a:noAutofit/>
          </a:bodyPr>
          <a:lstStyle/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dirty="0">
              <a:ea typeface="Calibri"/>
              <a:cs typeface="Ari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273841"/>
              </p:ext>
            </p:extLst>
          </p:nvPr>
        </p:nvGraphicFramePr>
        <p:xfrm>
          <a:off x="1515314" y="393988"/>
          <a:ext cx="1636676" cy="91440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808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400"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Baxter</a:t>
                      </a:r>
                      <a:endParaRPr lang="he-IL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Alice</a:t>
                      </a:r>
                      <a:endParaRPr lang="he-IL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31"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 err="1" smtClean="0"/>
                        <a:t>Nala</a:t>
                      </a:r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Alice</a:t>
                      </a:r>
                      <a:endParaRPr lang="he-IL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1"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Foxy</a:t>
                      </a:r>
                      <a:endParaRPr lang="he-IL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Bob</a:t>
                      </a:r>
                      <a:endParaRPr lang="he-IL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721107"/>
              </p:ext>
            </p:extLst>
          </p:nvPr>
        </p:nvGraphicFramePr>
        <p:xfrm>
          <a:off x="4479077" y="393988"/>
          <a:ext cx="1636676" cy="91773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808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221"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Mitsi</a:t>
                      </a:r>
                      <a:endParaRPr lang="he-IL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Alice</a:t>
                      </a:r>
                      <a:endParaRPr lang="he-IL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65"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Bella</a:t>
                      </a:r>
                      <a:endParaRPr lang="he-IL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Alice</a:t>
                      </a:r>
                      <a:endParaRPr lang="he-IL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465"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Lucy</a:t>
                      </a:r>
                      <a:endParaRPr lang="he-IL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smtClean="0"/>
                        <a:t>Charlie</a:t>
                      </a:r>
                      <a:endParaRPr lang="he-IL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3666802" y="108310"/>
            <a:ext cx="2584977" cy="369332"/>
            <a:chOff x="-68486" y="356668"/>
            <a:chExt cx="2584977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559220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  owner    </a:t>
              </a:r>
              <a:endParaRPr lang="he-IL" b="1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88735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name    </a:t>
              </a:r>
              <a:endParaRPr lang="he-IL" b="1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68486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  Cats:   </a:t>
              </a:r>
              <a:endParaRPr lang="he-IL" b="1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93380" y="108310"/>
            <a:ext cx="2584977" cy="369332"/>
            <a:chOff x="-68486" y="356668"/>
            <a:chExt cx="2584977" cy="369332"/>
          </a:xfrm>
        </p:grpSpPr>
        <p:sp>
          <p:nvSpPr>
            <p:cNvPr id="17" name="TextBox 16"/>
            <p:cNvSpPr txBox="1"/>
            <p:nvPr/>
          </p:nvSpPr>
          <p:spPr>
            <a:xfrm>
              <a:off x="559220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  owner    </a:t>
              </a:r>
              <a:endParaRPr lang="he-IL" b="1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88735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name    </a:t>
              </a:r>
              <a:endParaRPr lang="he-IL" b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68486" y="356668"/>
              <a:ext cx="10277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mtClean="0"/>
                <a:t>  Dogs:   </a:t>
              </a:r>
              <a:endParaRPr lang="he-IL" b="1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849996" y="2743200"/>
            <a:ext cx="4957010" cy="96330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C00000"/>
            </a:solidFill>
          </a:ln>
        </p:spPr>
        <p:txBody>
          <a:bodyPr wrap="square" lIns="108000" tIns="108000" rIns="36000" bIns="36000" rtlCol="1">
            <a:noAutofit/>
          </a:bodyPr>
          <a:lstStyle/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dirty="0">
              <a:ea typeface="Calibri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49996" y="3858907"/>
            <a:ext cx="4957010" cy="98931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C00000"/>
            </a:solidFill>
          </a:ln>
        </p:spPr>
        <p:txBody>
          <a:bodyPr wrap="square" lIns="108000" tIns="108000" rIns="36000" bIns="36000" rtlCol="1">
            <a:noAutofit/>
          </a:bodyPr>
          <a:lstStyle/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dirty="0">
              <a:ea typeface="Calibri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9996" y="5049532"/>
            <a:ext cx="4957010" cy="127861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C00000"/>
            </a:solidFill>
          </a:ln>
        </p:spPr>
        <p:txBody>
          <a:bodyPr wrap="square" lIns="108000" tIns="108000" rIns="36000" bIns="36000" rtlCol="1">
            <a:noAutofit/>
          </a:bodyPr>
          <a:lstStyle/>
          <a:p>
            <a:pPr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dirty="0">
              <a:ea typeface="Calibri"/>
              <a:cs typeface="Arial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739263" y="1718346"/>
            <a:ext cx="1041429" cy="690110"/>
            <a:chOff x="11093420" y="1661196"/>
            <a:chExt cx="1041429" cy="690110"/>
          </a:xfrm>
        </p:grpSpPr>
        <p:sp>
          <p:nvSpPr>
            <p:cNvPr id="23" name="Right Brace 22"/>
            <p:cNvSpPr/>
            <p:nvPr/>
          </p:nvSpPr>
          <p:spPr>
            <a:xfrm>
              <a:off x="11093420" y="1661196"/>
              <a:ext cx="317529" cy="612000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353798" y="1704975"/>
              <a:ext cx="78105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mtClean="0">
                  <a:solidFill>
                    <a:srgbClr val="C00000"/>
                  </a:solidFill>
                </a:rPr>
                <a:t>Inner join</a:t>
              </a:r>
              <a:endParaRPr lang="he-IL">
                <a:solidFill>
                  <a:srgbClr val="C00000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9770918" y="2803188"/>
            <a:ext cx="2009774" cy="951640"/>
            <a:chOff x="10172701" y="2803188"/>
            <a:chExt cx="2009774" cy="951640"/>
          </a:xfrm>
        </p:grpSpPr>
        <p:grpSp>
          <p:nvGrpSpPr>
            <p:cNvPr id="27" name="Group 26"/>
            <p:cNvGrpSpPr/>
            <p:nvPr/>
          </p:nvGrpSpPr>
          <p:grpSpPr>
            <a:xfrm>
              <a:off x="11150571" y="2803188"/>
              <a:ext cx="1031904" cy="646332"/>
              <a:chOff x="11093420" y="1609724"/>
              <a:chExt cx="1031904" cy="646332"/>
            </a:xfrm>
          </p:grpSpPr>
          <p:sp>
            <p:nvSpPr>
              <p:cNvPr id="28" name="Right Brace 27"/>
              <p:cNvSpPr/>
              <p:nvPr/>
            </p:nvSpPr>
            <p:spPr>
              <a:xfrm>
                <a:off x="11093420" y="1609724"/>
                <a:ext cx="312767" cy="612000"/>
              </a:xfrm>
              <a:prstGeom prst="rightBrac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1344273" y="1609725"/>
                <a:ext cx="781051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Inner join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0172701" y="3385496"/>
              <a:ext cx="2009774" cy="369332"/>
              <a:chOff x="10010776" y="3385496"/>
              <a:chExt cx="2009774" cy="369332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 flipH="1">
                <a:off x="10010776" y="3570162"/>
                <a:ext cx="700086" cy="5834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10791825" y="3385496"/>
                <a:ext cx="12287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From left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10028092" y="3776021"/>
            <a:ext cx="1752600" cy="973662"/>
            <a:chOff x="10429875" y="3776021"/>
            <a:chExt cx="1752600" cy="973662"/>
          </a:xfrm>
        </p:grpSpPr>
        <p:grpSp>
          <p:nvGrpSpPr>
            <p:cNvPr id="30" name="Group 29"/>
            <p:cNvGrpSpPr/>
            <p:nvPr/>
          </p:nvGrpSpPr>
          <p:grpSpPr>
            <a:xfrm>
              <a:off x="11141046" y="4095749"/>
              <a:ext cx="1041429" cy="653934"/>
              <a:chOff x="11093420" y="1697372"/>
              <a:chExt cx="1041429" cy="653934"/>
            </a:xfrm>
          </p:grpSpPr>
          <p:sp>
            <p:nvSpPr>
              <p:cNvPr id="31" name="Right Brace 30"/>
              <p:cNvSpPr/>
              <p:nvPr/>
            </p:nvSpPr>
            <p:spPr>
              <a:xfrm>
                <a:off x="11093420" y="1697372"/>
                <a:ext cx="324000" cy="612000"/>
              </a:xfrm>
              <a:prstGeom prst="rightBrac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1353798" y="1704975"/>
                <a:ext cx="781051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Inner join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0429875" y="3776021"/>
              <a:ext cx="1752600" cy="369332"/>
              <a:chOff x="10267950" y="3385496"/>
              <a:chExt cx="1752600" cy="369332"/>
            </a:xfrm>
          </p:grpSpPr>
          <p:cxnSp>
            <p:nvCxnSpPr>
              <p:cNvPr id="43" name="Straight Arrow Connector 42"/>
              <p:cNvCxnSpPr/>
              <p:nvPr/>
            </p:nvCxnSpPr>
            <p:spPr>
              <a:xfrm flipH="1">
                <a:off x="10267950" y="3570162"/>
                <a:ext cx="442912" cy="5834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10791825" y="3385496"/>
                <a:ext cx="12287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From right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53" name="Group 52"/>
          <p:cNvGrpSpPr/>
          <p:nvPr/>
        </p:nvGrpSpPr>
        <p:grpSpPr>
          <a:xfrm>
            <a:off x="9770918" y="5023796"/>
            <a:ext cx="2009774" cy="1340882"/>
            <a:chOff x="10172701" y="5023796"/>
            <a:chExt cx="2009774" cy="1340882"/>
          </a:xfrm>
        </p:grpSpPr>
        <p:grpSp>
          <p:nvGrpSpPr>
            <p:cNvPr id="33" name="Group 32"/>
            <p:cNvGrpSpPr/>
            <p:nvPr/>
          </p:nvGrpSpPr>
          <p:grpSpPr>
            <a:xfrm>
              <a:off x="11141046" y="5404521"/>
              <a:ext cx="1041429" cy="690110"/>
              <a:chOff x="11093420" y="1661196"/>
              <a:chExt cx="1041429" cy="690110"/>
            </a:xfrm>
          </p:grpSpPr>
          <p:sp>
            <p:nvSpPr>
              <p:cNvPr id="34" name="Right Brace 33"/>
              <p:cNvSpPr/>
              <p:nvPr/>
            </p:nvSpPr>
            <p:spPr>
              <a:xfrm>
                <a:off x="11093420" y="1661196"/>
                <a:ext cx="317529" cy="612000"/>
              </a:xfrm>
              <a:prstGeom prst="rightBrac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1353798" y="1704975"/>
                <a:ext cx="781051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Inner join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10172701" y="5995346"/>
              <a:ext cx="2009774" cy="369332"/>
              <a:chOff x="10010776" y="3385496"/>
              <a:chExt cx="2009774" cy="369332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 flipH="1">
                <a:off x="10010776" y="3570162"/>
                <a:ext cx="700086" cy="5834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10791825" y="3385496"/>
                <a:ext cx="12287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From left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0429875" y="5023796"/>
              <a:ext cx="1752600" cy="369332"/>
              <a:chOff x="10267950" y="3385496"/>
              <a:chExt cx="1752600" cy="369332"/>
            </a:xfrm>
          </p:grpSpPr>
          <p:cxnSp>
            <p:nvCxnSpPr>
              <p:cNvPr id="50" name="Straight Arrow Connector 49"/>
              <p:cNvCxnSpPr/>
              <p:nvPr/>
            </p:nvCxnSpPr>
            <p:spPr>
              <a:xfrm flipH="1">
                <a:off x="10267950" y="3570162"/>
                <a:ext cx="442912" cy="5834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10791825" y="3385496"/>
                <a:ext cx="12287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mtClean="0">
                    <a:solidFill>
                      <a:srgbClr val="C00000"/>
                    </a:solidFill>
                  </a:rPr>
                  <a:t>From right</a:t>
                </a:r>
                <a:endParaRPr lang="he-IL">
                  <a:solidFill>
                    <a:srgbClr val="C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21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77987"/>
          </a:xfrm>
        </p:spPr>
        <p:txBody>
          <a:bodyPr/>
          <a:lstStyle/>
          <a:p>
            <a:r>
              <a:rPr lang="en-US" err="1" smtClean="0"/>
              <a:t>Tirgul</a:t>
            </a:r>
            <a:r>
              <a:rPr lang="en-US" smtClean="0"/>
              <a:t> 13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2992437"/>
            <a:ext cx="8029576" cy="3227388"/>
          </a:xfrm>
        </p:spPr>
        <p:txBody>
          <a:bodyPr>
            <a:noAutofit/>
          </a:bodyPr>
          <a:lstStyle/>
          <a:p>
            <a:pPr marL="0" lvl="3">
              <a:spcBef>
                <a:spcPts val="1000"/>
              </a:spcBef>
            </a:pPr>
            <a:r>
              <a:rPr lang="en-US" sz="3600" b="1">
                <a:solidFill>
                  <a:srgbClr val="232323"/>
                </a:solidFill>
                <a:latin typeface="Verdana"/>
              </a:rPr>
              <a:t>Persistence </a:t>
            </a:r>
            <a:r>
              <a:rPr lang="en-US" sz="3600" b="1" smtClean="0">
                <a:solidFill>
                  <a:srgbClr val="232323"/>
                </a:solidFill>
                <a:latin typeface="Verdana"/>
              </a:rPr>
              <a:t>Layer</a:t>
            </a:r>
          </a:p>
          <a:p>
            <a:pPr marL="0" lvl="3">
              <a:spcBef>
                <a:spcPts val="1000"/>
              </a:spcBef>
            </a:pPr>
            <a:r>
              <a:rPr lang="en-US" sz="3600" b="1" smtClean="0">
                <a:solidFill>
                  <a:srgbClr val="232323"/>
                </a:solidFill>
                <a:latin typeface="Verdana"/>
              </a:rPr>
              <a:t>ORM</a:t>
            </a:r>
            <a:endParaRPr lang="en-US" sz="3200" b="1" smtClean="0"/>
          </a:p>
        </p:txBody>
      </p:sp>
    </p:spTree>
    <p:extLst>
      <p:ext uri="{BB962C8B-B14F-4D97-AF65-F5344CB8AC3E}">
        <p14:creationId xmlns:p14="http://schemas.microsoft.com/office/powerpoint/2010/main" val="41117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What is </a:t>
            </a:r>
            <a:r>
              <a:rPr lang="en-US" sz="3200" b="1" smtClean="0"/>
              <a:t>Persistence Layer - Introduction</a:t>
            </a:r>
          </a:p>
          <a:p>
            <a:r>
              <a:rPr lang="en-US"/>
              <a:t>A</a:t>
            </a:r>
            <a:r>
              <a:rPr lang="en-US" smtClean="0"/>
              <a:t> </a:t>
            </a:r>
            <a:r>
              <a:rPr lang="en-US"/>
              <a:t>design pattern for managing the </a:t>
            </a:r>
            <a:r>
              <a:rPr lang="en-US" smtClean="0"/>
              <a:t>DB</a:t>
            </a:r>
          </a:p>
          <a:p>
            <a:r>
              <a:rPr lang="en-US" smtClean="0"/>
              <a:t>It creates </a:t>
            </a:r>
            <a:r>
              <a:rPr lang="en-US"/>
              <a:t>a separation between the application logic and the DB </a:t>
            </a:r>
            <a:r>
              <a:rPr lang="en-US" smtClean="0"/>
              <a:t>access</a:t>
            </a:r>
          </a:p>
          <a:p>
            <a:r>
              <a:rPr lang="en-US" smtClean="0"/>
              <a:t>It has 3 </a:t>
            </a:r>
            <a:r>
              <a:rPr lang="en-US"/>
              <a:t>types of objects:</a:t>
            </a:r>
          </a:p>
          <a:p>
            <a:pPr lvl="1"/>
            <a:r>
              <a:rPr lang="en-US"/>
              <a:t>DTO - Data Transfer Object</a:t>
            </a:r>
          </a:p>
          <a:p>
            <a:pPr lvl="1"/>
            <a:r>
              <a:rPr lang="en-US"/>
              <a:t>DAO - Data Access Object</a:t>
            </a:r>
          </a:p>
          <a:p>
            <a:pPr lvl="1"/>
            <a:r>
              <a:rPr lang="en-US" smtClean="0"/>
              <a:t>Repository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Intro</a:t>
            </a:r>
            <a:endParaRPr lang="he-IL"/>
          </a:p>
        </p:txBody>
      </p:sp>
      <p:grpSp>
        <p:nvGrpSpPr>
          <p:cNvPr id="29" name="Group 28"/>
          <p:cNvGrpSpPr/>
          <p:nvPr/>
        </p:nvGrpSpPr>
        <p:grpSpPr>
          <a:xfrm>
            <a:off x="5427425" y="2674383"/>
            <a:ext cx="6430274" cy="3126658"/>
            <a:chOff x="5260281" y="2458065"/>
            <a:chExt cx="6430274" cy="3126658"/>
          </a:xfrm>
        </p:grpSpPr>
        <p:grpSp>
          <p:nvGrpSpPr>
            <p:cNvPr id="27" name="Group 26"/>
            <p:cNvGrpSpPr/>
            <p:nvPr/>
          </p:nvGrpSpPr>
          <p:grpSpPr>
            <a:xfrm>
              <a:off x="5397848" y="2753048"/>
              <a:ext cx="6204155" cy="2664542"/>
              <a:chOff x="3038168" y="3362632"/>
              <a:chExt cx="6204155" cy="2664542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3038168" y="3362632"/>
                <a:ext cx="6204155" cy="2664542"/>
                <a:chOff x="3038168" y="3362632"/>
                <a:chExt cx="6204155" cy="2664542"/>
              </a:xfrm>
            </p:grpSpPr>
            <p:sp>
              <p:nvSpPr>
                <p:cNvPr id="2" name="Rectangle 1"/>
                <p:cNvSpPr/>
                <p:nvPr/>
              </p:nvSpPr>
              <p:spPr>
                <a:xfrm>
                  <a:off x="5666864" y="3362632"/>
                  <a:ext cx="288000" cy="2664542"/>
                </a:xfrm>
                <a:prstGeom prst="rect">
                  <a:avLst/>
                </a:prstGeom>
                <a:pattFill prst="ltUp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1" anchor="ctr"/>
                <a:lstStyle/>
                <a:p>
                  <a:pPr algn="ctr"/>
                  <a:r>
                    <a:rPr lang="en-US" sz="2400" smtClean="0">
                      <a:solidFill>
                        <a:schemeClr val="tx1"/>
                      </a:solidFill>
                    </a:rPr>
                    <a:t>Persistence  Layer</a:t>
                  </a:r>
                  <a:endParaRPr lang="he-IL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Flowchart: Magnetic Disk 3"/>
                <p:cNvSpPr/>
                <p:nvPr/>
              </p:nvSpPr>
              <p:spPr>
                <a:xfrm>
                  <a:off x="3038168" y="4095139"/>
                  <a:ext cx="983226" cy="1258529"/>
                </a:xfrm>
                <a:prstGeom prst="flowChartMagneticDisk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DB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Flowchart: Multidocument 5"/>
                <p:cNvSpPr/>
                <p:nvPr/>
              </p:nvSpPr>
              <p:spPr>
                <a:xfrm>
                  <a:off x="7600335" y="4095139"/>
                  <a:ext cx="1641988" cy="1258529"/>
                </a:xfrm>
                <a:prstGeom prst="flowChartMultidocumen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Program(s)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Straight Arrow Connector 14"/>
                <p:cNvCxnSpPr/>
                <p:nvPr/>
              </p:nvCxnSpPr>
              <p:spPr>
                <a:xfrm flipH="1">
                  <a:off x="6027175" y="4714574"/>
                  <a:ext cx="1533832" cy="0"/>
                </a:xfrm>
                <a:prstGeom prst="straightConnector1">
                  <a:avLst/>
                </a:prstGeom>
                <a:ln w="1270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/>
                <p:cNvCxnSpPr/>
                <p:nvPr/>
              </p:nvCxnSpPr>
              <p:spPr>
                <a:xfrm flipH="1">
                  <a:off x="4060722" y="4714574"/>
                  <a:ext cx="1533832" cy="0"/>
                </a:xfrm>
                <a:prstGeom prst="straightConnector1">
                  <a:avLst/>
                </a:prstGeom>
                <a:ln w="1270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 flipH="1">
                  <a:off x="4060722" y="4896480"/>
                  <a:ext cx="1533832" cy="0"/>
                </a:xfrm>
                <a:prstGeom prst="straightConnector1">
                  <a:avLst/>
                </a:prstGeom>
                <a:ln w="1270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/>
                <p:cNvCxnSpPr/>
                <p:nvPr/>
              </p:nvCxnSpPr>
              <p:spPr>
                <a:xfrm flipH="1">
                  <a:off x="6027175" y="4896480"/>
                  <a:ext cx="1533832" cy="0"/>
                </a:xfrm>
                <a:prstGeom prst="straightConnector1">
                  <a:avLst/>
                </a:prstGeom>
                <a:ln w="1270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/>
              <p:cNvSpPr txBox="1"/>
              <p:nvPr/>
            </p:nvSpPr>
            <p:spPr>
              <a:xfrm>
                <a:off x="5997679" y="4896470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</a:t>
                </a:r>
                <a:r>
                  <a:rPr lang="en-US" sz="1400" i="1"/>
                  <a:t>retrieved </a:t>
                </a:r>
                <a:r>
                  <a:rPr lang="en-US" sz="1400" i="1" smtClean="0"/>
                  <a:t>from DB</a:t>
                </a:r>
                <a:endParaRPr lang="he-IL" sz="1400" i="1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002599" y="4242646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to be </a:t>
                </a:r>
                <a:r>
                  <a:rPr lang="en-US" sz="1400" i="1"/>
                  <a:t>written to the </a:t>
                </a:r>
                <a:r>
                  <a:rPr lang="en-US" sz="1400" i="1" smtClean="0"/>
                  <a:t>DB</a:t>
                </a:r>
                <a:endParaRPr lang="he-IL" sz="1400" i="1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928863" y="3490502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b="1" i="1" smtClean="0"/>
                  <a:t>PL’s methods</a:t>
                </a:r>
              </a:p>
              <a:p>
                <a:pPr algn="ctr"/>
                <a:r>
                  <a:rPr lang="en-US" sz="1400" b="1" i="1" smtClean="0"/>
                  <a:t>(“Logical part”)</a:t>
                </a:r>
                <a:endParaRPr lang="he-IL" sz="1400" b="1" i="1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046031" y="4891558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</a:t>
                </a:r>
                <a:r>
                  <a:rPr lang="en-US" sz="1400" i="1"/>
                  <a:t>retrieved </a:t>
                </a:r>
                <a:r>
                  <a:rPr lang="en-US" sz="1400" i="1" smtClean="0"/>
                  <a:t>from DB</a:t>
                </a:r>
                <a:endParaRPr lang="he-IL" sz="1400" i="1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050951" y="4237734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to be </a:t>
                </a:r>
                <a:r>
                  <a:rPr lang="en-US" sz="1400" i="1"/>
                  <a:t>written to the </a:t>
                </a:r>
                <a:r>
                  <a:rPr lang="en-US" sz="1400" i="1" smtClean="0"/>
                  <a:t>DB</a:t>
                </a:r>
                <a:endParaRPr lang="he-IL" sz="1400" i="1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026375" y="3485590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b="1" i="1" smtClean="0"/>
                  <a:t>SQL commands</a:t>
                </a:r>
              </a:p>
              <a:p>
                <a:pPr algn="ctr"/>
                <a:r>
                  <a:rPr lang="en-US" sz="1400" b="1" i="1" smtClean="0"/>
                  <a:t>(“Physical part”)</a:t>
                </a:r>
                <a:endParaRPr lang="he-IL" sz="1400" b="1" i="1"/>
              </a:p>
            </p:txBody>
          </p:sp>
        </p:grpSp>
        <p:sp>
          <p:nvSpPr>
            <p:cNvPr id="28" name="Rectangle 27"/>
            <p:cNvSpPr/>
            <p:nvPr/>
          </p:nvSpPr>
          <p:spPr>
            <a:xfrm>
              <a:off x="5260281" y="2458065"/>
              <a:ext cx="6430274" cy="31266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35962" y="3736263"/>
            <a:ext cx="4694787" cy="2064778"/>
            <a:chOff x="103354" y="3923071"/>
            <a:chExt cx="4694787" cy="2064778"/>
          </a:xfrm>
        </p:grpSpPr>
        <p:grpSp>
          <p:nvGrpSpPr>
            <p:cNvPr id="31" name="Group 30"/>
            <p:cNvGrpSpPr/>
            <p:nvPr/>
          </p:nvGrpSpPr>
          <p:grpSpPr>
            <a:xfrm>
              <a:off x="201593" y="4051003"/>
              <a:ext cx="4277083" cy="1868078"/>
              <a:chOff x="3038168" y="3485590"/>
              <a:chExt cx="4277083" cy="186807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3038168" y="4095139"/>
                <a:ext cx="4277083" cy="1258529"/>
                <a:chOff x="3038168" y="4095139"/>
                <a:chExt cx="4277083" cy="1258529"/>
              </a:xfrm>
            </p:grpSpPr>
            <p:sp>
              <p:nvSpPr>
                <p:cNvPr id="41" name="Flowchart: Magnetic Disk 40"/>
                <p:cNvSpPr/>
                <p:nvPr/>
              </p:nvSpPr>
              <p:spPr>
                <a:xfrm>
                  <a:off x="3038168" y="4095139"/>
                  <a:ext cx="983226" cy="1258529"/>
                </a:xfrm>
                <a:prstGeom prst="flowChartMagneticDisk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DB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Flowchart: Multidocument 41"/>
                <p:cNvSpPr/>
                <p:nvPr/>
              </p:nvSpPr>
              <p:spPr>
                <a:xfrm>
                  <a:off x="5673263" y="4095139"/>
                  <a:ext cx="1641988" cy="1258529"/>
                </a:xfrm>
                <a:prstGeom prst="flowChartMultidocumen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Program(s)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4" name="Straight Arrow Connector 43"/>
                <p:cNvCxnSpPr/>
                <p:nvPr/>
              </p:nvCxnSpPr>
              <p:spPr>
                <a:xfrm flipH="1">
                  <a:off x="4060722" y="4714574"/>
                  <a:ext cx="1533832" cy="0"/>
                </a:xfrm>
                <a:prstGeom prst="straightConnector1">
                  <a:avLst/>
                </a:prstGeom>
                <a:ln w="1270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 flipH="1">
                  <a:off x="4060722" y="4896480"/>
                  <a:ext cx="1533832" cy="0"/>
                </a:xfrm>
                <a:prstGeom prst="straightConnector1">
                  <a:avLst/>
                </a:prstGeom>
                <a:ln w="1270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/>
              <p:cNvSpPr txBox="1"/>
              <p:nvPr/>
            </p:nvSpPr>
            <p:spPr>
              <a:xfrm>
                <a:off x="4046031" y="4891558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</a:t>
                </a:r>
                <a:r>
                  <a:rPr lang="en-US" sz="1400" i="1"/>
                  <a:t>retrieved </a:t>
                </a:r>
                <a:r>
                  <a:rPr lang="en-US" sz="1400" i="1" smtClean="0"/>
                  <a:t>from DB</a:t>
                </a:r>
                <a:endParaRPr lang="he-IL" sz="1400" i="1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050951" y="4237734"/>
                <a:ext cx="15731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Data to be </a:t>
                </a:r>
                <a:r>
                  <a:rPr lang="en-US" sz="1400" i="1"/>
                  <a:t>written to the </a:t>
                </a:r>
                <a:r>
                  <a:rPr lang="en-US" sz="1400" i="1" smtClean="0"/>
                  <a:t>DB</a:t>
                </a:r>
                <a:endParaRPr lang="he-IL" sz="1400" i="1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4026375" y="3485590"/>
                <a:ext cx="157316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b="1" i="1" smtClean="0"/>
                  <a:t>Direct access to DB</a:t>
                </a:r>
                <a:endParaRPr lang="he-IL" sz="1400" b="1" i="1"/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103354" y="3923071"/>
              <a:ext cx="4694787" cy="2064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53958" y="3647766"/>
            <a:ext cx="5014439" cy="2222094"/>
            <a:chOff x="353958" y="3647766"/>
            <a:chExt cx="5014439" cy="2222094"/>
          </a:xfrm>
        </p:grpSpPr>
        <p:cxnSp>
          <p:nvCxnSpPr>
            <p:cNvPr id="49" name="Straight Connector 48"/>
            <p:cNvCxnSpPr/>
            <p:nvPr/>
          </p:nvCxnSpPr>
          <p:spPr>
            <a:xfrm flipV="1">
              <a:off x="353958" y="3677272"/>
              <a:ext cx="5014439" cy="2192588"/>
            </a:xfrm>
            <a:prstGeom prst="line">
              <a:avLst/>
            </a:prstGeom>
            <a:ln w="82550" cap="rnd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 flipV="1">
              <a:off x="403119" y="3647766"/>
              <a:ext cx="4965278" cy="2202435"/>
            </a:xfrm>
            <a:prstGeom prst="line">
              <a:avLst/>
            </a:prstGeom>
            <a:ln w="82550" cap="rnd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7952088" y="1918254"/>
            <a:ext cx="368663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smtClean="0">
                <a:solidFill>
                  <a:schemeClr val="accent1"/>
                </a:solidFill>
              </a:rPr>
              <a:t>Q: Why we need it? Examples?</a:t>
            </a:r>
            <a:endParaRPr lang="he-IL" sz="20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37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Assignment tester </a:t>
            </a:r>
            <a:r>
              <a:rPr lang="en-US" sz="3200" dirty="0"/>
              <a:t>(as seen in class):</a:t>
            </a:r>
          </a:p>
          <a:p>
            <a:r>
              <a:rPr lang="en-US" dirty="0"/>
              <a:t>A python application designed to grade students assignments.</a:t>
            </a:r>
          </a:p>
          <a:p>
            <a:r>
              <a:rPr lang="en-US" dirty="0"/>
              <a:t>The DB contains the following tables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– Study case</a:t>
            </a:r>
            <a:endParaRPr lang="he-IL"/>
          </a:p>
        </p:txBody>
      </p:sp>
      <p:grpSp>
        <p:nvGrpSpPr>
          <p:cNvPr id="35" name="Group 34"/>
          <p:cNvGrpSpPr/>
          <p:nvPr/>
        </p:nvGrpSpPr>
        <p:grpSpPr>
          <a:xfrm>
            <a:off x="3275190" y="2369449"/>
            <a:ext cx="5357492" cy="3314372"/>
            <a:chOff x="1672574" y="2369449"/>
            <a:chExt cx="5357492" cy="3314372"/>
          </a:xfrm>
        </p:grpSpPr>
        <p:sp>
          <p:nvSpPr>
            <p:cNvPr id="8" name="TextBox 7"/>
            <p:cNvSpPr txBox="1"/>
            <p:nvPr/>
          </p:nvSpPr>
          <p:spPr>
            <a:xfrm>
              <a:off x="1672574" y="2378376"/>
              <a:ext cx="5357492" cy="33054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lIns="36000" tIns="72000" rIns="0" bIns="0" rtlCol="1">
              <a:noAutofit/>
            </a:bodyPr>
            <a:lstStyle/>
            <a:p>
              <a:pPr>
                <a:lnSpc>
                  <a:spcPct val="115000"/>
                </a:lnSpc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endParaRPr lang="en-US" sz="1600" dirty="0">
                <a:solidFill>
                  <a:schemeClr val="bg1">
                    <a:lumMod val="50000"/>
                  </a:schemeClr>
                </a:solidFill>
                <a:ea typeface="Calibri"/>
                <a:cs typeface="Arial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241761" y="2757553"/>
              <a:ext cx="1958147" cy="1718248"/>
              <a:chOff x="4318827" y="3059047"/>
              <a:chExt cx="1958147" cy="1718248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4318827" y="3059047"/>
                <a:ext cx="1958147" cy="1718248"/>
                <a:chOff x="4290253" y="3588846"/>
                <a:chExt cx="1958147" cy="1718248"/>
              </a:xfrm>
            </p:grpSpPr>
            <p:sp>
              <p:nvSpPr>
                <p:cNvPr id="26" name="TextBox 25"/>
                <p:cNvSpPr txBox="1"/>
                <p:nvPr/>
              </p:nvSpPr>
              <p:spPr>
                <a:xfrm>
                  <a:off x="4290253" y="3958178"/>
                  <a:ext cx="1958147" cy="1348916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u="sng" dirty="0" err="1"/>
                    <a:t>s</a:t>
                  </a:r>
                  <a:r>
                    <a:rPr lang="en-US" u="sng" dirty="0" err="1" smtClean="0"/>
                    <a:t>tudent_id</a:t>
                  </a:r>
                  <a:endParaRPr lang="en-US" u="sng" dirty="0" smtClean="0"/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u="sng" dirty="0" err="1"/>
                    <a:t>a</a:t>
                  </a:r>
                  <a:r>
                    <a:rPr lang="en-US" u="sng" dirty="0" err="1" smtClean="0"/>
                    <a:t>ssignment_num</a:t>
                  </a:r>
                  <a:endParaRPr lang="en-US" u="sng" dirty="0" smtClean="0"/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dirty="0" smtClean="0"/>
                    <a:t>grade</a:t>
                  </a:r>
                </a:p>
                <a:p>
                  <a:pPr algn="ctr">
                    <a:spcBef>
                      <a:spcPts val="600"/>
                    </a:spcBef>
                  </a:pPr>
                  <a:endParaRPr lang="en-US" dirty="0" smtClean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4290253" y="3588846"/>
                  <a:ext cx="1958147" cy="369332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en-US" smtClean="0"/>
                    <a:t>grades</a:t>
                  </a:r>
                  <a:endParaRPr lang="he-IL" dirty="0"/>
                </a:p>
              </p:txBody>
            </p:sp>
          </p:grpSp>
          <p:sp>
            <p:nvSpPr>
              <p:cNvPr id="24" name="TextBox 23"/>
              <p:cNvSpPr txBox="1"/>
              <p:nvPr/>
            </p:nvSpPr>
            <p:spPr>
              <a:xfrm>
                <a:off x="4669250" y="3428379"/>
                <a:ext cx="12573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endParaRPr lang="he-IL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466310" y="3793526"/>
                <a:ext cx="167063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endParaRPr lang="he-IL" dirty="0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809508" y="2473376"/>
              <a:ext cx="1915757" cy="1203322"/>
              <a:chOff x="7124699" y="3206755"/>
              <a:chExt cx="1666875" cy="1203322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7124699" y="3206755"/>
                <a:ext cx="1666875" cy="1203322"/>
                <a:chOff x="7124699" y="3206755"/>
                <a:chExt cx="1666875" cy="1203322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7124699" y="3576087"/>
                  <a:ext cx="1666875" cy="833990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en-US" dirty="0" smtClean="0"/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mtClean="0"/>
                    <a:t>name</a:t>
                  </a:r>
                  <a:endParaRPr lang="en-US" dirty="0" smtClean="0"/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7124699" y="3206755"/>
                  <a:ext cx="1666875" cy="369332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en-US" smtClean="0"/>
                    <a:t>students</a:t>
                  </a:r>
                  <a:endParaRPr lang="he-IL" dirty="0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7419976" y="3564493"/>
                <a:ext cx="11811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u="sng" smtClean="0"/>
                  <a:t>id</a:t>
                </a:r>
                <a:endParaRPr lang="he-IL" u="sng" dirty="0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809508" y="3947015"/>
              <a:ext cx="1915757" cy="1446550"/>
              <a:chOff x="7124699" y="3206755"/>
              <a:chExt cx="1915757" cy="1446550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7124699" y="3206755"/>
                <a:ext cx="1915757" cy="1446550"/>
                <a:chOff x="7124699" y="3206755"/>
                <a:chExt cx="1915757" cy="1446550"/>
              </a:xfrm>
            </p:grpSpPr>
            <p:sp>
              <p:nvSpPr>
                <p:cNvPr id="17" name="TextBox 16"/>
                <p:cNvSpPr txBox="1"/>
                <p:nvPr/>
              </p:nvSpPr>
              <p:spPr>
                <a:xfrm>
                  <a:off x="7124699" y="3576087"/>
                  <a:ext cx="1915757" cy="1077218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en-US" dirty="0" smtClean="0"/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dirty="0" err="1"/>
                    <a:t>e</a:t>
                  </a:r>
                  <a:r>
                    <a:rPr lang="en-US" dirty="0" err="1" smtClean="0"/>
                    <a:t>xpected_output</a:t>
                  </a:r>
                  <a:endParaRPr lang="en-US" dirty="0" smtClean="0"/>
                </a:p>
                <a:p>
                  <a:pPr algn="ctr">
                    <a:spcBef>
                      <a:spcPts val="600"/>
                    </a:spcBef>
                  </a:pPr>
                  <a:endParaRPr lang="en-US" dirty="0" smtClean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7124699" y="3206755"/>
                  <a:ext cx="1915757" cy="369332"/>
                </a:xfrm>
                <a:prstGeom prst="rect">
                  <a:avLst/>
                </a:prstGeom>
                <a:solidFill>
                  <a:srgbClr val="ECF3FA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en-US" smtClean="0"/>
                    <a:t>assignments</a:t>
                  </a:r>
                  <a:endParaRPr lang="he-IL" dirty="0"/>
                </a:p>
              </p:txBody>
            </p:sp>
          </p:grpSp>
          <p:sp>
            <p:nvSpPr>
              <p:cNvPr id="16" name="TextBox 15"/>
              <p:cNvSpPr txBox="1"/>
              <p:nvPr/>
            </p:nvSpPr>
            <p:spPr>
              <a:xfrm>
                <a:off x="7305676" y="3564493"/>
                <a:ext cx="131445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u="sng" smtClean="0"/>
                  <a:t>num</a:t>
                </a:r>
                <a:endParaRPr lang="he-IL" u="sng" dirty="0"/>
              </a:p>
            </p:txBody>
          </p:sp>
        </p:grpSp>
        <p:cxnSp>
          <p:nvCxnSpPr>
            <p:cNvPr id="13" name="Elbow Connector 12"/>
            <p:cNvCxnSpPr>
              <a:stCxn id="25" idx="3"/>
              <a:endCxn id="16" idx="1"/>
            </p:cNvCxnSpPr>
            <p:nvPr/>
          </p:nvCxnSpPr>
          <p:spPr>
            <a:xfrm>
              <a:off x="4059878" y="3676698"/>
              <a:ext cx="930607" cy="812721"/>
            </a:xfrm>
            <a:prstGeom prst="bentConnector3">
              <a:avLst>
                <a:gd name="adj1" fmla="val 50000"/>
              </a:avLst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>
              <a:stCxn id="24" idx="3"/>
              <a:endCxn id="20" idx="1"/>
            </p:cNvCxnSpPr>
            <p:nvPr/>
          </p:nvCxnSpPr>
          <p:spPr>
            <a:xfrm flipV="1">
              <a:off x="3849484" y="3015780"/>
              <a:ext cx="1299389" cy="295771"/>
            </a:xfrm>
            <a:prstGeom prst="bentConnector3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672574" y="2369449"/>
              <a:ext cx="1128156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b="1" smtClean="0"/>
                <a:t>DB</a:t>
              </a:r>
              <a:endParaRPr lang="he-IL" b="1"/>
            </a:p>
          </p:txBody>
        </p:sp>
      </p:grpSp>
      <p:sp>
        <p:nvSpPr>
          <p:cNvPr id="2" name="Action Button: Back or Previous 1">
            <a:hlinkClick r:id="" action="ppaction://hlinkshowjump?jump=lastslideviewed" highlightClick="1"/>
          </p:cNvPr>
          <p:cNvSpPr/>
          <p:nvPr/>
        </p:nvSpPr>
        <p:spPr>
          <a:xfrm>
            <a:off x="11519452" y="6430617"/>
            <a:ext cx="298174" cy="26835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34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26123" y="408857"/>
            <a:ext cx="9468000" cy="505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smtClean="0"/>
              <a:t>Assuming that Alice Bob and Charlie submited the following assignments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Layer – Study case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353951" y="835744"/>
            <a:ext cx="3816000" cy="122400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Alice’s assignment 1111.py</a:t>
            </a:r>
            <a:endParaRPr lang="en-US" sz="1600" b="1" dirty="0" smtClean="0">
              <a:solidFill>
                <a:srgbClr val="00008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sz="1600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run_assignment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'Main'</a:t>
            </a:r>
            <a:endParaRPr lang="en-US" alt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7021" y="835744"/>
            <a:ext cx="3816000" cy="122400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Bob’s assignment 2222.py</a:t>
            </a:r>
            <a:endParaRPr lang="en-US" sz="1600" b="1" dirty="0" smtClean="0">
              <a:solidFill>
                <a:srgbClr val="00008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sz="1600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run_assignment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'main'</a:t>
            </a:r>
            <a:endParaRPr lang="en-US" alt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89" y="835756"/>
            <a:ext cx="3816000" cy="122400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Charlie’s assignment 3333.py</a:t>
            </a:r>
            <a:endParaRPr lang="en-US" sz="1600" b="1" dirty="0" smtClean="0">
              <a:solidFill>
                <a:srgbClr val="00008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sz="1600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run_assignment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'Main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'</a:t>
            </a:r>
            <a:endParaRPr lang="en-US" alt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3952" y="2615393"/>
            <a:ext cx="5535560" cy="294967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6123" y="2262238"/>
            <a:ext cx="9468000" cy="48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i="1" smtClean="0"/>
              <a:t>Assuming that Alice Bob and Charlie submited the following assignments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26123" y="5728117"/>
            <a:ext cx="9468000" cy="407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i="1" smtClean="0">
                <a:solidFill>
                  <a:srgbClr val="0000FF"/>
                </a:solidFill>
              </a:rPr>
              <a:t>The Goal: </a:t>
            </a:r>
            <a:r>
              <a:rPr lang="en-US" sz="2400" b="1" i="1">
                <a:solidFill>
                  <a:srgbClr val="0000FF"/>
                </a:solidFill>
              </a:rPr>
              <a:t>T</a:t>
            </a:r>
            <a:r>
              <a:rPr lang="en-US" sz="2400" b="1" i="1" smtClean="0">
                <a:solidFill>
                  <a:srgbClr val="0000FF"/>
                </a:solidFill>
              </a:rPr>
              <a:t>o grade student assignments automatically</a:t>
            </a:r>
          </a:p>
        </p:txBody>
      </p:sp>
      <p:sp>
        <p:nvSpPr>
          <p:cNvPr id="14" name="Action Button: Back or Previous 13">
            <a:hlinkClick r:id="" action="ppaction://hlinkshowjump?jump=lastslideviewed" highlightClick="1"/>
          </p:cNvPr>
          <p:cNvSpPr/>
          <p:nvPr/>
        </p:nvSpPr>
        <p:spPr>
          <a:xfrm>
            <a:off x="11764296" y="6483480"/>
            <a:ext cx="265471" cy="24580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055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Step1: DTO - </a:t>
            </a:r>
            <a:r>
              <a:rPr lang="en-US" sz="3200" dirty="0"/>
              <a:t>Data Transfer </a:t>
            </a:r>
            <a:r>
              <a:rPr lang="en-US" sz="3200" dirty="0" smtClean="0"/>
              <a:t>Object</a:t>
            </a:r>
          </a:p>
          <a:p>
            <a:r>
              <a:rPr lang="en-US" sz="2200" dirty="0"/>
              <a:t>A</a:t>
            </a:r>
            <a:r>
              <a:rPr lang="en-US" sz="2200" dirty="0" smtClean="0"/>
              <a:t>n </a:t>
            </a:r>
            <a:r>
              <a:rPr lang="en-US" sz="2200" dirty="0"/>
              <a:t>object that represents a </a:t>
            </a:r>
            <a:r>
              <a:rPr lang="en-US" sz="2200" dirty="0" smtClean="0"/>
              <a:t>record of a table</a:t>
            </a:r>
            <a:endParaRPr lang="en-US" sz="2200" dirty="0"/>
          </a:p>
          <a:p>
            <a:r>
              <a:rPr lang="en-US" sz="2200" dirty="0"/>
              <a:t>DTOs are </a:t>
            </a:r>
            <a:r>
              <a:rPr lang="en-US" sz="2200" dirty="0" smtClean="0"/>
              <a:t>the “agreed” data structure between the DB and 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200" dirty="0" smtClean="0"/>
              <a:t>  the application </a:t>
            </a:r>
          </a:p>
          <a:p>
            <a:r>
              <a:rPr lang="en-US" sz="2200" dirty="0"/>
              <a:t>N</a:t>
            </a:r>
            <a:r>
              <a:rPr lang="en-US" sz="2200" dirty="0" smtClean="0"/>
              <a:t>aming convention </a:t>
            </a:r>
            <a:r>
              <a:rPr lang="en-US" sz="2200" b="1" dirty="0" smtClean="0"/>
              <a:t>- </a:t>
            </a:r>
            <a:r>
              <a:rPr lang="en-US" sz="2200" dirty="0" smtClean="0"/>
              <a:t>DTO </a:t>
            </a:r>
            <a:r>
              <a:rPr lang="en-US" sz="2200" dirty="0"/>
              <a:t>named '</a:t>
            </a:r>
            <a:r>
              <a:rPr lang="en-US" sz="2200" dirty="0" err="1"/>
              <a:t>Abc</a:t>
            </a:r>
            <a:r>
              <a:rPr lang="en-US" sz="2200" dirty="0"/>
              <a:t>' represents a table </a:t>
            </a:r>
            <a:r>
              <a:rPr lang="en-US" sz="2200" dirty="0" smtClean="0"/>
              <a:t>named </a:t>
            </a:r>
            <a:r>
              <a:rPr lang="en-US" sz="2200" dirty="0"/>
              <a:t>'</a:t>
            </a:r>
            <a:r>
              <a:rPr lang="en-US" sz="2200" dirty="0" err="1"/>
              <a:t>abcs</a:t>
            </a:r>
            <a:r>
              <a:rPr lang="en-US" sz="2200" dirty="0"/>
              <a:t>' </a:t>
            </a:r>
            <a:r>
              <a:rPr lang="en-US" sz="2200" dirty="0" smtClean="0"/>
              <a:t>(</a:t>
            </a:r>
            <a:r>
              <a:rPr lang="en-US" sz="2200" dirty="0"/>
              <a:t>or </a:t>
            </a:r>
            <a:r>
              <a:rPr lang="en-US" sz="2200" dirty="0" smtClean="0"/>
              <a:t>'</a:t>
            </a:r>
            <a:r>
              <a:rPr lang="en-US" sz="2200" dirty="0" err="1" smtClean="0"/>
              <a:t>Abcs</a:t>
            </a:r>
            <a:r>
              <a:rPr lang="en-US" sz="2200" dirty="0"/>
              <a:t>')</a:t>
            </a:r>
            <a:endParaRPr lang="en-US" sz="2200" dirty="0" smtClean="0"/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200" dirty="0" smtClean="0"/>
              <a:t>                                      - DTO’s data fields names are same as the table record</a:t>
            </a:r>
          </a:p>
          <a:p>
            <a:pPr marL="0" indent="0">
              <a:buNone/>
            </a:pPr>
            <a:endParaRPr lang="en-US" sz="2400" i="1" dirty="0" smtClean="0"/>
          </a:p>
          <a:p>
            <a:pPr marL="0" indent="0">
              <a:buNone/>
            </a:pPr>
            <a:endParaRPr lang="en-US" sz="2400" i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DTO</a:t>
            </a:r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95038" y="3477321"/>
            <a:ext cx="3090613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smtClean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Student(object):</a:t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2000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__init__(self, </a:t>
            </a:r>
            <a:endParaRPr lang="en-US" sz="200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                          id,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                         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name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    self.id = id</a:t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    self.name =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name</a:t>
            </a:r>
            <a:endParaRPr lang="en-US" altLang="he-I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4477" y="3477321"/>
            <a:ext cx="4395016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Assignment: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__(self, 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   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    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expected_output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self.expected_output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xpected_output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8319" y="3477321"/>
            <a:ext cx="4355691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Grade: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__init__(self, student_id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assignment_num, </a:t>
            </a:r>
            <a:endParaRPr lang="en-US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grade):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self.student_id = student_id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self.assignment_num = assignment_num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self.grade = grade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665" y="5876381"/>
            <a:ext cx="11552903" cy="501433"/>
          </a:xfrm>
          <a:prstGeom prst="rect">
            <a:avLst/>
          </a:prstGeom>
          <a:noFill/>
        </p:spPr>
        <p:txBody>
          <a:bodyPr wrap="square" lIns="0" rIns="0" rtlCol="1">
            <a:noAutofit/>
          </a:bodyPr>
          <a:lstStyle/>
          <a:p>
            <a:r>
              <a:rPr lang="en-US" sz="2400"/>
              <a:t>* </a:t>
            </a:r>
            <a:r>
              <a:rPr lang="en-US"/>
              <a:t>The __init__ method runs when an object of a class is instantiated. It is analogous to a </a:t>
            </a:r>
            <a:r>
              <a:rPr lang="en-US" i="1"/>
              <a:t>constructor</a:t>
            </a:r>
            <a:r>
              <a:rPr lang="en-US"/>
              <a:t> in C++ or Java</a:t>
            </a:r>
            <a:endParaRPr lang="en-US" i="1"/>
          </a:p>
          <a:p>
            <a:endParaRPr lang="he-I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961" y="193162"/>
            <a:ext cx="3034457" cy="1888999"/>
          </a:xfrm>
          <a:prstGeom prst="rect">
            <a:avLst/>
          </a:prstGeom>
        </p:spPr>
      </p:pic>
      <p:sp>
        <p:nvSpPr>
          <p:cNvPr id="10" name="Action Button: Back or Previous 9">
            <a:hlinkClick r:id="" action="ppaction://hlinkshowjump?jump=lastslideviewed" highlightClick="1"/>
          </p:cNvPr>
          <p:cNvSpPr/>
          <p:nvPr/>
        </p:nvSpPr>
        <p:spPr>
          <a:xfrm>
            <a:off x="11519452" y="6430617"/>
            <a:ext cx="298174" cy="26835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178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smtClean="0"/>
              <a:t>Step1: DTO - </a:t>
            </a:r>
            <a:r>
              <a:rPr lang="en-US" sz="3200"/>
              <a:t>Data Transfer </a:t>
            </a:r>
            <a:r>
              <a:rPr lang="en-US" sz="3200" smtClean="0"/>
              <a:t>Object</a:t>
            </a:r>
          </a:p>
          <a:p>
            <a:r>
              <a:rPr lang="en-US" sz="2200"/>
              <a:t>A</a:t>
            </a:r>
            <a:r>
              <a:rPr lang="en-US" sz="2200" smtClean="0"/>
              <a:t>n </a:t>
            </a:r>
            <a:r>
              <a:rPr lang="en-US" sz="2200"/>
              <a:t>object that represents a </a:t>
            </a:r>
            <a:r>
              <a:rPr lang="en-US" sz="2200" smtClean="0"/>
              <a:t>record of a table</a:t>
            </a:r>
            <a:endParaRPr lang="en-US" sz="2200"/>
          </a:p>
          <a:p>
            <a:r>
              <a:rPr lang="en-US" sz="2200"/>
              <a:t>DTOs are </a:t>
            </a:r>
            <a:r>
              <a:rPr lang="en-US" sz="2200" smtClean="0"/>
              <a:t>the “agreed” data structure between the DB and </a:t>
            </a:r>
          </a:p>
          <a:p>
            <a:pPr marL="0" indent="0">
              <a:buNone/>
            </a:pPr>
            <a:r>
              <a:rPr lang="en-US" sz="2200"/>
              <a:t> </a:t>
            </a:r>
            <a:r>
              <a:rPr lang="en-US" sz="2200" smtClean="0"/>
              <a:t>  the application </a:t>
            </a:r>
          </a:p>
          <a:p>
            <a:r>
              <a:rPr lang="en-US" sz="2200"/>
              <a:t>N</a:t>
            </a:r>
            <a:r>
              <a:rPr lang="en-US" sz="2200" smtClean="0"/>
              <a:t>aming convention </a:t>
            </a:r>
            <a:r>
              <a:rPr lang="en-US" sz="2200" b="1" smtClean="0"/>
              <a:t>- </a:t>
            </a:r>
            <a:r>
              <a:rPr lang="en-US" sz="2200" smtClean="0"/>
              <a:t>DTO </a:t>
            </a:r>
            <a:r>
              <a:rPr lang="en-US" sz="2200"/>
              <a:t>named 'Abc' represents a table </a:t>
            </a:r>
            <a:r>
              <a:rPr lang="en-US" sz="2200" smtClean="0"/>
              <a:t>named 'abcs‘</a:t>
            </a:r>
          </a:p>
          <a:p>
            <a:pPr marL="0" indent="0">
              <a:buNone/>
            </a:pPr>
            <a:r>
              <a:rPr lang="en-US" sz="2200"/>
              <a:t> </a:t>
            </a:r>
            <a:r>
              <a:rPr lang="en-US" sz="2200" smtClean="0"/>
              <a:t>                                      - DTO’s data fields names are same as the table record</a:t>
            </a:r>
          </a:p>
          <a:p>
            <a:pPr marL="0" indent="0">
              <a:buNone/>
            </a:pPr>
            <a:endParaRPr lang="en-US" sz="2400" i="1" smtClean="0"/>
          </a:p>
          <a:p>
            <a:pPr marL="0" indent="0">
              <a:buNone/>
            </a:pPr>
            <a:endParaRPr lang="en-US" sz="2400" i="1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DTO</a:t>
            </a:r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95038" y="3477321"/>
            <a:ext cx="3090613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smtClean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Student(object):</a:t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2000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__init__(self, </a:t>
            </a:r>
            <a:endParaRPr lang="en-US" sz="200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                          id,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                          </a:t>
            </a: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name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    self.id = id</a:t>
            </a:r>
            <a:br>
              <a:rPr lang="en-US" sz="200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2000">
                <a:solidFill>
                  <a:srgbClr val="000000"/>
                </a:solidFill>
                <a:ea typeface="Calibri"/>
                <a:cs typeface="Arial"/>
              </a:rPr>
              <a:t>        self.name = </a:t>
            </a:r>
            <a:r>
              <a:rPr lang="en-US" sz="2000" smtClean="0">
                <a:solidFill>
                  <a:srgbClr val="000000"/>
                </a:solidFill>
                <a:ea typeface="Calibri"/>
                <a:cs typeface="Arial"/>
              </a:rPr>
              <a:t>name</a:t>
            </a:r>
            <a:endParaRPr lang="en-US" altLang="he-I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4477" y="3477321"/>
            <a:ext cx="4395016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Assignment: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__(self, 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   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    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expected_output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self.expected_output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xpected_output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8319" y="3477321"/>
            <a:ext cx="4355691" cy="237311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Grade: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__init__(self, student_id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assignment_num, </a:t>
            </a:r>
            <a:endParaRPr lang="en-US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grade):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self.student_id = student_id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self.assignment_num = assignment_num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self.grade = grade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665" y="5876381"/>
            <a:ext cx="11552903" cy="501433"/>
          </a:xfrm>
          <a:prstGeom prst="rect">
            <a:avLst/>
          </a:prstGeom>
          <a:noFill/>
        </p:spPr>
        <p:txBody>
          <a:bodyPr wrap="square" lIns="0" rIns="0" rtlCol="1">
            <a:noAutofit/>
          </a:bodyPr>
          <a:lstStyle/>
          <a:p>
            <a:r>
              <a:rPr lang="en-US" sz="2400"/>
              <a:t>* </a:t>
            </a:r>
            <a:r>
              <a:rPr lang="en-US"/>
              <a:t>The __init__ method runs when an object of a class is instantiated. It is analogous to a </a:t>
            </a:r>
            <a:r>
              <a:rPr lang="en-US" i="1"/>
              <a:t>constructor</a:t>
            </a:r>
            <a:r>
              <a:rPr lang="en-US"/>
              <a:t> in C++ or Java</a:t>
            </a:r>
            <a:endParaRPr lang="en-US" i="1"/>
          </a:p>
          <a:p>
            <a:endParaRPr lang="he-I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961" y="193162"/>
            <a:ext cx="3034457" cy="1888999"/>
          </a:xfrm>
          <a:prstGeom prst="rect">
            <a:avLst/>
          </a:prstGeom>
        </p:spPr>
      </p:pic>
      <p:sp>
        <p:nvSpPr>
          <p:cNvPr id="10" name="Action Button: Back or Previous 9">
            <a:hlinkClick r:id="" action="ppaction://hlinkshowjump?jump=lastslideviewed" highlightClick="1"/>
          </p:cNvPr>
          <p:cNvSpPr/>
          <p:nvPr/>
        </p:nvSpPr>
        <p:spPr>
          <a:xfrm>
            <a:off x="11519452" y="6430617"/>
            <a:ext cx="298174" cy="26835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115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Step 2: DAO - </a:t>
            </a:r>
            <a:r>
              <a:rPr lang="en-US" sz="3200" dirty="0"/>
              <a:t>Data </a:t>
            </a:r>
            <a:r>
              <a:rPr lang="en-US" sz="3200" dirty="0" smtClean="0"/>
              <a:t>Access Object</a:t>
            </a:r>
          </a:p>
          <a:p>
            <a:r>
              <a:rPr lang="en-US" sz="2400" dirty="0" smtClean="0"/>
              <a:t>Object that </a:t>
            </a:r>
            <a:r>
              <a:rPr lang="en-US" sz="2400" dirty="0"/>
              <a:t>contains methods for retrieving and storing </a:t>
            </a:r>
            <a:r>
              <a:rPr lang="en-US" sz="2400" dirty="0" smtClean="0"/>
              <a:t>DTOs</a:t>
            </a:r>
          </a:p>
          <a:p>
            <a:r>
              <a:rPr lang="en-US" sz="2400" dirty="0" smtClean="0"/>
              <a:t>Usually a </a:t>
            </a:r>
            <a:r>
              <a:rPr lang="en-US" sz="2400" dirty="0"/>
              <a:t>DAO is responsible for a single </a:t>
            </a:r>
            <a:r>
              <a:rPr lang="en-US" sz="2400" dirty="0" smtClean="0"/>
              <a:t>table and uses a single DTO. </a:t>
            </a:r>
            <a:endParaRPr lang="en-US" sz="2400" dirty="0" smtClean="0"/>
          </a:p>
          <a:p>
            <a:r>
              <a:rPr lang="en-US" sz="2400" dirty="0" smtClean="0"/>
              <a:t>Usually DAO are singletons </a:t>
            </a:r>
            <a:r>
              <a:rPr lang="en-US" sz="1800" dirty="0" smtClean="0"/>
              <a:t> (You can think of it as a static object with static methods)</a:t>
            </a:r>
          </a:p>
          <a:p>
            <a:r>
              <a:rPr lang="en-US" sz="2400" dirty="0"/>
              <a:t>Naming convention </a:t>
            </a:r>
            <a:r>
              <a:rPr lang="en-US" sz="2400" b="1" dirty="0"/>
              <a:t>- </a:t>
            </a:r>
            <a:r>
              <a:rPr lang="en-US" sz="2400" dirty="0" smtClean="0"/>
              <a:t>DAO </a:t>
            </a:r>
            <a:r>
              <a:rPr lang="en-US" sz="2400" dirty="0"/>
              <a:t>named </a:t>
            </a:r>
            <a:r>
              <a:rPr lang="en-US" sz="2400" dirty="0" smtClean="0"/>
              <a:t>‘_</a:t>
            </a:r>
            <a:r>
              <a:rPr lang="en-US" sz="2400" dirty="0" err="1" smtClean="0"/>
              <a:t>Abcs'</a:t>
            </a:r>
            <a:r>
              <a:rPr lang="en-US" sz="2400" dirty="0" smtClean="0"/>
              <a:t> </a:t>
            </a:r>
            <a:r>
              <a:rPr lang="en-US" sz="2400" dirty="0"/>
              <a:t>represents a </a:t>
            </a:r>
            <a:r>
              <a:rPr lang="en-US" sz="2400" dirty="0" smtClean="0"/>
              <a:t>table </a:t>
            </a:r>
            <a:r>
              <a:rPr lang="en-US" sz="2400" dirty="0"/>
              <a:t>named </a:t>
            </a:r>
            <a:r>
              <a:rPr lang="en-US" sz="2400" dirty="0" smtClean="0"/>
              <a:t>'</a:t>
            </a:r>
            <a:r>
              <a:rPr lang="en-US" sz="2400" dirty="0" err="1" smtClean="0"/>
              <a:t>abcs</a:t>
            </a:r>
            <a:r>
              <a:rPr lang="en-US" sz="2400" dirty="0" smtClean="0"/>
              <a:t>‘ (Optional)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i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DAO</a:t>
            </a:r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246972" y="2683566"/>
            <a:ext cx="7456440" cy="354827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_Students: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__init__(self, conn):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self._conn =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conn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b="1">
                <a:solidFill>
                  <a:srgbClr val="000000"/>
                </a:solidFill>
                <a:ea typeface="Calibri"/>
                <a:cs typeface="Arial"/>
              </a:rPr>
              <a:t>insert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(self, student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   </a:t>
            </a:r>
            <a:r>
              <a:rPr lang="en-US" altLang="he-IL" i="1" smtClean="0">
                <a:solidFill>
                  <a:srgbClr val="0087FE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#Gets </a:t>
            </a:r>
            <a:r>
              <a:rPr lang="en-US" altLang="he-IL" i="1">
                <a:solidFill>
                  <a:srgbClr val="0087FE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</a:t>
            </a:r>
            <a:r>
              <a:rPr lang="en-US" altLang="he-IL" i="1" smtClean="0">
                <a:solidFill>
                  <a:srgbClr val="0087FE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Student </a:t>
            </a:r>
            <a:r>
              <a:rPr lang="en-US" altLang="he-IL" i="1">
                <a:solidFill>
                  <a:srgbClr val="0087FE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object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self._conn.execute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"INSERT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INTO students (id, name) VALUES (?,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?)”</a:t>
            </a:r>
            <a:r>
              <a:rPr lang="en-US" smtClean="0">
                <a:ea typeface="Calibri"/>
                <a:cs typeface="Arial"/>
              </a:rPr>
              <a:t>,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     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[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student.id, student.name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b="1">
                <a:solidFill>
                  <a:srgbClr val="000000"/>
                </a:solidFill>
                <a:ea typeface="Calibri"/>
                <a:cs typeface="Arial"/>
              </a:rPr>
              <a:t>find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(self, student_id):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c = self._conn.cursor()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c.execute(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"SELECT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id, name FROM students WHERE id =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?"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[student_id])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Student(*c.fetchone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()) </a:t>
            </a:r>
            <a:r>
              <a:rPr lang="en-US" altLang="he-IL" i="1" smtClean="0">
                <a:solidFill>
                  <a:srgbClr val="0087FE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#Returns a new Student object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504043" y="3294695"/>
            <a:ext cx="4482547" cy="2099168"/>
            <a:chOff x="7096437" y="3035853"/>
            <a:chExt cx="4482547" cy="2099168"/>
          </a:xfrm>
        </p:grpSpPr>
        <p:sp>
          <p:nvSpPr>
            <p:cNvPr id="14" name="Rectangle 13"/>
            <p:cNvSpPr/>
            <p:nvPr/>
          </p:nvSpPr>
          <p:spPr>
            <a:xfrm>
              <a:off x="7096437" y="3035853"/>
              <a:ext cx="4482547" cy="20991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166887" y="3194570"/>
              <a:ext cx="4332595" cy="1788914"/>
              <a:chOff x="3038168" y="3362632"/>
              <a:chExt cx="6483995" cy="2664542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3038168" y="3362632"/>
                <a:ext cx="6483995" cy="2664542"/>
                <a:chOff x="3038168" y="3362632"/>
                <a:chExt cx="6483995" cy="2664542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5666864" y="3362632"/>
                  <a:ext cx="288000" cy="2664542"/>
                </a:xfrm>
                <a:prstGeom prst="rect">
                  <a:avLst/>
                </a:prstGeom>
                <a:pattFill prst="ltUp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1" anchor="ctr"/>
                <a:lstStyle/>
                <a:p>
                  <a:pPr algn="ctr"/>
                  <a:r>
                    <a:rPr lang="en-US" sz="1600" smtClean="0">
                      <a:solidFill>
                        <a:schemeClr val="tx1"/>
                      </a:solidFill>
                    </a:rPr>
                    <a:t>Persistence  Layer</a:t>
                  </a:r>
                  <a:endParaRPr lang="he-IL" sz="16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lowchart: Magnetic Disk 20"/>
                <p:cNvSpPr/>
                <p:nvPr/>
              </p:nvSpPr>
              <p:spPr>
                <a:xfrm>
                  <a:off x="3038168" y="4095139"/>
                  <a:ext cx="983226" cy="1258529"/>
                </a:xfrm>
                <a:prstGeom prst="flowChartMagneticDisk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DB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lowchart: Multidocument 21"/>
                <p:cNvSpPr/>
                <p:nvPr/>
              </p:nvSpPr>
              <p:spPr>
                <a:xfrm>
                  <a:off x="7600334" y="4095139"/>
                  <a:ext cx="1921829" cy="1258529"/>
                </a:xfrm>
                <a:prstGeom prst="flowChartMultidocumen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1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Program(s)</a:t>
                  </a:r>
                  <a:endParaRPr lang="he-I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3" name="Straight Arrow Connector 22"/>
                <p:cNvCxnSpPr/>
                <p:nvPr/>
              </p:nvCxnSpPr>
              <p:spPr>
                <a:xfrm flipH="1">
                  <a:off x="6027175" y="4714574"/>
                  <a:ext cx="1533832" cy="0"/>
                </a:xfrm>
                <a:prstGeom prst="straightConnector1">
                  <a:avLst/>
                </a:prstGeom>
                <a:ln w="1270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/>
                <p:nvPr/>
              </p:nvCxnSpPr>
              <p:spPr>
                <a:xfrm flipH="1">
                  <a:off x="4060722" y="4714574"/>
                  <a:ext cx="1533832" cy="0"/>
                </a:xfrm>
                <a:prstGeom prst="straightConnector1">
                  <a:avLst/>
                </a:prstGeom>
                <a:ln w="1270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/>
                <p:nvPr/>
              </p:nvCxnSpPr>
              <p:spPr>
                <a:xfrm flipH="1">
                  <a:off x="4060722" y="4896480"/>
                  <a:ext cx="1533832" cy="0"/>
                </a:xfrm>
                <a:prstGeom prst="straightConnector1">
                  <a:avLst/>
                </a:prstGeom>
                <a:ln w="1270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/>
                <p:cNvCxnSpPr/>
                <p:nvPr/>
              </p:nvCxnSpPr>
              <p:spPr>
                <a:xfrm flipH="1">
                  <a:off x="6027175" y="4896480"/>
                  <a:ext cx="1533832" cy="0"/>
                </a:xfrm>
                <a:prstGeom prst="straightConnector1">
                  <a:avLst/>
                </a:prstGeom>
                <a:ln w="1270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/>
              <p:cNvSpPr txBox="1"/>
              <p:nvPr/>
            </p:nvSpPr>
            <p:spPr>
              <a:xfrm>
                <a:off x="6012427" y="4970490"/>
                <a:ext cx="1573160" cy="32089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DTO</a:t>
                </a:r>
                <a:endParaRPr lang="he-IL" sz="1400" i="1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012427" y="4334128"/>
                <a:ext cx="1573160" cy="32089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DTO</a:t>
                </a:r>
                <a:endParaRPr lang="he-IL" sz="1400" i="1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048491" y="4970490"/>
                <a:ext cx="1573160" cy="32089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SQL</a:t>
                </a:r>
                <a:endParaRPr lang="he-IL" sz="1400" i="1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48491" y="4334128"/>
                <a:ext cx="1573160" cy="32089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/>
                <a:r>
                  <a:rPr lang="en-US" sz="1400" i="1" smtClean="0"/>
                  <a:t>SQL</a:t>
                </a:r>
                <a:endParaRPr lang="he-IL" sz="1400" i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608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Persistence </a:t>
            </a:r>
            <a:r>
              <a:rPr lang="en-US" b="1" dirty="0" smtClean="0"/>
              <a:t>Layer – DAO (</a:t>
            </a:r>
            <a:r>
              <a:rPr lang="en-US" b="1" dirty="0" err="1" smtClean="0"/>
              <a:t>Cont</a:t>
            </a:r>
            <a:r>
              <a:rPr lang="en-US" b="1" dirty="0" smtClean="0"/>
              <a:t>…)</a:t>
            </a:r>
            <a:endParaRPr lang="he-IL" dirty="0"/>
          </a:p>
        </p:txBody>
      </p:sp>
      <p:sp>
        <p:nvSpPr>
          <p:cNvPr id="6" name="TextBox 5"/>
          <p:cNvSpPr txBox="1"/>
          <p:nvPr/>
        </p:nvSpPr>
        <p:spPr>
          <a:xfrm>
            <a:off x="5702709" y="619432"/>
            <a:ext cx="6390967" cy="5622341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_Grades: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__(self, conn):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self._conn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conn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insert(self, grade):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conn.execute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a typeface="Calibri"/>
                <a:cs typeface="Arial"/>
              </a:rPr>
              <a:t>           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"""INSERT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INTO grades (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student_id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, </a:t>
            </a:r>
            <a:endParaRPr lang="en-US" b="1" dirty="0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                                                    </a:t>
            </a:r>
            <a:r>
              <a:rPr lang="en-US" b="1" dirty="0" err="1" smtClean="0">
                <a:solidFill>
                  <a:srgbClr val="008000"/>
                </a:solidFill>
                <a:ea typeface="Calibri"/>
                <a:cs typeface="Arial"/>
              </a:rPr>
              <a:t>assignment_num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, </a:t>
            </a:r>
            <a:endParaRPr lang="en-US" b="1" dirty="0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                                                    grade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) </a:t>
            </a:r>
            <a:endParaRPr lang="en-US" b="1" dirty="0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              VALUES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(?, ?,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?)"""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[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grade.student_id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grade.assignment_num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grade.grade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find_all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(self):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c = 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conn.cursor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all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c.execute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"""SELECT 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student_id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, 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assignment_num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,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grade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                                  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FROM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grades"""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).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fetchall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[Grade(*row)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row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all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he-IL" dirty="0">
              <a:solidFill>
                <a:srgbClr val="000000"/>
              </a:solidFill>
              <a:latin typeface="Courier New" panose="02070309020205020404" pitchFamily="49" charset="0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   </a:t>
            </a:r>
            <a:r>
              <a:rPr lang="en-US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find(self,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sid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ass_num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  …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 </a:t>
            </a:r>
            <a:r>
              <a:rPr lang="en-US" sz="1600" i="1" dirty="0" err="1" smtClean="0">
                <a:solidFill>
                  <a:srgbClr val="0073BF"/>
                </a:solidFill>
                <a:ea typeface="Calibri"/>
                <a:cs typeface="Arial"/>
              </a:rPr>
              <a:t>Similare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 to _</a:t>
            </a:r>
            <a:r>
              <a:rPr lang="en-US" sz="1600" i="1" dirty="0" err="1" smtClean="0">
                <a:solidFill>
                  <a:srgbClr val="0073BF"/>
                </a:solidFill>
                <a:ea typeface="Calibri"/>
                <a:cs typeface="Arial"/>
              </a:rPr>
              <a:t>Assignment.find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 but uses</a:t>
            </a:r>
            <a:endParaRPr lang="en-US" i="1" dirty="0" smtClean="0">
              <a:solidFill>
                <a:srgbClr val="0073BF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                                                          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    both field-keys in the WHERE clause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</a:b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25" y="619433"/>
            <a:ext cx="5616000" cy="562234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_Assignments: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__init__(self, conn):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self._conn = conn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insert(self, assignment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self._conn.execute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0000"/>
                </a:solidFill>
                <a:ea typeface="Calibri"/>
                <a:cs typeface="Arial"/>
              </a:rPr>
              <a:t>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"""INSERT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INTO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assignments (num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, </a:t>
            </a:r>
            <a:endParaRPr lang="en-US" b="1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                                        expected_output)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VALUES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(?,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?)"""</a:t>
            </a:r>
            <a:r>
              <a:rPr lang="en-US" smtClean="0">
                <a:ea typeface="Calibri"/>
                <a:cs typeface="Arial"/>
              </a:rPr>
              <a:t>,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[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assignment.num, assignment.expected_output])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endParaRPr lang="en-US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find(self, 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c = self._conn.cursor()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c.execute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"""SELECT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num,expected_output </a:t>
            </a:r>
            <a:endParaRPr lang="en-US" b="1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     FROM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assignments WHERE num =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?"""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     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[num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])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Assignment(*c.fetchone())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Action Button: Back or Previous 6">
            <a:hlinkClick r:id="" action="ppaction://hlinkshowjump?jump=lastslideviewed" highlightClick="1"/>
          </p:cNvPr>
          <p:cNvSpPr/>
          <p:nvPr/>
        </p:nvSpPr>
        <p:spPr>
          <a:xfrm>
            <a:off x="11764296" y="6469625"/>
            <a:ext cx="265471" cy="24580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32020" y="6053491"/>
            <a:ext cx="473398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 * FROM grades</a:t>
            </a:r>
            <a:r>
              <a:rPr kumimoji="0" lang="en-US" altLang="en-US" sz="900" b="1" i="0" u="none" strike="noStrike" cap="none" normalizeH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student_id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=? AND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assignment_num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=?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0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smtClean="0"/>
              <a:t>Step 3: Repository </a:t>
            </a:r>
            <a:r>
              <a:rPr lang="en-US" sz="3200" b="1"/>
              <a:t>-</a:t>
            </a:r>
            <a:r>
              <a:rPr lang="en-US" sz="3200" smtClean="0"/>
              <a:t> Inter-Tables Metods</a:t>
            </a:r>
          </a:p>
          <a:p>
            <a:r>
              <a:rPr lang="en-US" sz="2400"/>
              <a:t>methods that aren't related to just a single </a:t>
            </a:r>
            <a:r>
              <a:rPr lang="en-US" sz="2400" smtClean="0"/>
              <a:t>table</a:t>
            </a:r>
          </a:p>
          <a:p>
            <a:pPr lvl="1"/>
            <a:r>
              <a:rPr lang="en-US" sz="2000" smtClean="0"/>
              <a:t>create_table methods</a:t>
            </a:r>
            <a:endParaRPr lang="en-US" sz="2000"/>
          </a:p>
          <a:p>
            <a:pPr lvl="1"/>
            <a:r>
              <a:rPr lang="en-US" sz="2000"/>
              <a:t>queries that span multiple tables </a:t>
            </a:r>
            <a:r>
              <a:rPr lang="en-US" sz="2000" smtClean="0"/>
              <a:t>(Exp: using join)</a:t>
            </a:r>
          </a:p>
          <a:p>
            <a:r>
              <a:rPr lang="en-US" sz="2400"/>
              <a:t>S</a:t>
            </a:r>
            <a:r>
              <a:rPr lang="en-US" sz="2400" smtClean="0"/>
              <a:t>imilar </a:t>
            </a:r>
            <a:r>
              <a:rPr lang="en-US" sz="2400"/>
              <a:t>to a DAO but </a:t>
            </a:r>
            <a:r>
              <a:rPr lang="en-US" sz="2400" smtClean="0"/>
              <a:t>manages </a:t>
            </a:r>
            <a:r>
              <a:rPr lang="en-US" sz="2400"/>
              <a:t>group of related DTOs</a:t>
            </a:r>
          </a:p>
          <a:p>
            <a:pPr marL="0" indent="0">
              <a:buNone/>
            </a:pPr>
            <a:endParaRPr lang="en-US" sz="2400" smtClean="0"/>
          </a:p>
          <a:p>
            <a:pPr marL="0" indent="0">
              <a:buNone/>
            </a:pPr>
            <a:endParaRPr lang="en-US" sz="2400" i="1" smtClean="0"/>
          </a:p>
          <a:p>
            <a:pPr marL="0" indent="0">
              <a:buNone/>
            </a:pPr>
            <a:endParaRPr lang="en-US" sz="2400" i="1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Repository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462115" y="2497395"/>
            <a:ext cx="5653550" cy="370462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Repository: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__(self):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self._conn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sqlite3.connect(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grades.db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self.students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_Students(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self._conn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self.assignments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_Assignments(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self._conn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self.grades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_Grades(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self._conn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_close(self):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conn.commit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self._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conn.close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os.remove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grades.db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#For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debug only!!!!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create_tables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(self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 …  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#See class material or 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3990" y="2497396"/>
            <a:ext cx="5508000" cy="261899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# Create the </a:t>
            </a:r>
            <a:r>
              <a:rPr lang="en-US" i="1">
                <a:solidFill>
                  <a:srgbClr val="0073BF"/>
                </a:solidFill>
                <a:ea typeface="Calibri"/>
                <a:cs typeface="Arial"/>
              </a:rPr>
              <a:t>repository singleton</a:t>
            </a:r>
            <a:br>
              <a:rPr lang="en-US" i="1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repo = _Repository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# Register the _close() method to be called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# at exit</a:t>
            </a:r>
            <a:r>
              <a:rPr lang="en-US" i="1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i="1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atexit.register(repo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._close)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Action Button: Forward or Next 1">
            <a:hlinkClick r:id="rId2" action="ppaction://hlinksldjump" highlightClick="1"/>
          </p:cNvPr>
          <p:cNvSpPr/>
          <p:nvPr/>
        </p:nvSpPr>
        <p:spPr>
          <a:xfrm>
            <a:off x="5456904" y="5929493"/>
            <a:ext cx="216309" cy="21633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Action Button: Back or Previous 7">
            <a:hlinkClick r:id="" action="ppaction://hlinkshowjump?jump=lastslideviewed" highlightClick="1"/>
          </p:cNvPr>
          <p:cNvSpPr/>
          <p:nvPr/>
        </p:nvSpPr>
        <p:spPr>
          <a:xfrm>
            <a:off x="11764296" y="6483480"/>
            <a:ext cx="265471" cy="24580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50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smtClean="0"/>
              <a:t>Repository –</a:t>
            </a:r>
            <a:r>
              <a:rPr lang="en-US" sz="3200" smtClean="0"/>
              <a:t> Create the tables</a:t>
            </a:r>
          </a:p>
          <a:p>
            <a:pPr marL="0" indent="0">
              <a:buNone/>
            </a:pPr>
            <a:endParaRPr lang="en-US" sz="2400" smtClean="0"/>
          </a:p>
          <a:p>
            <a:pPr marL="0" indent="0">
              <a:buNone/>
            </a:pPr>
            <a:endParaRPr lang="en-US" sz="2400" i="1" smtClean="0"/>
          </a:p>
          <a:p>
            <a:pPr marL="0" indent="0">
              <a:buNone/>
            </a:pPr>
            <a:endParaRPr lang="en-US" sz="2400" i="1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- Repository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776746" y="816077"/>
            <a:ext cx="10569679" cy="532908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create_tables(self):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self._conn.executescript(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"""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CREATE TABLE students (id   INT   PRIMARY KEY,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name TEXT  NOT NULL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);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CREATE TABLE assignments (num             INT     PRIMARY KEY,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expected_output TEXT    NOT NULL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);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CREATE TABLE grades (student_id      INT     NOT NULL,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assignment_num  INT     NOT NULL,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grade           INT     NOT NULL,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FOREIGN KEY(student_id)     REFERENCES students(id),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FOREIGN KEY(assignment_num) REFERENCES assignments(num),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            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PRIMARY KEY (student_id, assignment_num)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        );</a:t>
            </a:r>
            <a:br>
              <a:rPr lang="en-US" b="1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   """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Action Button: Forward or Next 7">
            <a:hlinkClick r:id="" action="ppaction://hlinkshowjump?jump=lastslideviewed" highlightClick="1"/>
          </p:cNvPr>
          <p:cNvSpPr/>
          <p:nvPr/>
        </p:nvSpPr>
        <p:spPr>
          <a:xfrm>
            <a:off x="10903975" y="5761692"/>
            <a:ext cx="216309" cy="21633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314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94960" y="330200"/>
            <a:ext cx="11865877" cy="48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smtClean="0"/>
              <a:t>Step 4: The program </a:t>
            </a:r>
            <a:r>
              <a:rPr lang="en-US" sz="2400" smtClean="0"/>
              <a:t>(the logic) – Using </a:t>
            </a:r>
            <a:r>
              <a:rPr lang="en-US" sz="2400"/>
              <a:t>the persistence </a:t>
            </a:r>
            <a:r>
              <a:rPr lang="en-US" sz="2400" smtClean="0"/>
              <a:t>layer to grade </a:t>
            </a:r>
            <a:r>
              <a:rPr lang="en-US" sz="2400"/>
              <a:t>students </a:t>
            </a:r>
            <a:r>
              <a:rPr lang="en-US" sz="2400" smtClean="0"/>
              <a:t>assignments</a:t>
            </a:r>
            <a:r>
              <a:rPr lang="en-US" sz="2400" i="1" smtClean="0"/>
              <a:t>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Using Persistence Layer </a:t>
            </a:r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393281" y="786583"/>
            <a:ext cx="5508000" cy="5486398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grade(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ass_dir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#Get the expected output of </a:t>
            </a:r>
            <a:r>
              <a:rPr lang="en-US" sz="1600" i="1" dirty="0" err="1">
                <a:solidFill>
                  <a:srgbClr val="0073BF"/>
                </a:solidFill>
                <a:ea typeface="Calibri"/>
                <a:cs typeface="Arial"/>
              </a:rPr>
              <a:t>assignment_num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assignment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repo.assignments.find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expected_output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assignment.expected_output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ass_file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os.listdir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ass_dir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#Assuming students file name consists od studentId.py</a:t>
            </a:r>
            <a:b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       #Get student id from the file name</a:t>
            </a:r>
            <a:b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   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student_id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ext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os.path.splitext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ass_file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if not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ext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==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".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py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"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continue</a:t>
            </a:r>
            <a:br>
              <a:rPr lang="en-US" b="1" dirty="0">
                <a:solidFill>
                  <a:srgbClr val="000080"/>
                </a:solidFill>
                <a:ea typeface="Calibri"/>
                <a:cs typeface="Arial"/>
              </a:rPr>
            </a:b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      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#Load the code</a:t>
            </a:r>
            <a:b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imp.load_source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'test'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               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ass_dir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+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'/'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+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ass_file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#Creates a DTO Grade object with 0 as default</a:t>
            </a:r>
            <a:b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student_grade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Grade(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student_id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0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if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code.run_assignment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 ==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expected_output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student_grade.grade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100</a:t>
            </a:r>
            <a:br>
              <a:rPr lang="en-US" dirty="0">
                <a:solidFill>
                  <a:srgbClr val="0000FF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FF"/>
                </a:solidFill>
                <a:ea typeface="Calibri"/>
                <a:cs typeface="Arial"/>
              </a:rPr>
              <a:t>        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#Update the DB with student grade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repo.grades.insert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student_grade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66494" y="2664541"/>
            <a:ext cx="5508000" cy="360844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sz="1600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main():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repo.create_tables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#Insert the assignment, </a:t>
            </a:r>
            <a:r>
              <a:rPr lang="en-US" sz="1400" i="1" dirty="0" err="1">
                <a:solidFill>
                  <a:srgbClr val="0073BF"/>
                </a:solidFill>
                <a:ea typeface="Calibri"/>
                <a:cs typeface="Arial"/>
              </a:rPr>
              <a:t>i.e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 its number and its expected output</a:t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repo.assignments.insert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(Assignment(</a:t>
            </a:r>
            <a:r>
              <a:rPr lang="en-US" sz="1600" dirty="0">
                <a:solidFill>
                  <a:srgbClr val="0000FF"/>
                </a:solidFill>
                <a:ea typeface="Calibri"/>
                <a:cs typeface="Arial"/>
              </a:rPr>
              <a:t>1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'Main'</a:t>
            </a:r>
            <a:r>
              <a:rPr lang="en-US" sz="1600" dirty="0" smtClean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#Insert the students</a:t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repo.students.insert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(Student(</a:t>
            </a:r>
            <a:r>
              <a:rPr lang="en-US" sz="1600" dirty="0">
                <a:solidFill>
                  <a:srgbClr val="0000FF"/>
                </a:solidFill>
                <a:ea typeface="Calibri"/>
                <a:cs typeface="Arial"/>
              </a:rPr>
              <a:t>1111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'Alice'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repo.students.insert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(Student(</a:t>
            </a:r>
            <a:r>
              <a:rPr lang="en-US" sz="1600" dirty="0">
                <a:solidFill>
                  <a:srgbClr val="0000FF"/>
                </a:solidFill>
                <a:ea typeface="Calibri"/>
                <a:cs typeface="Arial"/>
              </a:rPr>
              <a:t>2222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'Bob'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repo.students.insert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(Student(</a:t>
            </a:r>
            <a:r>
              <a:rPr lang="en-US" sz="1600" dirty="0">
                <a:solidFill>
                  <a:srgbClr val="0000FF"/>
                </a:solidFill>
                <a:ea typeface="Calibri"/>
                <a:cs typeface="Arial"/>
              </a:rPr>
              <a:t>3333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'Charlie'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#Call the grade procedure and then print out the grades</a:t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grade(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"C:/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Hagit/bgu/SPL/tirgul13/tr13/assignments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Arial"/>
              </a:rPr>
              <a:t>1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print_grades</a:t>
            </a:r>
            <a:r>
              <a:rPr lang="en-US" sz="1600" dirty="0" smtClean="0">
                <a:solidFill>
                  <a:srgbClr val="000000"/>
                </a:solidFill>
                <a:ea typeface="Calibri"/>
                <a:cs typeface="Arial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Entry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point to the module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main()</a:t>
            </a:r>
            <a:endParaRPr lang="en-US" alt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66494" y="786583"/>
            <a:ext cx="5508000" cy="175014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print_grades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print </a:t>
            </a:r>
            <a:r>
              <a:rPr lang="en-US" sz="1600" b="1" dirty="0" smtClean="0">
                <a:solidFill>
                  <a:srgbClr val="000080"/>
                </a:solidFill>
                <a:ea typeface="Calibri"/>
                <a:cs typeface="Arial"/>
              </a:rPr>
              <a:t>(</a:t>
            </a:r>
            <a:r>
              <a:rPr lang="en-US" sz="1600" b="1" dirty="0" smtClean="0">
                <a:solidFill>
                  <a:srgbClr val="008000"/>
                </a:solidFill>
                <a:ea typeface="Calibri"/>
                <a:cs typeface="Arial"/>
              </a:rPr>
              <a:t>'grades:‘)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  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grade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repo.grades.find_all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    student =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repo.students.find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grade.student_id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sz="1600" b="1" dirty="0">
                <a:solidFill>
                  <a:srgbClr val="000080"/>
                </a:solidFill>
                <a:ea typeface="Calibri"/>
                <a:cs typeface="Arial"/>
              </a:rPr>
              <a:t>print 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sz="1600" b="1" dirty="0">
                <a:solidFill>
                  <a:srgbClr val="008000"/>
                </a:solidFill>
                <a:ea typeface="Calibri"/>
                <a:cs typeface="Arial"/>
              </a:rPr>
              <a:t>"grade on assignment %d of student %-7s is %d" 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%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               (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grade.assignment_num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, student.name, </a:t>
            </a:r>
            <a:r>
              <a:rPr lang="en-US" sz="1600" dirty="0" err="1">
                <a:solidFill>
                  <a:srgbClr val="000000"/>
                </a:solidFill>
                <a:ea typeface="Calibri"/>
                <a:cs typeface="Arial"/>
              </a:rPr>
              <a:t>grade.grade</a:t>
            </a: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sz="1600" dirty="0">
                <a:solidFill>
                  <a:srgbClr val="000000"/>
                </a:solidFill>
                <a:ea typeface="Calibri"/>
                <a:cs typeface="Arial"/>
              </a:rPr>
            </a:br>
            <a:endParaRPr lang="en-US" alt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ction Button: Forward or Next 2">
            <a:hlinkClick r:id="rId2" action="ppaction://hlinksldjump" highlightClick="1"/>
          </p:cNvPr>
          <p:cNvSpPr/>
          <p:nvPr/>
        </p:nvSpPr>
        <p:spPr>
          <a:xfrm>
            <a:off x="5446643" y="1661654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Action Button: Forward or Next 9">
            <a:hlinkClick r:id="rId3" action="ppaction://hlinksldjump" highlightClick="1"/>
          </p:cNvPr>
          <p:cNvSpPr/>
          <p:nvPr/>
        </p:nvSpPr>
        <p:spPr>
          <a:xfrm>
            <a:off x="5449958" y="1406555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Action Button: Forward or Next 10">
            <a:hlinkClick r:id="rId2" action="ppaction://hlinksldjump" highlightClick="1"/>
          </p:cNvPr>
          <p:cNvSpPr/>
          <p:nvPr/>
        </p:nvSpPr>
        <p:spPr>
          <a:xfrm>
            <a:off x="5446643" y="4917092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Action Button: Forward or Next 11">
            <a:hlinkClick r:id="rId3" action="ppaction://hlinksldjump" highlightClick="1"/>
          </p:cNvPr>
          <p:cNvSpPr/>
          <p:nvPr/>
        </p:nvSpPr>
        <p:spPr>
          <a:xfrm>
            <a:off x="5446643" y="5999075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20" name="Group 19"/>
          <p:cNvGrpSpPr/>
          <p:nvPr/>
        </p:nvGrpSpPr>
        <p:grpSpPr>
          <a:xfrm>
            <a:off x="569844" y="1621898"/>
            <a:ext cx="9637643" cy="2135093"/>
            <a:chOff x="569844" y="1621898"/>
            <a:chExt cx="9637643" cy="2135093"/>
          </a:xfrm>
        </p:grpSpPr>
        <p:sp>
          <p:nvSpPr>
            <p:cNvPr id="7" name="Oval 6"/>
            <p:cNvSpPr/>
            <p:nvPr/>
          </p:nvSpPr>
          <p:spPr>
            <a:xfrm>
              <a:off x="9511749" y="3379305"/>
              <a:ext cx="695738" cy="37768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Oval 12"/>
            <p:cNvSpPr/>
            <p:nvPr/>
          </p:nvSpPr>
          <p:spPr>
            <a:xfrm>
              <a:off x="569844" y="1621898"/>
              <a:ext cx="1765852" cy="37768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15" name="Elbow Connector 14"/>
            <p:cNvCxnSpPr>
              <a:stCxn id="13" idx="5"/>
              <a:endCxn id="7" idx="1"/>
            </p:cNvCxnSpPr>
            <p:nvPr/>
          </p:nvCxnSpPr>
          <p:spPr>
            <a:xfrm rot="16200000" flipH="1">
              <a:off x="5100194" y="-1078828"/>
              <a:ext cx="1490343" cy="7536544"/>
            </a:xfrm>
            <a:prstGeom prst="bentConnector3">
              <a:avLst>
                <a:gd name="adj1" fmla="val 41330"/>
              </a:avLst>
            </a:prstGeom>
            <a:ln w="127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Action Button: Forward or Next 15">
            <a:hlinkClick r:id="rId4" action="ppaction://hlinksldjump" highlightClick="1"/>
          </p:cNvPr>
          <p:cNvSpPr/>
          <p:nvPr/>
        </p:nvSpPr>
        <p:spPr>
          <a:xfrm>
            <a:off x="5446643" y="3000775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Action Button: Forward or Next 16">
            <a:hlinkClick r:id="rId4" action="ppaction://hlinksldjump" highlightClick="1"/>
          </p:cNvPr>
          <p:cNvSpPr/>
          <p:nvPr/>
        </p:nvSpPr>
        <p:spPr>
          <a:xfrm>
            <a:off x="5446643" y="5201575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Action Button: Forward or Next 17">
            <a:hlinkClick r:id="rId5" action="ppaction://hlinksldjump" highlightClick="1"/>
          </p:cNvPr>
          <p:cNvSpPr/>
          <p:nvPr/>
        </p:nvSpPr>
        <p:spPr>
          <a:xfrm>
            <a:off x="8411516" y="2937791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093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" y="803"/>
            <a:ext cx="12160251" cy="6858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40786" y="3824749"/>
            <a:ext cx="5732206" cy="2222090"/>
            <a:chOff x="540786" y="3824749"/>
            <a:chExt cx="5732206" cy="2222090"/>
          </a:xfrm>
        </p:grpSpPr>
        <p:sp>
          <p:nvSpPr>
            <p:cNvPr id="6" name="TextBox 5"/>
            <p:cNvSpPr txBox="1"/>
            <p:nvPr/>
          </p:nvSpPr>
          <p:spPr>
            <a:xfrm>
              <a:off x="540786" y="3824749"/>
              <a:ext cx="573220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b="1" smtClean="0">
                  <a:solidFill>
                    <a:srgbClr val="C00000"/>
                  </a:solidFill>
                </a:rPr>
                <a:t>OUTPUT</a:t>
              </a:r>
              <a:endParaRPr lang="he-IL" b="1">
                <a:solidFill>
                  <a:srgbClr val="C00000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40786" y="4119716"/>
              <a:ext cx="5732206" cy="1927123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604052" y="5377071"/>
            <a:ext cx="590384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/>
              <a:t>Because Bob’s assignment returns “main” and not “Main”</a:t>
            </a:r>
            <a:endParaRPr lang="he-IL" dirty="0"/>
          </a:p>
        </p:txBody>
      </p:sp>
      <p:sp>
        <p:nvSpPr>
          <p:cNvPr id="10" name="Action Button: Forward or Next 9">
            <a:hlinkClick r:id="rId4" action="ppaction://hlinksldjump" highlightClick="1"/>
          </p:cNvPr>
          <p:cNvSpPr/>
          <p:nvPr/>
        </p:nvSpPr>
        <p:spPr>
          <a:xfrm>
            <a:off x="8221958" y="5448346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939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15" y="49165"/>
            <a:ext cx="11738056" cy="678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smtClean="0"/>
              <a:t>UPDATE query </a:t>
            </a:r>
            <a:r>
              <a:rPr lang="en-US" sz="3200" smtClean="0"/>
              <a:t>– To Support appeals </a:t>
            </a:r>
            <a:r>
              <a:rPr lang="en-US" sz="3200" smtClean="0">
                <a:sym typeface="Wingdings" panose="05000000000000000000" pitchFamily="2" charset="2"/>
              </a:rPr>
              <a:t></a:t>
            </a:r>
            <a:endParaRPr lang="en-US" sz="3200"/>
          </a:p>
          <a:p>
            <a:pPr marL="0" indent="0">
              <a:buNone/>
            </a:pPr>
            <a:endParaRPr lang="en-US" sz="2400" smtClean="0"/>
          </a:p>
          <a:p>
            <a:pPr marL="0" indent="0">
              <a:buNone/>
            </a:pPr>
            <a:endParaRPr lang="en-US" sz="2400" i="1" smtClean="0"/>
          </a:p>
          <a:p>
            <a:pPr marL="0" indent="0">
              <a:buNone/>
            </a:pPr>
            <a:endParaRPr lang="en-US" sz="2400" i="1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– Extra fetures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172505" y="599776"/>
            <a:ext cx="6154998" cy="3412481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_Grades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:    </a:t>
            </a: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#DAO of Grades</a:t>
            </a:r>
            <a:endParaRPr lang="en-US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__init__(self, conn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 ... </a:t>
            </a:r>
            <a:r>
              <a:rPr lang="en-US" i="1">
                <a:solidFill>
                  <a:srgbClr val="0073BF"/>
                </a:solidFill>
                <a:ea typeface="Calibri"/>
                <a:cs typeface="Arial"/>
              </a:rPr>
              <a:t># See </a:t>
            </a: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slide </a:t>
            </a:r>
            <a:endParaRPr lang="en-US" sz="1600" i="1" smtClean="0">
              <a:solidFill>
                <a:srgbClr val="0073BF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insert(self, grade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...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smtClean="0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find(self,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sid, ass_num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...</a:t>
            </a:r>
            <a:endParaRPr lang="en-US" sz="1600" i="1" smtClean="0">
              <a:solidFill>
                <a:srgbClr val="0073BF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b="1" smtClean="0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find_all(self): ...             </a:t>
            </a:r>
            <a:endParaRPr lang="en-US" sz="1600" i="1" smtClean="0">
              <a:solidFill>
                <a:srgbClr val="0073BF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i="1" smtClean="0">
              <a:solidFill>
                <a:srgbClr val="0073BF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i="1">
                <a:solidFill>
                  <a:srgbClr val="0073BF"/>
                </a:solidFill>
                <a:ea typeface="Calibri"/>
                <a:cs typeface="Arial"/>
              </a:rPr>
              <a:t>#A method to update a student's assignment grade</a:t>
            </a: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smtClean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update(self, grade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self._conn.execute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""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"</a:t>
            </a:r>
            <a:endParaRPr lang="en-US" b="1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UPDATE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grades SET grade=(?) </a:t>
            </a:r>
            <a:endParaRPr lang="en-US" b="1" smtClean="0">
              <a:solidFill>
                <a:srgbClr val="008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WHERE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student_id=(?) AND assignment_num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=(?)""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"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[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grade.grade, grade.student_id, grade.assignment_num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475" y="4012258"/>
            <a:ext cx="4945626" cy="1754326"/>
          </a:xfrm>
          <a:prstGeom prst="rect">
            <a:avLst/>
          </a:prstGeom>
          <a:noFill/>
        </p:spPr>
        <p:txBody>
          <a:bodyPr wrap="square" lIns="0" rIns="0" rtlCol="1">
            <a:spAutoFit/>
          </a:bodyPr>
          <a:lstStyle/>
          <a:p>
            <a:r>
              <a:rPr lang="en-US" b="1" smtClean="0">
                <a:solidFill>
                  <a:schemeClr val="accent1"/>
                </a:solidFill>
              </a:rPr>
              <a:t>Q: Where should this code be added?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DTO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DAO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Repository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The program (The logic</a:t>
            </a:r>
            <a:r>
              <a:rPr lang="en-US" smtClean="0">
                <a:solidFill>
                  <a:schemeClr val="accent1"/>
                </a:solidFill>
              </a:rPr>
              <a:t>)</a:t>
            </a: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82467" y="4637421"/>
            <a:ext cx="288000" cy="252000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290499" y="5526411"/>
            <a:ext cx="4866966" cy="504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tIns="0" bIns="0">
            <a:noAutofit/>
          </a:bodyPr>
          <a:lstStyle/>
          <a:p>
            <a:r>
              <a:rPr lang="en-US" sz="1600">
                <a:solidFill>
                  <a:srgbClr val="C00000"/>
                </a:solidFill>
              </a:rPr>
              <a:t>Tips: </a:t>
            </a:r>
            <a:r>
              <a:rPr lang="en-US" sz="1600" smtClean="0">
                <a:solidFill>
                  <a:srgbClr val="C00000"/>
                </a:solidFill>
              </a:rPr>
              <a:t>UPDATE, that involves only one table, most likely               </a:t>
            </a:r>
          </a:p>
          <a:p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smtClean="0">
                <a:solidFill>
                  <a:srgbClr val="C00000"/>
                </a:solidFill>
              </a:rPr>
              <a:t>         should be written in the DAO of that table</a:t>
            </a:r>
            <a:endParaRPr lang="he-IL" sz="160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4480" y="580125"/>
            <a:ext cx="5507408" cy="2379395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Update Bob grade</a:t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main():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... 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#Same as before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sgrade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repo.grades.find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2222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1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  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sgrade.grade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= 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99</a:t>
            </a:r>
            <a:br>
              <a:rPr lang="en-US" dirty="0">
                <a:solidFill>
                  <a:srgbClr val="0000FF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FF"/>
                </a:solidFill>
                <a:ea typeface="Calibri"/>
                <a:cs typeface="Arial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repo.grades.update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print (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"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\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n</a:t>
            </a:r>
            <a:r>
              <a:rPr lang="en-US" b="1" dirty="0" err="1">
                <a:solidFill>
                  <a:srgbClr val="008000"/>
                </a:solidFill>
                <a:ea typeface="Calibri"/>
                <a:cs typeface="Arial"/>
              </a:rPr>
              <a:t>grades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after appeals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\n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-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---------------------------“)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better_print_grades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()  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#On next slide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500222" y="5135705"/>
            <a:ext cx="4357889" cy="1164295"/>
            <a:chOff x="540786" y="3824749"/>
            <a:chExt cx="4698376" cy="1756057"/>
          </a:xfrm>
        </p:grpSpPr>
        <p:sp>
          <p:nvSpPr>
            <p:cNvPr id="21" name="TextBox 20"/>
            <p:cNvSpPr txBox="1"/>
            <p:nvPr/>
          </p:nvSpPr>
          <p:spPr>
            <a:xfrm>
              <a:off x="540786" y="3824749"/>
              <a:ext cx="4693365" cy="3806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tIns="0" bIns="0" rtlCol="1">
              <a:noAutofit/>
            </a:bodyPr>
            <a:lstStyle/>
            <a:p>
              <a:r>
                <a:rPr lang="en-US" b="1" smtClean="0">
                  <a:solidFill>
                    <a:srgbClr val="C00000"/>
                  </a:solidFill>
                </a:rPr>
                <a:t>OUTPUT</a:t>
              </a:r>
              <a:endParaRPr lang="he-IL" b="1">
                <a:solidFill>
                  <a:srgbClr val="C0000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45797" y="4223374"/>
              <a:ext cx="4693365" cy="135743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500222" y="2996525"/>
            <a:ext cx="5511666" cy="2099168"/>
            <a:chOff x="6593184" y="3016189"/>
            <a:chExt cx="5323512" cy="2099168"/>
          </a:xfrm>
        </p:grpSpPr>
        <p:grpSp>
          <p:nvGrpSpPr>
            <p:cNvPr id="2" name="Group 1"/>
            <p:cNvGrpSpPr/>
            <p:nvPr/>
          </p:nvGrpSpPr>
          <p:grpSpPr>
            <a:xfrm>
              <a:off x="6593184" y="3016189"/>
              <a:ext cx="5323512" cy="2099168"/>
              <a:chOff x="6593184" y="3035853"/>
              <a:chExt cx="5323512" cy="2099168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7166887" y="3194570"/>
                <a:ext cx="4332595" cy="1891560"/>
                <a:chOff x="3038168" y="3362632"/>
                <a:chExt cx="6483995" cy="2817430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3038168" y="3362632"/>
                  <a:ext cx="6483995" cy="2664542"/>
                  <a:chOff x="3038168" y="3362632"/>
                  <a:chExt cx="6483995" cy="2664542"/>
                </a:xfrm>
              </p:grpSpPr>
              <p:sp>
                <p:nvSpPr>
                  <p:cNvPr id="48" name="Rectangle 47"/>
                  <p:cNvSpPr/>
                  <p:nvPr/>
                </p:nvSpPr>
                <p:spPr>
                  <a:xfrm>
                    <a:off x="5666864" y="3362632"/>
                    <a:ext cx="288000" cy="2664542"/>
                  </a:xfrm>
                  <a:prstGeom prst="rect">
                    <a:avLst/>
                  </a:prstGeom>
                  <a:pattFill prst="ltUpDiag">
                    <a:fgClr>
                      <a:schemeClr val="accent1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lIns="0" tIns="0" rIns="0" bIns="0" rtlCol="1" anchor="ctr"/>
                  <a:lstStyle/>
                  <a:p>
                    <a:pPr algn="ctr"/>
                    <a:r>
                      <a:rPr lang="en-US" sz="1600" smtClean="0">
                        <a:solidFill>
                          <a:schemeClr val="tx1"/>
                        </a:solidFill>
                      </a:rPr>
                      <a:t>Persistence  Layer</a:t>
                    </a:r>
                    <a:endParaRPr lang="he-IL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Flowchart: Magnetic Disk 48"/>
                  <p:cNvSpPr/>
                  <p:nvPr/>
                </p:nvSpPr>
                <p:spPr>
                  <a:xfrm>
                    <a:off x="3038168" y="4095139"/>
                    <a:ext cx="983226" cy="1258529"/>
                  </a:xfrm>
                  <a:prstGeom prst="flowChartMagneticDisk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r>
                      <a:rPr lang="en-US" smtClean="0">
                        <a:solidFill>
                          <a:schemeClr val="tx1"/>
                        </a:solidFill>
                      </a:rPr>
                      <a:t>DB</a:t>
                    </a:r>
                    <a:endParaRPr lang="he-IL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Flowchart: Multidocument 49"/>
                  <p:cNvSpPr/>
                  <p:nvPr/>
                </p:nvSpPr>
                <p:spPr>
                  <a:xfrm>
                    <a:off x="7600334" y="4095139"/>
                    <a:ext cx="1921829" cy="1258529"/>
                  </a:xfrm>
                  <a:prstGeom prst="flowChartMultidocument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1" anchor="ctr"/>
                  <a:lstStyle/>
                  <a:p>
                    <a:pPr algn="ctr"/>
                    <a:r>
                      <a:rPr lang="en-US" smtClean="0">
                        <a:solidFill>
                          <a:schemeClr val="tx1"/>
                        </a:solidFill>
                      </a:rPr>
                      <a:t>Program(s)</a:t>
                    </a:r>
                    <a:endParaRPr lang="he-IL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1" name="Straight Arrow Connector 50"/>
                  <p:cNvCxnSpPr/>
                  <p:nvPr/>
                </p:nvCxnSpPr>
                <p:spPr>
                  <a:xfrm flipH="1">
                    <a:off x="6027175" y="4714574"/>
                    <a:ext cx="1533832" cy="0"/>
                  </a:xfrm>
                  <a:prstGeom prst="straightConnector1">
                    <a:avLst/>
                  </a:prstGeom>
                  <a:ln w="12700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/>
                  <p:cNvCxnSpPr/>
                  <p:nvPr/>
                </p:nvCxnSpPr>
                <p:spPr>
                  <a:xfrm flipH="1">
                    <a:off x="4060722" y="4714574"/>
                    <a:ext cx="1533832" cy="0"/>
                  </a:xfrm>
                  <a:prstGeom prst="straightConnector1">
                    <a:avLst/>
                  </a:prstGeom>
                  <a:ln w="12700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Arrow Connector 52"/>
                  <p:cNvCxnSpPr/>
                  <p:nvPr/>
                </p:nvCxnSpPr>
                <p:spPr>
                  <a:xfrm flipH="1">
                    <a:off x="4060722" y="4896480"/>
                    <a:ext cx="1533832" cy="0"/>
                  </a:xfrm>
                  <a:prstGeom prst="straightConnector1">
                    <a:avLst/>
                  </a:prstGeom>
                  <a:ln w="12700"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/>
                  <p:cNvCxnSpPr/>
                  <p:nvPr/>
                </p:nvCxnSpPr>
                <p:spPr>
                  <a:xfrm flipH="1">
                    <a:off x="6027175" y="4896480"/>
                    <a:ext cx="1533832" cy="0"/>
                  </a:xfrm>
                  <a:prstGeom prst="straightConnector1">
                    <a:avLst/>
                  </a:prstGeom>
                  <a:ln w="12700"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" name="TextBox 43"/>
                <p:cNvSpPr txBox="1"/>
                <p:nvPr/>
              </p:nvSpPr>
              <p:spPr>
                <a:xfrm>
                  <a:off x="5997678" y="4896471"/>
                  <a:ext cx="1573160" cy="12835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 algn="ctr"/>
                  <a:r>
                    <a:rPr lang="en-US" sz="1400" i="1" smtClean="0"/>
                    <a:t>The program gets the grade object from </a:t>
                  </a:r>
                  <a:r>
                    <a:rPr lang="en-US" sz="1400" i="1"/>
                    <a:t>the PL </a:t>
                  </a:r>
                  <a:endParaRPr lang="he-IL" sz="1400" i="1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6002599" y="3700799"/>
                  <a:ext cx="157316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 algn="ctr"/>
                  <a:r>
                    <a:rPr lang="en-US" sz="1400" i="1" smtClean="0"/>
                    <a:t>The program uses the PL to update the DB</a:t>
                  </a:r>
                  <a:endParaRPr lang="he-IL" sz="1400" i="1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4046031" y="4891558"/>
                  <a:ext cx="1573160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 algn="ctr"/>
                  <a:r>
                    <a:rPr lang="en-US" sz="1400" i="1" smtClean="0"/>
                    <a:t>The PL retrieves the grade record from the DB</a:t>
                  </a:r>
                  <a:endParaRPr lang="he-IL" sz="1400" i="1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050951" y="3445895"/>
                  <a:ext cx="1573160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 algn="ctr"/>
                  <a:r>
                    <a:rPr lang="en-US" sz="1400" i="1" smtClean="0"/>
                    <a:t>The PL writes the updated grage to the DB</a:t>
                  </a:r>
                  <a:endParaRPr lang="he-IL" sz="1400" i="1"/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593184" y="3035853"/>
                <a:ext cx="5323512" cy="209916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10323319" y="4673421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2</a:t>
              </a:r>
              <a:endParaRPr lang="he-IL" sz="1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31369" y="3293944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4</a:t>
              </a:r>
              <a:endParaRPr lang="he-IL" sz="14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531369" y="4673421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1</a:t>
              </a:r>
              <a:endParaRPr lang="he-IL" sz="1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323319" y="3293944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3</a:t>
              </a:r>
              <a:endParaRPr lang="he-IL" sz="1400"/>
            </a:p>
          </p:txBody>
        </p:sp>
      </p:grpSp>
      <p:sp>
        <p:nvSpPr>
          <p:cNvPr id="58" name="Action Button: Forward or Next 57">
            <a:hlinkClick r:id="rId3" action="ppaction://hlinksldjump" highlightClick="1"/>
          </p:cNvPr>
          <p:cNvSpPr/>
          <p:nvPr/>
        </p:nvSpPr>
        <p:spPr>
          <a:xfrm>
            <a:off x="4000198" y="1047581"/>
            <a:ext cx="228600" cy="22678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12" name="Group 11"/>
          <p:cNvGrpSpPr/>
          <p:nvPr/>
        </p:nvGrpSpPr>
        <p:grpSpPr>
          <a:xfrm>
            <a:off x="10228615" y="1553822"/>
            <a:ext cx="534081" cy="784391"/>
            <a:chOff x="10311745" y="1553822"/>
            <a:chExt cx="534081" cy="784391"/>
          </a:xfrm>
        </p:grpSpPr>
        <p:sp>
          <p:nvSpPr>
            <p:cNvPr id="59" name="TextBox 58"/>
            <p:cNvSpPr txBox="1"/>
            <p:nvPr/>
          </p:nvSpPr>
          <p:spPr>
            <a:xfrm>
              <a:off x="10311745" y="1553822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1</a:t>
              </a:r>
              <a:endParaRPr lang="he-IL" sz="14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629826" y="1553822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2</a:t>
              </a:r>
              <a:endParaRPr lang="he-IL" sz="1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11745" y="2122213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3</a:t>
              </a:r>
              <a:endParaRPr lang="he-IL" sz="14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29826" y="2122213"/>
              <a:ext cx="216000" cy="21600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36000" tIns="0" rIns="36000" bIns="0" rtlCol="1">
              <a:noAutofit/>
            </a:bodyPr>
            <a:lstStyle/>
            <a:p>
              <a:pPr algn="ctr"/>
              <a:r>
                <a:rPr lang="en-US" sz="1400" smtClean="0"/>
                <a:t>4</a:t>
              </a:r>
              <a:endParaRPr lang="he-IL" sz="1400"/>
            </a:p>
          </p:txBody>
        </p:sp>
      </p:grpSp>
    </p:spTree>
    <p:extLst>
      <p:ext uri="{BB962C8B-B14F-4D97-AF65-F5344CB8AC3E}">
        <p14:creationId xmlns:p14="http://schemas.microsoft.com/office/powerpoint/2010/main" val="254060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  <p:bldP spid="16" grpId="0" animBg="1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135328" y="4454009"/>
            <a:ext cx="5899357" cy="176400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i="1" dirty="0">
                <a:solidFill>
                  <a:srgbClr val="0073BF"/>
                </a:solidFill>
                <a:ea typeface="Calibri"/>
                <a:cs typeface="Arial"/>
              </a:rPr>
              <a:t># The </a:t>
            </a:r>
            <a:r>
              <a:rPr lang="en-US" b="1" i="1" dirty="0" smtClean="0">
                <a:solidFill>
                  <a:srgbClr val="0073BF"/>
                </a:solidFill>
                <a:ea typeface="Calibri"/>
                <a:cs typeface="Arial"/>
              </a:rPr>
              <a:t>New and improved </a:t>
            </a:r>
            <a:r>
              <a:rPr lang="en-US" b="1" i="1" dirty="0" err="1" smtClean="0">
                <a:solidFill>
                  <a:srgbClr val="0073BF"/>
                </a:solidFill>
                <a:ea typeface="Calibri"/>
                <a:cs typeface="Arial"/>
              </a:rPr>
              <a:t>print_grades</a:t>
            </a:r>
            <a:r>
              <a:rPr lang="en-US" b="1" i="1" dirty="0" smtClean="0">
                <a:solidFill>
                  <a:srgbClr val="0073BF"/>
                </a:solidFill>
                <a:ea typeface="Calibri"/>
                <a:cs typeface="Arial"/>
              </a:rPr>
              <a:t>() method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better_print_grades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print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(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'grades:‘)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item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repo.get_grades_with_names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print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"grade on assignment %d of student %-7s is %d"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%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    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item.assignment_num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item.name,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item.grade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" y="49165"/>
            <a:ext cx="11738056" cy="678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Join </a:t>
            </a:r>
            <a:r>
              <a:rPr lang="en-US" sz="3200" b="1" smtClean="0"/>
              <a:t>query </a:t>
            </a:r>
            <a:r>
              <a:rPr lang="en-US" sz="3200" smtClean="0"/>
              <a:t>– To improve print_grades() method</a:t>
            </a:r>
            <a:endParaRPr lang="en-US" sz="3200"/>
          </a:p>
          <a:p>
            <a:pPr marL="0" indent="0">
              <a:buNone/>
            </a:pPr>
            <a:endParaRPr lang="en-US" sz="2400" smtClean="0"/>
          </a:p>
          <a:p>
            <a:pPr marL="0" indent="0">
              <a:buNone/>
            </a:pPr>
            <a:endParaRPr lang="en-US" sz="2400" i="1" smtClean="0"/>
          </a:p>
          <a:p>
            <a:pPr marL="0" indent="0">
              <a:buNone/>
            </a:pPr>
            <a:endParaRPr lang="en-US" sz="2400" i="1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Persistence </a:t>
            </a:r>
            <a:r>
              <a:rPr lang="en-US" b="1" smtClean="0"/>
              <a:t>Layer – Extra fetures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88490" y="629272"/>
            <a:ext cx="5938687" cy="558873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108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#This </a:t>
            </a:r>
            <a:r>
              <a:rPr lang="en-US" sz="1600" i="1" dirty="0" err="1">
                <a:solidFill>
                  <a:srgbClr val="0073BF"/>
                </a:solidFill>
                <a:ea typeface="Calibri"/>
                <a:cs typeface="Arial"/>
              </a:rPr>
              <a:t>calss</a:t>
            </a:r>
            <a:r>
              <a:rPr lang="en-US" sz="1600" i="1" dirty="0">
                <a:solidFill>
                  <a:srgbClr val="0073BF"/>
                </a:solidFill>
                <a:ea typeface="Calibri"/>
                <a:cs typeface="Arial"/>
              </a:rPr>
              <a:t> is used by </a:t>
            </a:r>
            <a:r>
              <a:rPr lang="en-US" sz="1600" i="1" dirty="0" err="1" smtClean="0">
                <a:solidFill>
                  <a:srgbClr val="0073BF"/>
                </a:solidFill>
                <a:ea typeface="Calibri"/>
                <a:cs typeface="Arial"/>
              </a:rPr>
              <a:t>get_grades_with_names</a:t>
            </a: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 bellow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StudentGrade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(object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__(self, name,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assignment_num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grade):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self.name = name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self.assignment_num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assignment_num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self.grade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grade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 smtClean="0">
                <a:solidFill>
                  <a:srgbClr val="0073BF"/>
                </a:solidFill>
                <a:ea typeface="Calibri"/>
                <a:cs typeface="Arial"/>
              </a:rPr>
              <a:t>#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The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method </a:t>
            </a:r>
            <a:r>
              <a:rPr lang="en-US" sz="1400" i="1" dirty="0" err="1">
                <a:solidFill>
                  <a:srgbClr val="0073BF"/>
                </a:solidFill>
                <a:ea typeface="Calibri"/>
                <a:cs typeface="Arial"/>
              </a:rPr>
              <a:t>print_grades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 at the application logic (main)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is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inefficient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because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 it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goes over all the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students,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one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by one,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in order to find the name of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a student.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# Using </a:t>
            </a:r>
            <a:r>
              <a:rPr lang="en-US" sz="1400" b="1" i="1" dirty="0">
                <a:solidFill>
                  <a:srgbClr val="0073BF"/>
                </a:solidFill>
                <a:ea typeface="Calibri"/>
                <a:cs typeface="Arial"/>
              </a:rPr>
              <a:t>join query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matches between the student's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grade and his name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.</a:t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get_grades_with_names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(self):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all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= 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conn.cursor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.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execute(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"""</a:t>
            </a:r>
            <a:br>
              <a:rPr lang="en-US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       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SELECT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s.name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,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g.assignment_num,  gr.grade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FROM grades g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       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JOIN students s ON g.student_id = s.id"""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).fetchall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[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StudentGrade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(*row)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row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all]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74684" y="521124"/>
            <a:ext cx="4945626" cy="1754326"/>
          </a:xfrm>
          <a:prstGeom prst="rect">
            <a:avLst/>
          </a:prstGeom>
          <a:noFill/>
        </p:spPr>
        <p:txBody>
          <a:bodyPr wrap="square" lIns="0" rIns="0" rtlCol="1">
            <a:spAutoFit/>
          </a:bodyPr>
          <a:lstStyle/>
          <a:p>
            <a:r>
              <a:rPr lang="en-US" b="1" smtClean="0">
                <a:solidFill>
                  <a:schemeClr val="accent1"/>
                </a:solidFill>
              </a:rPr>
              <a:t>Q: Where should this code be added?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DTO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DAO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Repository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1"/>
                </a:solidFill>
              </a:rPr>
              <a:t>The program (The logic</a:t>
            </a:r>
            <a:r>
              <a:rPr lang="en-US" smtClean="0">
                <a:solidFill>
                  <a:schemeClr val="accent1"/>
                </a:solidFill>
              </a:rPr>
              <a:t>)</a:t>
            </a: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092519" y="1417951"/>
            <a:ext cx="288000" cy="252000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6135355" y="1956621"/>
            <a:ext cx="5899329" cy="504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tIns="0" bIns="0">
            <a:no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Tips: * If you see </a:t>
            </a:r>
            <a:r>
              <a:rPr lang="en-US" sz="1600" dirty="0" smtClean="0">
                <a:solidFill>
                  <a:srgbClr val="C00000"/>
                </a:solidFill>
              </a:rPr>
              <a:t>a SQL </a:t>
            </a:r>
            <a:r>
              <a:rPr lang="en-US" sz="1600">
                <a:solidFill>
                  <a:srgbClr val="C00000"/>
                </a:solidFill>
              </a:rPr>
              <a:t>command </a:t>
            </a:r>
            <a:r>
              <a:rPr lang="en-US" sz="1600" smtClean="0">
                <a:solidFill>
                  <a:srgbClr val="C00000"/>
                </a:solidFill>
              </a:rPr>
              <a:t>-&gt; it </a:t>
            </a:r>
            <a:r>
              <a:rPr lang="en-US" sz="1600" dirty="0">
                <a:solidFill>
                  <a:srgbClr val="C00000"/>
                </a:solidFill>
              </a:rPr>
              <a:t>is not part of the program</a:t>
            </a:r>
          </a:p>
          <a:p>
            <a:r>
              <a:rPr lang="en-US" sz="1600" dirty="0">
                <a:solidFill>
                  <a:srgbClr val="C00000"/>
                </a:solidFill>
              </a:rPr>
              <a:t>          * If you </a:t>
            </a:r>
            <a:r>
              <a:rPr lang="en-US" sz="1600" dirty="0" smtClean="0">
                <a:solidFill>
                  <a:srgbClr val="C00000"/>
                </a:solidFill>
              </a:rPr>
              <a:t>see a </a:t>
            </a:r>
            <a:r>
              <a:rPr lang="en-US" sz="1600">
                <a:solidFill>
                  <a:srgbClr val="C00000"/>
                </a:solidFill>
              </a:rPr>
              <a:t>JOIN </a:t>
            </a:r>
            <a:r>
              <a:rPr lang="en-US" sz="1600" smtClean="0">
                <a:solidFill>
                  <a:srgbClr val="C00000"/>
                </a:solidFill>
              </a:rPr>
              <a:t>-&gt; it </a:t>
            </a:r>
            <a:r>
              <a:rPr lang="en-US" sz="1600" dirty="0">
                <a:solidFill>
                  <a:srgbClr val="C00000"/>
                </a:solidFill>
              </a:rPr>
              <a:t>is most likely part of </a:t>
            </a:r>
            <a:r>
              <a:rPr lang="en-US" sz="1600">
                <a:solidFill>
                  <a:srgbClr val="C00000"/>
                </a:solidFill>
              </a:rPr>
              <a:t>the </a:t>
            </a:r>
            <a:r>
              <a:rPr lang="en-US" sz="1600" smtClean="0">
                <a:solidFill>
                  <a:srgbClr val="C00000"/>
                </a:solidFill>
              </a:rPr>
              <a:t>repository</a:t>
            </a:r>
            <a:endParaRPr lang="he-IL" sz="1600" dirty="0">
              <a:solidFill>
                <a:srgbClr val="C00000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135328" y="2541219"/>
            <a:ext cx="5899357" cy="1764841"/>
            <a:chOff x="6135328" y="2541219"/>
            <a:chExt cx="5899357" cy="1764841"/>
          </a:xfrm>
        </p:grpSpPr>
        <p:sp>
          <p:nvSpPr>
            <p:cNvPr id="7" name="TextBox 6"/>
            <p:cNvSpPr txBox="1"/>
            <p:nvPr/>
          </p:nvSpPr>
          <p:spPr>
            <a:xfrm>
              <a:off x="6135328" y="2541219"/>
              <a:ext cx="5899357" cy="1764841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C00000"/>
              </a:solidFill>
            </a:ln>
          </p:spPr>
          <p:txBody>
            <a:bodyPr wrap="square" lIns="72000" tIns="36000" rIns="0" bIns="0" rtlCol="1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i="1" dirty="0">
                  <a:solidFill>
                    <a:srgbClr val="0073BF"/>
                  </a:solidFill>
                  <a:ea typeface="Calibri"/>
                  <a:cs typeface="Arial"/>
                </a:rPr>
                <a:t># The </a:t>
              </a:r>
              <a:r>
                <a:rPr lang="en-US" sz="1600" i="1" dirty="0" smtClean="0">
                  <a:solidFill>
                    <a:srgbClr val="0073BF"/>
                  </a:solidFill>
                  <a:ea typeface="Calibri"/>
                  <a:cs typeface="Arial"/>
                </a:rPr>
                <a:t>old </a:t>
              </a:r>
              <a:r>
                <a:rPr lang="en-US" sz="1600" i="1" dirty="0" err="1" smtClean="0">
                  <a:solidFill>
                    <a:srgbClr val="0073BF"/>
                  </a:solidFill>
                  <a:ea typeface="Calibri"/>
                  <a:cs typeface="Arial"/>
                </a:rPr>
                <a:t>print_grades</a:t>
              </a:r>
              <a:r>
                <a:rPr lang="en-US" sz="1600" i="1" dirty="0" smtClean="0">
                  <a:solidFill>
                    <a:srgbClr val="0073BF"/>
                  </a:solidFill>
                  <a:ea typeface="Calibri"/>
                  <a:cs typeface="Arial"/>
                </a:rPr>
                <a:t>() method</a:t>
              </a:r>
              <a:endParaRPr lang="en-US" sz="1600" dirty="0" smtClean="0">
                <a:solidFill>
                  <a:srgbClr val="000080"/>
                </a:solidFill>
                <a:ea typeface="Calibri"/>
                <a:cs typeface="Arial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err="1" smtClean="0">
                  <a:solidFill>
                    <a:srgbClr val="000080"/>
                  </a:solidFill>
                  <a:ea typeface="Calibri"/>
                  <a:cs typeface="Arial"/>
                </a:rPr>
                <a:t>def</a:t>
              </a:r>
              <a:r>
                <a:rPr lang="en-US" sz="1600" dirty="0" smtClean="0">
                  <a:solidFill>
                    <a:srgbClr val="000080"/>
                  </a:solidFill>
                  <a:ea typeface="Calibri"/>
                  <a:cs typeface="Arial"/>
                </a:rPr>
                <a:t> 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print_grades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():</a:t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</a:t>
              </a:r>
              <a:r>
                <a:rPr lang="en-US" sz="1600" dirty="0">
                  <a:solidFill>
                    <a:srgbClr val="000080"/>
                  </a:solidFill>
                  <a:ea typeface="Calibri"/>
                  <a:cs typeface="Arial"/>
                </a:rPr>
                <a:t>print </a:t>
              </a:r>
              <a:r>
                <a:rPr lang="en-US" sz="1600" dirty="0" smtClean="0">
                  <a:solidFill>
                    <a:srgbClr val="000080"/>
                  </a:solidFill>
                  <a:ea typeface="Calibri"/>
                  <a:cs typeface="Arial"/>
                </a:rPr>
                <a:t>(</a:t>
              </a:r>
              <a:r>
                <a:rPr lang="en-US" sz="1600" dirty="0" smtClean="0">
                  <a:solidFill>
                    <a:srgbClr val="008000"/>
                  </a:solidFill>
                  <a:ea typeface="Calibri"/>
                  <a:cs typeface="Arial"/>
                </a:rPr>
                <a:t>'grades:‘)</a:t>
              </a:r>
              <a:r>
                <a:rPr lang="en-US" sz="1600" dirty="0">
                  <a:solidFill>
                    <a:srgbClr val="008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8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8000"/>
                  </a:solidFill>
                  <a:ea typeface="Calibri"/>
                  <a:cs typeface="Arial"/>
                </a:rPr>
                <a:t>    </a:t>
              </a:r>
              <a:r>
                <a:rPr lang="en-US" sz="1600" dirty="0">
                  <a:solidFill>
                    <a:srgbClr val="000080"/>
                  </a:solidFill>
                  <a:ea typeface="Calibri"/>
                  <a:cs typeface="Arial"/>
                </a:rPr>
                <a:t>for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grade </a:t>
              </a:r>
              <a:r>
                <a:rPr lang="en-US" sz="1600" dirty="0">
                  <a:solidFill>
                    <a:srgbClr val="000080"/>
                  </a:solidFill>
                  <a:ea typeface="Calibri"/>
                  <a:cs typeface="Arial"/>
                </a:rPr>
                <a:t>in 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repo.grades.find_all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():</a:t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student = 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repo.students.find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(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grade.student_id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)</a:t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>
                  <a:solidFill>
                    <a:srgbClr val="000080"/>
                  </a:solidFill>
                  <a:ea typeface="Calibri"/>
                  <a:cs typeface="Arial"/>
                </a:rPr>
                <a:t>print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(</a:t>
              </a:r>
              <a:r>
                <a:rPr lang="en-US" sz="1600" dirty="0">
                  <a:solidFill>
                    <a:srgbClr val="008000"/>
                  </a:solidFill>
                  <a:ea typeface="Calibri"/>
                  <a:cs typeface="Arial"/>
                </a:rPr>
                <a:t>"grade on assignment %d of student %-7s is %d"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%</a:t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       (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grade.assignment_num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, student.name, 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grade.grade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))</a:t>
              </a:r>
              <a:endParaRPr lang="en-US" altLang="he-IL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50726" y="2643344"/>
              <a:ext cx="2263770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sz="1600" smtClean="0">
                  <a:solidFill>
                    <a:schemeClr val="accent2">
                      <a:lumMod val="75000"/>
                    </a:schemeClr>
                  </a:solidFill>
                </a:rPr>
                <a:t>Loops on students table using additional  SQLs to find student names</a:t>
              </a:r>
            </a:p>
          </p:txBody>
        </p:sp>
        <p:cxnSp>
          <p:nvCxnSpPr>
            <p:cNvPr id="17" name="Elbow Connector 16"/>
            <p:cNvCxnSpPr>
              <a:stCxn id="15" idx="2"/>
            </p:cNvCxnSpPr>
            <p:nvPr/>
          </p:nvCxnSpPr>
          <p:spPr>
            <a:xfrm rot="5400000">
              <a:off x="10514614" y="3427702"/>
              <a:ext cx="221359" cy="31463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186818" y="5550603"/>
            <a:ext cx="5722369" cy="5060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36000" tIns="0" rIns="36000" bIns="0">
            <a:no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Tip:  * </a:t>
            </a:r>
            <a:r>
              <a:rPr lang="en-US" sz="1600" dirty="0">
                <a:solidFill>
                  <a:srgbClr val="C00000"/>
                </a:solidFill>
              </a:rPr>
              <a:t>If you </a:t>
            </a:r>
            <a:r>
              <a:rPr lang="en-US" sz="1600" dirty="0" smtClean="0">
                <a:solidFill>
                  <a:srgbClr val="C00000"/>
                </a:solidFill>
              </a:rPr>
              <a:t>have a repository “tool” function, define a class that </a:t>
            </a:r>
          </a:p>
          <a:p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           matches the columns of the returned record</a:t>
            </a:r>
            <a:endParaRPr lang="he-IL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86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8" grpId="0"/>
      <p:bldP spid="10" grpId="0" animBg="1"/>
      <p:bldP spid="11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7467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ORM - Object Relational Mapping</a:t>
            </a:r>
            <a:endParaRPr lang="en-US" b="1" dirty="0" smtClean="0"/>
          </a:p>
          <a:p>
            <a:r>
              <a:rPr lang="en-US" sz="2400" dirty="0" smtClean="0"/>
              <a:t>The Motivation – A lot of repeating code </a:t>
            </a:r>
            <a:r>
              <a:rPr lang="en-US" sz="2400" dirty="0"/>
              <a:t>in the </a:t>
            </a:r>
            <a:r>
              <a:rPr lang="en-US" sz="2400" dirty="0" smtClean="0"/>
              <a:t>DAOs that can be unify </a:t>
            </a:r>
          </a:p>
          <a:p>
            <a:r>
              <a:rPr lang="en-US" sz="2400" dirty="0"/>
              <a:t>The Challenge </a:t>
            </a:r>
            <a:r>
              <a:rPr lang="en-US" sz="2400" dirty="0" smtClean="0"/>
              <a:t>– 1. Mapping, </a:t>
            </a:r>
            <a:r>
              <a:rPr lang="en-US" sz="2400" dirty="0"/>
              <a:t>DTOs </a:t>
            </a:r>
            <a:r>
              <a:rPr lang="en-US" sz="2400" dirty="0" smtClean="0">
                <a:sym typeface="Wingdings" panose="05000000000000000000" pitchFamily="2" charset="2"/>
              </a:rPr>
              <a:t>↔ </a:t>
            </a:r>
            <a:r>
              <a:rPr lang="en-US" sz="2400" dirty="0" smtClean="0"/>
              <a:t>table-record, </a:t>
            </a:r>
            <a:r>
              <a:rPr lang="en-US" sz="2400" dirty="0"/>
              <a:t>in a generic </a:t>
            </a:r>
            <a:r>
              <a:rPr lang="en-US" sz="2400" dirty="0" smtClean="0"/>
              <a:t>way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2. </a:t>
            </a:r>
            <a:r>
              <a:rPr lang="en-US" sz="2400" dirty="0"/>
              <a:t>C</a:t>
            </a:r>
            <a:r>
              <a:rPr lang="en-US" sz="2400" dirty="0" smtClean="0"/>
              <a:t>reate </a:t>
            </a:r>
            <a:r>
              <a:rPr lang="en-US" sz="2400" dirty="0"/>
              <a:t>a generic DAO class</a:t>
            </a:r>
          </a:p>
          <a:p>
            <a:r>
              <a:rPr lang="en-US" sz="2400" dirty="0" smtClean="0"/>
              <a:t>ORM is part of the </a:t>
            </a:r>
            <a:r>
              <a:rPr lang="en-US" sz="2400" dirty="0" err="1" smtClean="0"/>
              <a:t>Persistance</a:t>
            </a:r>
            <a:r>
              <a:rPr lang="en-US" sz="2400" dirty="0" smtClean="0"/>
              <a:t> Layer</a:t>
            </a:r>
          </a:p>
          <a:p>
            <a:r>
              <a:rPr lang="en-US" sz="2400" dirty="0" smtClean="0"/>
              <a:t>Reminder: 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DTO class represents a single table</a:t>
            </a:r>
          </a:p>
          <a:p>
            <a:pPr lvl="1"/>
            <a:r>
              <a:rPr lang="en-US" sz="2000" dirty="0" smtClean="0"/>
              <a:t>DTO constructors get arguments </a:t>
            </a:r>
            <a:r>
              <a:rPr lang="en-US" sz="2000" dirty="0" err="1" smtClean="0"/>
              <a:t>equevalent</a:t>
            </a:r>
            <a:r>
              <a:rPr lang="en-US" sz="2000" dirty="0" smtClean="0"/>
              <a:t> to the columns of their corresponding tables </a:t>
            </a:r>
          </a:p>
          <a:p>
            <a:pPr lvl="1"/>
            <a:r>
              <a:rPr lang="en-US" sz="2000" dirty="0" smtClean="0"/>
              <a:t>DTO </a:t>
            </a:r>
            <a:r>
              <a:rPr lang="en-US" sz="2000" dirty="0"/>
              <a:t>classes are obeying a common naming </a:t>
            </a:r>
            <a:r>
              <a:rPr lang="en-US" sz="2000" dirty="0" smtClean="0"/>
              <a:t>conventions (By design)</a:t>
            </a:r>
          </a:p>
          <a:p>
            <a:r>
              <a:rPr lang="en-US" sz="2400" dirty="0" smtClean="0"/>
              <a:t>Necessary Python methods</a:t>
            </a:r>
          </a:p>
          <a:p>
            <a:pPr lvl="1"/>
            <a:r>
              <a:rPr lang="en-US" sz="2000" b="1" dirty="0" err="1"/>
              <a:t>g</a:t>
            </a:r>
            <a:r>
              <a:rPr lang="en-US" sz="2000" b="1" dirty="0" err="1" smtClean="0"/>
              <a:t>etargspec</a:t>
            </a:r>
            <a:r>
              <a:rPr lang="en-US" sz="2000" dirty="0" smtClean="0"/>
              <a:t> (module “inspect”) - </a:t>
            </a:r>
            <a:r>
              <a:rPr lang="en-US" sz="2000" dirty="0"/>
              <a:t>returns the names of the arguments of a </a:t>
            </a:r>
            <a:r>
              <a:rPr lang="en-US" sz="2000" dirty="0" smtClean="0"/>
              <a:t>function</a:t>
            </a:r>
          </a:p>
          <a:p>
            <a:pPr marL="457200" lvl="1" indent="0">
              <a:buNone/>
            </a:pPr>
            <a:r>
              <a:rPr lang="en-US" sz="2000" dirty="0" smtClean="0"/>
              <a:t>    It is used to get the </a:t>
            </a:r>
            <a:r>
              <a:rPr lang="en-US" sz="2000" dirty="0"/>
              <a:t>structure of the DTO </a:t>
            </a:r>
            <a:r>
              <a:rPr lang="en-US" sz="2000" dirty="0" smtClean="0"/>
              <a:t>class</a:t>
            </a:r>
          </a:p>
          <a:p>
            <a:pPr lvl="1"/>
            <a:r>
              <a:rPr lang="en-US" sz="2000" b="1" dirty="0"/>
              <a:t>d</a:t>
            </a:r>
            <a:r>
              <a:rPr lang="en-US" sz="2000" b="1" dirty="0" smtClean="0"/>
              <a:t>escription</a:t>
            </a:r>
            <a:r>
              <a:rPr lang="en-US" sz="2000" dirty="0" smtClean="0"/>
              <a:t> (cursor’s method) - </a:t>
            </a:r>
            <a:r>
              <a:rPr lang="en-US" sz="2000" dirty="0"/>
              <a:t>returns the column names of the last </a:t>
            </a:r>
            <a:r>
              <a:rPr lang="en-US" sz="2000" dirty="0" smtClean="0"/>
              <a:t>query </a:t>
            </a:r>
            <a:r>
              <a:rPr lang="en-US" sz="2000" dirty="0" smtClean="0"/>
              <a:t>(at </a:t>
            </a:r>
            <a:r>
              <a:rPr lang="en-US" sz="2000" dirty="0" smtClean="0"/>
              <a:t>position [0</a:t>
            </a:r>
            <a:r>
              <a:rPr lang="en-US" sz="2000" dirty="0" smtClean="0"/>
              <a:t>])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 smtClean="0"/>
              <a:t>    It is used to get </a:t>
            </a:r>
            <a:r>
              <a:rPr lang="en-US" sz="2000" dirty="0"/>
              <a:t>the structure of the </a:t>
            </a:r>
            <a:r>
              <a:rPr lang="en-US" sz="2000" dirty="0" smtClean="0"/>
              <a:t>DB data </a:t>
            </a:r>
          </a:p>
          <a:p>
            <a:pPr lvl="1"/>
            <a:r>
              <a:rPr lang="en-US" sz="2000" b="1" dirty="0"/>
              <a:t>** </a:t>
            </a:r>
            <a:r>
              <a:rPr lang="en-US" sz="2000" b="1" dirty="0" smtClean="0"/>
              <a:t>operator</a:t>
            </a:r>
            <a:r>
              <a:rPr lang="en-US" sz="2000" dirty="0" smtClean="0"/>
              <a:t> - </a:t>
            </a:r>
            <a:r>
              <a:rPr lang="en-US" sz="2000" dirty="0"/>
              <a:t>dictionary with </a:t>
            </a:r>
            <a:r>
              <a:rPr lang="en-US" sz="2000" dirty="0" smtClean="0"/>
              <a:t>(column, value) entries</a:t>
            </a:r>
          </a:p>
          <a:p>
            <a:pPr marL="457200" lvl="1" indent="0">
              <a:buNone/>
            </a:pPr>
            <a:r>
              <a:rPr lang="en-US" sz="2000" dirty="0" smtClean="0"/>
              <a:t>    It is used by methods that receive this kind of arguments 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ORM- Intro</a:t>
            </a:r>
            <a:endParaRPr lang="he-IL"/>
          </a:p>
        </p:txBody>
      </p:sp>
      <p:sp>
        <p:nvSpPr>
          <p:cNvPr id="7" name="Action Button: Forward or Next 6">
            <a:hlinkClick r:id="rId2" action="ppaction://hlinksldjump" highlightClick="1"/>
          </p:cNvPr>
          <p:cNvSpPr/>
          <p:nvPr/>
        </p:nvSpPr>
        <p:spPr>
          <a:xfrm>
            <a:off x="11484061" y="993058"/>
            <a:ext cx="265471" cy="3048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72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100982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smtClean="0"/>
              <a:t>ORM() – A function that converts a table of records to an array of DTOs </a:t>
            </a:r>
            <a:r>
              <a:rPr lang="en-US" sz="2400" smtClean="0"/>
              <a:t>(method </a:t>
            </a:r>
            <a:r>
              <a:rPr lang="en-US" sz="2400" dirty="0" smtClean="0"/>
              <a:t>on next slide)</a:t>
            </a:r>
          </a:p>
          <a:p>
            <a:pPr marL="0" indent="0">
              <a:buNone/>
            </a:pPr>
            <a:r>
              <a:rPr lang="en-US" sz="2000" smtClean="0"/>
              <a:t>Maps </a:t>
            </a:r>
            <a:r>
              <a:rPr lang="en-US" sz="2000" dirty="0" smtClean="0"/>
              <a:t>record to DTO in </a:t>
            </a:r>
            <a:r>
              <a:rPr lang="en-US" sz="2000" dirty="0"/>
              <a:t>a generic </a:t>
            </a:r>
            <a:r>
              <a:rPr lang="en-US" sz="2000" dirty="0" smtClean="0"/>
              <a:t>way and initiate with the </a:t>
            </a:r>
            <a:r>
              <a:rPr lang="en-US" sz="2000" dirty="0" err="1" smtClean="0"/>
              <a:t>the</a:t>
            </a:r>
            <a:r>
              <a:rPr lang="en-US" sz="2000" dirty="0" smtClean="0"/>
              <a:t> data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5955573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ORM- ORM() method</a:t>
            </a:r>
            <a:endParaRPr lang="he-IL" dirty="0"/>
          </a:p>
        </p:txBody>
      </p:sp>
      <p:grpSp>
        <p:nvGrpSpPr>
          <p:cNvPr id="71" name="Group 70"/>
          <p:cNvGrpSpPr/>
          <p:nvPr/>
        </p:nvGrpSpPr>
        <p:grpSpPr>
          <a:xfrm>
            <a:off x="685800" y="1393623"/>
            <a:ext cx="5108714" cy="2486170"/>
            <a:chOff x="636105" y="1562586"/>
            <a:chExt cx="5108714" cy="2486170"/>
          </a:xfrm>
        </p:grpSpPr>
        <p:sp>
          <p:nvSpPr>
            <p:cNvPr id="10" name="TextBox 9"/>
            <p:cNvSpPr txBox="1"/>
            <p:nvPr/>
          </p:nvSpPr>
          <p:spPr>
            <a:xfrm>
              <a:off x="636105" y="1562586"/>
              <a:ext cx="5108714" cy="24861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lIns="36000" tIns="72000" rIns="0" bIns="0" rtlCol="1">
              <a:noAutofit/>
            </a:bodyPr>
            <a:lstStyle/>
            <a:p>
              <a:pPr>
                <a:lnSpc>
                  <a:spcPct val="115000"/>
                </a:lnSpc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endParaRPr lang="en-US" sz="1600" dirty="0">
                <a:solidFill>
                  <a:schemeClr val="bg1">
                    <a:lumMod val="50000"/>
                  </a:schemeClr>
                </a:solidFill>
                <a:ea typeface="Calibri"/>
                <a:cs typeface="Arial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1124647" y="1638570"/>
              <a:ext cx="1958147" cy="1718248"/>
              <a:chOff x="4290253" y="3588846"/>
              <a:chExt cx="1958147" cy="1718248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4290253" y="3958178"/>
                <a:ext cx="1958147" cy="1348916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fN1</a:t>
                </a:r>
                <a:endParaRPr lang="en-US" dirty="0" smtClean="0"/>
              </a:p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fN2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fN3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...</a:t>
                </a:r>
                <a:endParaRPr lang="en-US" dirty="0" smtClean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290253" y="3588846"/>
                <a:ext cx="1958147" cy="369332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dirty="0" smtClean="0"/>
                  <a:t>tab_1s</a:t>
                </a:r>
                <a:endParaRPr lang="he-IL" dirty="0"/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3236462" y="1567235"/>
              <a:ext cx="2391562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b="1" dirty="0" smtClean="0"/>
                <a:t>Tables</a:t>
              </a:r>
              <a:endParaRPr lang="he-IL" b="1" dirty="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2821467" y="2211320"/>
              <a:ext cx="1958147" cy="1062022"/>
              <a:chOff x="4290253" y="3588846"/>
              <a:chExt cx="1958147" cy="1062022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4290253" y="3958178"/>
                <a:ext cx="1958147" cy="692690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f21</a:t>
                </a:r>
                <a:endParaRPr lang="en-US" dirty="0" smtClean="0"/>
              </a:p>
              <a:p>
                <a:pPr algn="ctr">
                  <a:spcBef>
                    <a:spcPts val="600"/>
                  </a:spcBef>
                </a:pPr>
                <a:r>
                  <a:rPr lang="en-US" smtClean="0"/>
                  <a:t>f22</a:t>
                </a:r>
              </a:p>
              <a:p>
                <a:pPr algn="ctr">
                  <a:spcBef>
                    <a:spcPts val="600"/>
                  </a:spcBef>
                </a:pPr>
                <a:endParaRPr lang="en-US" dirty="0" smtClean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290253" y="3588846"/>
                <a:ext cx="1958147" cy="369332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dirty="0" smtClean="0"/>
                  <a:t>tab_2s</a:t>
                </a:r>
                <a:endParaRPr lang="he-IL" dirty="0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3669877" y="2497694"/>
              <a:ext cx="1958147" cy="1431874"/>
              <a:chOff x="4290253" y="3588846"/>
              <a:chExt cx="1958147" cy="1431874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4290253" y="3958178"/>
                <a:ext cx="1958147" cy="1062542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/>
                  <a:t>f</a:t>
                </a:r>
                <a:r>
                  <a:rPr lang="en-US" smtClean="0"/>
                  <a:t>11 </a:t>
                </a:r>
                <a:endParaRPr lang="en-US" dirty="0" smtClean="0"/>
              </a:p>
              <a:p>
                <a:pPr algn="ctr">
                  <a:spcBef>
                    <a:spcPts val="600"/>
                  </a:spcBef>
                </a:pPr>
                <a:r>
                  <a:rPr lang="en-US"/>
                  <a:t>f</a:t>
                </a:r>
                <a:r>
                  <a:rPr lang="en-US" smtClean="0"/>
                  <a:t>12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/>
                  <a:t>f</a:t>
                </a:r>
                <a:r>
                  <a:rPr lang="en-US" smtClean="0"/>
                  <a:t>13 </a:t>
                </a:r>
                <a:endParaRPr lang="en-US" dirty="0" smtClean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290253" y="3588846"/>
                <a:ext cx="1958147" cy="369332"/>
              </a:xfrm>
              <a:prstGeom prst="rect">
                <a:avLst/>
              </a:prstGeom>
              <a:solidFill>
                <a:srgbClr val="ECF3FA"/>
              </a:solidFill>
              <a:ln>
                <a:solidFill>
                  <a:schemeClr val="accent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dirty="0" err="1" smtClean="0"/>
                  <a:t>tab_Ns</a:t>
                </a:r>
                <a:endParaRPr lang="he-IL" dirty="0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2103721" y="3495416"/>
              <a:ext cx="1437487" cy="277196"/>
            </a:xfrm>
            <a:prstGeom prst="line">
              <a:avLst/>
            </a:prstGeom>
            <a:ln w="158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6142383" y="1269415"/>
            <a:ext cx="5168347" cy="2729646"/>
            <a:chOff x="6142383" y="1348927"/>
            <a:chExt cx="5168347" cy="2729646"/>
          </a:xfrm>
        </p:grpSpPr>
        <p:sp>
          <p:nvSpPr>
            <p:cNvPr id="66" name="Rectangle 65"/>
            <p:cNvSpPr/>
            <p:nvPr/>
          </p:nvSpPr>
          <p:spPr>
            <a:xfrm>
              <a:off x="6142383" y="1348927"/>
              <a:ext cx="5168347" cy="27296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39173" y="1419534"/>
              <a:ext cx="3257764" cy="164724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C00000"/>
              </a:solidFill>
            </a:ln>
          </p:spPr>
          <p:txBody>
            <a:bodyPr wrap="square" lIns="72000" tIns="108000" rIns="0" bIns="36000" rtlCol="1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 smtClean="0">
                  <a:solidFill>
                    <a:srgbClr val="000080"/>
                  </a:solidFill>
                  <a:ea typeface="Calibri"/>
                  <a:cs typeface="Arial"/>
                </a:rPr>
                <a:t>class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Tab_1: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</a:t>
              </a:r>
              <a:r>
                <a:rPr lang="en-US" sz="1600" b="1" dirty="0" err="1">
                  <a:solidFill>
                    <a:srgbClr val="000080"/>
                  </a:solidFill>
                  <a:ea typeface="Calibri"/>
                  <a:cs typeface="Arial"/>
                </a:rPr>
                <a:t>def</a:t>
              </a:r>
              <a:r>
                <a:rPr lang="en-US" sz="1600" b="1" dirty="0">
                  <a:solidFill>
                    <a:srgbClr val="000080"/>
                  </a:solidFill>
                  <a:ea typeface="Calibri"/>
                  <a:cs typeface="Arial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init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__(self,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fN1,fN2,fN3, …):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self.fN1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fN1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self.fN2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fN2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self.fN3 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fN3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…        </a:t>
              </a:r>
              <a:endParaRPr lang="en-US" altLang="he-IL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218525" y="1363019"/>
              <a:ext cx="1128156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b="1" smtClean="0"/>
                <a:t>DTOs</a:t>
              </a:r>
              <a:endParaRPr lang="he-IL" b="1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38227" y="2056345"/>
              <a:ext cx="3090613" cy="1095321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C00000"/>
              </a:solidFill>
            </a:ln>
          </p:spPr>
          <p:txBody>
            <a:bodyPr wrap="square" lIns="72000" tIns="108000" rIns="0" bIns="36000" rtlCol="1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 smtClean="0">
                  <a:solidFill>
                    <a:srgbClr val="000080"/>
                  </a:solidFill>
                  <a:ea typeface="Calibri"/>
                  <a:cs typeface="Arial"/>
                </a:rPr>
                <a:t>class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T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ab_2: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</a:t>
              </a:r>
              <a:r>
                <a:rPr lang="en-US" sz="1600" b="1" dirty="0" err="1">
                  <a:solidFill>
                    <a:srgbClr val="000080"/>
                  </a:solidFill>
                  <a:ea typeface="Calibri"/>
                  <a:cs typeface="Arial"/>
                </a:rPr>
                <a:t>def</a:t>
              </a:r>
              <a:r>
                <a:rPr lang="en-US" sz="1600" b="1" dirty="0">
                  <a:solidFill>
                    <a:srgbClr val="000080"/>
                  </a:solidFill>
                  <a:ea typeface="Calibri"/>
                  <a:cs typeface="Arial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init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__(self,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f21,f22):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self.f21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f21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self.f22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f22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endParaRPr lang="en-US" altLang="he-IL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089408" y="2391575"/>
              <a:ext cx="3090613" cy="138103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C00000"/>
              </a:solidFill>
            </a:ln>
          </p:spPr>
          <p:txBody>
            <a:bodyPr wrap="square" lIns="72000" tIns="108000" rIns="0" bIns="36000" rtlCol="1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 smtClean="0">
                  <a:solidFill>
                    <a:srgbClr val="000080"/>
                  </a:solidFill>
                  <a:ea typeface="Calibri"/>
                  <a:cs typeface="Arial"/>
                </a:rPr>
                <a:t>class </a:t>
              </a:r>
              <a:r>
                <a:rPr lang="en-US" sz="1600" dirty="0" err="1" smtClean="0">
                  <a:solidFill>
                    <a:srgbClr val="000000"/>
                  </a:solidFill>
                  <a:ea typeface="Calibri"/>
                  <a:cs typeface="Arial"/>
                </a:rPr>
                <a:t>Tab_N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</a:t>
              </a:r>
              <a:r>
                <a:rPr lang="en-US" sz="1600" b="1" dirty="0" err="1">
                  <a:solidFill>
                    <a:srgbClr val="000080"/>
                  </a:solidFill>
                  <a:ea typeface="Calibri"/>
                  <a:cs typeface="Arial"/>
                </a:rPr>
                <a:t>def</a:t>
              </a:r>
              <a:r>
                <a:rPr lang="en-US" sz="1600" b="1" dirty="0">
                  <a:solidFill>
                    <a:srgbClr val="000080"/>
                  </a:solidFill>
                  <a:ea typeface="Calibri"/>
                  <a:cs typeface="Arial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</a:t>
              </a:r>
              <a:r>
                <a:rPr lang="en-US" sz="1600" dirty="0" err="1">
                  <a:solidFill>
                    <a:srgbClr val="000000"/>
                  </a:solidFill>
                  <a:ea typeface="Calibri"/>
                  <a:cs typeface="Arial"/>
                </a:rPr>
                <a:t>init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__(self,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f11,f13,f12):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self.f11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f11</a:t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self.f12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f12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self.f13 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>= </a:t>
              </a: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f13</a:t>
              </a:r>
              <a: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  <a:t/>
              </a:r>
              <a:br>
                <a:rPr lang="en-US" sz="1600" dirty="0">
                  <a:solidFill>
                    <a:srgbClr val="000000"/>
                  </a:solidFill>
                  <a:ea typeface="Calibri"/>
                  <a:cs typeface="Arial"/>
                </a:rPr>
              </a:br>
              <a:r>
                <a:rPr lang="en-US" sz="1600" dirty="0" smtClean="0">
                  <a:solidFill>
                    <a:srgbClr val="000000"/>
                  </a:solidFill>
                  <a:ea typeface="Calibri"/>
                  <a:cs typeface="Arial"/>
                </a:rPr>
                <a:t>        </a:t>
              </a:r>
              <a:endParaRPr lang="en-US" altLang="he-IL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7345015" y="3151666"/>
              <a:ext cx="744393" cy="404554"/>
            </a:xfrm>
            <a:prstGeom prst="line">
              <a:avLst/>
            </a:prstGeom>
            <a:ln w="158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Arrow Connector 78"/>
          <p:cNvCxnSpPr>
            <a:stCxn id="10" idx="3"/>
            <a:endCxn id="66" idx="1"/>
          </p:cNvCxnSpPr>
          <p:nvPr/>
        </p:nvCxnSpPr>
        <p:spPr>
          <a:xfrm flipV="1">
            <a:off x="5794514" y="2634238"/>
            <a:ext cx="347869" cy="247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10197545" y="2882349"/>
            <a:ext cx="1709531" cy="1003967"/>
            <a:chOff x="10197545" y="2882349"/>
            <a:chExt cx="1709531" cy="1003967"/>
          </a:xfrm>
        </p:grpSpPr>
        <p:sp>
          <p:nvSpPr>
            <p:cNvPr id="80" name="Rectangle 79"/>
            <p:cNvSpPr/>
            <p:nvPr/>
          </p:nvSpPr>
          <p:spPr>
            <a:xfrm>
              <a:off x="10197545" y="3104379"/>
              <a:ext cx="1709531" cy="7819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sz="1400" smtClean="0">
                  <a:solidFill>
                    <a:schemeClr val="tx1"/>
                  </a:solidFill>
                </a:rPr>
                <a:t>Fields order not necessary as in record</a:t>
              </a:r>
              <a:endParaRPr lang="he-IL" sz="140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Arrow Connector 81"/>
            <p:cNvCxnSpPr>
              <a:stCxn id="80" idx="0"/>
            </p:cNvCxnSpPr>
            <p:nvPr/>
          </p:nvCxnSpPr>
          <p:spPr>
            <a:xfrm flipH="1" flipV="1">
              <a:off x="10828841" y="2882349"/>
              <a:ext cx="223470" cy="22203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286706" y="4059166"/>
            <a:ext cx="10024024" cy="2182489"/>
            <a:chOff x="1286706" y="4059166"/>
            <a:chExt cx="10024024" cy="2182489"/>
          </a:xfrm>
        </p:grpSpPr>
        <p:sp>
          <p:nvSpPr>
            <p:cNvPr id="2" name="TextBox 1"/>
            <p:cNvSpPr txBox="1"/>
            <p:nvPr/>
          </p:nvSpPr>
          <p:spPr>
            <a:xfrm>
              <a:off x="1366701" y="5540929"/>
              <a:ext cx="5482493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200" dirty="0" smtClean="0"/>
                <a:t>* The ORM input argument “</a:t>
              </a:r>
              <a:r>
                <a:rPr lang="en-US" sz="1200" dirty="0" err="1" smtClean="0"/>
                <a:t>Tabi</a:t>
              </a:r>
              <a:r>
                <a:rPr lang="en-US" sz="1200" dirty="0" smtClean="0"/>
                <a:t>” is represented in our code by the cursor that  can be fetch in order to get last query response table </a:t>
              </a:r>
              <a:endParaRPr lang="he-IL" sz="1200" dirty="0"/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10212620" y="4399241"/>
              <a:ext cx="329258" cy="338414"/>
            </a:xfrm>
            <a:prstGeom prst="line">
              <a:avLst/>
            </a:prstGeom>
            <a:ln w="158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1286706" y="4059166"/>
              <a:ext cx="10024024" cy="2182489"/>
              <a:chOff x="1286706" y="4059166"/>
              <a:chExt cx="10024024" cy="2182489"/>
            </a:xfrm>
          </p:grpSpPr>
          <p:grpSp>
            <p:nvGrpSpPr>
              <p:cNvPr id="77" name="Group 76"/>
              <p:cNvGrpSpPr/>
              <p:nvPr/>
            </p:nvGrpSpPr>
            <p:grpSpPr>
              <a:xfrm>
                <a:off x="1286706" y="4059166"/>
                <a:ext cx="10024024" cy="2182489"/>
                <a:chOff x="1733961" y="4059166"/>
                <a:chExt cx="10024024" cy="2182489"/>
              </a:xfrm>
            </p:grpSpPr>
            <p:cxnSp>
              <p:nvCxnSpPr>
                <p:cNvPr id="56" name="Straight Arrow Connector 55"/>
                <p:cNvCxnSpPr/>
                <p:nvPr/>
              </p:nvCxnSpPr>
              <p:spPr>
                <a:xfrm>
                  <a:off x="5943600" y="4994414"/>
                  <a:ext cx="1500809" cy="0"/>
                </a:xfrm>
                <a:prstGeom prst="straightConnector1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Group 75"/>
                <p:cNvGrpSpPr/>
                <p:nvPr/>
              </p:nvGrpSpPr>
              <p:grpSpPr>
                <a:xfrm>
                  <a:off x="1733961" y="4059166"/>
                  <a:ext cx="5789644" cy="1533300"/>
                  <a:chOff x="1733961" y="4059166"/>
                  <a:chExt cx="5789644" cy="1533300"/>
                </a:xfrm>
              </p:grpSpPr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1733961" y="4059166"/>
                    <a:ext cx="399890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dirty="0" smtClean="0"/>
                      <a:t>SQL </a:t>
                    </a:r>
                    <a:r>
                      <a:rPr lang="en-US" dirty="0" smtClean="0"/>
                      <a:t>result </a:t>
                    </a:r>
                    <a:r>
                      <a:rPr lang="en-US" dirty="0" smtClean="0"/>
                      <a:t>– </a:t>
                    </a:r>
                    <a:r>
                      <a:rPr lang="en-US" dirty="0" err="1" smtClean="0"/>
                      <a:t>Tab_i</a:t>
                    </a:r>
                    <a:r>
                      <a:rPr lang="en-US" dirty="0" smtClean="0"/>
                      <a:t>:</a:t>
                    </a:r>
                    <a:endParaRPr lang="he-IL" dirty="0"/>
                  </a:p>
                </p:txBody>
              </p:sp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2103721" y="5223134"/>
                    <a:ext cx="364109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/>
                    <a:r>
                      <a:rPr lang="en-US" dirty="0" smtClean="0"/>
                      <a:t>ORM input </a:t>
                    </a:r>
                    <a:r>
                      <a:rPr lang="en-US" dirty="0" smtClean="0"/>
                      <a:t>argument*</a:t>
                    </a:r>
                    <a:endParaRPr lang="he-IL" dirty="0"/>
                  </a:p>
                </p:txBody>
              </p:sp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5655670" y="4625082"/>
                    <a:ext cx="18679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/>
                    <a:r>
                      <a:rPr lang="en-US" smtClean="0"/>
                      <a:t>ORM()</a:t>
                    </a:r>
                    <a:endParaRPr lang="he-IL"/>
                  </a:p>
                </p:txBody>
              </p:sp>
            </p:grpSp>
            <p:grpSp>
              <p:nvGrpSpPr>
                <p:cNvPr id="61" name="Group 60"/>
                <p:cNvGrpSpPr/>
                <p:nvPr/>
              </p:nvGrpSpPr>
              <p:grpSpPr>
                <a:xfrm>
                  <a:off x="7569262" y="4059166"/>
                  <a:ext cx="4188723" cy="2182489"/>
                  <a:chOff x="7569262" y="3989593"/>
                  <a:chExt cx="4188723" cy="2182489"/>
                </a:xfrm>
              </p:grpSpPr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7569262" y="3989593"/>
                    <a:ext cx="3395413" cy="1887588"/>
                    <a:chOff x="7569262" y="4248007"/>
                    <a:chExt cx="3395413" cy="1887588"/>
                  </a:xfrm>
                </p:grpSpPr>
                <p:sp>
                  <p:nvSpPr>
                    <p:cNvPr id="52" name="TextBox 51"/>
                    <p:cNvSpPr txBox="1"/>
                    <p:nvPr/>
                  </p:nvSpPr>
                  <p:spPr>
                    <a:xfrm>
                      <a:off x="7569262" y="4568531"/>
                      <a:ext cx="3090613" cy="1262264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C00000"/>
                      </a:solidFill>
                    </a:ln>
                  </p:spPr>
                  <p:txBody>
                    <a:bodyPr wrap="square" lIns="72000" tIns="108000" rIns="0" bIns="36000" rtlCol="1">
                      <a:noAutofit/>
                    </a:bodyPr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DTOi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: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self.fi1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value1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…</a:t>
                      </a: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self.fiK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valueK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endParaRPr lang="en-US" alt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7569263" y="4248007"/>
                      <a:ext cx="309061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r>
                        <a:rPr lang="en-US" dirty="0" smtClean="0"/>
                        <a:t>DTO </a:t>
                      </a:r>
                      <a:r>
                        <a:rPr lang="en-US" dirty="0" smtClean="0"/>
                        <a:t>instances </a:t>
                      </a:r>
                      <a:r>
                        <a:rPr lang="en-US" dirty="0" smtClean="0"/>
                        <a:t>of </a:t>
                      </a:r>
                      <a:r>
                        <a:rPr lang="en-US" dirty="0" err="1" smtClean="0"/>
                        <a:t>tab_i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records </a:t>
                      </a:r>
                      <a:endParaRPr lang="he-IL" dirty="0"/>
                    </a:p>
                  </p:txBody>
                </p:sp>
                <p:sp>
                  <p:nvSpPr>
                    <p:cNvPr id="55" name="TextBox 54"/>
                    <p:cNvSpPr txBox="1"/>
                    <p:nvPr/>
                  </p:nvSpPr>
                  <p:spPr>
                    <a:xfrm>
                      <a:off x="7721662" y="4720931"/>
                      <a:ext cx="3090613" cy="1262264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C00000"/>
                      </a:solidFill>
                    </a:ln>
                  </p:spPr>
                  <p:txBody>
                    <a:bodyPr wrap="square" lIns="72000" tIns="108000" rIns="0" bIns="36000" rtlCol="1">
                      <a:noAutofit/>
                    </a:bodyPr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DTOi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: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self.fi1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value1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…</a:t>
                      </a: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self.fiK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valueK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endParaRPr lang="en-US" alt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7" name="TextBox 56"/>
                    <p:cNvSpPr txBox="1"/>
                    <p:nvPr/>
                  </p:nvSpPr>
                  <p:spPr>
                    <a:xfrm>
                      <a:off x="7874062" y="4873331"/>
                      <a:ext cx="3090613" cy="1262264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C00000"/>
                      </a:solidFill>
                    </a:ln>
                  </p:spPr>
                  <p:txBody>
                    <a:bodyPr wrap="square" lIns="72000" tIns="108000" rIns="0" bIns="36000" rtlCol="1">
                      <a:noAutofit/>
                    </a:bodyPr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DTOi</a:t>
                      </a:r>
                      <a:r>
                        <a:rPr lang="en-US" baseline="-25000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1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: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self.fi1</a:t>
                      </a:r>
                      <a:r>
                        <a:rPr lang="en-US" baseline="-25000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1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value1</a:t>
                      </a:r>
                      <a:r>
                        <a:rPr lang="en-US" baseline="-25000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1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…</a:t>
                      </a: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self.fiK</a:t>
                      </a:r>
                      <a:r>
                        <a:rPr lang="en-US" baseline="-25000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1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valueK</a:t>
                      </a:r>
                      <a:r>
                        <a:rPr lang="en-US" baseline="-25000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1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/>
                      </a:r>
                      <a:br>
                        <a:rPr lang="en-US" dirty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</a:br>
                      <a:r>
                        <a:rPr lang="en-US" dirty="0" smtClean="0">
                          <a:solidFill>
                            <a:srgbClr val="000000"/>
                          </a:solidFill>
                          <a:ea typeface="Calibri"/>
                          <a:cs typeface="Arial"/>
                        </a:rPr>
                        <a:t>        </a:t>
                      </a:r>
                      <a:endParaRPr lang="en-US" alt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8667373" y="5802750"/>
                    <a:ext cx="309061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/>
                    <a:r>
                      <a:rPr lang="en-US" dirty="0" smtClean="0"/>
                      <a:t>ORM output</a:t>
                    </a:r>
                    <a:endParaRPr lang="he-IL" dirty="0"/>
                  </a:p>
                </p:txBody>
              </p:sp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1334782" y="4621535"/>
                <a:ext cx="3969514" cy="716939"/>
                <a:chOff x="1334782" y="4621535"/>
                <a:chExt cx="3969514" cy="716939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1334782" y="4621535"/>
                  <a:ext cx="21286" cy="716939"/>
                </a:xfrm>
                <a:prstGeom prst="line">
                  <a:avLst/>
                </a:prstGeom>
                <a:ln w="19050">
                  <a:solidFill>
                    <a:srgbClr val="B8B8B8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2316523" y="4621535"/>
                  <a:ext cx="21286" cy="716939"/>
                </a:xfrm>
                <a:prstGeom prst="line">
                  <a:avLst/>
                </a:prstGeom>
                <a:ln w="19050">
                  <a:solidFill>
                    <a:srgbClr val="B8B8B8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3326989" y="4621535"/>
                  <a:ext cx="21286" cy="716939"/>
                </a:xfrm>
                <a:prstGeom prst="line">
                  <a:avLst/>
                </a:prstGeom>
                <a:ln w="19050">
                  <a:solidFill>
                    <a:srgbClr val="B8B8B8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4152411" y="4621535"/>
                  <a:ext cx="21286" cy="716939"/>
                </a:xfrm>
                <a:prstGeom prst="line">
                  <a:avLst/>
                </a:prstGeom>
                <a:ln w="19050">
                  <a:solidFill>
                    <a:srgbClr val="B8B8B8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>
                  <a:off x="5283010" y="4621535"/>
                  <a:ext cx="21286" cy="716939"/>
                </a:xfrm>
                <a:prstGeom prst="line">
                  <a:avLst/>
                </a:prstGeom>
                <a:ln w="19050">
                  <a:solidFill>
                    <a:srgbClr val="B8B8B8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60150"/>
              </p:ext>
            </p:extLst>
          </p:nvPr>
        </p:nvGraphicFramePr>
        <p:xfrm>
          <a:off x="1345415" y="4391442"/>
          <a:ext cx="3952149" cy="37084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1124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/>
                        <a:t>valueK</a:t>
                      </a:r>
                      <a:r>
                        <a:rPr lang="en-US" b="0" baseline="-25000" dirty="0" smtClean="0"/>
                        <a:t>[1]</a:t>
                      </a:r>
                      <a:endParaRPr lang="he-IL" b="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 smtClean="0"/>
                        <a:t>…</a:t>
                      </a:r>
                      <a:endParaRPr lang="he-IL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value2</a:t>
                      </a:r>
                      <a:r>
                        <a:rPr lang="en-US" b="0" baseline="-25000" dirty="0" smtClean="0"/>
                        <a:t>[1]</a:t>
                      </a:r>
                      <a:endParaRPr lang="he-IL" b="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b="0" dirty="0" smtClean="0"/>
                        <a:t>Value1</a:t>
                      </a:r>
                      <a:r>
                        <a:rPr lang="en-US" b="0" baseline="-25000" dirty="0" smtClean="0"/>
                        <a:t>[1]</a:t>
                      </a:r>
                      <a:endParaRPr lang="he-IL" b="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158456"/>
              </p:ext>
            </p:extLst>
          </p:nvPr>
        </p:nvGraphicFramePr>
        <p:xfrm>
          <a:off x="1347687" y="4775858"/>
          <a:ext cx="3952149" cy="37084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1124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/>
                        <a:t>valueK</a:t>
                      </a:r>
                      <a:r>
                        <a:rPr lang="en-US" b="0" baseline="-25000" dirty="0" smtClean="0"/>
                        <a:t>[2]</a:t>
                      </a:r>
                      <a:endParaRPr lang="he-IL" b="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 smtClean="0"/>
                        <a:t>…</a:t>
                      </a:r>
                      <a:endParaRPr lang="he-IL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value2</a:t>
                      </a:r>
                      <a:r>
                        <a:rPr lang="en-US" b="0" baseline="-25000" dirty="0" smtClean="0"/>
                        <a:t>[2]</a:t>
                      </a:r>
                      <a:endParaRPr lang="he-IL" b="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b="0" dirty="0" smtClean="0"/>
                        <a:t>Value1</a:t>
                      </a:r>
                      <a:r>
                        <a:rPr lang="en-US" b="0" baseline="-25000" dirty="0" smtClean="0"/>
                        <a:t>[2]</a:t>
                      </a:r>
                      <a:endParaRPr lang="he-IL" b="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90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ORM – ORM.py</a:t>
            </a: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675103" y="186813"/>
            <a:ext cx="11271732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import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inspect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b="1" dirty="0" err="1" smtClean="0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row_map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(row,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col_mapping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dto_type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      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#Transfer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a row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of the query to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the corresponding TDO</a:t>
            </a:r>
            <a:endParaRPr lang="en-US" dirty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ctor_args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[row[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idx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idx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col_mapping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]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#Arrange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the list in correct order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dto_type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(*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ctor_args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                           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#Returns a new DTO of type </a:t>
            </a:r>
            <a:r>
              <a:rPr lang="en-US" i="1" dirty="0" err="1">
                <a:solidFill>
                  <a:srgbClr val="0073BF"/>
                </a:solidFill>
                <a:ea typeface="Calibri"/>
                <a:cs typeface="Arial"/>
              </a:rPr>
              <a:t>dto_type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i="1" dirty="0" err="1" smtClean="0">
                <a:solidFill>
                  <a:srgbClr val="0073BF"/>
                </a:solidFill>
                <a:ea typeface="Calibri"/>
                <a:cs typeface="Arial"/>
              </a:rPr>
              <a:t>orm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() returns an array of DTOs object that fits the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last SQL query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records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orm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(cursor,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dto_type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#Retrieve the argument names of the constructor</a:t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inspect.getargspec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(dto_type.__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init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__).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</a:t>
            </a:r>
            <a:r>
              <a:rPr lang="en-US" i="1" dirty="0" err="1">
                <a:solidFill>
                  <a:srgbClr val="0073BF"/>
                </a:solidFill>
                <a:ea typeface="Calibri"/>
                <a:cs typeface="Arial"/>
              </a:rPr>
              <a:t>arg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[0] is self - does not correspond to any database field</a:t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[</a:t>
            </a:r>
            <a:r>
              <a:rPr lang="en-US" dirty="0">
                <a:solidFill>
                  <a:srgbClr val="0000FF"/>
                </a:solidFill>
                <a:ea typeface="Calibri"/>
                <a:cs typeface="Arial"/>
              </a:rPr>
              <a:t>1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:]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#gets the names of the columns returned in the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cursor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   #(cursor description returns 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>the column names of the last query at position [0] </a:t>
            </a:r>
            <a:r>
              <a:rPr lang="en-US" sz="1400" i="1" dirty="0" smtClean="0">
                <a:solidFill>
                  <a:srgbClr val="0073BF"/>
                </a:solidFill>
                <a:ea typeface="Calibri"/>
                <a:cs typeface="Arial"/>
              </a:rPr>
              <a:t>)</a:t>
            </a:r>
            <a: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  <a:t/>
            </a:r>
            <a:br>
              <a:rPr lang="en-US" sz="1400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col_names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[row[</a:t>
            </a:r>
            <a:r>
              <a:rPr lang="en-US" dirty="0" smtClean="0">
                <a:solidFill>
                  <a:srgbClr val="0000FF"/>
                </a:solidFill>
                <a:ea typeface="Calibri"/>
                <a:cs typeface="Arial"/>
              </a:rPr>
              <a:t>0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row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cursor.description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#map the names into the position of the corresponding constructor argument</a:t>
            </a:r>
            <a:br>
              <a:rPr lang="en-US" i="1" dirty="0">
                <a:solidFill>
                  <a:srgbClr val="0073BF"/>
                </a:solidFill>
                <a:ea typeface="Calibri"/>
                <a:cs typeface="Arial"/>
              </a:rPr>
            </a:br>
            <a:r>
              <a:rPr lang="en-US" i="1" dirty="0">
                <a:solidFill>
                  <a:srgbClr val="0073BF"/>
                </a:solidFill>
                <a:ea typeface="Calibri"/>
                <a:cs typeface="Arial"/>
              </a:rPr>
              <a:t>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col_mapping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[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col_names.index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args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</a:t>
            </a:r>
            <a:r>
              <a:rPr lang="en-US" i="1" dirty="0" smtClean="0">
                <a:solidFill>
                  <a:srgbClr val="0073BF"/>
                </a:solidFill>
                <a:ea typeface="Calibri"/>
                <a:cs typeface="Arial"/>
              </a:rPr>
              <a:t>#Transfer each row of the query to a TDO and returns it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a typeface="Calibri"/>
                <a:cs typeface="Arial"/>
              </a:rPr>
              <a:t>   </a:t>
            </a:r>
            <a:r>
              <a:rPr lang="en-US" b="1" dirty="0" smtClean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[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row_map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(row,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col_mapping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dto_type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row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cursor.fetchall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()]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800300" y="1190690"/>
            <a:ext cx="6309473" cy="1699591"/>
            <a:chOff x="3898014" y="3071191"/>
            <a:chExt cx="6309473" cy="1699591"/>
          </a:xfrm>
        </p:grpSpPr>
        <p:sp>
          <p:nvSpPr>
            <p:cNvPr id="11" name="Rectangle 10"/>
            <p:cNvSpPr/>
            <p:nvPr/>
          </p:nvSpPr>
          <p:spPr>
            <a:xfrm>
              <a:off x="7007084" y="3071191"/>
              <a:ext cx="3200403" cy="1699591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12" name="Elbow Connector 11"/>
            <p:cNvCxnSpPr/>
            <p:nvPr/>
          </p:nvCxnSpPr>
          <p:spPr>
            <a:xfrm rot="10800000" flipV="1">
              <a:off x="3898014" y="4125658"/>
              <a:ext cx="3095221" cy="590532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045958" y="4663420"/>
            <a:ext cx="5900877" cy="1699591"/>
            <a:chOff x="4306610" y="3071191"/>
            <a:chExt cx="5900877" cy="1699591"/>
          </a:xfrm>
        </p:grpSpPr>
        <p:sp>
          <p:nvSpPr>
            <p:cNvPr id="21" name="Rectangle 20"/>
            <p:cNvSpPr/>
            <p:nvPr/>
          </p:nvSpPr>
          <p:spPr>
            <a:xfrm>
              <a:off x="7007084" y="3071191"/>
              <a:ext cx="3200403" cy="1699591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22" name="Elbow Connector 21"/>
            <p:cNvCxnSpPr/>
            <p:nvPr/>
          </p:nvCxnSpPr>
          <p:spPr>
            <a:xfrm rot="10800000" flipV="1">
              <a:off x="4306610" y="3914581"/>
              <a:ext cx="2700474" cy="13648"/>
            </a:xfrm>
            <a:prstGeom prst="bentConnector3">
              <a:avLst>
                <a:gd name="adj1" fmla="val 239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923726" y="2918780"/>
            <a:ext cx="6172193" cy="1782880"/>
            <a:chOff x="5923726" y="2918780"/>
            <a:chExt cx="6172193" cy="1782880"/>
          </a:xfrm>
        </p:grpSpPr>
        <p:grpSp>
          <p:nvGrpSpPr>
            <p:cNvPr id="9" name="Group 8"/>
            <p:cNvGrpSpPr/>
            <p:nvPr/>
          </p:nvGrpSpPr>
          <p:grpSpPr>
            <a:xfrm>
              <a:off x="5923726" y="2918780"/>
              <a:ext cx="6172193" cy="1782880"/>
              <a:chOff x="5923726" y="3071191"/>
              <a:chExt cx="6172193" cy="178288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7007084" y="3071191"/>
                <a:ext cx="5088835" cy="16995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cxnSp>
            <p:nvCxnSpPr>
              <p:cNvPr id="8" name="Elbow Connector 7"/>
              <p:cNvCxnSpPr/>
              <p:nvPr/>
            </p:nvCxnSpPr>
            <p:spPr>
              <a:xfrm rot="10800000" flipV="1">
                <a:off x="5923726" y="4077171"/>
                <a:ext cx="1083358" cy="776900"/>
              </a:xfrm>
              <a:prstGeom prst="bentConnector3">
                <a:avLst>
                  <a:gd name="adj1" fmla="val 25702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7110484" y="4244970"/>
              <a:ext cx="4985435" cy="430887"/>
            </a:xfrm>
            <a:prstGeom prst="rect">
              <a:avLst/>
            </a:prstGeom>
            <a:noFill/>
          </p:spPr>
          <p:txBody>
            <a:bodyPr wrap="square" lIns="0" rIns="0" rtlCol="1">
              <a:spAutoFit/>
            </a:bodyPr>
            <a:lstStyle/>
            <a:p>
              <a:r>
                <a:rPr lang="en-US" sz="1100" smtClean="0">
                  <a:solidFill>
                    <a:schemeClr val="accent6">
                      <a:lumMod val="75000"/>
                    </a:schemeClr>
                  </a:solidFill>
                </a:rPr>
                <a:t>** Each tuple represent 7 attributes of a single  column of the table. We care only for the first one (index [0])</a:t>
              </a:r>
              <a:endParaRPr lang="he-IL" sz="11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8876805" y="3669475"/>
              <a:ext cx="991590" cy="617517"/>
            </a:xfrm>
            <a:custGeom>
              <a:avLst/>
              <a:gdLst>
                <a:gd name="connsiteX0" fmla="*/ 5938 w 991590"/>
                <a:gd name="connsiteY0" fmla="*/ 118754 h 617517"/>
                <a:gd name="connsiteX1" fmla="*/ 17813 w 991590"/>
                <a:gd name="connsiteY1" fmla="*/ 53439 h 617517"/>
                <a:gd name="connsiteX2" fmla="*/ 29689 w 991590"/>
                <a:gd name="connsiteY2" fmla="*/ 41564 h 617517"/>
                <a:gd name="connsiteX3" fmla="*/ 41564 w 991590"/>
                <a:gd name="connsiteY3" fmla="*/ 23751 h 617517"/>
                <a:gd name="connsiteX4" fmla="*/ 59377 w 991590"/>
                <a:gd name="connsiteY4" fmla="*/ 17813 h 617517"/>
                <a:gd name="connsiteX5" fmla="*/ 106878 w 991590"/>
                <a:gd name="connsiteY5" fmla="*/ 0 h 617517"/>
                <a:gd name="connsiteX6" fmla="*/ 558140 w 991590"/>
                <a:gd name="connsiteY6" fmla="*/ 5938 h 617517"/>
                <a:gd name="connsiteX7" fmla="*/ 575953 w 991590"/>
                <a:gd name="connsiteY7" fmla="*/ 11876 h 617517"/>
                <a:gd name="connsiteX8" fmla="*/ 611579 w 991590"/>
                <a:gd name="connsiteY8" fmla="*/ 29689 h 617517"/>
                <a:gd name="connsiteX9" fmla="*/ 641268 w 991590"/>
                <a:gd name="connsiteY9" fmla="*/ 53439 h 617517"/>
                <a:gd name="connsiteX10" fmla="*/ 653143 w 991590"/>
                <a:gd name="connsiteY10" fmla="*/ 65315 h 617517"/>
                <a:gd name="connsiteX11" fmla="*/ 659081 w 991590"/>
                <a:gd name="connsiteY11" fmla="*/ 95003 h 617517"/>
                <a:gd name="connsiteX12" fmla="*/ 647205 w 991590"/>
                <a:gd name="connsiteY12" fmla="*/ 172193 h 617517"/>
                <a:gd name="connsiteX13" fmla="*/ 629392 w 991590"/>
                <a:gd name="connsiteY13" fmla="*/ 207819 h 617517"/>
                <a:gd name="connsiteX14" fmla="*/ 635330 w 991590"/>
                <a:gd name="connsiteY14" fmla="*/ 255320 h 617517"/>
                <a:gd name="connsiteX15" fmla="*/ 659081 w 991590"/>
                <a:gd name="connsiteY15" fmla="*/ 261257 h 617517"/>
                <a:gd name="connsiteX16" fmla="*/ 694707 w 991590"/>
                <a:gd name="connsiteY16" fmla="*/ 267195 h 617517"/>
                <a:gd name="connsiteX17" fmla="*/ 777834 w 991590"/>
                <a:gd name="connsiteY17" fmla="*/ 261257 h 617517"/>
                <a:gd name="connsiteX18" fmla="*/ 813460 w 991590"/>
                <a:gd name="connsiteY18" fmla="*/ 255320 h 617517"/>
                <a:gd name="connsiteX19" fmla="*/ 920338 w 991590"/>
                <a:gd name="connsiteY19" fmla="*/ 261257 h 617517"/>
                <a:gd name="connsiteX20" fmla="*/ 961901 w 991590"/>
                <a:gd name="connsiteY20" fmla="*/ 267195 h 617517"/>
                <a:gd name="connsiteX21" fmla="*/ 967839 w 991590"/>
                <a:gd name="connsiteY21" fmla="*/ 285008 h 617517"/>
                <a:gd name="connsiteX22" fmla="*/ 979714 w 991590"/>
                <a:gd name="connsiteY22" fmla="*/ 302821 h 617517"/>
                <a:gd name="connsiteX23" fmla="*/ 985652 w 991590"/>
                <a:gd name="connsiteY23" fmla="*/ 326572 h 617517"/>
                <a:gd name="connsiteX24" fmla="*/ 991590 w 991590"/>
                <a:gd name="connsiteY24" fmla="*/ 344385 h 617517"/>
                <a:gd name="connsiteX25" fmla="*/ 985652 w 991590"/>
                <a:gd name="connsiteY25" fmla="*/ 397824 h 617517"/>
                <a:gd name="connsiteX26" fmla="*/ 979714 w 991590"/>
                <a:gd name="connsiteY26" fmla="*/ 415637 h 617517"/>
                <a:gd name="connsiteX27" fmla="*/ 944089 w 991590"/>
                <a:gd name="connsiteY27" fmla="*/ 421574 h 617517"/>
                <a:gd name="connsiteX28" fmla="*/ 611579 w 991590"/>
                <a:gd name="connsiteY28" fmla="*/ 415637 h 617517"/>
                <a:gd name="connsiteX29" fmla="*/ 564078 w 991590"/>
                <a:gd name="connsiteY29" fmla="*/ 409699 h 617517"/>
                <a:gd name="connsiteX30" fmla="*/ 445325 w 991590"/>
                <a:gd name="connsiteY30" fmla="*/ 415637 h 617517"/>
                <a:gd name="connsiteX31" fmla="*/ 409699 w 991590"/>
                <a:gd name="connsiteY31" fmla="*/ 451263 h 617517"/>
                <a:gd name="connsiteX32" fmla="*/ 403761 w 991590"/>
                <a:gd name="connsiteY32" fmla="*/ 564078 h 617517"/>
                <a:gd name="connsiteX33" fmla="*/ 397824 w 991590"/>
                <a:gd name="connsiteY33" fmla="*/ 581891 h 617517"/>
                <a:gd name="connsiteX34" fmla="*/ 380011 w 991590"/>
                <a:gd name="connsiteY34" fmla="*/ 593767 h 617517"/>
                <a:gd name="connsiteX35" fmla="*/ 314696 w 991590"/>
                <a:gd name="connsiteY35" fmla="*/ 611580 h 617517"/>
                <a:gd name="connsiteX36" fmla="*/ 290946 w 991590"/>
                <a:gd name="connsiteY36" fmla="*/ 617517 h 617517"/>
                <a:gd name="connsiteX37" fmla="*/ 89065 w 991590"/>
                <a:gd name="connsiteY37" fmla="*/ 611580 h 617517"/>
                <a:gd name="connsiteX38" fmla="*/ 77190 w 991590"/>
                <a:gd name="connsiteY38" fmla="*/ 599704 h 617517"/>
                <a:gd name="connsiteX39" fmla="*/ 47501 w 991590"/>
                <a:gd name="connsiteY39" fmla="*/ 575954 h 617517"/>
                <a:gd name="connsiteX40" fmla="*/ 41564 w 991590"/>
                <a:gd name="connsiteY40" fmla="*/ 552203 h 617517"/>
                <a:gd name="connsiteX41" fmla="*/ 29689 w 991590"/>
                <a:gd name="connsiteY41" fmla="*/ 516577 h 617517"/>
                <a:gd name="connsiteX42" fmla="*/ 17813 w 991590"/>
                <a:gd name="connsiteY42" fmla="*/ 308759 h 617517"/>
                <a:gd name="connsiteX43" fmla="*/ 11876 w 991590"/>
                <a:gd name="connsiteY43" fmla="*/ 290946 h 617517"/>
                <a:gd name="connsiteX44" fmla="*/ 0 w 991590"/>
                <a:gd name="connsiteY44" fmla="*/ 243444 h 617517"/>
                <a:gd name="connsiteX45" fmla="*/ 5938 w 991590"/>
                <a:gd name="connsiteY45" fmla="*/ 118754 h 617517"/>
                <a:gd name="connsiteX46" fmla="*/ 5938 w 991590"/>
                <a:gd name="connsiteY46" fmla="*/ 118754 h 617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991590" h="617517">
                  <a:moveTo>
                    <a:pt x="5938" y="118754"/>
                  </a:moveTo>
                  <a:cubicBezTo>
                    <a:pt x="7917" y="107868"/>
                    <a:pt x="9143" y="67888"/>
                    <a:pt x="17813" y="53439"/>
                  </a:cubicBezTo>
                  <a:cubicBezTo>
                    <a:pt x="20693" y="48639"/>
                    <a:pt x="26192" y="45935"/>
                    <a:pt x="29689" y="41564"/>
                  </a:cubicBezTo>
                  <a:cubicBezTo>
                    <a:pt x="34147" y="35992"/>
                    <a:pt x="35992" y="28209"/>
                    <a:pt x="41564" y="23751"/>
                  </a:cubicBezTo>
                  <a:cubicBezTo>
                    <a:pt x="46451" y="19841"/>
                    <a:pt x="53779" y="20612"/>
                    <a:pt x="59377" y="17813"/>
                  </a:cubicBezTo>
                  <a:cubicBezTo>
                    <a:pt x="100147" y="-2572"/>
                    <a:pt x="49601" y="11456"/>
                    <a:pt x="106878" y="0"/>
                  </a:cubicBezTo>
                  <a:lnTo>
                    <a:pt x="558140" y="5938"/>
                  </a:lnTo>
                  <a:cubicBezTo>
                    <a:pt x="564397" y="6096"/>
                    <a:pt x="570355" y="9077"/>
                    <a:pt x="575953" y="11876"/>
                  </a:cubicBezTo>
                  <a:cubicBezTo>
                    <a:pt x="621995" y="34897"/>
                    <a:pt x="566805" y="14764"/>
                    <a:pt x="611579" y="29689"/>
                  </a:cubicBezTo>
                  <a:cubicBezTo>
                    <a:pt x="640263" y="58370"/>
                    <a:pt x="603804" y="23467"/>
                    <a:pt x="641268" y="53439"/>
                  </a:cubicBezTo>
                  <a:cubicBezTo>
                    <a:pt x="645639" y="56936"/>
                    <a:pt x="649185" y="61356"/>
                    <a:pt x="653143" y="65315"/>
                  </a:cubicBezTo>
                  <a:cubicBezTo>
                    <a:pt x="655122" y="75211"/>
                    <a:pt x="659081" y="84911"/>
                    <a:pt x="659081" y="95003"/>
                  </a:cubicBezTo>
                  <a:cubicBezTo>
                    <a:pt x="659081" y="108630"/>
                    <a:pt x="657369" y="151865"/>
                    <a:pt x="647205" y="172193"/>
                  </a:cubicBezTo>
                  <a:cubicBezTo>
                    <a:pt x="624184" y="218235"/>
                    <a:pt x="644317" y="163045"/>
                    <a:pt x="629392" y="207819"/>
                  </a:cubicBezTo>
                  <a:cubicBezTo>
                    <a:pt x="631371" y="223653"/>
                    <a:pt x="627580" y="241371"/>
                    <a:pt x="635330" y="255320"/>
                  </a:cubicBezTo>
                  <a:cubicBezTo>
                    <a:pt x="639293" y="262454"/>
                    <a:pt x="651079" y="259657"/>
                    <a:pt x="659081" y="261257"/>
                  </a:cubicBezTo>
                  <a:cubicBezTo>
                    <a:pt x="670886" y="263618"/>
                    <a:pt x="682832" y="265216"/>
                    <a:pt x="694707" y="267195"/>
                  </a:cubicBezTo>
                  <a:cubicBezTo>
                    <a:pt x="722416" y="265216"/>
                    <a:pt x="750192" y="264021"/>
                    <a:pt x="777834" y="261257"/>
                  </a:cubicBezTo>
                  <a:cubicBezTo>
                    <a:pt x="789813" y="260059"/>
                    <a:pt x="801421" y="255320"/>
                    <a:pt x="813460" y="255320"/>
                  </a:cubicBezTo>
                  <a:cubicBezTo>
                    <a:pt x="849141" y="255320"/>
                    <a:pt x="884712" y="259278"/>
                    <a:pt x="920338" y="261257"/>
                  </a:cubicBezTo>
                  <a:cubicBezTo>
                    <a:pt x="934192" y="263236"/>
                    <a:pt x="949384" y="260936"/>
                    <a:pt x="961901" y="267195"/>
                  </a:cubicBezTo>
                  <a:cubicBezTo>
                    <a:pt x="967499" y="269994"/>
                    <a:pt x="965040" y="279410"/>
                    <a:pt x="967839" y="285008"/>
                  </a:cubicBezTo>
                  <a:cubicBezTo>
                    <a:pt x="971030" y="291391"/>
                    <a:pt x="975756" y="296883"/>
                    <a:pt x="979714" y="302821"/>
                  </a:cubicBezTo>
                  <a:cubicBezTo>
                    <a:pt x="981693" y="310738"/>
                    <a:pt x="983410" y="318725"/>
                    <a:pt x="985652" y="326572"/>
                  </a:cubicBezTo>
                  <a:cubicBezTo>
                    <a:pt x="987372" y="332590"/>
                    <a:pt x="991590" y="338126"/>
                    <a:pt x="991590" y="344385"/>
                  </a:cubicBezTo>
                  <a:cubicBezTo>
                    <a:pt x="991590" y="362308"/>
                    <a:pt x="988599" y="380145"/>
                    <a:pt x="985652" y="397824"/>
                  </a:cubicBezTo>
                  <a:cubicBezTo>
                    <a:pt x="984623" y="403998"/>
                    <a:pt x="985148" y="412532"/>
                    <a:pt x="979714" y="415637"/>
                  </a:cubicBezTo>
                  <a:cubicBezTo>
                    <a:pt x="969261" y="421610"/>
                    <a:pt x="955964" y="419595"/>
                    <a:pt x="944089" y="421574"/>
                  </a:cubicBezTo>
                  <a:lnTo>
                    <a:pt x="611579" y="415637"/>
                  </a:lnTo>
                  <a:cubicBezTo>
                    <a:pt x="595630" y="415139"/>
                    <a:pt x="580035" y="409699"/>
                    <a:pt x="564078" y="409699"/>
                  </a:cubicBezTo>
                  <a:cubicBezTo>
                    <a:pt x="524444" y="409699"/>
                    <a:pt x="484909" y="413658"/>
                    <a:pt x="445325" y="415637"/>
                  </a:cubicBezTo>
                  <a:cubicBezTo>
                    <a:pt x="433121" y="423773"/>
                    <a:pt x="412597" y="434601"/>
                    <a:pt x="409699" y="451263"/>
                  </a:cubicBezTo>
                  <a:cubicBezTo>
                    <a:pt x="403247" y="488363"/>
                    <a:pt x="407170" y="526576"/>
                    <a:pt x="403761" y="564078"/>
                  </a:cubicBezTo>
                  <a:cubicBezTo>
                    <a:pt x="403194" y="570311"/>
                    <a:pt x="401734" y="577004"/>
                    <a:pt x="397824" y="581891"/>
                  </a:cubicBezTo>
                  <a:cubicBezTo>
                    <a:pt x="393366" y="587464"/>
                    <a:pt x="386532" y="590869"/>
                    <a:pt x="380011" y="593767"/>
                  </a:cubicBezTo>
                  <a:cubicBezTo>
                    <a:pt x="352211" y="606123"/>
                    <a:pt x="342630" y="605373"/>
                    <a:pt x="314696" y="611580"/>
                  </a:cubicBezTo>
                  <a:cubicBezTo>
                    <a:pt x="306730" y="613350"/>
                    <a:pt x="298863" y="615538"/>
                    <a:pt x="290946" y="617517"/>
                  </a:cubicBezTo>
                  <a:cubicBezTo>
                    <a:pt x="223652" y="615538"/>
                    <a:pt x="156155" y="617171"/>
                    <a:pt x="89065" y="611580"/>
                  </a:cubicBezTo>
                  <a:cubicBezTo>
                    <a:pt x="83486" y="611115"/>
                    <a:pt x="81561" y="603201"/>
                    <a:pt x="77190" y="599704"/>
                  </a:cubicBezTo>
                  <a:cubicBezTo>
                    <a:pt x="39726" y="569732"/>
                    <a:pt x="76185" y="604635"/>
                    <a:pt x="47501" y="575954"/>
                  </a:cubicBezTo>
                  <a:cubicBezTo>
                    <a:pt x="45522" y="568037"/>
                    <a:pt x="43909" y="560019"/>
                    <a:pt x="41564" y="552203"/>
                  </a:cubicBezTo>
                  <a:cubicBezTo>
                    <a:pt x="37967" y="540213"/>
                    <a:pt x="29689" y="516577"/>
                    <a:pt x="29689" y="516577"/>
                  </a:cubicBezTo>
                  <a:cubicBezTo>
                    <a:pt x="13520" y="403397"/>
                    <a:pt x="33715" y="555249"/>
                    <a:pt x="17813" y="308759"/>
                  </a:cubicBezTo>
                  <a:cubicBezTo>
                    <a:pt x="17410" y="302513"/>
                    <a:pt x="13523" y="296984"/>
                    <a:pt x="11876" y="290946"/>
                  </a:cubicBezTo>
                  <a:cubicBezTo>
                    <a:pt x="7582" y="275200"/>
                    <a:pt x="0" y="243444"/>
                    <a:pt x="0" y="243444"/>
                  </a:cubicBezTo>
                  <a:cubicBezTo>
                    <a:pt x="1979" y="201881"/>
                    <a:pt x="2482" y="160221"/>
                    <a:pt x="5938" y="118754"/>
                  </a:cubicBezTo>
                  <a:lnTo>
                    <a:pt x="5938" y="118754"/>
                  </a:lnTo>
                  <a:close/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25093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ORM </a:t>
            </a:r>
            <a:r>
              <a:rPr lang="en-US" b="1" dirty="0" smtClean="0"/>
              <a:t>– Generic DAO </a:t>
            </a: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844078" y="881060"/>
            <a:ext cx="5616000" cy="2302671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class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_Assignments: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def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find(self, 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c = self._conn.cursor()</a:t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c.execute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"""SELECT 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                               FROM </a:t>
            </a:r>
            <a:r>
              <a:rPr lang="en-US" b="1">
                <a:solidFill>
                  <a:srgbClr val="008000"/>
                </a:solidFill>
                <a:ea typeface="Calibri"/>
                <a:cs typeface="Arial"/>
              </a:rPr>
              <a:t>assignments WHERE num = </a:t>
            </a:r>
            <a:r>
              <a:rPr lang="en-US" b="1" smtClean="0">
                <a:solidFill>
                  <a:srgbClr val="008000"/>
                </a:solidFill>
                <a:ea typeface="Calibri"/>
                <a:cs typeface="Arial"/>
              </a:rPr>
              <a:t>?"""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                              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[num</a:t>
            </a:r>
            <a:r>
              <a:rPr lang="en-US" smtClean="0">
                <a:solidFill>
                  <a:srgbClr val="000000"/>
                </a:solidFill>
                <a:ea typeface="Calibri"/>
                <a:cs typeface="Arial"/>
              </a:rPr>
              <a:t>])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>
                <a:solidFill>
                  <a:srgbClr val="000000"/>
                </a:solidFill>
                <a:ea typeface="Calibri"/>
                <a:cs typeface="Arial"/>
              </a:rPr>
              <a:t>Assignment(*c.fetchone())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71525" y="330199"/>
            <a:ext cx="11163176" cy="51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smtClean="0"/>
              <a:t>Generic find() method as example</a:t>
            </a:r>
            <a:endParaRPr lang="en-US" sz="2400" b="1"/>
          </a:p>
          <a:p>
            <a:pPr marL="0" indent="0">
              <a:buNone/>
            </a:pPr>
            <a:endParaRPr lang="en-US" sz="2400" smtClean="0"/>
          </a:p>
          <a:p>
            <a:endParaRPr lang="en-US" sz="2400" smtClean="0"/>
          </a:p>
        </p:txBody>
      </p:sp>
      <p:sp>
        <p:nvSpPr>
          <p:cNvPr id="12" name="TextBox 11"/>
          <p:cNvSpPr txBox="1"/>
          <p:nvPr/>
        </p:nvSpPr>
        <p:spPr>
          <a:xfrm>
            <a:off x="6867938" y="881060"/>
            <a:ext cx="423407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Q: What should be </a:t>
            </a:r>
            <a:r>
              <a:rPr lang="en-US" b="1" smtClean="0">
                <a:solidFill>
                  <a:schemeClr val="accent1"/>
                </a:solidFill>
              </a:rPr>
              <a:t>generalized?</a:t>
            </a:r>
            <a:endParaRPr lang="he-IL" b="1">
              <a:solidFill>
                <a:schemeClr val="accent1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401417" y="890999"/>
            <a:ext cx="5466521" cy="2042321"/>
            <a:chOff x="1401417" y="1069901"/>
            <a:chExt cx="5466521" cy="2042321"/>
          </a:xfrm>
        </p:grpSpPr>
        <p:sp>
          <p:nvSpPr>
            <p:cNvPr id="3" name="Rounded Rectangle 2"/>
            <p:cNvSpPr/>
            <p:nvPr/>
          </p:nvSpPr>
          <p:spPr>
            <a:xfrm>
              <a:off x="1401417" y="1069901"/>
              <a:ext cx="1470992" cy="341456"/>
            </a:xfrm>
            <a:prstGeom prst="roundRect">
              <a:avLst>
                <a:gd name="adj" fmla="val 34131"/>
              </a:avLst>
            </a:prstGeom>
            <a:solidFill>
              <a:srgbClr val="FFFF00">
                <a:alpha val="18000"/>
              </a:srgbClr>
            </a:solidFill>
            <a:ln w="222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46242" y="1401418"/>
              <a:ext cx="735496" cy="341456"/>
            </a:xfrm>
            <a:prstGeom prst="roundRect">
              <a:avLst>
                <a:gd name="adj" fmla="val 34131"/>
              </a:avLst>
            </a:prstGeom>
            <a:solidFill>
              <a:srgbClr val="FFFF00">
                <a:alpha val="18000"/>
              </a:srgbClr>
            </a:solidFill>
            <a:ln w="222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04661" y="2488308"/>
              <a:ext cx="735496" cy="341456"/>
            </a:xfrm>
            <a:prstGeom prst="roundRect">
              <a:avLst>
                <a:gd name="adj" fmla="val 34131"/>
              </a:avLst>
            </a:prstGeom>
            <a:solidFill>
              <a:srgbClr val="FFFF00">
                <a:alpha val="18000"/>
              </a:srgbClr>
            </a:solidFill>
            <a:ln w="222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908311" y="2770766"/>
              <a:ext cx="1212576" cy="341456"/>
            </a:xfrm>
            <a:prstGeom prst="roundRect">
              <a:avLst>
                <a:gd name="adj" fmla="val 34131"/>
              </a:avLst>
            </a:prstGeom>
            <a:solidFill>
              <a:srgbClr val="FFFF00">
                <a:alpha val="18000"/>
              </a:srgbClr>
            </a:solidFill>
            <a:ln w="222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4472608" y="1200873"/>
              <a:ext cx="2395330" cy="727319"/>
              <a:chOff x="4472608" y="1200873"/>
              <a:chExt cx="2395330" cy="727319"/>
            </a:xfrm>
          </p:grpSpPr>
          <p:cxnSp>
            <p:nvCxnSpPr>
              <p:cNvPr id="14" name="Straight Arrow Connector 13"/>
              <p:cNvCxnSpPr/>
              <p:nvPr/>
            </p:nvCxnSpPr>
            <p:spPr>
              <a:xfrm flipH="1" flipV="1">
                <a:off x="4711147" y="1200873"/>
                <a:ext cx="2156791" cy="4375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H="1">
                <a:off x="4472608" y="1244628"/>
                <a:ext cx="2395330" cy="184666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H="1">
                <a:off x="5670273" y="1244628"/>
                <a:ext cx="1197665" cy="683564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Rounded Rectangle 21"/>
            <p:cNvSpPr/>
            <p:nvPr/>
          </p:nvSpPr>
          <p:spPr>
            <a:xfrm>
              <a:off x="5131905" y="2162081"/>
              <a:ext cx="617881" cy="341456"/>
            </a:xfrm>
            <a:prstGeom prst="roundRect">
              <a:avLst>
                <a:gd name="adj" fmla="val 34131"/>
              </a:avLst>
            </a:prstGeom>
            <a:solidFill>
              <a:srgbClr val="FFFF00">
                <a:alpha val="18000"/>
              </a:srgbClr>
            </a:solidFill>
            <a:ln w="222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44077" y="3289854"/>
            <a:ext cx="8240287" cy="2812771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</a:t>
            </a:r>
            <a:r>
              <a:rPr lang="en-US" b="1" dirty="0" err="1">
                <a:solidFill>
                  <a:srgbClr val="000080"/>
                </a:solidFill>
                <a:ea typeface="Calibri"/>
                <a:cs typeface="Arial"/>
              </a:rPr>
              <a:t>def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find(self, **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keyvals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):</a:t>
            </a:r>
            <a:r>
              <a:rPr lang="en-US" dirty="0" smtClean="0">
                <a:solidFill>
                  <a:schemeClr val="accent1"/>
                </a:solidFill>
                <a:ea typeface="Calibri"/>
                <a:cs typeface="Arial"/>
              </a:rPr>
              <a:t> # </a:t>
            </a:r>
            <a:r>
              <a:rPr lang="en-US" b="1" dirty="0" smtClean="0">
                <a:solidFill>
                  <a:schemeClr val="accent1"/>
                </a:solidFill>
              </a:rPr>
              <a:t>**</a:t>
            </a:r>
            <a:r>
              <a:rPr lang="en-US" b="1" dirty="0">
                <a:solidFill>
                  <a:schemeClr val="accent1"/>
                </a:solidFill>
              </a:rPr>
              <a:t> operator</a:t>
            </a:r>
            <a:r>
              <a:rPr lang="en-US" dirty="0">
                <a:solidFill>
                  <a:schemeClr val="accent1"/>
                </a:solidFill>
              </a:rPr>
              <a:t> - dictionary with (column, value) </a:t>
            </a:r>
            <a:r>
              <a:rPr lang="en-US" dirty="0" smtClean="0">
                <a:solidFill>
                  <a:schemeClr val="accent1"/>
                </a:solidFill>
              </a:rPr>
              <a:t>entries</a:t>
            </a:r>
            <a:r>
              <a:rPr lang="en-US" dirty="0">
                <a:solidFill>
                  <a:schemeClr val="accent1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column_names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keyvals.keys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params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keyvals.values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stmt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=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'SELECT * FROM {} WHERE {}'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\</a:t>
            </a:r>
            <a:b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                                                             .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format(self._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table_name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endParaRPr lang="en-US" dirty="0" smtClean="0">
              <a:solidFill>
                <a:srgbClr val="000000"/>
              </a:solidFill>
              <a:ea typeface="Calibri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a typeface="Calibri"/>
                <a:cs typeface="Arial"/>
              </a:rPr>
              <a:t>                   </a:t>
            </a:r>
            <a:r>
              <a:rPr lang="en-US" b="1" dirty="0" smtClean="0">
                <a:solidFill>
                  <a:srgbClr val="008000"/>
                </a:solidFill>
                <a:ea typeface="Calibri"/>
                <a:cs typeface="Arial"/>
              </a:rPr>
              <a:t>'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AND '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.join([col + </a:t>
            </a:r>
            <a:r>
              <a:rPr lang="en-US" b="1" dirty="0">
                <a:solidFill>
                  <a:srgbClr val="008000"/>
                </a:solidFill>
                <a:ea typeface="Calibri"/>
                <a:cs typeface="Arial"/>
              </a:rPr>
              <a:t>'=?'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for 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col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in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column_names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]))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/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c = self._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conn.cursor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c.execute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stmt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params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        </a:t>
            </a:r>
            <a:r>
              <a:rPr lang="en-US" b="1" dirty="0">
                <a:solidFill>
                  <a:srgbClr val="000080"/>
                </a:solidFill>
                <a:ea typeface="Calibri"/>
                <a:cs typeface="Arial"/>
              </a:rPr>
              <a:t>return </a:t>
            </a:r>
            <a:r>
              <a:rPr lang="en-US" dirty="0" err="1">
                <a:solidFill>
                  <a:srgbClr val="000000"/>
                </a:solidFill>
                <a:ea typeface="Calibri"/>
                <a:cs typeface="Arial"/>
              </a:rPr>
              <a:t>orm</a:t>
            </a:r>
            <a:r>
              <a:rPr lang="en-US" dirty="0">
                <a:solidFill>
                  <a:srgbClr val="000000"/>
                </a:solidFill>
                <a:ea typeface="Calibri"/>
                <a:cs typeface="Arial"/>
              </a:rPr>
              <a:t>(c, self._</a:t>
            </a:r>
            <a:r>
              <a:rPr lang="en-US" dirty="0" err="1" smtClean="0">
                <a:solidFill>
                  <a:srgbClr val="000000"/>
                </a:solidFill>
                <a:ea typeface="Calibri"/>
                <a:cs typeface="Arial"/>
              </a:rPr>
              <a:t>dto_type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Arial"/>
              </a:rPr>
              <a:t>)</a:t>
            </a:r>
            <a:endParaRPr lang="en-US" alt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519056" y="1796744"/>
            <a:ext cx="8238935" cy="2000014"/>
            <a:chOff x="3519056" y="1796744"/>
            <a:chExt cx="8238935" cy="2000014"/>
          </a:xfrm>
        </p:grpSpPr>
        <p:sp>
          <p:nvSpPr>
            <p:cNvPr id="23" name="Rectangle 22"/>
            <p:cNvSpPr/>
            <p:nvPr/>
          </p:nvSpPr>
          <p:spPr>
            <a:xfrm>
              <a:off x="6867938" y="1796744"/>
              <a:ext cx="4890053" cy="200001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H="1" flipV="1">
              <a:off x="3519056" y="3532909"/>
              <a:ext cx="3348882" cy="2638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505659" y="4990405"/>
            <a:ext cx="3481165" cy="2154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400" dirty="0" err="1"/>
              <a:t>stmt</a:t>
            </a:r>
            <a:r>
              <a:rPr lang="en-US" sz="1400" dirty="0"/>
              <a:t> </a:t>
            </a:r>
            <a:r>
              <a:rPr lang="en-US" sz="1400" dirty="0" smtClean="0"/>
              <a:t>= 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'SELECT * FROM </a:t>
            </a:r>
            <a:r>
              <a:rPr lang="en-US" sz="1400" b="1" dirty="0" smtClean="0">
                <a:solidFill>
                  <a:srgbClr val="008000"/>
                </a:solidFill>
                <a:ea typeface="Calibri"/>
                <a:cs typeface="Arial"/>
              </a:rPr>
              <a:t>students 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WHERE </a:t>
            </a:r>
            <a:r>
              <a:rPr lang="en-US" sz="1400" b="1" dirty="0" smtClean="0">
                <a:solidFill>
                  <a:srgbClr val="008000"/>
                </a:solidFill>
                <a:ea typeface="Calibri"/>
                <a:cs typeface="Arial"/>
              </a:rPr>
              <a:t>id=?  </a:t>
            </a:r>
            <a:endParaRPr lang="he-IL" sz="1400" dirty="0"/>
          </a:p>
        </p:txBody>
      </p:sp>
      <p:sp>
        <p:nvSpPr>
          <p:cNvPr id="35" name="Rectangle 34"/>
          <p:cNvSpPr/>
          <p:nvPr/>
        </p:nvSpPr>
        <p:spPr>
          <a:xfrm>
            <a:off x="6867938" y="4084984"/>
            <a:ext cx="4890053" cy="173934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6" name="Rounded Rectangle 35"/>
          <p:cNvSpPr/>
          <p:nvPr/>
        </p:nvSpPr>
        <p:spPr>
          <a:xfrm>
            <a:off x="7096540" y="4992870"/>
            <a:ext cx="4393096" cy="224434"/>
          </a:xfrm>
          <a:prstGeom prst="roundRect">
            <a:avLst/>
          </a:prstGeom>
          <a:solidFill>
            <a:srgbClr val="FFFF00">
              <a:alpha val="21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44" name="Group 43"/>
          <p:cNvGrpSpPr/>
          <p:nvPr/>
        </p:nvGrpSpPr>
        <p:grpSpPr>
          <a:xfrm>
            <a:off x="8696744" y="4165468"/>
            <a:ext cx="3495255" cy="887784"/>
            <a:chOff x="8696744" y="4960588"/>
            <a:chExt cx="3495255" cy="887784"/>
          </a:xfrm>
        </p:grpSpPr>
        <p:sp>
          <p:nvSpPr>
            <p:cNvPr id="37" name="TextBox 36"/>
            <p:cNvSpPr txBox="1"/>
            <p:nvPr/>
          </p:nvSpPr>
          <p:spPr>
            <a:xfrm>
              <a:off x="9631016" y="4960588"/>
              <a:ext cx="256098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smtClean="0"/>
                <a:t>_Students (DAO) is self</a:t>
              </a:r>
              <a:endParaRPr lang="he-IL" dirty="0"/>
            </a:p>
          </p:txBody>
        </p:sp>
        <p:cxnSp>
          <p:nvCxnSpPr>
            <p:cNvPr id="42" name="Elbow Connector 41"/>
            <p:cNvCxnSpPr>
              <a:stCxn id="37" idx="1"/>
            </p:cNvCxnSpPr>
            <p:nvPr/>
          </p:nvCxnSpPr>
          <p:spPr>
            <a:xfrm rot="10800000" flipV="1">
              <a:off x="8696744" y="5145254"/>
              <a:ext cx="934273" cy="703118"/>
            </a:xfrm>
            <a:prstGeom prst="bentConnector3">
              <a:avLst>
                <a:gd name="adj1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6761510" y="3800812"/>
            <a:ext cx="48763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Q: </a:t>
            </a:r>
            <a:r>
              <a:rPr lang="en-US" b="1" dirty="0" smtClean="0">
                <a:solidFill>
                  <a:schemeClr val="accent1"/>
                </a:solidFill>
              </a:rPr>
              <a:t>Who is ‘self’ when doing find on a student?</a:t>
            </a:r>
            <a:endParaRPr lang="he-IL" b="1" dirty="0">
              <a:solidFill>
                <a:schemeClr val="accent1"/>
              </a:solidFill>
            </a:endParaRP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10213041" y="6488668"/>
            <a:ext cx="1882878" cy="369332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>
            <a:bevelT w="57150"/>
          </a:sp3d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Go to </a:t>
            </a:r>
            <a:r>
              <a:rPr lang="en-US" dirty="0" err="1" smtClean="0">
                <a:solidFill>
                  <a:schemeClr val="bg1"/>
                </a:solidFill>
              </a:rPr>
              <a:t>pyCharm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16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 animBg="1"/>
      <p:bldP spid="28" grpId="0" animBg="1"/>
      <p:bldP spid="35" grpId="0" animBg="1"/>
      <p:bldP spid="36" grpId="0" animBg="1"/>
      <p:bldP spid="52" grpId="0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ORM– Generic DAO.py  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6082145" y="186813"/>
            <a:ext cx="5983821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#Update record(s) in table(self)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update(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set_values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set_values.keys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set_values.values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cond_column_names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cond.keys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cond_params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cond.values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 + 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cond_params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#Warning - In course site at following line there are 2 extra '()'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'UPDATE {} SET {} WHERE {}'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\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    .format(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', 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.join([set +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'=?'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for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set_column_names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]),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                             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 AND 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.join([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+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'=?'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for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cond_column_names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]))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conn.execute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#Delete records from a table(self), </a:t>
            </a:r>
            <a:r>
              <a:rPr lang="en-US" sz="1050" i="1" dirty="0" err="1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keyVals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are the condition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delete(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**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keyvals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keyvals.keys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keyvals.values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'DELETE FROM {} WHERE {}'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\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    .format(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 AND 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.join([col +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'=?'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for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col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]))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c =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conn.cursor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c.execute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))</a:t>
            </a:r>
            <a:endParaRPr lang="en-US" altLang="he-IL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34" y="186813"/>
            <a:ext cx="5902485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#ALL NEW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from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ORM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import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Dao(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object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dirty="0">
                <a:solidFill>
                  <a:srgbClr val="B200B2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__</a:t>
            </a:r>
            <a:r>
              <a:rPr lang="en-US" sz="1050" dirty="0" err="1">
                <a:solidFill>
                  <a:srgbClr val="B200B2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init</a:t>
            </a:r>
            <a:r>
              <a:rPr lang="en-US" sz="1050" dirty="0">
                <a:solidFill>
                  <a:srgbClr val="B200B2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__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conn):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._conn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conn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smtClean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dto_type.</a:t>
            </a:r>
            <a:r>
              <a:rPr lang="en-US" sz="1050" dirty="0" err="1">
                <a:solidFill>
                  <a:srgbClr val="B200B2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__name__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.lower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 + </a:t>
            </a:r>
            <a:r>
              <a:rPr lang="en-US" sz="1050" b="1" dirty="0" smtClean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's‘      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</a:t>
            </a:r>
            <a:r>
              <a:rPr lang="en-US" sz="1050" i="1" dirty="0" err="1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is a class, its __name__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field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                   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contains a string representing the name of the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dto_instance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ins_dict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 smtClean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dto_instance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 Returns a dictionary corresponding to the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var:value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                    # 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{‘num’:1, ‘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expected_output’:’Main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’}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','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.join(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ins_dict.keys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())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column_names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‘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num,expected_output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’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ins_dict.values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                        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params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([1, ‘Main’])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qmarks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','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.join([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'?'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] * </a:t>
            </a:r>
            <a:r>
              <a:rPr lang="en-US" sz="1050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len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ins_dict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#  ‘?,?’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'INSERT INTO {} ({}) VALUES ({})'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.format(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qmarks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conn.execute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params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     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stmt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‘INSERT INTO assignments (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num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expected_output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VALUES (?,?)’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find_all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c =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conn.cursor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c.execute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'SELECT * FROM {}'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.format(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return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(c,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find(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**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keyvals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column_names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keyvals.keys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keyvals.values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=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'SELECT * FROM {} WHERE {}'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.format(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table_name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 AND 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.join([col + </a:t>
            </a:r>
            <a:r>
              <a:rPr lang="en-US" sz="105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'=?'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column_names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]))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c =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conn.cursor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c.execute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stmt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050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params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return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(c, </a:t>
            </a:r>
            <a:r>
              <a:rPr lang="en-US" sz="105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dto_type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5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 ORM – genericRepository.py 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5702709" y="186813"/>
            <a:ext cx="6390967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en-US" sz="1400" i="1" dirty="0" smtClean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en-US" sz="1400" b="1" dirty="0" err="1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def</a:t>
            </a:r>
            <a:r>
              <a:rPr lang="en-US" sz="1400" b="1" dirty="0">
                <a:solidFill>
                  <a:srgbClr val="000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create_tables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 </a:t>
            </a:r>
            <a:r>
              <a:rPr lang="en-US" sz="1400" dirty="0">
                <a:solidFill>
                  <a:srgbClr val="94558D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._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conn.executescript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"""</a:t>
            </a:r>
            <a:br>
              <a:rPr lang="en-US" sz="1400" b="1" dirty="0">
                <a:solidFill>
                  <a:srgbClr val="00808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</a:t>
            </a:r>
            <a:r>
              <a:rPr lang="en-US" sz="1400" b="1" dirty="0" smtClean="0">
                <a:solidFill>
                  <a:srgbClr val="008000"/>
                </a:solidFill>
                <a:ea typeface="Calibri"/>
                <a:cs typeface="Arial"/>
              </a:rPr>
              <a:t>               CREATE 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TABLE students (id   INT   PRIMARY KEY,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  name TEXT  NOT NULL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);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CREATE TABLE assignments 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num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INT     PRIMARY KEY,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     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expected_output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TEXT    NOT NULL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);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CREATE TABLE grades 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student_id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INT     NOT NULL,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assignment_num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INT     NOT NULL,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grade           INT     NOT NULL,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/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FOREIGN KEY(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student_id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)     REFERENCES students(id),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FOREIGN KEY(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assignment_num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) REFERENCES assignments(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num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),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                     PRIMARY KEY (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student_id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, </a:t>
            </a:r>
            <a:r>
              <a:rPr lang="en-US" sz="1400" b="1" dirty="0" err="1">
                <a:solidFill>
                  <a:srgbClr val="008000"/>
                </a:solidFill>
                <a:ea typeface="Calibri"/>
                <a:cs typeface="Arial"/>
              </a:rPr>
              <a:t>assignment_num</a:t>
            </a: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)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        );</a:t>
            </a:r>
            <a:b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</a:br>
            <a:r>
              <a:rPr lang="en-US" sz="1400" b="1" dirty="0">
                <a:solidFill>
                  <a:srgbClr val="008000"/>
                </a:solidFill>
                <a:ea typeface="Calibri"/>
                <a:cs typeface="Arial"/>
              </a:rPr>
              <a:t>        """</a:t>
            </a:r>
            <a:r>
              <a:rPr lang="en-US" sz="1400" dirty="0">
                <a:solidFill>
                  <a:srgbClr val="000000"/>
                </a:solidFill>
                <a:ea typeface="Calibri"/>
                <a:cs typeface="Arial"/>
              </a:rPr>
              <a:t>)</a:t>
            </a:r>
            <a:br>
              <a:rPr lang="en-US" sz="1400" dirty="0">
                <a:solidFill>
                  <a:srgbClr val="000000"/>
                </a:solidFill>
                <a:ea typeface="Calibri"/>
                <a:cs typeface="Arial"/>
              </a:rPr>
            </a:b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# singleton</a:t>
            </a:r>
            <a:br>
              <a:rPr lang="en-US" sz="1400" i="1" dirty="0">
                <a:solidFill>
                  <a:srgbClr val="0087F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repo = Repository()</a:t>
            </a:r>
            <a:b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atexit.register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repo._close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25" y="186813"/>
            <a:ext cx="5616000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>
              <a:lnSpc>
                <a:spcPct val="107000"/>
              </a:lnSpc>
              <a:spcAft>
                <a:spcPts val="135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genericDAO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import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Dao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from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DTO </a:t>
            </a: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import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*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import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sqlite3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import 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atexit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import 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os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 for remove</a:t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class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Repository(</a:t>
            </a:r>
            <a:r>
              <a:rPr lang="en-US" sz="1400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1400" b="1" dirty="0" err="1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def</a:t>
            </a: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B200B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__</a:t>
            </a:r>
            <a:r>
              <a:rPr lang="en-US" sz="1400" dirty="0" err="1">
                <a:solidFill>
                  <a:srgbClr val="B200B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init</a:t>
            </a:r>
            <a:r>
              <a:rPr lang="en-US" sz="1400" dirty="0">
                <a:solidFill>
                  <a:srgbClr val="B200B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__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400" dirty="0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._conn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= sqlite3.connect(</a:t>
            </a:r>
            <a:r>
              <a:rPr lang="en-US" sz="1400" b="1" dirty="0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'</a:t>
            </a:r>
            <a:r>
              <a:rPr lang="en-US" sz="1400" b="1" dirty="0" err="1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grades.db</a:t>
            </a:r>
            <a:r>
              <a:rPr lang="en-US" sz="1400" b="1" dirty="0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conn.text_factory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bytes               </a:t>
            </a:r>
            <a:r>
              <a:rPr lang="en-US" sz="1400" dirty="0" smtClean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      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#ADDED</a:t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.students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= Dao(Student,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._conn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    </a:t>
            </a:r>
            <a:r>
              <a:rPr lang="en-US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#CHANGED</a:t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.assignments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= Dao(Assignment,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._conn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#CAHNGED</a:t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.grades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= Dao(Grade, </a:t>
            </a:r>
            <a:r>
              <a:rPr lang="en-US" sz="1400" dirty="0" err="1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._conn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          </a:t>
            </a:r>
            <a:r>
              <a:rPr lang="en-US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   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#CAHNGED</a:t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1400" b="1" dirty="0" err="1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def</a:t>
            </a:r>
            <a:r>
              <a:rPr lang="en-US" sz="1400" b="1" dirty="0">
                <a:solidFill>
                  <a:srgbClr val="000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_close(</a:t>
            </a:r>
            <a:r>
              <a:rPr lang="en-US" sz="1400" dirty="0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conn.commit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>
                <a:solidFill>
                  <a:srgbClr val="94558D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._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conn.close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b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os.remove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400" b="1" dirty="0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'</a:t>
            </a:r>
            <a:r>
              <a:rPr lang="en-US" sz="1400" b="1" dirty="0" err="1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grades.db</a:t>
            </a:r>
            <a:r>
              <a:rPr lang="en-US" sz="1400" b="1" dirty="0">
                <a:solidFill>
                  <a:srgbClr val="00808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)  </a:t>
            </a:r>
            <a:r>
              <a:rPr lang="en-US" sz="1400" i="1" dirty="0">
                <a:solidFill>
                  <a:srgbClr val="0087FE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#For debug - So we have one fresh each run</a:t>
            </a:r>
            <a:endParaRPr lang="en-US" sz="12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41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213987"/>
            <a:ext cx="12192000" cy="6440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 ORM – genericMain.py </a:t>
            </a:r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5702709" y="186813"/>
            <a:ext cx="6390967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def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main():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repo.create_tables()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#Insert the assignment, i.e its number and its expected output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repo.assignments.insert(Assignment(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'Main'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#Insert the students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repo.students.insert(Student(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1111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'Alice'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repo.students.insert(Student(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2222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'Bob'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repo.students.insert(Student(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3333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'Charlie'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#Call the grade procedure and then print out the grades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grade(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"assignments"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grades before appeals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--------------------------"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print_grades()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#Update Bob grade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sgrade = repo.grades.find(</a:t>
            </a:r>
            <a:r>
              <a:rPr lang="en-US" sz="1050">
                <a:solidFill>
                  <a:srgbClr val="660099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student_id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2222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>
                <a:solidFill>
                  <a:srgbClr val="660099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assignment_num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)[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0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]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#CHANGED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repo.grades.update({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'student_id'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:sgrade.student_id,            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#CHANGED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'assignment_num'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:sgrade.assignment_num,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'grade'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99</a:t>
            </a:r>
            <a:b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},{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'student_id'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:sgrade.student_id,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'assignment_num'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:sgrade.assignment_num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})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grades after appeals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----------------------------"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print_grades()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#delete Charlie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repo.grades.delete(</a:t>
            </a:r>
            <a:r>
              <a:rPr lang="en-US" sz="1050">
                <a:solidFill>
                  <a:srgbClr val="660099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student_id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</a:t>
            </a:r>
            <a:r>
              <a:rPr lang="en-US" sz="105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3333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 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grades after deleting 3333</a:t>
            </a:r>
            <a:r>
              <a:rPr lang="en-US" sz="1050" b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\n</a:t>
            </a:r>
            <a:r>
              <a:rPr lang="en-US" sz="1050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----------------------------"</a:t>
            </a: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print_grades()</a:t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#Entry point</a:t>
            </a:r>
            <a:br>
              <a:rPr lang="en-US" sz="1050" i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main()</a:t>
            </a:r>
            <a:endParaRPr lang="en-US" altLang="he-IL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25" y="186813"/>
            <a:ext cx="5616000" cy="6015204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lIns="72000" tIns="36000" rIns="0" bIns="36000" rtl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genericRepository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import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#CHANGED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from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DTO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import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*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import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imp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ass_dir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ass_num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#Get the expected output of </a:t>
            </a:r>
            <a:r>
              <a:rPr lang="en-US" sz="1050" i="1" dirty="0" err="1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assignment_num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assignment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repo.assignments.find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660099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num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ass_num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CHANGED  (Passing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dict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with </a:t>
            </a:r>
            <a:r>
              <a:rPr lang="en-US" sz="1050" i="1" dirty="0" err="1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num:ass_num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expected_output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assignment[</a:t>
            </a: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0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].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expected_output.decode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"utf-8"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 </a:t>
            </a:r>
            <a:r>
              <a:rPr lang="en-US" sz="105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convert bytes-&gt;string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 smtClean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                                                                                                   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#CHANGED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ass_file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os.listdir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ass_dir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#Assuming students file name consists od studentId.py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#Get student id from the file name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student_id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os.path.splitext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ass_file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if not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== 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".</a:t>
            </a:r>
            <a:r>
              <a:rPr lang="en-US" sz="1050" b="1" dirty="0" err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py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continue</a:t>
            </a:r>
            <a:b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#Load the code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imp.load_source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'test'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     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ass_dir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+ 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'/'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+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ass_file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#Creates a DTO Grade object with 0 as default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student_grade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Grade(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student_id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ass_num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0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if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code.run_assignment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() ==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expected_output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student_grade.grade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= </a:t>
            </a: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100</a:t>
            </a:r>
            <a:b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#Update the DB with student grade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repo.grades.insert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student_grade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b="1" dirty="0" err="1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def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print_grades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print (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'grades:'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 </a:t>
            </a:r>
            <a:r>
              <a:rPr lang="en-US" sz="105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repo.grades.find_all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():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student 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repo.students.find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1050" dirty="0">
                <a:solidFill>
                  <a:srgbClr val="660099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id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grade.student_id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)[</a:t>
            </a:r>
            <a:r>
              <a:rPr lang="en-US" sz="105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0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] </a:t>
            </a: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#CHANGED</a:t>
            </a:r>
            <a:b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i="1" dirty="0">
                <a:solidFill>
                  <a:srgbClr val="0087F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print (</a:t>
            </a:r>
            <a:r>
              <a:rPr lang="en-US" sz="1050" b="1" dirty="0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"grade on assignment %d of student %-7s is %d" 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%</a:t>
            </a:r>
            <a:b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(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grade.assignment_num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student.name, </a:t>
            </a:r>
            <a:r>
              <a:rPr lang="en-US" sz="105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grade.grade</a:t>
            </a: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))</a:t>
            </a:r>
            <a:endParaRPr lang="en-US" altLang="he-IL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48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2000">
              <a:srgbClr val="7030A0"/>
            </a:gs>
            <a:gs pos="7000">
              <a:schemeClr val="accent6">
                <a:lumMod val="20000"/>
                <a:lumOff val="80000"/>
              </a:schemeClr>
            </a:gs>
            <a:gs pos="99000">
              <a:schemeClr val="accent2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413243"/>
            <a:ext cx="10515600" cy="444757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sz="2000" smtClean="0"/>
              <a:t>!! See Practical Session13</a:t>
            </a:r>
            <a:endParaRPr lang="en-US" sz="2000" dirty="0" smtClean="0"/>
          </a:p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endParaRPr lang="he-IL" sz="8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41" y="681869"/>
            <a:ext cx="2854734" cy="5138521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5447057" y="681869"/>
            <a:ext cx="5987845" cy="4548892"/>
          </a:xfrm>
          <a:prstGeom prst="wedgeEllipseCallout">
            <a:avLst>
              <a:gd name="adj1" fmla="val -71642"/>
              <a:gd name="adj2" fmla="val 73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6000" smtClean="0">
                <a:solidFill>
                  <a:schemeClr val="accent2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המון המון בהצלחה במבחנים</a:t>
            </a:r>
            <a:endParaRPr lang="he-IL" sz="6000">
              <a:solidFill>
                <a:schemeClr val="accent2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5837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2B3FED4-E084-4778-BCB3-DF90A633DF1B}" vid="{F6008ECF-4865-4799-82EB-9CE2E18747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SPLTemplate</Template>
  <TotalTime>41391</TotalTime>
  <Words>4375</Words>
  <Application>Microsoft Office PowerPoint</Application>
  <PresentationFormat>Widescreen</PresentationFormat>
  <Paragraphs>347</Paragraphs>
  <Slides>24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Guttman Yad-Brush</vt:lpstr>
      <vt:lpstr>Times New Roman</vt:lpstr>
      <vt:lpstr>Verdana</vt:lpstr>
      <vt:lpstr>Wingdings</vt:lpstr>
      <vt:lpstr>Office Theme</vt:lpstr>
      <vt:lpstr>From Tirgul 12</vt:lpstr>
      <vt:lpstr>PowerPoint Presentation</vt:lpstr>
      <vt:lpstr>Tirgul 13</vt:lpstr>
      <vt:lpstr>Persistence Layer - Intro</vt:lpstr>
      <vt:lpstr>Persistence Layer – Study case</vt:lpstr>
      <vt:lpstr>Persistence Layer – Study case</vt:lpstr>
      <vt:lpstr>Persistence Layer - DTO</vt:lpstr>
      <vt:lpstr>Persistence Layer - DTO</vt:lpstr>
      <vt:lpstr>Persistence Layer - DAO</vt:lpstr>
      <vt:lpstr>Persistence Layer – DAO (Cont…)</vt:lpstr>
      <vt:lpstr>Persistence Layer - Repository</vt:lpstr>
      <vt:lpstr>Persistence Layer - Repository</vt:lpstr>
      <vt:lpstr>Using Persistence Layer </vt:lpstr>
      <vt:lpstr>PowerPoint Presentation</vt:lpstr>
      <vt:lpstr>Persistence Layer – Extra fetures</vt:lpstr>
      <vt:lpstr>Persistence Layer – Extra fetures</vt:lpstr>
      <vt:lpstr>ORM- Intro</vt:lpstr>
      <vt:lpstr>ORM- ORM() method</vt:lpstr>
      <vt:lpstr>ORM – ORM.py</vt:lpstr>
      <vt:lpstr>ORM – Generic DAO </vt:lpstr>
      <vt:lpstr>ORM– Generic DAO.py  </vt:lpstr>
      <vt:lpstr> ORM – genericRepository.py </vt:lpstr>
      <vt:lpstr> ORM – genericMain.py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Tirgul 4</dc:title>
  <dc:creator>admin</dc:creator>
  <cp:lastModifiedBy>hagit B</cp:lastModifiedBy>
  <cp:revision>2099</cp:revision>
  <dcterms:created xsi:type="dcterms:W3CDTF">2016-11-20T08:43:16Z</dcterms:created>
  <dcterms:modified xsi:type="dcterms:W3CDTF">2020-01-20T17:01:24Z</dcterms:modified>
</cp:coreProperties>
</file>