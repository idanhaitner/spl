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57" r:id="rId3"/>
    <p:sldId id="259" r:id="rId4"/>
    <p:sldId id="261" r:id="rId5"/>
    <p:sldId id="260" r:id="rId6"/>
    <p:sldId id="267" r:id="rId7"/>
    <p:sldId id="262" r:id="rId8"/>
    <p:sldId id="263" r:id="rId9"/>
    <p:sldId id="264" r:id="rId10"/>
    <p:sldId id="266" r:id="rId11"/>
    <p:sldId id="268" r:id="rId12"/>
    <p:sldId id="285" r:id="rId13"/>
    <p:sldId id="270" r:id="rId14"/>
    <p:sldId id="286" r:id="rId15"/>
    <p:sldId id="288" r:id="rId16"/>
    <p:sldId id="289" r:id="rId17"/>
    <p:sldId id="291" r:id="rId18"/>
    <p:sldId id="290" r:id="rId19"/>
    <p:sldId id="272" r:id="rId20"/>
    <p:sldId id="283" r:id="rId21"/>
    <p:sldId id="284" r:id="rId22"/>
    <p:sldId id="273" r:id="rId23"/>
    <p:sldId id="292" r:id="rId24"/>
    <p:sldId id="293" r:id="rId25"/>
    <p:sldId id="275" r:id="rId26"/>
    <p:sldId id="294" r:id="rId27"/>
    <p:sldId id="27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73E"/>
    <a:srgbClr val="0098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D61F19-8520-4E10-8653-9A81C82543A4}" v="1" dt="2024-01-11T11:14:44.1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52" autoAdjust="0"/>
    <p:restoredTop sz="94660"/>
  </p:normalViewPr>
  <p:slideViewPr>
    <p:cSldViewPr snapToGrid="0">
      <p:cViewPr varScale="1">
        <p:scale>
          <a:sx n="123" d="100"/>
          <a:sy n="123" d="100"/>
        </p:scale>
        <p:origin x="232"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שיר בוכנר" userId="4df240f3-d5ed-4067-bb6f-b592905276ff" providerId="ADAL" clId="{23D61F19-8520-4E10-8653-9A81C82543A4}"/>
    <pc:docChg chg="addSld modSld">
      <pc:chgData name="שיר בוכנר" userId="4df240f3-d5ed-4067-bb6f-b592905276ff" providerId="ADAL" clId="{23D61F19-8520-4E10-8653-9A81C82543A4}" dt="2024-01-11T11:14:44.185" v="0"/>
      <pc:docMkLst>
        <pc:docMk/>
      </pc:docMkLst>
      <pc:sldChg chg="add">
        <pc:chgData name="שיר בוכנר" userId="4df240f3-d5ed-4067-bb6f-b592905276ff" providerId="ADAL" clId="{23D61F19-8520-4E10-8653-9A81C82543A4}" dt="2024-01-11T11:14:44.185" v="0"/>
        <pc:sldMkLst>
          <pc:docMk/>
          <pc:sldMk cId="3064554327" sldId="271"/>
        </pc:sldMkLst>
      </pc:sldChg>
      <pc:sldChg chg="add">
        <pc:chgData name="שיר בוכנר" userId="4df240f3-d5ed-4067-bb6f-b592905276ff" providerId="ADAL" clId="{23D61F19-8520-4E10-8653-9A81C82543A4}" dt="2024-01-11T11:14:44.185" v="0"/>
        <pc:sldMkLst>
          <pc:docMk/>
          <pc:sldMk cId="3611703518" sldId="273"/>
        </pc:sldMkLst>
      </pc:sldChg>
      <pc:sldChg chg="add">
        <pc:chgData name="שיר בוכנר" userId="4df240f3-d5ed-4067-bb6f-b592905276ff" providerId="ADAL" clId="{23D61F19-8520-4E10-8653-9A81C82543A4}" dt="2024-01-11T11:14:44.185" v="0"/>
        <pc:sldMkLst>
          <pc:docMk/>
          <pc:sldMk cId="741214067" sldId="275"/>
        </pc:sldMkLst>
      </pc:sldChg>
      <pc:sldChg chg="add">
        <pc:chgData name="שיר בוכנר" userId="4df240f3-d5ed-4067-bb6f-b592905276ff" providerId="ADAL" clId="{23D61F19-8520-4E10-8653-9A81C82543A4}" dt="2024-01-11T11:14:44.185" v="0"/>
        <pc:sldMkLst>
          <pc:docMk/>
          <pc:sldMk cId="1745622732" sldId="276"/>
        </pc:sldMkLst>
      </pc:sldChg>
      <pc:sldChg chg="add">
        <pc:chgData name="שיר בוכנר" userId="4df240f3-d5ed-4067-bb6f-b592905276ff" providerId="ADAL" clId="{23D61F19-8520-4E10-8653-9A81C82543A4}" dt="2024-01-11T11:14:44.185" v="0"/>
        <pc:sldMkLst>
          <pc:docMk/>
          <pc:sldMk cId="2054288446" sldId="277"/>
        </pc:sldMkLst>
      </pc:sldChg>
      <pc:sldChg chg="add">
        <pc:chgData name="שיר בוכנר" userId="4df240f3-d5ed-4067-bb6f-b592905276ff" providerId="ADAL" clId="{23D61F19-8520-4E10-8653-9A81C82543A4}" dt="2024-01-11T11:14:44.185" v="0"/>
        <pc:sldMkLst>
          <pc:docMk/>
          <pc:sldMk cId="4229346034" sldId="278"/>
        </pc:sldMkLst>
      </pc:sldChg>
      <pc:sldChg chg="add">
        <pc:chgData name="שיר בוכנר" userId="4df240f3-d5ed-4067-bb6f-b592905276ff" providerId="ADAL" clId="{23D61F19-8520-4E10-8653-9A81C82543A4}" dt="2024-01-11T11:14:44.185" v="0"/>
        <pc:sldMkLst>
          <pc:docMk/>
          <pc:sldMk cId="503086623" sldId="292"/>
        </pc:sldMkLst>
      </pc:sldChg>
      <pc:sldChg chg="add">
        <pc:chgData name="שיר בוכנר" userId="4df240f3-d5ed-4067-bb6f-b592905276ff" providerId="ADAL" clId="{23D61F19-8520-4E10-8653-9A81C82543A4}" dt="2024-01-11T11:14:44.185" v="0"/>
        <pc:sldMkLst>
          <pc:docMk/>
          <pc:sldMk cId="499989056" sldId="29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3247642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961749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2976670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540974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171016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188897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4110402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1094120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1962543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744685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86407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1498877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786039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915305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562043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5A3E070-DE29-431D-A3EB-BDC672FF0725}" type="slidenum">
              <a:rPr lang="he-IL" smtClean="0"/>
              <a:t>‹#›</a:t>
            </a:fld>
            <a:endParaRPr lang="he-IL"/>
          </a:p>
        </p:txBody>
      </p:sp>
    </p:spTree>
    <p:extLst>
      <p:ext uri="{BB962C8B-B14F-4D97-AF65-F5344CB8AC3E}">
        <p14:creationId xmlns:p14="http://schemas.microsoft.com/office/powerpoint/2010/main" val="2254786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9992F4D-A8C5-4A41-8D93-35474C42883F}" type="datetimeFigureOut">
              <a:rPr lang="he-IL" smtClean="0"/>
              <a:t>י"ז.חשון.תשפ"ו</a:t>
            </a:fld>
            <a:endParaRPr lang="he-IL"/>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5A3E070-DE29-431D-A3EB-BDC672FF0725}" type="slidenum">
              <a:rPr lang="he-IL" smtClean="0"/>
              <a:t>‹#›</a:t>
            </a:fld>
            <a:endParaRPr lang="he-IL"/>
          </a:p>
        </p:txBody>
      </p:sp>
    </p:spTree>
    <p:extLst>
      <p:ext uri="{BB962C8B-B14F-4D97-AF65-F5344CB8AC3E}">
        <p14:creationId xmlns:p14="http://schemas.microsoft.com/office/powerpoint/2010/main" val="4014861839"/>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B795C-C2EE-428B-8012-1AF0752E5B6E}"/>
              </a:ext>
            </a:extLst>
          </p:cNvPr>
          <p:cNvSpPr>
            <a:spLocks noGrp="1"/>
          </p:cNvSpPr>
          <p:nvPr>
            <p:ph type="ctrTitle"/>
          </p:nvPr>
        </p:nvSpPr>
        <p:spPr/>
        <p:txBody>
          <a:bodyPr/>
          <a:lstStyle/>
          <a:p>
            <a:r>
              <a:rPr lang="en-US" dirty="0"/>
              <a:t>SPL – PS3</a:t>
            </a:r>
            <a:endParaRPr lang="he-IL" dirty="0"/>
          </a:p>
        </p:txBody>
      </p:sp>
      <p:sp>
        <p:nvSpPr>
          <p:cNvPr id="3" name="Subtitle 2">
            <a:extLst>
              <a:ext uri="{FF2B5EF4-FFF2-40B4-BE49-F238E27FC236}">
                <a16:creationId xmlns:a16="http://schemas.microsoft.com/office/drawing/2014/main" id="{5BF0016A-447F-4D6D-8622-6A53AEAF9CD9}"/>
              </a:ext>
            </a:extLst>
          </p:cNvPr>
          <p:cNvSpPr>
            <a:spLocks noGrp="1"/>
          </p:cNvSpPr>
          <p:nvPr>
            <p:ph type="subTitle" idx="1"/>
          </p:nvPr>
        </p:nvSpPr>
        <p:spPr/>
        <p:txBody>
          <a:bodyPr/>
          <a:lstStyle/>
          <a:p>
            <a:r>
              <a:rPr lang="en-US" dirty="0"/>
              <a:t>C++ Classes</a:t>
            </a:r>
            <a:endParaRPr lang="he-IL" dirty="0"/>
          </a:p>
        </p:txBody>
      </p:sp>
    </p:spTree>
    <p:extLst>
      <p:ext uri="{BB962C8B-B14F-4D97-AF65-F5344CB8AC3E}">
        <p14:creationId xmlns:p14="http://schemas.microsoft.com/office/powerpoint/2010/main" val="2882484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122E7-BCA2-4C7A-96C1-04F4FD6589CF}"/>
              </a:ext>
            </a:extLst>
          </p:cNvPr>
          <p:cNvSpPr>
            <a:spLocks noGrp="1"/>
          </p:cNvSpPr>
          <p:nvPr>
            <p:ph type="title"/>
          </p:nvPr>
        </p:nvSpPr>
        <p:spPr/>
        <p:txBody>
          <a:bodyPr>
            <a:normAutofit/>
          </a:bodyPr>
          <a:lstStyle/>
          <a:p>
            <a:r>
              <a:rPr lang="en-US" sz="4400" dirty="0"/>
              <a:t>Overview</a:t>
            </a:r>
            <a:endParaRPr lang="he-IL" sz="4400" dirty="0"/>
          </a:p>
        </p:txBody>
      </p:sp>
      <p:sp>
        <p:nvSpPr>
          <p:cNvPr id="3" name="Content Placeholder 2">
            <a:extLst>
              <a:ext uri="{FF2B5EF4-FFF2-40B4-BE49-F238E27FC236}">
                <a16:creationId xmlns:a16="http://schemas.microsoft.com/office/drawing/2014/main" id="{E566108E-59BC-41A7-9958-EDD1D35745B7}"/>
              </a:ext>
            </a:extLst>
          </p:cNvPr>
          <p:cNvSpPr>
            <a:spLocks noGrp="1"/>
          </p:cNvSpPr>
          <p:nvPr>
            <p:ph idx="1"/>
          </p:nvPr>
        </p:nvSpPr>
        <p:spPr>
          <a:xfrm>
            <a:off x="677334" y="1828801"/>
            <a:ext cx="8596668" cy="4212562"/>
          </a:xfrm>
        </p:spPr>
        <p:txBody>
          <a:bodyPr>
            <a:normAutofit lnSpcReduction="10000"/>
          </a:bodyPr>
          <a:lstStyle/>
          <a:p>
            <a:r>
              <a:rPr lang="en-US" sz="2400" dirty="0"/>
              <a:t>Passing parameters to functions</a:t>
            </a:r>
          </a:p>
          <a:p>
            <a:r>
              <a:rPr lang="en-US" sz="2400" dirty="0"/>
              <a:t>Classes</a:t>
            </a:r>
          </a:p>
          <a:p>
            <a:pPr lvl="1"/>
            <a:r>
              <a:rPr lang="en-US" sz="2200" dirty="0"/>
              <a:t>Declaration and implementation</a:t>
            </a:r>
          </a:p>
          <a:p>
            <a:pPr lvl="1"/>
            <a:r>
              <a:rPr lang="en-US" sz="2200" dirty="0"/>
              <a:t>Differences from Java</a:t>
            </a:r>
          </a:p>
          <a:p>
            <a:pPr lvl="1"/>
            <a:r>
              <a:rPr lang="en-US" sz="2200" dirty="0"/>
              <a:t>Member initialization list</a:t>
            </a:r>
          </a:p>
          <a:p>
            <a:r>
              <a:rPr lang="en-US" sz="2400" dirty="0"/>
              <a:t>Objects</a:t>
            </a:r>
          </a:p>
          <a:p>
            <a:pPr lvl="1"/>
            <a:r>
              <a:rPr lang="en-US" sz="2200" dirty="0"/>
              <a:t>The dot and arrow operators</a:t>
            </a:r>
          </a:p>
          <a:p>
            <a:pPr lvl="1"/>
            <a:r>
              <a:rPr lang="en-US" sz="2200" dirty="0"/>
              <a:t>The </a:t>
            </a:r>
            <a:r>
              <a:rPr lang="en-US" sz="2200" b="1" dirty="0"/>
              <a:t>this</a:t>
            </a:r>
            <a:r>
              <a:rPr lang="en-US" sz="2200" dirty="0"/>
              <a:t> pointer</a:t>
            </a:r>
            <a:endParaRPr lang="he-IL" sz="2200" dirty="0"/>
          </a:p>
          <a:p>
            <a:pPr lvl="1"/>
            <a:r>
              <a:rPr lang="en-US" sz="2200" dirty="0"/>
              <a:t>Creating and destroying objects</a:t>
            </a:r>
          </a:p>
        </p:txBody>
      </p:sp>
    </p:spTree>
    <p:extLst>
      <p:ext uri="{BB962C8B-B14F-4D97-AF65-F5344CB8AC3E}">
        <p14:creationId xmlns:p14="http://schemas.microsoft.com/office/powerpoint/2010/main" val="2811386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F01FC-6C97-4BEF-BC03-0B860B6F54E0}"/>
              </a:ext>
            </a:extLst>
          </p:cNvPr>
          <p:cNvSpPr>
            <a:spLocks noGrp="1"/>
          </p:cNvSpPr>
          <p:nvPr>
            <p:ph type="title"/>
          </p:nvPr>
        </p:nvSpPr>
        <p:spPr/>
        <p:txBody>
          <a:bodyPr/>
          <a:lstStyle/>
          <a:p>
            <a:r>
              <a:rPr lang="en-US" dirty="0"/>
              <a:t>Passing parameter by value</a:t>
            </a:r>
            <a:endParaRPr lang="he-IL" dirty="0"/>
          </a:p>
        </p:txBody>
      </p:sp>
      <p:sp>
        <p:nvSpPr>
          <p:cNvPr id="3" name="Content Placeholder 2">
            <a:extLst>
              <a:ext uri="{FF2B5EF4-FFF2-40B4-BE49-F238E27FC236}">
                <a16:creationId xmlns:a16="http://schemas.microsoft.com/office/drawing/2014/main" id="{9AD10C47-6063-4747-B4E7-D8461F536F7D}"/>
              </a:ext>
            </a:extLst>
          </p:cNvPr>
          <p:cNvSpPr>
            <a:spLocks noGrp="1"/>
          </p:cNvSpPr>
          <p:nvPr>
            <p:ph idx="1"/>
          </p:nvPr>
        </p:nvSpPr>
        <p:spPr>
          <a:xfrm>
            <a:off x="677334" y="1653073"/>
            <a:ext cx="8596668" cy="1504567"/>
          </a:xfrm>
        </p:spPr>
        <p:txBody>
          <a:bodyPr/>
          <a:lstStyle/>
          <a:p>
            <a:r>
              <a:rPr lang="en-US" dirty="0"/>
              <a:t>The value is being </a:t>
            </a:r>
            <a:r>
              <a:rPr lang="en-US" b="1" dirty="0"/>
              <a:t>copied</a:t>
            </a:r>
            <a:r>
              <a:rPr lang="en-US" dirty="0"/>
              <a:t> to the argument list of the called function.</a:t>
            </a:r>
          </a:p>
          <a:p>
            <a:r>
              <a:rPr lang="en-US" dirty="0"/>
              <a:t>Usually (but not always) done for primitive values.</a:t>
            </a:r>
          </a:p>
          <a:p>
            <a:r>
              <a:rPr lang="en-US" dirty="0"/>
              <a:t>When an object is passed by value, it’s copy constructor will be implicitly invoked (could be slow for large objects)</a:t>
            </a:r>
          </a:p>
          <a:p>
            <a:endParaRPr lang="he-IL" dirty="0"/>
          </a:p>
        </p:txBody>
      </p:sp>
      <p:sp>
        <p:nvSpPr>
          <p:cNvPr id="25" name="TextBox 24">
            <a:extLst>
              <a:ext uri="{FF2B5EF4-FFF2-40B4-BE49-F238E27FC236}">
                <a16:creationId xmlns:a16="http://schemas.microsoft.com/office/drawing/2014/main" id="{0574127D-E364-E874-F21A-AE453F493230}"/>
              </a:ext>
            </a:extLst>
          </p:cNvPr>
          <p:cNvSpPr txBox="1"/>
          <p:nvPr/>
        </p:nvSpPr>
        <p:spPr>
          <a:xfrm>
            <a:off x="998276" y="3236581"/>
            <a:ext cx="5823943" cy="3098721"/>
          </a:xfrm>
          <a:prstGeom prst="round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atinLnBrk="1">
              <a:spcBef>
                <a:spcPts val="0"/>
              </a:spcBef>
              <a:spcAft>
                <a:spcPts val="1000"/>
              </a:spcAft>
            </a:pP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power</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i</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i</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i</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i</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return</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i</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main</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argc</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char</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err="1">
                <a:effectLst/>
                <a:latin typeface="Consolas" panose="020B0609020204030204" pitchFamily="49" charset="0"/>
                <a:ea typeface="Cambria" panose="02040503050406030204" pitchFamily="18" charset="0"/>
                <a:cs typeface="Arial" panose="020B0604020202020204" pitchFamily="34" charset="0"/>
              </a:rPr>
              <a:t>argv</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number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5</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power</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number</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number is passed by value</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endParaRPr lang="en-US" sz="1600" dirty="0">
              <a:effectLst/>
              <a:latin typeface="Consolas" panose="020B0609020204030204" pitchFamily="49"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345766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1F5C8-8626-4222-9EF9-48ECF9E251B0}"/>
              </a:ext>
            </a:extLst>
          </p:cNvPr>
          <p:cNvSpPr>
            <a:spLocks noGrp="1"/>
          </p:cNvSpPr>
          <p:nvPr>
            <p:ph type="title"/>
          </p:nvPr>
        </p:nvSpPr>
        <p:spPr>
          <a:xfrm>
            <a:off x="677334" y="589864"/>
            <a:ext cx="8596668" cy="1320800"/>
          </a:xfrm>
        </p:spPr>
        <p:txBody>
          <a:bodyPr/>
          <a:lstStyle/>
          <a:p>
            <a:r>
              <a:rPr lang="en-US" dirty="0"/>
              <a:t>Passing parameters by reference</a:t>
            </a:r>
            <a:endParaRPr lang="he-IL" dirty="0"/>
          </a:p>
        </p:txBody>
      </p:sp>
      <p:sp>
        <p:nvSpPr>
          <p:cNvPr id="3" name="Content Placeholder 2">
            <a:extLst>
              <a:ext uri="{FF2B5EF4-FFF2-40B4-BE49-F238E27FC236}">
                <a16:creationId xmlns:a16="http://schemas.microsoft.com/office/drawing/2014/main" id="{55035599-B168-4DE5-912E-EDF5B3E84FBF}"/>
              </a:ext>
            </a:extLst>
          </p:cNvPr>
          <p:cNvSpPr>
            <a:spLocks noGrp="1"/>
          </p:cNvSpPr>
          <p:nvPr>
            <p:ph idx="1"/>
          </p:nvPr>
        </p:nvSpPr>
        <p:spPr>
          <a:xfrm>
            <a:off x="677334" y="1633339"/>
            <a:ext cx="8596668" cy="879617"/>
          </a:xfrm>
        </p:spPr>
        <p:txBody>
          <a:bodyPr/>
          <a:lstStyle/>
          <a:p>
            <a:r>
              <a:rPr lang="en-US" dirty="0"/>
              <a:t>Allows us to send a “link” to the original object without using pointers.</a:t>
            </a:r>
          </a:p>
          <a:p>
            <a:pPr>
              <a:lnSpc>
                <a:spcPct val="150000"/>
              </a:lnSpc>
            </a:pPr>
            <a:r>
              <a:rPr lang="en-US" dirty="0"/>
              <a:t>Must be initialized – you cannot pass a “null reference”.</a:t>
            </a:r>
          </a:p>
        </p:txBody>
      </p:sp>
      <p:sp>
        <p:nvSpPr>
          <p:cNvPr id="35" name="TextBox 34">
            <a:extLst>
              <a:ext uri="{FF2B5EF4-FFF2-40B4-BE49-F238E27FC236}">
                <a16:creationId xmlns:a16="http://schemas.microsoft.com/office/drawing/2014/main" id="{C62ED454-5F53-AABD-CA8B-650212B5B853}"/>
              </a:ext>
            </a:extLst>
          </p:cNvPr>
          <p:cNvSpPr txBox="1"/>
          <p:nvPr/>
        </p:nvSpPr>
        <p:spPr>
          <a:xfrm>
            <a:off x="999678" y="2670116"/>
            <a:ext cx="6395035" cy="2826306"/>
          </a:xfrm>
          <a:prstGeom prst="roundRect">
            <a:avLst/>
          </a:prstGeom>
          <a:noFill/>
          <a:ln w="19050">
            <a:solidFill>
              <a:schemeClr val="accent1">
                <a:lumMod val="60000"/>
                <a:lumOff val="40000"/>
              </a:schemeClr>
            </a:solidFill>
          </a:ln>
        </p:spPr>
        <p:txBody>
          <a:bodyPr wrap="square">
            <a:spAutoFit/>
          </a:bodyPr>
          <a:lstStyle/>
          <a:p>
            <a:pPr marL="0" marR="0" latinLnBrk="1">
              <a:spcBef>
                <a:spcPts val="0"/>
              </a:spcBef>
              <a:spcAft>
                <a:spcPts val="1000"/>
              </a:spcAft>
            </a:pP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void</a:t>
            </a:r>
            <a:r>
              <a:rPr lang="en-US" sz="1600" dirty="0">
                <a:effectLst/>
                <a:latin typeface="Consolas" panose="020B0609020204030204" pitchFamily="49" charset="0"/>
                <a:ea typeface="Cambria" panose="02040503050406030204" pitchFamily="18" charset="0"/>
                <a:cs typeface="Arial" panose="020B0604020202020204" pitchFamily="34" charset="0"/>
              </a:rPr>
              <a:t> emphasize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a:effectLs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 &amp;</a:t>
            </a:r>
            <a:r>
              <a:rPr lang="en-US" sz="1600" dirty="0">
                <a:effectLst/>
                <a:latin typeface="Consolas" panose="020B0609020204030204" pitchFamily="49" charset="0"/>
                <a:ea typeface="Cambria" panose="02040503050406030204" pitchFamily="18" charset="0"/>
                <a:cs typeface="Arial" panose="020B0604020202020204" pitchFamily="34" charset="0"/>
              </a:rPr>
              <a:t>word</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word</a:t>
            </a:r>
            <a:r>
              <a:rPr lang="en-US" sz="1600" dirty="0" err="1">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err="1">
                <a:effectLst/>
                <a:latin typeface="Consolas" panose="020B0609020204030204" pitchFamily="49" charset="0"/>
                <a:ea typeface="Cambria" panose="02040503050406030204" pitchFamily="18" charset="0"/>
                <a:cs typeface="Arial" panose="020B0604020202020204" pitchFamily="34" charset="0"/>
              </a:rPr>
              <a:t>append</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3</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4070A0"/>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main</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argc</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char</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err="1">
                <a:effectLst/>
                <a:latin typeface="Consolas" panose="020B0609020204030204" pitchFamily="49" charset="0"/>
                <a:ea typeface="Cambria" panose="02040503050406030204" pitchFamily="18" charset="0"/>
                <a:cs typeface="Arial" panose="020B0604020202020204" pitchFamily="34" charset="0"/>
              </a:rPr>
              <a:t>argv</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a:effectLs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mySentence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4070A0"/>
                </a:solidFill>
                <a:effectLst/>
                <a:latin typeface="Consolas" panose="020B0609020204030204" pitchFamily="49" charset="0"/>
                <a:ea typeface="Cambria" panose="02040503050406030204" pitchFamily="18" charset="0"/>
                <a:cs typeface="Arial" panose="020B0604020202020204" pitchFamily="34" charset="0"/>
              </a:rPr>
              <a:t>"Everything is awesome"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emphasize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err="1">
                <a:effectLst/>
                <a:latin typeface="Consolas" panose="020B0609020204030204" pitchFamily="49" charset="0"/>
                <a:ea typeface="Cambria" panose="02040503050406030204" pitchFamily="18" charset="0"/>
                <a:cs typeface="Arial" panose="020B0604020202020204" pitchFamily="34" charset="0"/>
              </a:rPr>
              <a:t>mySentence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endParaRPr lang="en-US" sz="1600" dirty="0">
              <a:effectLst/>
              <a:latin typeface="Consolas" panose="020B0609020204030204" pitchFamily="49"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307926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D3AF-D902-4187-958D-4E762E437DA4}"/>
              </a:ext>
            </a:extLst>
          </p:cNvPr>
          <p:cNvSpPr>
            <a:spLocks noGrp="1"/>
          </p:cNvSpPr>
          <p:nvPr>
            <p:ph type="title"/>
          </p:nvPr>
        </p:nvSpPr>
        <p:spPr/>
        <p:txBody>
          <a:bodyPr/>
          <a:lstStyle/>
          <a:p>
            <a:r>
              <a:rPr lang="en-US" dirty="0"/>
              <a:t>Passing pointers</a:t>
            </a:r>
            <a:endParaRPr lang="he-IL" dirty="0"/>
          </a:p>
        </p:txBody>
      </p:sp>
      <p:sp>
        <p:nvSpPr>
          <p:cNvPr id="3" name="Content Placeholder 2">
            <a:extLst>
              <a:ext uri="{FF2B5EF4-FFF2-40B4-BE49-F238E27FC236}">
                <a16:creationId xmlns:a16="http://schemas.microsoft.com/office/drawing/2014/main" id="{844D24C6-54D9-49DC-8B58-8F156F19BC39}"/>
              </a:ext>
            </a:extLst>
          </p:cNvPr>
          <p:cNvSpPr>
            <a:spLocks noGrp="1"/>
          </p:cNvSpPr>
          <p:nvPr>
            <p:ph idx="1"/>
          </p:nvPr>
        </p:nvSpPr>
        <p:spPr>
          <a:xfrm>
            <a:off x="677334" y="1608002"/>
            <a:ext cx="8596668" cy="839169"/>
          </a:xfrm>
        </p:spPr>
        <p:txBody>
          <a:bodyPr>
            <a:normAutofit fontScale="85000" lnSpcReduction="10000"/>
          </a:bodyPr>
          <a:lstStyle/>
          <a:p>
            <a:r>
              <a:rPr lang="en-US" dirty="0"/>
              <a:t>To avoid passing objects by value you can also pass a pointer to an object.</a:t>
            </a:r>
          </a:p>
          <a:p>
            <a:r>
              <a:rPr lang="en-US" dirty="0"/>
              <a:t>Allows passing an “uninitialized reference” Allows passing an “uninitialized reference”.</a:t>
            </a:r>
          </a:p>
        </p:txBody>
      </p:sp>
      <p:sp>
        <p:nvSpPr>
          <p:cNvPr id="13" name="TextBox 12">
            <a:extLst>
              <a:ext uri="{FF2B5EF4-FFF2-40B4-BE49-F238E27FC236}">
                <a16:creationId xmlns:a16="http://schemas.microsoft.com/office/drawing/2014/main" id="{147C87AF-D69D-31C4-E242-FAD771D7A6F5}"/>
              </a:ext>
            </a:extLst>
          </p:cNvPr>
          <p:cNvSpPr txBox="1"/>
          <p:nvPr/>
        </p:nvSpPr>
        <p:spPr>
          <a:xfrm>
            <a:off x="1019412" y="2545847"/>
            <a:ext cx="7226092" cy="3643551"/>
          </a:xfrm>
          <a:prstGeom prst="roundRect">
            <a:avLst/>
          </a:prstGeom>
          <a:noFill/>
          <a:ln w="12700">
            <a:solidFill>
              <a:schemeClr val="accent1">
                <a:lumMod val="60000"/>
                <a:lumOff val="40000"/>
              </a:schemeClr>
            </a:solidFill>
          </a:ln>
        </p:spPr>
        <p:txBody>
          <a:bodyPr wrap="square">
            <a:spAutoFit/>
          </a:bodyPr>
          <a:lstStyle/>
          <a:p>
            <a:pPr marL="0" marR="0" latinLnBrk="1">
              <a:spcBef>
                <a:spcPts val="0"/>
              </a:spcBef>
              <a:spcAft>
                <a:spcPts val="1000"/>
              </a:spcAft>
            </a:pP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void</a:t>
            </a:r>
            <a:r>
              <a:rPr lang="en-US" sz="1600" dirty="0">
                <a:effectLst/>
                <a:latin typeface="Consolas" panose="020B0609020204030204" pitchFamily="49" charset="0"/>
                <a:ea typeface="Cambria" panose="02040503050406030204" pitchFamily="18" charset="0"/>
                <a:cs typeface="Arial" panose="020B0604020202020204" pitchFamily="34" charset="0"/>
              </a:rPr>
              <a:t> emphasize(std::string *word)</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if</a:t>
            </a:r>
            <a:r>
              <a:rPr lang="en-US" sz="1600" dirty="0">
                <a:effectLst/>
                <a:latin typeface="Consolas" panose="020B0609020204030204" pitchFamily="49" charset="0"/>
                <a:ea typeface="Cambria" panose="02040503050406030204" pitchFamily="18" charset="0"/>
                <a:cs typeface="Arial" panose="020B0604020202020204" pitchFamily="34" charset="0"/>
              </a:rPr>
              <a:t> (word == </a:t>
            </a:r>
            <a:r>
              <a:rPr lang="en-US" sz="1600" b="1" dirty="0" err="1">
                <a:solidFill>
                  <a:srgbClr val="007020"/>
                </a:solidFill>
                <a:effectLst/>
                <a:latin typeface="Consolas" panose="020B0609020204030204" pitchFamily="49" charset="0"/>
                <a:ea typeface="Cambria" panose="02040503050406030204" pitchFamily="18" charset="0"/>
                <a:cs typeface="Arial" panose="020B0604020202020204" pitchFamily="34" charset="0"/>
              </a:rPr>
              <a:t>nullptr</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return</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word-&gt;append(</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3</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4070A0"/>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same as (*word).append(3,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main(</a:t>
            </a:r>
            <a:r>
              <a:rPr lang="en-US" sz="1600" dirty="0" err="1">
                <a:effectLst/>
                <a:latin typeface="Consolas" panose="020B0609020204030204" pitchFamily="49" charset="0"/>
                <a:ea typeface="Cambria" panose="02040503050406030204" pitchFamily="18" charset="0"/>
                <a:cs typeface="Arial" panose="020B0604020202020204" pitchFamily="34" charset="0"/>
              </a:rPr>
              <a:t>argc</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char</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argv</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std::string </a:t>
            </a:r>
            <a:r>
              <a:rPr lang="en-US" sz="1600" dirty="0" err="1">
                <a:effectLst/>
                <a:latin typeface="Consolas" panose="020B0609020204030204" pitchFamily="49" charset="0"/>
                <a:ea typeface="Cambria" panose="02040503050406030204" pitchFamily="18" charset="0"/>
                <a:cs typeface="Arial" panose="020B0604020202020204" pitchFamily="34" charset="0"/>
              </a:rPr>
              <a:t>mySentence</a:t>
            </a:r>
            <a:r>
              <a:rPr lang="en-US" sz="1600" dirty="0">
                <a:effectLst/>
                <a:latin typeface="Consolas" panose="020B0609020204030204" pitchFamily="49" charset="0"/>
                <a:ea typeface="Cambria" panose="02040503050406030204" pitchFamily="18" charset="0"/>
                <a:cs typeface="Arial" panose="020B0604020202020204" pitchFamily="34" charset="0"/>
              </a:rPr>
              <a:t> = </a:t>
            </a:r>
            <a:r>
              <a:rPr lang="en-US" sz="1600" dirty="0">
                <a:solidFill>
                  <a:srgbClr val="4070A0"/>
                </a:solidFill>
                <a:effectLst/>
                <a:latin typeface="Consolas" panose="020B0609020204030204" pitchFamily="49" charset="0"/>
                <a:ea typeface="Cambria" panose="02040503050406030204" pitchFamily="18" charset="0"/>
                <a:cs typeface="Arial" panose="020B0604020202020204" pitchFamily="34" charset="0"/>
              </a:rPr>
              <a:t>"Everything is awesome"</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emphasize(&amp;</a:t>
            </a:r>
            <a:r>
              <a:rPr lang="en-US" sz="1600" dirty="0" err="1">
                <a:effectLst/>
                <a:latin typeface="Consolas" panose="020B0609020204030204" pitchFamily="49" charset="0"/>
                <a:ea typeface="Cambria" panose="02040503050406030204" pitchFamily="18" charset="0"/>
                <a:cs typeface="Arial" panose="020B0604020202020204" pitchFamily="34" charset="0"/>
              </a:rPr>
              <a:t>mySentence</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p>
        </p:txBody>
      </p:sp>
      <p:sp>
        <p:nvSpPr>
          <p:cNvPr id="4" name="Cloud Callout 3">
            <a:extLst>
              <a:ext uri="{FF2B5EF4-FFF2-40B4-BE49-F238E27FC236}">
                <a16:creationId xmlns:a16="http://schemas.microsoft.com/office/drawing/2014/main" id="{3F8F049D-A1FA-5BB2-50FD-93EDEAE216B4}"/>
              </a:ext>
            </a:extLst>
          </p:cNvPr>
          <p:cNvSpPr/>
          <p:nvPr/>
        </p:nvSpPr>
        <p:spPr>
          <a:xfrm>
            <a:off x="8245504" y="2248082"/>
            <a:ext cx="2536466" cy="1361440"/>
          </a:xfrm>
          <a:prstGeom prst="cloudCallout">
            <a:avLst>
              <a:gd name="adj1" fmla="val -54375"/>
              <a:gd name="adj2" fmla="val 665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en-US" dirty="0"/>
              <a:t>Who’s responsible to free memory?</a:t>
            </a:r>
          </a:p>
          <a:p>
            <a:pPr marL="0" algn="ctr" defTabSz="457200" rtl="1" eaLnBrk="1" latinLnBrk="0" hangingPunct="1"/>
            <a:r>
              <a:rPr lang="en-US" dirty="0"/>
              <a:t>Its unclear</a:t>
            </a:r>
            <a:endParaRPr lang="en-IL" dirty="0"/>
          </a:p>
        </p:txBody>
      </p:sp>
    </p:spTree>
    <p:extLst>
      <p:ext uri="{BB962C8B-B14F-4D97-AF65-F5344CB8AC3E}">
        <p14:creationId xmlns:p14="http://schemas.microsoft.com/office/powerpoint/2010/main" val="60977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F63F-82A9-4CC1-80AE-A252459659AD}"/>
              </a:ext>
            </a:extLst>
          </p:cNvPr>
          <p:cNvSpPr>
            <a:spLocks noGrp="1"/>
          </p:cNvSpPr>
          <p:nvPr>
            <p:ph type="title"/>
          </p:nvPr>
        </p:nvSpPr>
        <p:spPr/>
        <p:txBody>
          <a:bodyPr/>
          <a:lstStyle/>
          <a:p>
            <a:r>
              <a:rPr lang="en-US" dirty="0"/>
              <a:t>Header files – a reminder</a:t>
            </a:r>
            <a:endParaRPr lang="he-IL" dirty="0"/>
          </a:p>
        </p:txBody>
      </p:sp>
      <p:sp>
        <p:nvSpPr>
          <p:cNvPr id="3" name="Content Placeholder 2">
            <a:extLst>
              <a:ext uri="{FF2B5EF4-FFF2-40B4-BE49-F238E27FC236}">
                <a16:creationId xmlns:a16="http://schemas.microsoft.com/office/drawing/2014/main" id="{268E1DBC-ED49-4458-8B7B-0317877DFA30}"/>
              </a:ext>
            </a:extLst>
          </p:cNvPr>
          <p:cNvSpPr>
            <a:spLocks noGrp="1"/>
          </p:cNvSpPr>
          <p:nvPr>
            <p:ph idx="1"/>
          </p:nvPr>
        </p:nvSpPr>
        <p:spPr>
          <a:xfrm>
            <a:off x="677334" y="1443542"/>
            <a:ext cx="8596668" cy="1273346"/>
          </a:xfrm>
        </p:spPr>
        <p:txBody>
          <a:bodyPr/>
          <a:lstStyle/>
          <a:p>
            <a:r>
              <a:rPr lang="en-US" dirty="0"/>
              <a:t>Contain declarations of variables, functions, and classes.</a:t>
            </a:r>
          </a:p>
          <a:p>
            <a:r>
              <a:rPr lang="en-US" dirty="0"/>
              <a:t>Usually no implementation in header files (not allowed in this course).</a:t>
            </a:r>
          </a:p>
          <a:p>
            <a:r>
              <a:rPr lang="en-US" dirty="0"/>
              <a:t>Use preprocessor directives to avoid including same header twice.</a:t>
            </a:r>
          </a:p>
        </p:txBody>
      </p:sp>
      <p:sp>
        <p:nvSpPr>
          <p:cNvPr id="7" name="TextBox 6">
            <a:extLst>
              <a:ext uri="{FF2B5EF4-FFF2-40B4-BE49-F238E27FC236}">
                <a16:creationId xmlns:a16="http://schemas.microsoft.com/office/drawing/2014/main" id="{600E1F39-88D5-476D-8995-407DC6287C92}"/>
              </a:ext>
            </a:extLst>
          </p:cNvPr>
          <p:cNvSpPr txBox="1"/>
          <p:nvPr/>
        </p:nvSpPr>
        <p:spPr>
          <a:xfrm>
            <a:off x="1019412" y="2764342"/>
            <a:ext cx="6101482" cy="1569660"/>
          </a:xfrm>
          <a:prstGeom prst="rect">
            <a:avLst/>
          </a:prstGeom>
          <a:noFill/>
        </p:spPr>
        <p:txBody>
          <a:bodyPr wrap="square">
            <a:spAutoFit/>
          </a:bodyPr>
          <a:lstStyle/>
          <a:p>
            <a:pPr marL="0" marR="0" latinLnBrk="1">
              <a:spcBef>
                <a:spcPts val="0"/>
              </a:spcBef>
              <a:spcAft>
                <a:spcPts val="1000"/>
              </a:spcAft>
            </a:pPr>
            <a:r>
              <a:rPr lang="en-US" sz="1600" dirty="0">
                <a:solidFill>
                  <a:srgbClr val="BC7A00"/>
                </a:solidFill>
                <a:effectLst/>
                <a:latin typeface="Consolas" panose="020B0609020204030204" pitchFamily="49" charset="0"/>
                <a:ea typeface="Cambria" panose="02040503050406030204" pitchFamily="18" charset="0"/>
                <a:cs typeface="Arial" panose="020B0604020202020204" pitchFamily="34" charset="0"/>
              </a:rPr>
              <a:t>#ifndef POINT_H</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BC7A00"/>
                </a:solidFill>
                <a:effectLst/>
                <a:latin typeface="Consolas" panose="020B0609020204030204" pitchFamily="49" charset="0"/>
                <a:ea typeface="Cambria" panose="02040503050406030204" pitchFamily="18" charset="0"/>
                <a:cs typeface="Arial" panose="020B0604020202020204" pitchFamily="34" charset="0"/>
              </a:rPr>
              <a:t>#define POINT_H</a:t>
            </a:r>
            <a:br>
              <a:rPr lang="en-US" sz="1600" dirty="0">
                <a:effectLst/>
                <a:latin typeface="Consolas" panose="020B0609020204030204" pitchFamily="49" charset="0"/>
                <a:ea typeface="Cambria" panose="02040503050406030204" pitchFamily="18" charset="0"/>
                <a:cs typeface="Arial" panose="020B0604020202020204" pitchFamily="34" charset="0"/>
              </a:rPr>
            </a:b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all the header file content goes here</a:t>
            </a:r>
            <a:br>
              <a:rPr lang="en-US" sz="1600" dirty="0">
                <a:effectLst/>
                <a:latin typeface="Consolas" panose="020B0609020204030204" pitchFamily="49" charset="0"/>
                <a:ea typeface="Cambria" panose="02040503050406030204" pitchFamily="18" charset="0"/>
                <a:cs typeface="Arial" panose="020B0604020202020204" pitchFamily="34" charset="0"/>
              </a:rPr>
            </a:b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BC7A00"/>
                </a:solidFill>
                <a:effectLst/>
                <a:latin typeface="Consolas" panose="020B0609020204030204" pitchFamily="49" charset="0"/>
                <a:ea typeface="Cambria" panose="02040503050406030204" pitchFamily="18" charset="0"/>
                <a:cs typeface="Arial" panose="020B0604020202020204" pitchFamily="34" charset="0"/>
              </a:rPr>
              <a:t>#endif</a:t>
            </a:r>
            <a:endParaRPr lang="en-US" sz="1100" dirty="0">
              <a:effectLst/>
              <a:latin typeface="Consolas" panose="020B0609020204030204" pitchFamily="49" charset="0"/>
              <a:ea typeface="Cambria" panose="02040503050406030204" pitchFamily="18" charset="0"/>
              <a:cs typeface="Arial" panose="020B0604020202020204" pitchFamily="34" charset="0"/>
            </a:endParaRPr>
          </a:p>
        </p:txBody>
      </p:sp>
      <p:sp>
        <p:nvSpPr>
          <p:cNvPr id="8" name="Content Placeholder 2">
            <a:extLst>
              <a:ext uri="{FF2B5EF4-FFF2-40B4-BE49-F238E27FC236}">
                <a16:creationId xmlns:a16="http://schemas.microsoft.com/office/drawing/2014/main" id="{73E33841-6C36-958C-B6B7-4DA12A8F7AEA}"/>
              </a:ext>
            </a:extLst>
          </p:cNvPr>
          <p:cNvSpPr txBox="1">
            <a:spLocks/>
          </p:cNvSpPr>
          <p:nvPr/>
        </p:nvSpPr>
        <p:spPr>
          <a:xfrm>
            <a:off x="677334" y="4483900"/>
            <a:ext cx="8596668" cy="38405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Even easier with to do with </a:t>
            </a:r>
            <a:r>
              <a:rPr lang="en-US" b="1" dirty="0"/>
              <a:t>#pragma once</a:t>
            </a:r>
          </a:p>
        </p:txBody>
      </p:sp>
      <p:sp>
        <p:nvSpPr>
          <p:cNvPr id="11" name="TextBox 10">
            <a:extLst>
              <a:ext uri="{FF2B5EF4-FFF2-40B4-BE49-F238E27FC236}">
                <a16:creationId xmlns:a16="http://schemas.microsoft.com/office/drawing/2014/main" id="{E911296E-E180-8472-8A6D-5C92A239B271}"/>
              </a:ext>
            </a:extLst>
          </p:cNvPr>
          <p:cNvSpPr txBox="1"/>
          <p:nvPr/>
        </p:nvSpPr>
        <p:spPr>
          <a:xfrm>
            <a:off x="1019412" y="5055838"/>
            <a:ext cx="6101482" cy="830997"/>
          </a:xfrm>
          <a:prstGeom prst="rect">
            <a:avLst/>
          </a:prstGeom>
          <a:noFill/>
        </p:spPr>
        <p:txBody>
          <a:bodyPr wrap="square">
            <a:spAutoFit/>
          </a:bodyPr>
          <a:lstStyle/>
          <a:p>
            <a:pPr marL="0" marR="0" latinLnBrk="1">
              <a:spcBef>
                <a:spcPts val="0"/>
              </a:spcBef>
              <a:spcAft>
                <a:spcPts val="1000"/>
              </a:spcAft>
            </a:pPr>
            <a:r>
              <a:rPr lang="en-US" sz="1600" dirty="0">
                <a:solidFill>
                  <a:srgbClr val="BC7A00"/>
                </a:solidFill>
                <a:effectLst/>
                <a:latin typeface="Consolas" panose="020B0609020204030204" pitchFamily="49" charset="0"/>
                <a:ea typeface="Cambria" panose="02040503050406030204" pitchFamily="18" charset="0"/>
                <a:cs typeface="Arial" panose="020B0604020202020204" pitchFamily="34" charset="0"/>
              </a:rPr>
              <a:t>#pragma once</a:t>
            </a:r>
            <a:br>
              <a:rPr lang="en-US" sz="1600" dirty="0">
                <a:effectLst/>
                <a:latin typeface="Consolas" panose="020B0609020204030204" pitchFamily="49" charset="0"/>
                <a:ea typeface="Cambria" panose="02040503050406030204" pitchFamily="18" charset="0"/>
                <a:cs typeface="Arial" panose="020B0604020202020204" pitchFamily="34" charset="0"/>
              </a:rPr>
            </a:b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all the header file content goes here</a:t>
            </a:r>
            <a:endParaRPr lang="en-US" sz="1100" dirty="0">
              <a:effectLst/>
              <a:latin typeface="Consolas" panose="020B0609020204030204" pitchFamily="49"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106373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8" grpId="0" build="p"/>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B466-C588-4C19-AD88-EEE9CF5625F2}"/>
              </a:ext>
            </a:extLst>
          </p:cNvPr>
          <p:cNvSpPr>
            <a:spLocks noGrp="1"/>
          </p:cNvSpPr>
          <p:nvPr>
            <p:ph type="title"/>
          </p:nvPr>
        </p:nvSpPr>
        <p:spPr/>
        <p:txBody>
          <a:bodyPr/>
          <a:lstStyle/>
          <a:p>
            <a:r>
              <a:rPr lang="en-US" dirty="0"/>
              <a:t>C++ classes – declaration example</a:t>
            </a:r>
            <a:endParaRPr lang="he-IL" dirty="0"/>
          </a:p>
        </p:txBody>
      </p:sp>
      <p:sp>
        <p:nvSpPr>
          <p:cNvPr id="28" name="TextBox 27">
            <a:extLst>
              <a:ext uri="{FF2B5EF4-FFF2-40B4-BE49-F238E27FC236}">
                <a16:creationId xmlns:a16="http://schemas.microsoft.com/office/drawing/2014/main" id="{56BA1CAF-49A2-AC91-9E7D-96679825D2B0}"/>
              </a:ext>
            </a:extLst>
          </p:cNvPr>
          <p:cNvSpPr txBox="1"/>
          <p:nvPr/>
        </p:nvSpPr>
        <p:spPr>
          <a:xfrm>
            <a:off x="677334" y="1506847"/>
            <a:ext cx="10295466" cy="4484754"/>
          </a:xfrm>
          <a:prstGeom prst="rect">
            <a:avLst/>
          </a:prstGeom>
          <a:noFill/>
        </p:spPr>
        <p:txBody>
          <a:bodyPr wrap="square">
            <a:spAutoFit/>
          </a:bodyPr>
          <a:lstStyle/>
          <a:p>
            <a:pPr marL="0" marR="0" latinLnBrk="1">
              <a:lnSpc>
                <a:spcPct val="150000"/>
              </a:lnSpc>
              <a:spcBef>
                <a:spcPts val="0"/>
              </a:spcBef>
              <a:spcAft>
                <a:spcPts val="1000"/>
              </a:spcAft>
            </a:pP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class</a:t>
            </a:r>
            <a:r>
              <a:rPr lang="en-US" sz="1600" dirty="0">
                <a:effectLst/>
                <a:latin typeface="Consolas" panose="020B0609020204030204" pitchFamily="49" charset="0"/>
                <a:ea typeface="Cambria" panose="02040503050406030204" pitchFamily="18" charset="0"/>
                <a:cs typeface="Arial" panose="020B0604020202020204" pitchFamily="34" charset="0"/>
              </a:rPr>
              <a:t> Point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x;</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y;</a:t>
            </a:r>
            <a:br>
              <a:rPr lang="en-US" sz="1600" dirty="0">
                <a:effectLst/>
                <a:latin typeface="Consolas" panose="020B0609020204030204" pitchFamily="49" charset="0"/>
                <a:ea typeface="Cambria" panose="02040503050406030204" pitchFamily="18" charset="0"/>
                <a:cs typeface="Arial" panose="020B0604020202020204" pitchFamily="34" charset="0"/>
              </a:rPr>
            </a:br>
            <a:br>
              <a:rPr lang="en-US" sz="1600" dirty="0">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public</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Point();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Point(</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xVal</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yVal</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void</a:t>
            </a:r>
            <a:r>
              <a:rPr lang="en-US" sz="1600" dirty="0">
                <a:effectLst/>
                <a:latin typeface="Consolas" panose="020B0609020204030204" pitchFamily="49" charset="0"/>
                <a:ea typeface="Cambria" panose="02040503050406030204" pitchFamily="18" charset="0"/>
                <a:cs typeface="Arial" panose="020B0604020202020204" pitchFamily="34" charset="0"/>
              </a:rPr>
              <a:t> move(</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dx,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dy</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getX</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7D9029"/>
                </a:solidFill>
                <a:effectLst/>
                <a:latin typeface="Consolas" panose="020B0609020204030204" pitchFamily="49" charset="0"/>
                <a:ea typeface="Cambria" panose="02040503050406030204" pitchFamily="18" charset="0"/>
                <a:cs typeface="Arial" panose="020B0604020202020204" pitchFamily="34" charset="0"/>
              </a:rPr>
              <a:t>const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const method (cannot change the object's data)</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getY</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7D9029"/>
                </a:solidFill>
                <a:effectLst/>
                <a:latin typeface="Consolas" panose="020B0609020204030204" pitchFamily="49" charset="0"/>
                <a:ea typeface="Cambria" panose="02040503050406030204" pitchFamily="18" charset="0"/>
                <a:cs typeface="Arial" panose="020B0604020202020204" pitchFamily="34" charset="0"/>
              </a:rPr>
              <a:t>const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ditto</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note: a </a:t>
            </a:r>
            <a:r>
              <a:rPr lang="en-US" sz="1600" b="1" i="1" u="sng" dirty="0">
                <a:solidFill>
                  <a:srgbClr val="60A0B0"/>
                </a:solidFill>
                <a:effectLst/>
                <a:latin typeface="Consolas" panose="020B0609020204030204" pitchFamily="49" charset="0"/>
                <a:ea typeface="Cambria" panose="02040503050406030204" pitchFamily="18" charset="0"/>
                <a:cs typeface="Arial" panose="020B0604020202020204" pitchFamily="34" charset="0"/>
              </a:rPr>
              <a:t>semicolon is required</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at the end of the class declaration</a:t>
            </a:r>
            <a:endParaRPr lang="en-US" sz="1600" dirty="0">
              <a:effectLst/>
              <a:latin typeface="Consolas" panose="020B0609020204030204" pitchFamily="49"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756102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72FCE-2B3E-4594-8FF6-9A1590414A14}"/>
              </a:ext>
            </a:extLst>
          </p:cNvPr>
          <p:cNvSpPr>
            <a:spLocks noGrp="1"/>
          </p:cNvSpPr>
          <p:nvPr>
            <p:ph type="title"/>
          </p:nvPr>
        </p:nvSpPr>
        <p:spPr/>
        <p:txBody>
          <a:bodyPr/>
          <a:lstStyle/>
          <a:p>
            <a:r>
              <a:rPr lang="en-US" dirty="0"/>
              <a:t>C++ classes – implementation example</a:t>
            </a:r>
            <a:endParaRPr lang="he-IL" dirty="0"/>
          </a:p>
        </p:txBody>
      </p:sp>
      <p:sp>
        <p:nvSpPr>
          <p:cNvPr id="6" name="TextBox 5">
            <a:extLst>
              <a:ext uri="{FF2B5EF4-FFF2-40B4-BE49-F238E27FC236}">
                <a16:creationId xmlns:a16="http://schemas.microsoft.com/office/drawing/2014/main" id="{DA4C3EB4-249C-47BA-23E4-51A6334D1AE5}"/>
              </a:ext>
            </a:extLst>
          </p:cNvPr>
          <p:cNvSpPr txBox="1"/>
          <p:nvPr/>
        </p:nvSpPr>
        <p:spPr>
          <a:xfrm>
            <a:off x="677334" y="1542047"/>
            <a:ext cx="8315363" cy="4770537"/>
          </a:xfrm>
          <a:prstGeom prst="rect">
            <a:avLst/>
          </a:prstGeom>
          <a:noFill/>
        </p:spPr>
        <p:txBody>
          <a:bodyPr wrap="square">
            <a:spAutoFit/>
          </a:bodyPr>
          <a:lstStyle/>
          <a:p>
            <a:r>
              <a:rPr lang="en-US" sz="1600" dirty="0">
                <a:effectLst/>
                <a:latin typeface="Consolas" panose="020B0609020204030204" pitchFamily="49" charset="0"/>
                <a:ea typeface="Cambria" panose="02040503050406030204" pitchFamily="18" charset="0"/>
                <a:cs typeface="Arial" panose="020B0604020202020204" pitchFamily="34" charset="0"/>
              </a:rPr>
              <a:t>Point::Point() : x(</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0</a:t>
            </a:r>
            <a:r>
              <a:rPr lang="en-US" sz="1600" dirty="0">
                <a:effectLst/>
                <a:latin typeface="Consolas" panose="020B0609020204030204" pitchFamily="49" charset="0"/>
                <a:ea typeface="Cambria" panose="02040503050406030204" pitchFamily="18" charset="0"/>
                <a:cs typeface="Arial" panose="020B0604020202020204" pitchFamily="34" charset="0"/>
              </a:rPr>
              <a:t>), y(</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0</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ambria" panose="02040503050406030204" pitchFamily="18" charset="0"/>
                <a:ea typeface="Cambria" panose="02040503050406030204" pitchFamily="18" charset="0"/>
                <a:cs typeface="Arial" panose="020B0604020202020204" pitchFamily="34" charset="0"/>
              </a:rPr>
            </a:b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Point::Point(</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xVal</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yVal</a:t>
            </a:r>
            <a:r>
              <a:rPr lang="en-US" sz="1600" dirty="0">
                <a:effectLst/>
                <a:latin typeface="Consolas" panose="020B0609020204030204" pitchFamily="49" charset="0"/>
                <a:ea typeface="Cambria" panose="02040503050406030204" pitchFamily="18" charset="0"/>
                <a:cs typeface="Arial" panose="020B0604020202020204" pitchFamily="34" charset="0"/>
              </a:rPr>
              <a:t>) : x(</a:t>
            </a:r>
            <a:r>
              <a:rPr lang="en-US" sz="1600" dirty="0" err="1">
                <a:effectLst/>
                <a:latin typeface="Consolas" panose="020B0609020204030204" pitchFamily="49" charset="0"/>
                <a:ea typeface="Cambria" panose="02040503050406030204" pitchFamily="18" charset="0"/>
                <a:cs typeface="Arial" panose="020B0604020202020204" pitchFamily="34" charset="0"/>
              </a:rPr>
              <a:t>xVal</a:t>
            </a:r>
            <a:r>
              <a:rPr lang="en-US" sz="1600" dirty="0">
                <a:effectLst/>
                <a:latin typeface="Consolas" panose="020B0609020204030204" pitchFamily="49" charset="0"/>
                <a:ea typeface="Cambria" panose="02040503050406030204" pitchFamily="18" charset="0"/>
                <a:cs typeface="Arial" panose="020B0604020202020204" pitchFamily="34" charset="0"/>
              </a:rPr>
              <a:t>), y(</a:t>
            </a:r>
            <a:r>
              <a:rPr lang="en-US" sz="1600" dirty="0" err="1">
                <a:effectLst/>
                <a:latin typeface="Consolas" panose="020B0609020204030204" pitchFamily="49" charset="0"/>
                <a:ea typeface="Cambria" panose="02040503050406030204" pitchFamily="18" charset="0"/>
                <a:cs typeface="Arial" panose="020B0604020202020204" pitchFamily="34" charset="0"/>
              </a:rPr>
              <a:t>yVal</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ambria" panose="02040503050406030204" pitchFamily="18" charset="0"/>
                <a:ea typeface="Cambria" panose="02040503050406030204" pitchFamily="18" charset="0"/>
                <a:cs typeface="Arial" panose="020B0604020202020204" pitchFamily="34" charset="0"/>
              </a:rPr>
            </a:b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void</a:t>
            </a:r>
            <a:r>
              <a:rPr lang="en-US" sz="1600" dirty="0">
                <a:effectLst/>
                <a:latin typeface="Consolas" panose="020B0609020204030204" pitchFamily="49" charset="0"/>
                <a:ea typeface="Cambria" panose="02040503050406030204" pitchFamily="18" charset="0"/>
                <a:cs typeface="Arial" panose="020B0604020202020204" pitchFamily="34" charset="0"/>
              </a:rPr>
              <a:t> Point::move(</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dx,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dy</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x = x + dx;</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y = y + </a:t>
            </a:r>
            <a:r>
              <a:rPr lang="en-US" sz="1600" dirty="0" err="1">
                <a:effectLst/>
                <a:latin typeface="Consolas" panose="020B0609020204030204" pitchFamily="49" charset="0"/>
                <a:ea typeface="Cambria" panose="02040503050406030204" pitchFamily="18" charset="0"/>
                <a:cs typeface="Arial" panose="020B0604020202020204" pitchFamily="34" charset="0"/>
              </a:rPr>
              <a:t>dy</a:t>
            </a: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Point::</a:t>
            </a:r>
            <a:r>
              <a:rPr lang="en-US" sz="1600" dirty="0" err="1">
                <a:effectLst/>
                <a:latin typeface="Consolas" panose="020B0609020204030204" pitchFamily="49" charset="0"/>
                <a:ea typeface="Cambria" panose="02040503050406030204" pitchFamily="18" charset="0"/>
                <a:cs typeface="Arial" panose="020B0604020202020204" pitchFamily="34" charset="0"/>
              </a:rPr>
              <a:t>getX</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7D9029"/>
                </a:solidFill>
                <a:effectLst/>
                <a:latin typeface="Consolas" panose="020B0609020204030204" pitchFamily="49" charset="0"/>
                <a:ea typeface="Cambria" panose="02040503050406030204" pitchFamily="18" charset="0"/>
                <a:cs typeface="Arial" panose="020B0604020202020204" pitchFamily="34" charset="0"/>
              </a:rPr>
              <a:t>const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return</a:t>
            </a:r>
            <a:r>
              <a:rPr lang="en-US" sz="1600" dirty="0">
                <a:effectLst/>
                <a:latin typeface="Consolas" panose="020B0609020204030204" pitchFamily="49" charset="0"/>
                <a:ea typeface="Cambria" panose="02040503050406030204" pitchFamily="18" charset="0"/>
                <a:cs typeface="Arial" panose="020B0604020202020204" pitchFamily="34" charset="0"/>
              </a:rPr>
              <a:t> x;</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Point::</a:t>
            </a:r>
            <a:r>
              <a:rPr lang="en-US" sz="1600" dirty="0" err="1">
                <a:effectLst/>
                <a:latin typeface="Consolas" panose="020B0609020204030204" pitchFamily="49" charset="0"/>
                <a:ea typeface="Cambria" panose="02040503050406030204" pitchFamily="18" charset="0"/>
                <a:cs typeface="Arial" panose="020B0604020202020204" pitchFamily="34" charset="0"/>
              </a:rPr>
              <a:t>getY</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7D9029"/>
                </a:solidFill>
                <a:effectLst/>
                <a:latin typeface="Consolas" panose="020B0609020204030204" pitchFamily="49" charset="0"/>
                <a:ea typeface="Cambria" panose="02040503050406030204" pitchFamily="18" charset="0"/>
                <a:cs typeface="Arial" panose="020B0604020202020204" pitchFamily="34" charset="0"/>
              </a:rPr>
              <a:t>const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return</a:t>
            </a:r>
            <a:r>
              <a:rPr lang="en-US" sz="1600" dirty="0">
                <a:effectLst/>
                <a:latin typeface="Consolas" panose="020B0609020204030204" pitchFamily="49" charset="0"/>
                <a:ea typeface="Cambria" panose="02040503050406030204" pitchFamily="18" charset="0"/>
                <a:cs typeface="Arial" panose="020B0604020202020204" pitchFamily="34" charset="0"/>
              </a:rPr>
              <a:t> y;</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a:t>
            </a:r>
            <a:endParaRPr lang="en-US" sz="1600" dirty="0"/>
          </a:p>
        </p:txBody>
      </p:sp>
    </p:spTree>
    <p:extLst>
      <p:ext uri="{BB962C8B-B14F-4D97-AF65-F5344CB8AC3E}">
        <p14:creationId xmlns:p14="http://schemas.microsoft.com/office/powerpoint/2010/main" val="3353782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FD53-E962-49B7-B753-E736EFDBA434}"/>
              </a:ext>
            </a:extLst>
          </p:cNvPr>
          <p:cNvSpPr>
            <a:spLocks noGrp="1"/>
          </p:cNvSpPr>
          <p:nvPr>
            <p:ph type="title"/>
          </p:nvPr>
        </p:nvSpPr>
        <p:spPr>
          <a:xfrm>
            <a:off x="677334" y="734534"/>
            <a:ext cx="10048723" cy="1320800"/>
          </a:xfrm>
        </p:spPr>
        <p:txBody>
          <a:bodyPr/>
          <a:lstStyle/>
          <a:p>
            <a:r>
              <a:rPr lang="en-US" dirty="0"/>
              <a:t>Syntax differences between C++ and Java</a:t>
            </a:r>
            <a:endParaRPr lang="he-IL" dirty="0"/>
          </a:p>
        </p:txBody>
      </p:sp>
      <p:sp>
        <p:nvSpPr>
          <p:cNvPr id="3" name="Content Placeholder 2">
            <a:extLst>
              <a:ext uri="{FF2B5EF4-FFF2-40B4-BE49-F238E27FC236}">
                <a16:creationId xmlns:a16="http://schemas.microsoft.com/office/drawing/2014/main" id="{E730DD71-6096-4903-AF94-0CCF58D37F76}"/>
              </a:ext>
            </a:extLst>
          </p:cNvPr>
          <p:cNvSpPr>
            <a:spLocks noGrp="1"/>
          </p:cNvSpPr>
          <p:nvPr>
            <p:ph idx="1"/>
          </p:nvPr>
        </p:nvSpPr>
        <p:spPr>
          <a:xfrm>
            <a:off x="677334" y="2055334"/>
            <a:ext cx="8596668" cy="3880773"/>
          </a:xfrm>
        </p:spPr>
        <p:txBody>
          <a:bodyPr>
            <a:normAutofit lnSpcReduction="10000"/>
          </a:bodyPr>
          <a:lstStyle/>
          <a:p>
            <a:r>
              <a:rPr lang="en-US" dirty="0"/>
              <a:t>Separate declarations and implementations - the scope resolution operator (the :: operator) designates to which class the method belongs.</a:t>
            </a:r>
          </a:p>
          <a:p>
            <a:r>
              <a:rPr lang="en-US" dirty="0"/>
              <a:t>Semicolon at the end of the class - not placing it will result in a compilation error.</a:t>
            </a:r>
          </a:p>
          <a:p>
            <a:pPr>
              <a:lnSpc>
                <a:spcPct val="150000"/>
              </a:lnSpc>
            </a:pPr>
            <a:r>
              <a:rPr lang="en-US" dirty="0"/>
              <a:t>Public and private </a:t>
            </a:r>
            <a:r>
              <a:rPr lang="en-US" b="1" dirty="0"/>
              <a:t>section </a:t>
            </a:r>
            <a:r>
              <a:rPr lang="en-US" dirty="0"/>
              <a:t>- as opposed to Java where each individual class member must be tagged separately.</a:t>
            </a:r>
          </a:p>
          <a:p>
            <a:r>
              <a:rPr lang="en-US" dirty="0"/>
              <a:t>Const methods – like </a:t>
            </a:r>
            <a:r>
              <a:rPr lang="en-US" b="1" dirty="0"/>
              <a:t>final</a:t>
            </a:r>
            <a:r>
              <a:rPr lang="en-US" dirty="0"/>
              <a:t> in Java. Const methods do not change the state of an object and therefore cannot return non-const references or pointers to members of the class or call non-const methods.</a:t>
            </a:r>
          </a:p>
          <a:p>
            <a:r>
              <a:rPr lang="en-US" dirty="0"/>
              <a:t>Const objects - once an object is declared as `const`, one can only use `const` methods on that object.</a:t>
            </a:r>
          </a:p>
        </p:txBody>
      </p:sp>
    </p:spTree>
    <p:extLst>
      <p:ext uri="{BB962C8B-B14F-4D97-AF65-F5344CB8AC3E}">
        <p14:creationId xmlns:p14="http://schemas.microsoft.com/office/powerpoint/2010/main" val="2319339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A5BAC-E1CF-418F-A459-07E181CF8266}"/>
              </a:ext>
            </a:extLst>
          </p:cNvPr>
          <p:cNvSpPr>
            <a:spLocks noGrp="1"/>
          </p:cNvSpPr>
          <p:nvPr>
            <p:ph type="title"/>
          </p:nvPr>
        </p:nvSpPr>
        <p:spPr/>
        <p:txBody>
          <a:bodyPr/>
          <a:lstStyle/>
          <a:p>
            <a:r>
              <a:rPr lang="en-US" dirty="0"/>
              <a:t>Member initialization list</a:t>
            </a:r>
            <a:endParaRPr lang="he-IL" dirty="0"/>
          </a:p>
        </p:txBody>
      </p:sp>
      <p:sp>
        <p:nvSpPr>
          <p:cNvPr id="3" name="Content Placeholder 2">
            <a:extLst>
              <a:ext uri="{FF2B5EF4-FFF2-40B4-BE49-F238E27FC236}">
                <a16:creationId xmlns:a16="http://schemas.microsoft.com/office/drawing/2014/main" id="{1F695308-4C53-4D0F-9DF7-65F2B3333CC1}"/>
              </a:ext>
            </a:extLst>
          </p:cNvPr>
          <p:cNvSpPr>
            <a:spLocks noGrp="1"/>
          </p:cNvSpPr>
          <p:nvPr>
            <p:ph idx="1"/>
          </p:nvPr>
        </p:nvSpPr>
        <p:spPr>
          <a:xfrm>
            <a:off x="677334" y="1785619"/>
            <a:ext cx="8596668" cy="3880773"/>
          </a:xfrm>
        </p:spPr>
        <p:txBody>
          <a:bodyPr>
            <a:normAutofit fontScale="92500" lnSpcReduction="10000"/>
          </a:bodyPr>
          <a:lstStyle/>
          <a:p>
            <a:pPr>
              <a:lnSpc>
                <a:spcPct val="150000"/>
              </a:lnSpc>
            </a:pPr>
            <a:r>
              <a:rPr lang="en-US" dirty="0"/>
              <a:t>Used to initialize class members.</a:t>
            </a:r>
          </a:p>
          <a:p>
            <a:pPr>
              <a:lnSpc>
                <a:spcPct val="150000"/>
              </a:lnSpc>
            </a:pPr>
            <a:r>
              <a:rPr lang="en-US" dirty="0"/>
              <a:t>Executed </a:t>
            </a:r>
            <a:r>
              <a:rPr lang="en-US" b="1" dirty="0"/>
              <a:t>before</a:t>
            </a:r>
            <a:r>
              <a:rPr lang="en-US" dirty="0"/>
              <a:t> the body of the constructor.</a:t>
            </a:r>
          </a:p>
          <a:p>
            <a:pPr>
              <a:lnSpc>
                <a:spcPct val="150000"/>
              </a:lnSpc>
            </a:pPr>
            <a:r>
              <a:rPr lang="en-US" dirty="0"/>
              <a:t>Any class variable (field) that does not appear in this list it will be initialized with it's default constructor (if the object's class has no default constructor the compilation will fail).</a:t>
            </a:r>
          </a:p>
          <a:p>
            <a:pPr>
              <a:lnSpc>
                <a:spcPct val="150000"/>
              </a:lnSpc>
            </a:pPr>
            <a:r>
              <a:rPr lang="en-US" dirty="0"/>
              <a:t>Const class variables can only be initialized in the member initialization list.</a:t>
            </a:r>
          </a:p>
          <a:p>
            <a:pPr>
              <a:lnSpc>
                <a:spcPct val="150000"/>
              </a:lnSpc>
            </a:pPr>
            <a:r>
              <a:rPr lang="en-US" dirty="0"/>
              <a:t>The order of initialization is according to the order the fields in the class - not the order in the member initialization list. It is advisable to keep the order in the initialization list the same as in the class to avoid confusion.</a:t>
            </a:r>
          </a:p>
        </p:txBody>
      </p:sp>
      <p:sp>
        <p:nvSpPr>
          <p:cNvPr id="5" name="TextBox 4">
            <a:extLst>
              <a:ext uri="{FF2B5EF4-FFF2-40B4-BE49-F238E27FC236}">
                <a16:creationId xmlns:a16="http://schemas.microsoft.com/office/drawing/2014/main" id="{ED13EAE5-7DA6-1352-5CF3-FEBFC3A41F1A}"/>
              </a:ext>
            </a:extLst>
          </p:cNvPr>
          <p:cNvSpPr txBox="1"/>
          <p:nvPr/>
        </p:nvSpPr>
        <p:spPr>
          <a:xfrm>
            <a:off x="850790" y="5832901"/>
            <a:ext cx="7172870" cy="919401"/>
          </a:xfrm>
          <a:prstGeom prst="round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dirty="0">
                <a:effectLst/>
                <a:latin typeface="Consolas" panose="020B0609020204030204" pitchFamily="49" charset="0"/>
                <a:ea typeface="Cambria" panose="02040503050406030204" pitchFamily="18" charset="0"/>
                <a:cs typeface="Arial" panose="020B0604020202020204" pitchFamily="34" charset="0"/>
              </a:rPr>
              <a:t>Point::Point() : x(</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0</a:t>
            </a:r>
            <a:r>
              <a:rPr lang="en-US" sz="1600" dirty="0">
                <a:effectLst/>
                <a:latin typeface="Consolas" panose="020B0609020204030204" pitchFamily="49" charset="0"/>
                <a:ea typeface="Cambria" panose="02040503050406030204" pitchFamily="18" charset="0"/>
                <a:cs typeface="Arial" panose="020B0604020202020204" pitchFamily="34" charset="0"/>
              </a:rPr>
              <a:t>), y(</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0</a:t>
            </a: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ambria" panose="02040503050406030204" pitchFamily="18" charset="0"/>
                <a:ea typeface="Cambria" panose="02040503050406030204" pitchFamily="18" charset="0"/>
                <a:cs typeface="Arial" panose="020B0604020202020204" pitchFamily="34" charset="0"/>
              </a:rPr>
            </a:b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Point::Point(</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xVal</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double</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yVal</a:t>
            </a:r>
            <a:r>
              <a:rPr lang="en-US" sz="1600" dirty="0">
                <a:effectLst/>
                <a:latin typeface="Consolas" panose="020B0609020204030204" pitchFamily="49" charset="0"/>
                <a:ea typeface="Cambria" panose="02040503050406030204" pitchFamily="18" charset="0"/>
                <a:cs typeface="Arial" panose="020B0604020202020204" pitchFamily="34" charset="0"/>
              </a:rPr>
              <a:t>) : x(</a:t>
            </a:r>
            <a:r>
              <a:rPr lang="en-US" sz="1600" dirty="0" err="1">
                <a:effectLst/>
                <a:latin typeface="Consolas" panose="020B0609020204030204" pitchFamily="49" charset="0"/>
                <a:ea typeface="Cambria" panose="02040503050406030204" pitchFamily="18" charset="0"/>
                <a:cs typeface="Arial" panose="020B0604020202020204" pitchFamily="34" charset="0"/>
              </a:rPr>
              <a:t>xVal</a:t>
            </a:r>
            <a:r>
              <a:rPr lang="en-US" sz="1600" dirty="0">
                <a:effectLst/>
                <a:latin typeface="Consolas" panose="020B0609020204030204" pitchFamily="49" charset="0"/>
                <a:ea typeface="Cambria" panose="02040503050406030204" pitchFamily="18" charset="0"/>
                <a:cs typeface="Arial" panose="020B0604020202020204" pitchFamily="34" charset="0"/>
              </a:rPr>
              <a:t>), y(</a:t>
            </a:r>
            <a:r>
              <a:rPr lang="en-US" sz="1600" dirty="0" err="1">
                <a:effectLst/>
                <a:latin typeface="Consolas" panose="020B0609020204030204" pitchFamily="49" charset="0"/>
                <a:ea typeface="Cambria" panose="02040503050406030204" pitchFamily="18" charset="0"/>
                <a:cs typeface="Arial" panose="020B0604020202020204" pitchFamily="34" charset="0"/>
              </a:rPr>
              <a:t>yVal</a:t>
            </a:r>
            <a:r>
              <a:rPr lang="en-US" sz="1600" dirty="0">
                <a:effectLst/>
                <a:latin typeface="Consolas" panose="020B0609020204030204" pitchFamily="49" charset="0"/>
                <a:ea typeface="Cambria" panose="02040503050406030204" pitchFamily="18" charset="0"/>
                <a:cs typeface="Arial" panose="020B0604020202020204" pitchFamily="34" charset="0"/>
              </a:rPr>
              <a:t>) {}</a:t>
            </a:r>
            <a:endParaRPr lang="en-IL" sz="1600" dirty="0"/>
          </a:p>
        </p:txBody>
      </p:sp>
    </p:spTree>
    <p:extLst>
      <p:ext uri="{BB962C8B-B14F-4D97-AF65-F5344CB8AC3E}">
        <p14:creationId xmlns:p14="http://schemas.microsoft.com/office/powerpoint/2010/main" val="255532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D9A4E-B92B-4524-8AA7-8D08BBC89EA5}"/>
              </a:ext>
            </a:extLst>
          </p:cNvPr>
          <p:cNvSpPr>
            <a:spLocks noGrp="1"/>
          </p:cNvSpPr>
          <p:nvPr>
            <p:ph type="title"/>
          </p:nvPr>
        </p:nvSpPr>
        <p:spPr/>
        <p:txBody>
          <a:bodyPr/>
          <a:lstStyle/>
          <a:p>
            <a:r>
              <a:rPr lang="en-US" dirty="0"/>
              <a:t>C++ objects</a:t>
            </a:r>
            <a:endParaRPr lang="he-IL" dirty="0"/>
          </a:p>
        </p:txBody>
      </p:sp>
      <p:sp>
        <p:nvSpPr>
          <p:cNvPr id="3" name="Content Placeholder 2">
            <a:extLst>
              <a:ext uri="{FF2B5EF4-FFF2-40B4-BE49-F238E27FC236}">
                <a16:creationId xmlns:a16="http://schemas.microsoft.com/office/drawing/2014/main" id="{EC2A2864-E659-4961-9877-3E3CEEF383F7}"/>
              </a:ext>
            </a:extLst>
          </p:cNvPr>
          <p:cNvSpPr>
            <a:spLocks noGrp="1"/>
          </p:cNvSpPr>
          <p:nvPr>
            <p:ph idx="1"/>
          </p:nvPr>
        </p:nvSpPr>
        <p:spPr>
          <a:xfrm>
            <a:off x="838200" y="1769594"/>
            <a:ext cx="10515600" cy="3815482"/>
          </a:xfrm>
        </p:spPr>
        <p:txBody>
          <a:bodyPr>
            <a:normAutofit/>
          </a:bodyPr>
          <a:lstStyle/>
          <a:p>
            <a:r>
              <a:rPr lang="en-US" dirty="0"/>
              <a:t>In C++, object variables hold </a:t>
            </a:r>
            <a:r>
              <a:rPr lang="en-US" i="1" dirty="0"/>
              <a:t>values</a:t>
            </a:r>
            <a:r>
              <a:rPr lang="en-US" dirty="0"/>
              <a:t>, not </a:t>
            </a:r>
            <a:r>
              <a:rPr lang="en-US" i="1" dirty="0"/>
              <a:t>references</a:t>
            </a:r>
            <a:r>
              <a:rPr lang="en-US" dirty="0"/>
              <a:t>. In the variable declaration you supply the parameters to the constructor after the variable name: </a:t>
            </a:r>
          </a:p>
          <a:p>
            <a:endParaRPr lang="en-US" dirty="0"/>
          </a:p>
          <a:p>
            <a:endParaRPr lang="en-US" dirty="0"/>
          </a:p>
          <a:p>
            <a:r>
              <a:rPr lang="en-US" dirty="0"/>
              <a:t>If you do not supply construction parameters, then the object will be constructed using the default (no arguments) constructor:</a:t>
            </a:r>
          </a:p>
          <a:p>
            <a:endParaRPr lang="en-US" dirty="0"/>
          </a:p>
          <a:p>
            <a:endParaRPr lang="en-US" dirty="0"/>
          </a:p>
          <a:p>
            <a:r>
              <a:rPr lang="en-US" i="1" dirty="0"/>
              <a:t>In Java, `Point p` would create an uninitialized reference. In C++, it allocates and constructs an actual object.</a:t>
            </a:r>
          </a:p>
        </p:txBody>
      </p:sp>
      <p:sp>
        <p:nvSpPr>
          <p:cNvPr id="14" name="TextBox 13">
            <a:extLst>
              <a:ext uri="{FF2B5EF4-FFF2-40B4-BE49-F238E27FC236}">
                <a16:creationId xmlns:a16="http://schemas.microsoft.com/office/drawing/2014/main" id="{51A6FA69-B85D-F365-0C4B-DE9089272768}"/>
              </a:ext>
            </a:extLst>
          </p:cNvPr>
          <p:cNvSpPr txBox="1"/>
          <p:nvPr/>
        </p:nvSpPr>
        <p:spPr>
          <a:xfrm>
            <a:off x="1167684" y="2444492"/>
            <a:ext cx="9528821" cy="584775"/>
          </a:xfrm>
          <a:prstGeom prst="rect">
            <a:avLst/>
          </a:prstGeom>
          <a:noFill/>
        </p:spPr>
        <p:txBody>
          <a:bodyPr wrap="square">
            <a:spAutoFit/>
          </a:bodyPr>
          <a:lstStyle/>
          <a:p>
            <a:pPr marL="0" marR="0" latinLnBrk="1">
              <a:spcBef>
                <a:spcPts val="0"/>
              </a:spcBef>
              <a:spcAft>
                <a:spcPts val="1000"/>
              </a:spcAft>
            </a:pP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create using the constructor Point::Point(double </a:t>
            </a:r>
            <a:r>
              <a:rPr lang="en-US" sz="1600" i="1" dirty="0" err="1">
                <a:solidFill>
                  <a:srgbClr val="60A0B0"/>
                </a:solidFill>
                <a:effectLst/>
                <a:latin typeface="Consolas" panose="020B0609020204030204" pitchFamily="49" charset="0"/>
                <a:ea typeface="Cambria" panose="02040503050406030204" pitchFamily="18" charset="0"/>
                <a:cs typeface="Arial" panose="020B0604020202020204" pitchFamily="34" charset="0"/>
              </a:rPr>
              <a:t>xVal</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double </a:t>
            </a:r>
            <a:r>
              <a:rPr lang="en-US" sz="1600" i="1" dirty="0" err="1">
                <a:solidFill>
                  <a:srgbClr val="60A0B0"/>
                </a:solidFill>
                <a:effectLst/>
                <a:latin typeface="Consolas" panose="020B0609020204030204" pitchFamily="49" charset="0"/>
                <a:ea typeface="Cambria" panose="02040503050406030204" pitchFamily="18" charset="0"/>
                <a:cs typeface="Arial" panose="020B0604020202020204" pitchFamily="34" charset="0"/>
              </a:rPr>
              <a:t>yVal</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Point p</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1</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2</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p>
        </p:txBody>
      </p:sp>
      <p:sp>
        <p:nvSpPr>
          <p:cNvPr id="16" name="TextBox 15">
            <a:extLst>
              <a:ext uri="{FF2B5EF4-FFF2-40B4-BE49-F238E27FC236}">
                <a16:creationId xmlns:a16="http://schemas.microsoft.com/office/drawing/2014/main" id="{3C8A51E3-F2A1-CB9F-DA2B-BE30B6DE0EB3}"/>
              </a:ext>
            </a:extLst>
          </p:cNvPr>
          <p:cNvSpPr txBox="1"/>
          <p:nvPr/>
        </p:nvSpPr>
        <p:spPr>
          <a:xfrm>
            <a:off x="1167683" y="3929429"/>
            <a:ext cx="8186825" cy="584775"/>
          </a:xfrm>
          <a:prstGeom prst="rect">
            <a:avLst/>
          </a:prstGeom>
          <a:noFill/>
        </p:spPr>
        <p:txBody>
          <a:bodyPr wrap="square">
            <a:spAutoFit/>
          </a:bodyPr>
          <a:lstStyle/>
          <a:p>
            <a:pPr marL="0" marR="0" latinLnBrk="1">
              <a:spcBef>
                <a:spcPts val="0"/>
              </a:spcBef>
              <a:spcAft>
                <a:spcPts val="1000"/>
              </a:spcAft>
            </a:pP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create the variable using the (default) constructor Point::Point()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Point p</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endParaRPr lang="en-US" sz="1600" dirty="0">
              <a:effectLst/>
              <a:latin typeface="Consolas" panose="020B0609020204030204" pitchFamily="49"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426529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8674-1AF5-9CC9-E6DA-CA3A19DBE052}"/>
              </a:ext>
            </a:extLst>
          </p:cNvPr>
          <p:cNvSpPr>
            <a:spLocks noGrp="1"/>
          </p:cNvSpPr>
          <p:nvPr>
            <p:ph type="title"/>
          </p:nvPr>
        </p:nvSpPr>
        <p:spPr/>
        <p:txBody>
          <a:bodyPr/>
          <a:lstStyle/>
          <a:p>
            <a:r>
              <a:rPr lang="en-US" dirty="0"/>
              <a:t>The dot and arrow operators</a:t>
            </a:r>
          </a:p>
        </p:txBody>
      </p:sp>
      <p:sp>
        <p:nvSpPr>
          <p:cNvPr id="3" name="Content Placeholder 2">
            <a:extLst>
              <a:ext uri="{FF2B5EF4-FFF2-40B4-BE49-F238E27FC236}">
                <a16:creationId xmlns:a16="http://schemas.microsoft.com/office/drawing/2014/main" id="{87E75680-601B-8893-01D1-EBDC521D52B1}"/>
              </a:ext>
            </a:extLst>
          </p:cNvPr>
          <p:cNvSpPr>
            <a:spLocks noGrp="1"/>
          </p:cNvSpPr>
          <p:nvPr>
            <p:ph idx="1"/>
          </p:nvPr>
        </p:nvSpPr>
        <p:spPr>
          <a:xfrm>
            <a:off x="677334" y="1713256"/>
            <a:ext cx="8596668" cy="1268411"/>
          </a:xfrm>
        </p:spPr>
        <p:txBody>
          <a:bodyPr/>
          <a:lstStyle/>
          <a:p>
            <a:pPr>
              <a:lnSpc>
                <a:spcPct val="150000"/>
              </a:lnSpc>
            </a:pPr>
            <a:r>
              <a:rPr lang="en-US" dirty="0"/>
              <a:t>The dot operator in C++ is similar to Java's dot operator.</a:t>
            </a:r>
          </a:p>
          <a:p>
            <a:r>
              <a:rPr lang="en-US" dirty="0"/>
              <a:t>The arrow operator is used to dereference a point first and then reference the class member.</a:t>
            </a:r>
          </a:p>
          <a:p>
            <a:endParaRPr lang="en-US" dirty="0"/>
          </a:p>
        </p:txBody>
      </p:sp>
      <p:sp>
        <p:nvSpPr>
          <p:cNvPr id="7" name="TextBox 6">
            <a:extLst>
              <a:ext uri="{FF2B5EF4-FFF2-40B4-BE49-F238E27FC236}">
                <a16:creationId xmlns:a16="http://schemas.microsoft.com/office/drawing/2014/main" id="{2CAD2326-D4DF-E859-6B8F-8039D7F0CE81}"/>
              </a:ext>
            </a:extLst>
          </p:cNvPr>
          <p:cNvSpPr txBox="1"/>
          <p:nvPr/>
        </p:nvSpPr>
        <p:spPr>
          <a:xfrm>
            <a:off x="1004854" y="3100079"/>
            <a:ext cx="6254688" cy="2553891"/>
          </a:xfrm>
          <a:prstGeom prst="roundRect">
            <a:avLst/>
          </a:prstGeom>
          <a:noFill/>
          <a:ln w="12700">
            <a:solidFill>
              <a:schemeClr val="accent1">
                <a:lumMod val="60000"/>
                <a:lumOff val="40000"/>
              </a:schemeClr>
            </a:solidFill>
          </a:ln>
        </p:spPr>
        <p:txBody>
          <a:bodyPr wrap="square">
            <a:spAutoFit/>
          </a:bodyPr>
          <a:lstStyle/>
          <a:p>
            <a:pPr marL="0" marR="0" latinLnBrk="1">
              <a:spcBef>
                <a:spcPts val="0"/>
              </a:spcBef>
              <a:spcAft>
                <a:spcPts val="1000"/>
              </a:spcAft>
            </a:pP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main</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Point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p1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new</a:t>
            </a:r>
            <a:r>
              <a:rPr lang="en-US" sz="1600" dirty="0">
                <a:effectLst/>
                <a:latin typeface="Consolas" panose="020B0609020204030204" pitchFamily="49" charset="0"/>
                <a:ea typeface="Cambria" panose="02040503050406030204" pitchFamily="18" charset="0"/>
                <a:cs typeface="Arial" panose="020B0604020202020204" pitchFamily="34" charset="0"/>
              </a:rPr>
              <a:t> Point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0</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0</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Point p2</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0</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40A070"/>
                </a:solidFill>
                <a:effectLst/>
                <a:latin typeface="Consolas" panose="020B0609020204030204" pitchFamily="49" charset="0"/>
                <a:ea typeface="Cambria" panose="02040503050406030204" pitchFamily="18" charset="0"/>
                <a:cs typeface="Arial" panose="020B0604020202020204" pitchFamily="34" charset="0"/>
              </a:rPr>
              <a:t>0</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p1</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err="1">
                <a:effectLst/>
                <a:latin typeface="Consolas" panose="020B0609020204030204" pitchFamily="49" charset="0"/>
                <a:ea typeface="Cambria" panose="02040503050406030204" pitchFamily="18" charset="0"/>
                <a:cs typeface="Arial" panose="020B0604020202020204" pitchFamily="34" charset="0"/>
              </a:rPr>
              <a:t>getX</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p1</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-&gt;</a:t>
            </a:r>
            <a:r>
              <a:rPr lang="en-US" sz="1600" dirty="0" err="1">
                <a:effectLst/>
                <a:latin typeface="Consolas" panose="020B0609020204030204" pitchFamily="49" charset="0"/>
                <a:ea typeface="Cambria" panose="02040503050406030204" pitchFamily="18" charset="0"/>
                <a:cs typeface="Arial" panose="020B0604020202020204" pitchFamily="34" charset="0"/>
              </a:rPr>
              <a:t>getX</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exactly the same as (*p1).</a:t>
            </a:r>
            <a:r>
              <a:rPr lang="en-US" sz="1600" i="1" dirty="0" err="1">
                <a:solidFill>
                  <a:srgbClr val="60A0B0"/>
                </a:solidFill>
                <a:effectLst/>
                <a:latin typeface="Consolas" panose="020B0609020204030204" pitchFamily="49" charset="0"/>
                <a:ea typeface="Cambria" panose="02040503050406030204" pitchFamily="18" charset="0"/>
                <a:cs typeface="Arial" panose="020B0604020202020204" pitchFamily="34" charset="0"/>
              </a:rPr>
              <a:t>getX</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p2</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getX</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(&amp;</a:t>
            </a:r>
            <a:r>
              <a:rPr lang="en-US" sz="1600" dirty="0">
                <a:effectLst/>
                <a:latin typeface="Consolas" panose="020B0609020204030204" pitchFamily="49" charset="0"/>
                <a:ea typeface="Cambria" panose="02040503050406030204" pitchFamily="18" charset="0"/>
                <a:cs typeface="Arial" panose="020B0604020202020204" pitchFamily="34" charset="0"/>
              </a:rPr>
              <a:t>p2</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)-&gt;</a:t>
            </a:r>
            <a:r>
              <a:rPr lang="en-US" sz="1600" dirty="0" err="1">
                <a:effectLst/>
                <a:latin typeface="Consolas" panose="020B0609020204030204" pitchFamily="49" charset="0"/>
                <a:ea typeface="Cambria" panose="02040503050406030204" pitchFamily="18" charset="0"/>
                <a:cs typeface="Arial" panose="020B0604020202020204" pitchFamily="34" charset="0"/>
              </a:rPr>
              <a:t>getX</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exactly the same as p2.getX()</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endParaRPr lang="en-US" sz="1600" dirty="0">
              <a:effectLst/>
              <a:latin typeface="Consolas" panose="020B0609020204030204" pitchFamily="49" charset="0"/>
              <a:ea typeface="Cambria" panose="02040503050406030204" pitchFamily="18" charset="0"/>
              <a:cs typeface="Arial" panose="020B0604020202020204" pitchFamily="34" charset="0"/>
            </a:endParaRPr>
          </a:p>
        </p:txBody>
      </p:sp>
      <p:sp>
        <p:nvSpPr>
          <p:cNvPr id="4" name="Cloud Callout 3">
            <a:extLst>
              <a:ext uri="{FF2B5EF4-FFF2-40B4-BE49-F238E27FC236}">
                <a16:creationId xmlns:a16="http://schemas.microsoft.com/office/drawing/2014/main" id="{C6FBC95A-7316-3564-7CF0-50F982ACAA65}"/>
              </a:ext>
            </a:extLst>
          </p:cNvPr>
          <p:cNvSpPr/>
          <p:nvPr/>
        </p:nvSpPr>
        <p:spPr>
          <a:xfrm>
            <a:off x="7259542" y="2723883"/>
            <a:ext cx="2536466" cy="1361440"/>
          </a:xfrm>
          <a:prstGeom prst="cloudCallout">
            <a:avLst>
              <a:gd name="adj1" fmla="val -54375"/>
              <a:gd name="adj2" fmla="val 665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en-US" dirty="0"/>
              <a:t>Any guess </a:t>
            </a:r>
            <a:r>
              <a:rPr lang="en-US" dirty="0" err="1"/>
              <a:t>whats</a:t>
            </a:r>
            <a:r>
              <a:rPr lang="en-US" dirty="0"/>
              <a:t> wrong?</a:t>
            </a:r>
            <a:endParaRPr lang="en-IL" dirty="0"/>
          </a:p>
        </p:txBody>
      </p:sp>
      <p:sp>
        <p:nvSpPr>
          <p:cNvPr id="5" name="Rectangle 4">
            <a:extLst>
              <a:ext uri="{FF2B5EF4-FFF2-40B4-BE49-F238E27FC236}">
                <a16:creationId xmlns:a16="http://schemas.microsoft.com/office/drawing/2014/main" id="{30493A58-03E4-4F85-3C58-B2A288CBF3B2}"/>
              </a:ext>
            </a:extLst>
          </p:cNvPr>
          <p:cNvSpPr/>
          <p:nvPr/>
        </p:nvSpPr>
        <p:spPr>
          <a:xfrm>
            <a:off x="1442710" y="5852753"/>
            <a:ext cx="5211683" cy="646331"/>
          </a:xfrm>
          <a:prstGeom prst="rect">
            <a:avLst/>
          </a:prstGeom>
          <a:noFill/>
        </p:spPr>
        <p:txBody>
          <a:bodyPr wrap="none" lIns="91440" tIns="45720" rIns="91440" bIns="45720">
            <a:spAutoFit/>
          </a:bodyPr>
          <a:lstStyle/>
          <a:p>
            <a:pPr algn="ctr"/>
            <a:r>
              <a:rPr lang="en-US" sz="3600" dirty="0">
                <a:ln w="0"/>
                <a:solidFill>
                  <a:schemeClr val="accent1"/>
                </a:solidFill>
                <a:effectLst>
                  <a:outerShdw blurRad="38100" dist="25400" dir="5400000" algn="ctr" rotWithShape="0">
                    <a:srgbClr val="6E747A">
                      <a:alpha val="43000"/>
                    </a:srgbClr>
                  </a:outerShdw>
                </a:effectLst>
              </a:rPr>
              <a:t>There is a memory leak!</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86057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4" grpId="0" animBg="1"/>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3C593-0509-4C69-BE53-2A289AF1F6B8}"/>
              </a:ext>
            </a:extLst>
          </p:cNvPr>
          <p:cNvSpPr>
            <a:spLocks noGrp="1"/>
          </p:cNvSpPr>
          <p:nvPr>
            <p:ph type="title"/>
          </p:nvPr>
        </p:nvSpPr>
        <p:spPr>
          <a:xfrm>
            <a:off x="677334" y="121920"/>
            <a:ext cx="8596668" cy="1320800"/>
          </a:xfrm>
        </p:spPr>
        <p:txBody>
          <a:bodyPr/>
          <a:lstStyle/>
          <a:p>
            <a:r>
              <a:rPr lang="en-US" dirty="0"/>
              <a:t>The this pointer</a:t>
            </a:r>
            <a:endParaRPr lang="he-IL" dirty="0"/>
          </a:p>
        </p:txBody>
      </p:sp>
      <p:sp>
        <p:nvSpPr>
          <p:cNvPr id="3" name="Content Placeholder 2">
            <a:extLst>
              <a:ext uri="{FF2B5EF4-FFF2-40B4-BE49-F238E27FC236}">
                <a16:creationId xmlns:a16="http://schemas.microsoft.com/office/drawing/2014/main" id="{72FA9546-56DE-4A95-933B-9CB9758C00DC}"/>
              </a:ext>
            </a:extLst>
          </p:cNvPr>
          <p:cNvSpPr>
            <a:spLocks noGrp="1"/>
          </p:cNvSpPr>
          <p:nvPr>
            <p:ph idx="1"/>
          </p:nvPr>
        </p:nvSpPr>
        <p:spPr>
          <a:xfrm>
            <a:off x="677334" y="822960"/>
            <a:ext cx="8596668" cy="1320800"/>
          </a:xfrm>
        </p:spPr>
        <p:txBody>
          <a:bodyPr/>
          <a:lstStyle/>
          <a:p>
            <a:r>
              <a:rPr lang="en-US" dirty="0"/>
              <a:t>The </a:t>
            </a:r>
            <a:r>
              <a:rPr lang="en-US" b="1" dirty="0"/>
              <a:t>this </a:t>
            </a:r>
            <a:r>
              <a:rPr lang="en-US" dirty="0"/>
              <a:t>pointer holds the address of the object instance.</a:t>
            </a:r>
          </a:p>
          <a:p>
            <a:r>
              <a:rPr lang="en-US" dirty="0"/>
              <a:t>Not accessible from static member functions.</a:t>
            </a:r>
          </a:p>
          <a:p>
            <a:r>
              <a:rPr lang="en-US" dirty="0"/>
              <a:t>The </a:t>
            </a:r>
            <a:r>
              <a:rPr lang="en-US" b="1" dirty="0"/>
              <a:t>this</a:t>
            </a:r>
            <a:r>
              <a:rPr lang="en-US" dirty="0"/>
              <a:t> pointer is an </a:t>
            </a:r>
            <a:r>
              <a:rPr lang="en-US" b="1" dirty="0" err="1"/>
              <a:t>rvalue</a:t>
            </a:r>
            <a:r>
              <a:rPr lang="en-US" dirty="0"/>
              <a:t> (not modifiable).</a:t>
            </a:r>
          </a:p>
          <a:p>
            <a:endParaRPr lang="en-US" dirty="0"/>
          </a:p>
        </p:txBody>
      </p:sp>
      <p:sp>
        <p:nvSpPr>
          <p:cNvPr id="8" name="TextBox 7">
            <a:extLst>
              <a:ext uri="{FF2B5EF4-FFF2-40B4-BE49-F238E27FC236}">
                <a16:creationId xmlns:a16="http://schemas.microsoft.com/office/drawing/2014/main" id="{424859CA-8750-59A3-BE9A-2A14E706762E}"/>
              </a:ext>
            </a:extLst>
          </p:cNvPr>
          <p:cNvSpPr txBox="1"/>
          <p:nvPr/>
        </p:nvSpPr>
        <p:spPr>
          <a:xfrm>
            <a:off x="1029513" y="2143760"/>
            <a:ext cx="7892310" cy="4483497"/>
          </a:xfrm>
          <a:prstGeom prst="roundRect">
            <a:avLst/>
          </a:prstGeom>
          <a:noFill/>
          <a:ln w="12700">
            <a:solidFill>
              <a:schemeClr val="accent1">
                <a:lumMod val="60000"/>
                <a:lumOff val="40000"/>
              </a:schemeClr>
            </a:solidFill>
          </a:ln>
        </p:spPr>
        <p:txBody>
          <a:bodyPr wrap="square">
            <a:spAutoFit/>
          </a:bodyPr>
          <a:lstStyle/>
          <a:p>
            <a:pPr latinLnBrk="1">
              <a:spcAft>
                <a:spcPts val="1000"/>
              </a:spcAft>
            </a:pPr>
            <a:r>
              <a:rPr lang="en-US" sz="1600" b="1" dirty="0">
                <a:solidFill>
                  <a:srgbClr val="007020"/>
                </a:solidFill>
                <a:latin typeface="Consolas" panose="020B0609020204030204" pitchFamily="49" charset="0"/>
                <a:ea typeface="Cambria" panose="02040503050406030204" pitchFamily="18" charset="0"/>
                <a:cs typeface="Arial" panose="020B0604020202020204" pitchFamily="34" charset="0"/>
              </a:rPr>
              <a:t>//Class Definition</a:t>
            </a:r>
            <a:endPar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endParaRPr>
          </a:p>
          <a:p>
            <a:pPr marL="0" marR="0" latinLnBrk="1">
              <a:spcBef>
                <a:spcPts val="0"/>
              </a:spcBef>
              <a:spcAft>
                <a:spcPts val="1000"/>
              </a:spcAft>
            </a:pP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class</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latin typeface="Consolas" panose="020B0609020204030204" pitchFamily="49" charset="0"/>
                <a:ea typeface="Cambria" panose="02040503050406030204" pitchFamily="18" charset="0"/>
                <a:cs typeface="Arial" panose="020B0604020202020204" pitchFamily="34" charset="0"/>
              </a:rPr>
              <a:t>Point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latin typeface="Consolas" panose="020B0609020204030204" pitchFamily="49" charset="0"/>
                <a:ea typeface="Cambria" panose="02040503050406030204" pitchFamily="18" charset="0"/>
                <a:cs typeface="Arial" panose="020B0604020202020204" pitchFamily="34" charset="0"/>
              </a:rPr>
              <a:t>x</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p>
          <a:p>
            <a:pPr latinLnBrk="1">
              <a:spcAft>
                <a:spcPts val="1000"/>
              </a:spcAft>
            </a:pPr>
            <a:r>
              <a:rPr lang="en-US" sz="1600" dirty="0">
                <a:solidFill>
                  <a:srgbClr val="902000"/>
                </a:solidFill>
                <a:latin typeface="Consolas" panose="020B0609020204030204" pitchFamily="49" charset="0"/>
                <a:ea typeface="Cambria" panose="02040503050406030204" pitchFamily="18" charset="0"/>
                <a:cs typeface="Arial" panose="020B0604020202020204" pitchFamily="34" charset="0"/>
              </a:rPr>
              <a:t>	int</a:t>
            </a:r>
            <a:r>
              <a:rPr lang="en-US" sz="1600" dirty="0">
                <a:latin typeface="Consolas" panose="020B0609020204030204" pitchFamily="49" charset="0"/>
                <a:ea typeface="Cambria" panose="02040503050406030204" pitchFamily="18" charset="0"/>
                <a:cs typeface="Arial" panose="020B0604020202020204" pitchFamily="34" charset="0"/>
              </a:rPr>
              <a:t> y</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public</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void</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setVariables</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 int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endPar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endParaRPr>
          </a:p>
          <a:p>
            <a:pPr latinLnBrk="1">
              <a:spcAft>
                <a:spcPts val="1000"/>
              </a:spcAft>
            </a:pP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void</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MyClass</a:t>
            </a:r>
            <a:r>
              <a:rPr lang="en-US" sz="1600" dirty="0" err="1">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err="1">
                <a:effectLst/>
                <a:latin typeface="Consolas" panose="020B0609020204030204" pitchFamily="49" charset="0"/>
                <a:ea typeface="Cambria" panose="02040503050406030204" pitchFamily="18" charset="0"/>
                <a:cs typeface="Arial" panose="020B0604020202020204" pitchFamily="34" charset="0"/>
              </a:rPr>
              <a:t>setVariables</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int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latin typeface="Consolas" panose="020B0609020204030204" pitchFamily="49" charset="0"/>
                <a:ea typeface="Cambria" panose="02040503050406030204" pitchFamily="18" charset="0"/>
                <a:cs typeface="Arial" panose="020B0604020202020204" pitchFamily="34" charset="0"/>
              </a:rPr>
              <a:t>x</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latin typeface="Consolas" panose="020B0609020204030204" pitchFamily="49" charset="0"/>
                <a:ea typeface="Cambria" panose="02040503050406030204" pitchFamily="18" charset="0"/>
                <a:cs typeface="Arial" panose="020B0604020202020204" pitchFamily="34" charset="0"/>
              </a:rPr>
              <a:t>int</a:t>
            </a:r>
            <a:r>
              <a:rPr lang="en-US" sz="1600" dirty="0">
                <a:latin typeface="Consolas" panose="020B0609020204030204" pitchFamily="49" charset="0"/>
                <a:ea typeface="Cambria" panose="02040503050406030204" pitchFamily="18" charset="0"/>
                <a:cs typeface="Arial" panose="020B0604020202020204" pitchFamily="34" charset="0"/>
              </a:rPr>
              <a:t>  y</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this</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-&gt;</a:t>
            </a:r>
            <a:r>
              <a:rPr lang="en-US" sz="1600" dirty="0">
                <a:latin typeface="Consolas" panose="020B0609020204030204" pitchFamily="49" charset="0"/>
                <a:ea typeface="Cambria" panose="02040503050406030204" pitchFamily="18" charset="0"/>
                <a:cs typeface="Arial" panose="020B0604020202020204" pitchFamily="34" charset="0"/>
              </a:rPr>
              <a:t>x</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latin typeface="Consolas" panose="020B0609020204030204" pitchFamily="49" charset="0"/>
                <a:ea typeface="Cambria" panose="02040503050406030204" pitchFamily="18" charset="0"/>
                <a:cs typeface="Arial" panose="020B0604020202020204" pitchFamily="34" charset="0"/>
              </a:rPr>
              <a:t> x</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possible, but not recommended</a:t>
            </a:r>
          </a:p>
          <a:p>
            <a:pPr latinLnBrk="1">
              <a:spcAft>
                <a:spcPts val="1000"/>
              </a:spcAft>
            </a:pP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latin typeface="Consolas" panose="020B0609020204030204" pitchFamily="49" charset="0"/>
                <a:ea typeface="Cambria" panose="02040503050406030204" pitchFamily="18" charset="0"/>
                <a:cs typeface="Arial" panose="020B0604020202020204" pitchFamily="34" charset="0"/>
              </a:rPr>
              <a:t>this</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-&gt;</a:t>
            </a:r>
            <a:r>
              <a:rPr lang="en-US" sz="1600" dirty="0">
                <a:latin typeface="Consolas" panose="020B0609020204030204" pitchFamily="49" charset="0"/>
                <a:ea typeface="Cambria" panose="02040503050406030204" pitchFamily="18" charset="0"/>
                <a:cs typeface="Arial" panose="020B0604020202020204" pitchFamily="34" charset="0"/>
              </a:rPr>
              <a:t>y </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sz="1600" dirty="0">
                <a:latin typeface="Consolas" panose="020B0609020204030204" pitchFamily="49" charset="0"/>
                <a:ea typeface="Cambria" panose="02040503050406030204" pitchFamily="18" charset="0"/>
                <a:cs typeface="Arial" panose="020B0604020202020204" pitchFamily="34" charset="0"/>
              </a:rPr>
              <a:t> y</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sz="1600" dirty="0">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endParaRPr lang="en-US" sz="1600" dirty="0">
              <a:effectLst/>
              <a:latin typeface="Consolas" panose="020B0609020204030204" pitchFamily="49"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47423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28B70-23BE-6509-9011-31CFDCAE4709}"/>
              </a:ext>
            </a:extLst>
          </p:cNvPr>
          <p:cNvSpPr>
            <a:spLocks noGrp="1"/>
          </p:cNvSpPr>
          <p:nvPr>
            <p:ph type="title"/>
          </p:nvPr>
        </p:nvSpPr>
        <p:spPr/>
        <p:txBody>
          <a:bodyPr/>
          <a:lstStyle/>
          <a:p>
            <a:r>
              <a:rPr lang="en-US" dirty="0"/>
              <a:t>Creating and destroying objects</a:t>
            </a:r>
          </a:p>
        </p:txBody>
      </p:sp>
      <p:sp>
        <p:nvSpPr>
          <p:cNvPr id="3" name="Content Placeholder 2">
            <a:extLst>
              <a:ext uri="{FF2B5EF4-FFF2-40B4-BE49-F238E27FC236}">
                <a16:creationId xmlns:a16="http://schemas.microsoft.com/office/drawing/2014/main" id="{93727ED9-2DAB-8542-1DCF-A56150E84287}"/>
              </a:ext>
            </a:extLst>
          </p:cNvPr>
          <p:cNvSpPr>
            <a:spLocks noGrp="1"/>
          </p:cNvSpPr>
          <p:nvPr>
            <p:ph idx="1"/>
          </p:nvPr>
        </p:nvSpPr>
        <p:spPr>
          <a:xfrm>
            <a:off x="677334" y="1667742"/>
            <a:ext cx="7207204" cy="2884522"/>
          </a:xfrm>
        </p:spPr>
        <p:txBody>
          <a:bodyPr/>
          <a:lstStyle/>
          <a:p>
            <a:pPr>
              <a:lnSpc>
                <a:spcPct val="150000"/>
              </a:lnSpc>
            </a:pPr>
            <a:r>
              <a:rPr lang="en-US" dirty="0"/>
              <a:t>Default constructor</a:t>
            </a:r>
          </a:p>
          <a:p>
            <a:pPr>
              <a:lnSpc>
                <a:spcPct val="150000"/>
              </a:lnSpc>
            </a:pPr>
            <a:r>
              <a:rPr lang="en-US" dirty="0"/>
              <a:t>Copy constructor</a:t>
            </a:r>
          </a:p>
          <a:p>
            <a:pPr>
              <a:lnSpc>
                <a:spcPct val="150000"/>
              </a:lnSpc>
            </a:pPr>
            <a:r>
              <a:rPr lang="en-US" dirty="0"/>
              <a:t>Other constructors</a:t>
            </a:r>
          </a:p>
          <a:p>
            <a:pPr>
              <a:lnSpc>
                <a:spcPct val="150000"/>
              </a:lnSpc>
            </a:pPr>
            <a:r>
              <a:rPr lang="en-US" dirty="0"/>
              <a:t>Destructor</a:t>
            </a:r>
          </a:p>
          <a:p>
            <a:pPr>
              <a:lnSpc>
                <a:spcPct val="150000"/>
              </a:lnSpc>
            </a:pPr>
            <a:r>
              <a:rPr lang="en-US" dirty="0"/>
              <a:t>Copy assignment operator</a:t>
            </a:r>
          </a:p>
        </p:txBody>
      </p:sp>
    </p:spTree>
    <p:extLst>
      <p:ext uri="{BB962C8B-B14F-4D97-AF65-F5344CB8AC3E}">
        <p14:creationId xmlns:p14="http://schemas.microsoft.com/office/powerpoint/2010/main" val="37128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DF9E-AD3C-49D6-708F-0A9CE02CB11A}"/>
              </a:ext>
            </a:extLst>
          </p:cNvPr>
          <p:cNvSpPr>
            <a:spLocks noGrp="1"/>
          </p:cNvSpPr>
          <p:nvPr>
            <p:ph type="title"/>
          </p:nvPr>
        </p:nvSpPr>
        <p:spPr/>
        <p:txBody>
          <a:bodyPr/>
          <a:lstStyle/>
          <a:p>
            <a:r>
              <a:rPr lang="en-US" dirty="0"/>
              <a:t>Default constructor</a:t>
            </a:r>
          </a:p>
        </p:txBody>
      </p:sp>
      <p:sp>
        <p:nvSpPr>
          <p:cNvPr id="3" name="Content Placeholder 2">
            <a:extLst>
              <a:ext uri="{FF2B5EF4-FFF2-40B4-BE49-F238E27FC236}">
                <a16:creationId xmlns:a16="http://schemas.microsoft.com/office/drawing/2014/main" id="{81186A33-878E-1385-8209-C9E1BBC657BB}"/>
              </a:ext>
            </a:extLst>
          </p:cNvPr>
          <p:cNvSpPr>
            <a:spLocks noGrp="1"/>
          </p:cNvSpPr>
          <p:nvPr>
            <p:ph idx="1"/>
          </p:nvPr>
        </p:nvSpPr>
        <p:spPr>
          <a:xfrm>
            <a:off x="677334" y="1639488"/>
            <a:ext cx="8596668" cy="1789512"/>
          </a:xfrm>
        </p:spPr>
        <p:txBody>
          <a:bodyPr>
            <a:normAutofit/>
          </a:bodyPr>
          <a:lstStyle/>
          <a:p>
            <a:pPr>
              <a:lnSpc>
                <a:spcPct val="150000"/>
              </a:lnSpc>
            </a:pPr>
            <a:r>
              <a:rPr lang="en-US" sz="1800" dirty="0">
                <a:effectLst/>
                <a:latin typeface="Cambria" panose="02040503050406030204" pitchFamily="18" charset="0"/>
                <a:ea typeface="Cambria" panose="02040503050406030204" pitchFamily="18" charset="0"/>
                <a:cs typeface="Arial" panose="020B0604020202020204" pitchFamily="34" charset="0"/>
              </a:rPr>
              <a:t>A </a:t>
            </a:r>
            <a:r>
              <a:rPr lang="en-US" sz="1800" i="1" dirty="0">
                <a:effectLst/>
                <a:latin typeface="Cambria" panose="02040503050406030204" pitchFamily="18" charset="0"/>
                <a:ea typeface="Cambria" panose="02040503050406030204" pitchFamily="18" charset="0"/>
                <a:cs typeface="Arial" panose="020B0604020202020204" pitchFamily="34" charset="0"/>
              </a:rPr>
              <a:t>default constructor</a:t>
            </a:r>
            <a:r>
              <a:rPr lang="en-US" sz="1800" dirty="0">
                <a:effectLst/>
                <a:latin typeface="Cambria" panose="02040503050406030204" pitchFamily="18" charset="0"/>
                <a:ea typeface="Cambria" panose="02040503050406030204" pitchFamily="18" charset="0"/>
                <a:cs typeface="Arial" panose="020B0604020202020204" pitchFamily="34" charset="0"/>
              </a:rPr>
              <a:t> is a constructor that can be called with no arguments.</a:t>
            </a:r>
          </a:p>
          <a:p>
            <a:pPr>
              <a:lnSpc>
                <a:spcPct val="150000"/>
              </a:lnSpc>
            </a:pPr>
            <a:r>
              <a:rPr lang="en-US" sz="1800" dirty="0">
                <a:effectLst/>
                <a:latin typeface="Cambria" panose="02040503050406030204" pitchFamily="18" charset="0"/>
                <a:ea typeface="Cambria" panose="02040503050406030204" pitchFamily="18" charset="0"/>
                <a:cs typeface="Arial" panose="020B0604020202020204" pitchFamily="34" charset="0"/>
              </a:rPr>
              <a:t>If a class has no explicitly defined constructors (of any kind), the compiler will automatically create a </a:t>
            </a:r>
            <a:r>
              <a:rPr lang="en-US" sz="1800" i="1" dirty="0">
                <a:effectLst/>
                <a:latin typeface="Cambria" panose="02040503050406030204" pitchFamily="18" charset="0"/>
                <a:ea typeface="Cambria" panose="02040503050406030204" pitchFamily="18" charset="0"/>
                <a:cs typeface="Arial" panose="020B0604020202020204" pitchFamily="34" charset="0"/>
              </a:rPr>
              <a:t>default constructor</a:t>
            </a:r>
            <a:r>
              <a:rPr lang="en-US" sz="1800" dirty="0">
                <a:effectLst/>
                <a:latin typeface="Cambria" panose="02040503050406030204" pitchFamily="18" charset="0"/>
                <a:ea typeface="Cambria" panose="02040503050406030204" pitchFamily="18" charset="0"/>
                <a:cs typeface="Arial" panose="020B0604020202020204" pitchFamily="34" charset="0"/>
              </a:rPr>
              <a:t> for it.</a:t>
            </a:r>
            <a:endParaRPr lang="en-US" dirty="0"/>
          </a:p>
        </p:txBody>
      </p:sp>
      <p:sp>
        <p:nvSpPr>
          <p:cNvPr id="7" name="TextBox 6">
            <a:extLst>
              <a:ext uri="{FF2B5EF4-FFF2-40B4-BE49-F238E27FC236}">
                <a16:creationId xmlns:a16="http://schemas.microsoft.com/office/drawing/2014/main" id="{53F551E5-D634-E055-64E5-8041C931FD61}"/>
              </a:ext>
            </a:extLst>
          </p:cNvPr>
          <p:cNvSpPr txBox="1"/>
          <p:nvPr/>
        </p:nvSpPr>
        <p:spPr>
          <a:xfrm>
            <a:off x="427153" y="3236358"/>
            <a:ext cx="8921978" cy="3382486"/>
          </a:xfrm>
          <a:prstGeom prst="roundRect">
            <a:avLst/>
          </a:prstGeom>
          <a:noFill/>
          <a:ln w="12700">
            <a:solidFill>
              <a:schemeClr val="accent1">
                <a:lumMod val="60000"/>
                <a:lumOff val="40000"/>
              </a:schemeClr>
            </a:solidFill>
          </a:ln>
        </p:spPr>
        <p:txBody>
          <a:bodyPr wrap="square">
            <a:spAutoFit/>
          </a:bodyPr>
          <a:lstStyle/>
          <a:p>
            <a:pPr marL="0" marR="0" latinLnBrk="1">
              <a:spcBef>
                <a:spcPts val="0"/>
              </a:spcBef>
              <a:spcAft>
                <a:spcPts val="1000"/>
              </a:spcAft>
            </a:pP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//Class Definition</a:t>
            </a:r>
          </a:p>
          <a:p>
            <a:pPr marL="0" marR="0" latinLnBrk="1">
              <a:spcBef>
                <a:spcPts val="0"/>
              </a:spcBef>
              <a:spcAft>
                <a:spcPts val="1000"/>
              </a:spcAft>
            </a:pP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class</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latin typeface="Consolas" panose="020B0609020204030204" pitchFamily="49" charset="0"/>
                <a:ea typeface="Cambria" panose="02040503050406030204" pitchFamily="18" charset="0"/>
                <a:cs typeface="Arial" panose="020B0604020202020204" pitchFamily="34" charset="0"/>
              </a:rPr>
              <a:t>List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public</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latin typeface="Consolas" panose="020B0609020204030204" pitchFamily="49" charset="0"/>
                <a:ea typeface="Cambria" panose="02040503050406030204" pitchFamily="18" charset="0"/>
                <a:cs typeface="Arial" panose="020B0604020202020204" pitchFamily="34" charset="0"/>
              </a:rPr>
              <a:t>List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default constructor</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p>
          <a:p>
            <a:pPr marL="0" marR="0" latinLnBrk="1">
              <a:spcBef>
                <a:spcPts val="0"/>
              </a:spcBef>
              <a:spcAft>
                <a:spcPts val="1000"/>
              </a:spcAft>
            </a:pP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873E"/>
                </a:solidFill>
                <a:effectLst/>
                <a:latin typeface="Consolas" panose="020B0609020204030204" pitchFamily="49" charset="0"/>
                <a:ea typeface="Cambria" panose="02040503050406030204" pitchFamily="18" charset="0"/>
                <a:cs typeface="Arial" panose="020B0604020202020204" pitchFamily="34" charset="0"/>
              </a:rPr>
              <a:t>//Example</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latin typeface="Consolas" panose="020B0609020204030204" pitchFamily="49" charset="0"/>
                <a:ea typeface="Cambria" panose="02040503050406030204" pitchFamily="18" charset="0"/>
                <a:cs typeface="Arial" panose="020B0604020202020204" pitchFamily="34" charset="0"/>
              </a:rPr>
              <a:t>List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lst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implicit call to the default constructor</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latin typeface="Consolas" panose="020B0609020204030204" pitchFamily="49" charset="0"/>
                <a:ea typeface="Cambria" panose="02040503050406030204" pitchFamily="18" charset="0"/>
                <a:cs typeface="Arial" panose="020B0604020202020204" pitchFamily="34" charset="0"/>
              </a:rPr>
              <a:t>List</a:t>
            </a:r>
            <a:r>
              <a:rPr lang="en-US" sz="1600" dirty="0">
                <a:effectLst/>
                <a:latin typeface="Consolas" panose="020B0609020204030204" pitchFamily="49" charset="0"/>
                <a:ea typeface="Cambria" panose="02040503050406030204" pitchFamily="18" charset="0"/>
                <a:cs typeface="Arial" panose="020B0604020202020204" pitchFamily="34" charset="0"/>
              </a:rPr>
              <a:t> lst2</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explicit call to the default constructor</a:t>
            </a:r>
            <a:endParaRPr lang="en-US" sz="1600" dirty="0">
              <a:effectLst/>
              <a:latin typeface="Consolas" panose="020B0609020204030204" pitchFamily="49"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3037318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DF9E-AD3C-49D6-708F-0A9CE02CB11A}"/>
              </a:ext>
            </a:extLst>
          </p:cNvPr>
          <p:cNvSpPr>
            <a:spLocks noGrp="1"/>
          </p:cNvSpPr>
          <p:nvPr>
            <p:ph type="title"/>
          </p:nvPr>
        </p:nvSpPr>
        <p:spPr>
          <a:xfrm>
            <a:off x="677334" y="251791"/>
            <a:ext cx="8596668" cy="1320800"/>
          </a:xfrm>
        </p:spPr>
        <p:txBody>
          <a:bodyPr/>
          <a:lstStyle/>
          <a:p>
            <a:r>
              <a:rPr lang="en-US" dirty="0"/>
              <a:t>Copy constructor</a:t>
            </a:r>
          </a:p>
        </p:txBody>
      </p:sp>
      <p:sp>
        <p:nvSpPr>
          <p:cNvPr id="3" name="Content Placeholder 2">
            <a:extLst>
              <a:ext uri="{FF2B5EF4-FFF2-40B4-BE49-F238E27FC236}">
                <a16:creationId xmlns:a16="http://schemas.microsoft.com/office/drawing/2014/main" id="{81186A33-878E-1385-8209-C9E1BBC657BB}"/>
              </a:ext>
            </a:extLst>
          </p:cNvPr>
          <p:cNvSpPr>
            <a:spLocks noGrp="1"/>
          </p:cNvSpPr>
          <p:nvPr>
            <p:ph idx="1"/>
          </p:nvPr>
        </p:nvSpPr>
        <p:spPr>
          <a:xfrm>
            <a:off x="677334" y="1079868"/>
            <a:ext cx="8996437" cy="1789512"/>
          </a:xfrm>
        </p:spPr>
        <p:txBody>
          <a:bodyPr>
            <a:normAutofit/>
          </a:bodyPr>
          <a:lstStyle/>
          <a:p>
            <a:pPr>
              <a:lnSpc>
                <a:spcPct val="110000"/>
              </a:lnSpc>
            </a:pPr>
            <a:r>
              <a:rPr lang="en-US" sz="1800" dirty="0">
                <a:effectLst/>
                <a:latin typeface="Cambria" panose="02040503050406030204" pitchFamily="18" charset="0"/>
                <a:ea typeface="Cambria" panose="02040503050406030204" pitchFamily="18" charset="0"/>
                <a:cs typeface="Arial" panose="020B0604020202020204" pitchFamily="34" charset="0"/>
              </a:rPr>
              <a:t>A </a:t>
            </a:r>
            <a:r>
              <a:rPr lang="en-US" sz="1800" i="1" dirty="0">
                <a:effectLst/>
                <a:latin typeface="Cambria" panose="02040503050406030204" pitchFamily="18" charset="0"/>
                <a:ea typeface="Cambria" panose="02040503050406030204" pitchFamily="18" charset="0"/>
                <a:cs typeface="Arial" panose="020B0604020202020204" pitchFamily="34" charset="0"/>
              </a:rPr>
              <a:t>Copy constructor</a:t>
            </a:r>
            <a:r>
              <a:rPr lang="en-US" sz="1800" dirty="0">
                <a:effectLst/>
                <a:latin typeface="Cambria" panose="02040503050406030204" pitchFamily="18" charset="0"/>
                <a:ea typeface="Cambria" panose="02040503050406030204" pitchFamily="18" charset="0"/>
                <a:cs typeface="Arial" panose="020B0604020202020204" pitchFamily="34" charset="0"/>
              </a:rPr>
              <a:t> is a constructor who's first parameter is a reference of the same class (a regular reference or a </a:t>
            </a:r>
            <a:r>
              <a:rPr lang="en-US" sz="1800" dirty="0">
                <a:effectLst/>
                <a:latin typeface="Consolas" panose="020B0609020204030204" pitchFamily="49" charset="0"/>
                <a:ea typeface="Cambria" panose="02040503050406030204" pitchFamily="18" charset="0"/>
                <a:cs typeface="Arial" panose="020B0604020202020204" pitchFamily="34" charset="0"/>
              </a:rPr>
              <a:t>const</a:t>
            </a:r>
            <a:r>
              <a:rPr lang="en-US" sz="1800" dirty="0">
                <a:effectLst/>
                <a:latin typeface="Cambria" panose="02040503050406030204" pitchFamily="18" charset="0"/>
                <a:ea typeface="Cambria" panose="02040503050406030204" pitchFamily="18" charset="0"/>
                <a:cs typeface="Arial" panose="020B0604020202020204" pitchFamily="34" charset="0"/>
              </a:rPr>
              <a:t> reference).</a:t>
            </a:r>
          </a:p>
          <a:p>
            <a:pPr>
              <a:lnSpc>
                <a:spcPct val="110000"/>
              </a:lnSpc>
            </a:pPr>
            <a:r>
              <a:rPr lang="en-US" sz="1800" dirty="0">
                <a:effectLst/>
                <a:latin typeface="Cambria" panose="02040503050406030204" pitchFamily="18" charset="0"/>
                <a:ea typeface="Cambria" panose="02040503050406030204" pitchFamily="18" charset="0"/>
                <a:cs typeface="Arial" panose="020B0604020202020204" pitchFamily="34" charset="0"/>
              </a:rPr>
              <a:t>If a class has no explicitly defined copy constructor the compiler will automatically create a default copy constructor for it that receives a const reference.</a:t>
            </a:r>
            <a:endParaRPr lang="en-US" dirty="0"/>
          </a:p>
        </p:txBody>
      </p:sp>
      <p:pic>
        <p:nvPicPr>
          <p:cNvPr id="8" name="Picture 7" descr="A screen shot of a computer code&#10;&#10;AI-generated content may be incorrect.">
            <a:extLst>
              <a:ext uri="{FF2B5EF4-FFF2-40B4-BE49-F238E27FC236}">
                <a16:creationId xmlns:a16="http://schemas.microsoft.com/office/drawing/2014/main" id="{3656F84D-D188-CCFD-D7DB-6D8E9EC160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982" y="2869379"/>
            <a:ext cx="8561282" cy="2835229"/>
          </a:xfrm>
          <a:prstGeom prst="rect">
            <a:avLst/>
          </a:prstGeom>
        </p:spPr>
      </p:pic>
    </p:spTree>
    <p:extLst>
      <p:ext uri="{BB962C8B-B14F-4D97-AF65-F5344CB8AC3E}">
        <p14:creationId xmlns:p14="http://schemas.microsoft.com/office/powerpoint/2010/main" val="217537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DF9E-AD3C-49D6-708F-0A9CE02CB11A}"/>
              </a:ext>
            </a:extLst>
          </p:cNvPr>
          <p:cNvSpPr>
            <a:spLocks noGrp="1"/>
          </p:cNvSpPr>
          <p:nvPr>
            <p:ph type="title"/>
          </p:nvPr>
        </p:nvSpPr>
        <p:spPr/>
        <p:txBody>
          <a:bodyPr/>
          <a:lstStyle/>
          <a:p>
            <a:r>
              <a:rPr lang="en-US" dirty="0"/>
              <a:t>Copy assignment operator</a:t>
            </a:r>
          </a:p>
        </p:txBody>
      </p:sp>
      <p:sp>
        <p:nvSpPr>
          <p:cNvPr id="3" name="Content Placeholder 2">
            <a:extLst>
              <a:ext uri="{FF2B5EF4-FFF2-40B4-BE49-F238E27FC236}">
                <a16:creationId xmlns:a16="http://schemas.microsoft.com/office/drawing/2014/main" id="{81186A33-878E-1385-8209-C9E1BBC657BB}"/>
              </a:ext>
            </a:extLst>
          </p:cNvPr>
          <p:cNvSpPr>
            <a:spLocks noGrp="1"/>
          </p:cNvSpPr>
          <p:nvPr>
            <p:ph idx="1"/>
          </p:nvPr>
        </p:nvSpPr>
        <p:spPr>
          <a:xfrm>
            <a:off x="677334" y="1421774"/>
            <a:ext cx="8996437" cy="1789512"/>
          </a:xfrm>
        </p:spPr>
        <p:txBody>
          <a:bodyPr>
            <a:normAutofit/>
          </a:bodyPr>
          <a:lstStyle/>
          <a:p>
            <a:pPr>
              <a:lnSpc>
                <a:spcPct val="110000"/>
              </a:lnSpc>
            </a:pPr>
            <a:r>
              <a:rPr lang="en-US" sz="1800" dirty="0">
                <a:effectLst/>
                <a:latin typeface="Cambria" panose="02040503050406030204" pitchFamily="18" charset="0"/>
                <a:ea typeface="Cambria" panose="02040503050406030204" pitchFamily="18" charset="0"/>
                <a:cs typeface="Arial" panose="020B0604020202020204" pitchFamily="34" charset="0"/>
              </a:rPr>
              <a:t>The </a:t>
            </a:r>
            <a:r>
              <a:rPr lang="en-US" sz="1800" dirty="0">
                <a:effectLst/>
                <a:latin typeface="Consolas" panose="020B0609020204030204" pitchFamily="49" charset="0"/>
                <a:ea typeface="Cambria" panose="02040503050406030204" pitchFamily="18" charset="0"/>
                <a:cs typeface="Arial" panose="020B0604020202020204" pitchFamily="34" charset="0"/>
              </a:rPr>
              <a:t>copy assignment operator</a:t>
            </a:r>
            <a:r>
              <a:rPr lang="en-US" sz="1800" dirty="0">
                <a:effectLst/>
                <a:latin typeface="Cambria" panose="02040503050406030204" pitchFamily="18" charset="0"/>
                <a:ea typeface="Cambria" panose="02040503050406030204" pitchFamily="18" charset="0"/>
                <a:cs typeface="Arial" panose="020B0604020202020204" pitchFamily="34" charset="0"/>
              </a:rPr>
              <a:t> is called whenever an object appears on the left side of an assignment expression.</a:t>
            </a:r>
          </a:p>
          <a:p>
            <a:pPr>
              <a:lnSpc>
                <a:spcPct val="110000"/>
              </a:lnSpc>
            </a:pPr>
            <a:r>
              <a:rPr lang="en-US" sz="1800" dirty="0">
                <a:effectLst/>
                <a:latin typeface="Cambria" panose="02040503050406030204" pitchFamily="18" charset="0"/>
                <a:ea typeface="Cambria" panose="02040503050406030204" pitchFamily="18" charset="0"/>
                <a:cs typeface="Arial" panose="020B0604020202020204" pitchFamily="34" charset="0"/>
              </a:rPr>
              <a:t>If a class has no explicitly defined copy assignment constructor the compiler will automatically create a default copy constructor for it that receives a const reference.</a:t>
            </a:r>
          </a:p>
        </p:txBody>
      </p:sp>
      <p:pic>
        <p:nvPicPr>
          <p:cNvPr id="5" name="Picture 4" descr="A screen shot of a computer code&#10;&#10;AI-generated content may be incorrect.">
            <a:extLst>
              <a:ext uri="{FF2B5EF4-FFF2-40B4-BE49-F238E27FC236}">
                <a16:creationId xmlns:a16="http://schemas.microsoft.com/office/drawing/2014/main" id="{3DC83AD6-7BE6-F61B-D4C3-DCE7185288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3211285"/>
            <a:ext cx="6664036" cy="2406457"/>
          </a:xfrm>
          <a:prstGeom prst="rect">
            <a:avLst/>
          </a:prstGeom>
        </p:spPr>
      </p:pic>
    </p:spTree>
    <p:extLst>
      <p:ext uri="{BB962C8B-B14F-4D97-AF65-F5344CB8AC3E}">
        <p14:creationId xmlns:p14="http://schemas.microsoft.com/office/powerpoint/2010/main" val="3134652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DF9E-AD3C-49D6-708F-0A9CE02CB11A}"/>
              </a:ext>
            </a:extLst>
          </p:cNvPr>
          <p:cNvSpPr>
            <a:spLocks noGrp="1"/>
          </p:cNvSpPr>
          <p:nvPr>
            <p:ph type="title"/>
          </p:nvPr>
        </p:nvSpPr>
        <p:spPr/>
        <p:txBody>
          <a:bodyPr/>
          <a:lstStyle/>
          <a:p>
            <a:r>
              <a:rPr lang="en-US" dirty="0"/>
              <a:t>Destructor</a:t>
            </a:r>
          </a:p>
        </p:txBody>
      </p:sp>
      <p:sp>
        <p:nvSpPr>
          <p:cNvPr id="3" name="Content Placeholder 2">
            <a:extLst>
              <a:ext uri="{FF2B5EF4-FFF2-40B4-BE49-F238E27FC236}">
                <a16:creationId xmlns:a16="http://schemas.microsoft.com/office/drawing/2014/main" id="{81186A33-878E-1385-8209-C9E1BBC657BB}"/>
              </a:ext>
            </a:extLst>
          </p:cNvPr>
          <p:cNvSpPr>
            <a:spLocks noGrp="1"/>
          </p:cNvSpPr>
          <p:nvPr>
            <p:ph idx="1"/>
          </p:nvPr>
        </p:nvSpPr>
        <p:spPr>
          <a:xfrm>
            <a:off x="677334" y="1429031"/>
            <a:ext cx="8996437" cy="1999970"/>
          </a:xfrm>
        </p:spPr>
        <p:txBody>
          <a:bodyPr>
            <a:normAutofit/>
          </a:bodyPr>
          <a:lstStyle/>
          <a:p>
            <a:pPr>
              <a:lnSpc>
                <a:spcPct val="110000"/>
              </a:lnSpc>
            </a:pPr>
            <a:r>
              <a:rPr lang="en-US" sz="1800" dirty="0">
                <a:effectLst/>
                <a:latin typeface="Cambria" panose="02040503050406030204" pitchFamily="18" charset="0"/>
                <a:ea typeface="Cambria" panose="02040503050406030204" pitchFamily="18" charset="0"/>
                <a:cs typeface="Arial" panose="020B0604020202020204" pitchFamily="34" charset="0"/>
              </a:rPr>
              <a:t>Called when an object is going to be destroyed (out of scope or because of </a:t>
            </a:r>
            <a:r>
              <a:rPr lang="en-US" sz="1800" dirty="0">
                <a:effectLst/>
                <a:latin typeface="Consolas" panose="020B0609020204030204" pitchFamily="49" charset="0"/>
                <a:ea typeface="Cambria" panose="02040503050406030204" pitchFamily="18" charset="0"/>
                <a:cs typeface="Arial" panose="020B0604020202020204" pitchFamily="34" charset="0"/>
              </a:rPr>
              <a:t>delete</a:t>
            </a:r>
            <a:r>
              <a:rPr lang="en-US" sz="1800" dirty="0">
                <a:effectLst/>
                <a:latin typeface="Cambria" panose="02040503050406030204" pitchFamily="18" charset="0"/>
                <a:ea typeface="Cambria" panose="02040503050406030204" pitchFamily="18" charset="0"/>
                <a:cs typeface="Arial" panose="020B0604020202020204" pitchFamily="34" charset="0"/>
              </a:rPr>
              <a:t>).</a:t>
            </a:r>
          </a:p>
          <a:p>
            <a:pPr>
              <a:lnSpc>
                <a:spcPct val="110000"/>
              </a:lnSpc>
            </a:pPr>
            <a:r>
              <a:rPr lang="en-US" sz="1800" dirty="0">
                <a:effectLst/>
                <a:latin typeface="Cambria" panose="02040503050406030204" pitchFamily="18" charset="0"/>
                <a:ea typeface="Cambria" panose="02040503050406030204" pitchFamily="18" charset="0"/>
                <a:cs typeface="Arial" panose="020B0604020202020204" pitchFamily="34" charset="0"/>
              </a:rPr>
              <a:t>Does not receive any arguments and does not return a value.</a:t>
            </a:r>
          </a:p>
          <a:p>
            <a:pPr>
              <a:lnSpc>
                <a:spcPct val="110000"/>
              </a:lnSpc>
            </a:pPr>
            <a:r>
              <a:rPr lang="en-US" sz="1800" dirty="0">
                <a:effectLst/>
                <a:latin typeface="Cambria" panose="02040503050406030204" pitchFamily="18" charset="0"/>
                <a:ea typeface="Cambria" panose="02040503050406030204" pitchFamily="18" charset="0"/>
                <a:cs typeface="Arial" panose="020B0604020202020204" pitchFamily="34" charset="0"/>
              </a:rPr>
              <a:t>If a class has no explicitly defined destructor, the compiler will automatically create a default destructor for it.</a:t>
            </a:r>
          </a:p>
          <a:p>
            <a:pPr marL="0" indent="0">
              <a:lnSpc>
                <a:spcPct val="110000"/>
              </a:lnSpc>
              <a:buNone/>
            </a:pPr>
            <a:endParaRPr lang="en-US" dirty="0"/>
          </a:p>
        </p:txBody>
      </p:sp>
      <p:sp>
        <p:nvSpPr>
          <p:cNvPr id="4" name="Cloud Callout 3">
            <a:extLst>
              <a:ext uri="{FF2B5EF4-FFF2-40B4-BE49-F238E27FC236}">
                <a16:creationId xmlns:a16="http://schemas.microsoft.com/office/drawing/2014/main" id="{94CDBB8B-186A-F69F-31A9-757A12687A95}"/>
              </a:ext>
            </a:extLst>
          </p:cNvPr>
          <p:cNvSpPr/>
          <p:nvPr/>
        </p:nvSpPr>
        <p:spPr>
          <a:xfrm>
            <a:off x="7021001" y="2829542"/>
            <a:ext cx="2971477" cy="1535724"/>
          </a:xfrm>
          <a:prstGeom prst="cloudCallout">
            <a:avLst>
              <a:gd name="adj1" fmla="val -54375"/>
              <a:gd name="adj2" fmla="val 665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r>
              <a:rPr lang="en-US" dirty="0"/>
              <a:t>What might happen while using the Default </a:t>
            </a:r>
            <a:r>
              <a:rPr lang="en-US" dirty="0" err="1"/>
              <a:t>destrucor</a:t>
            </a:r>
            <a:r>
              <a:rPr lang="en-US" dirty="0"/>
              <a:t>?</a:t>
            </a:r>
            <a:endParaRPr lang="en-IL" dirty="0"/>
          </a:p>
        </p:txBody>
      </p:sp>
      <p:pic>
        <p:nvPicPr>
          <p:cNvPr id="7" name="Picture 6" descr="A computer screen shot of code&#10;&#10;AI-generated content may be incorrect.">
            <a:extLst>
              <a:ext uri="{FF2B5EF4-FFF2-40B4-BE49-F238E27FC236}">
                <a16:creationId xmlns:a16="http://schemas.microsoft.com/office/drawing/2014/main" id="{96DED950-0DC5-2FB3-76C2-474435D81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098" y="3206749"/>
            <a:ext cx="5339196" cy="2881283"/>
          </a:xfrm>
          <a:prstGeom prst="rect">
            <a:avLst/>
          </a:prstGeom>
        </p:spPr>
      </p:pic>
    </p:spTree>
    <p:extLst>
      <p:ext uri="{BB962C8B-B14F-4D97-AF65-F5344CB8AC3E}">
        <p14:creationId xmlns:p14="http://schemas.microsoft.com/office/powerpoint/2010/main" val="314553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A45CA-A59F-40E7-8E48-5BF5F41F013B}"/>
              </a:ext>
            </a:extLst>
          </p:cNvPr>
          <p:cNvSpPr>
            <a:spLocks noGrp="1"/>
          </p:cNvSpPr>
          <p:nvPr>
            <p:ph type="title"/>
          </p:nvPr>
        </p:nvSpPr>
        <p:spPr/>
        <p:txBody>
          <a:bodyPr/>
          <a:lstStyle/>
          <a:p>
            <a:r>
              <a:rPr lang="en-US" dirty="0"/>
              <a:t>The rule of 3</a:t>
            </a:r>
            <a:endParaRPr lang="he-IL" dirty="0"/>
          </a:p>
        </p:txBody>
      </p:sp>
      <p:sp>
        <p:nvSpPr>
          <p:cNvPr id="3" name="Content Placeholder 2">
            <a:extLst>
              <a:ext uri="{FF2B5EF4-FFF2-40B4-BE49-F238E27FC236}">
                <a16:creationId xmlns:a16="http://schemas.microsoft.com/office/drawing/2014/main" id="{F33D8F27-FD8D-4E0A-89C8-72E288996D47}"/>
              </a:ext>
            </a:extLst>
          </p:cNvPr>
          <p:cNvSpPr>
            <a:spLocks noGrp="1"/>
          </p:cNvSpPr>
          <p:nvPr>
            <p:ph idx="1"/>
          </p:nvPr>
        </p:nvSpPr>
        <p:spPr>
          <a:xfrm>
            <a:off x="677334" y="1986418"/>
            <a:ext cx="8596668" cy="3289525"/>
          </a:xfrm>
        </p:spPr>
        <p:txBody>
          <a:bodyPr>
            <a:normAutofit/>
          </a:bodyPr>
          <a:lstStyle/>
          <a:p>
            <a:pPr>
              <a:lnSpc>
                <a:spcPct val="150000"/>
              </a:lnSpc>
            </a:pPr>
            <a:r>
              <a:rPr lang="en-US" dirty="0"/>
              <a:t>“If a class requires a user-defined destructor, a user-defined copy constructor, or a user-defined copy assignment operator, it </a:t>
            </a:r>
            <a:r>
              <a:rPr lang="en-US" b="1" dirty="0"/>
              <a:t>almost certainly requires all three</a:t>
            </a:r>
            <a:r>
              <a:rPr lang="en-US" dirty="0"/>
              <a:t>.”</a:t>
            </a:r>
            <a:endParaRPr lang="en-US" i="1" dirty="0">
              <a:latin typeface="Cambria" panose="02040503050406030204" pitchFamily="18" charset="0"/>
              <a:ea typeface="Cambria" panose="02040503050406030204" pitchFamily="18" charset="0"/>
              <a:cs typeface="Arial" panose="020B0604020202020204" pitchFamily="34" charset="0"/>
            </a:endParaRPr>
          </a:p>
          <a:p>
            <a:pPr>
              <a:lnSpc>
                <a:spcPct val="150000"/>
              </a:lnSpc>
            </a:pPr>
            <a:r>
              <a:rPr lang="en-US" sz="2400" i="1" dirty="0">
                <a:latin typeface="Cambria" panose="02040503050406030204" pitchFamily="18" charset="0"/>
                <a:ea typeface="Cambria" panose="02040503050406030204" pitchFamily="18" charset="0"/>
                <a:cs typeface="Arial" panose="020B0604020202020204" pitchFamily="34" charset="0"/>
              </a:rPr>
              <a:t>Note that all </a:t>
            </a:r>
            <a:r>
              <a:rPr lang="en-US" sz="2400" b="1" i="1" dirty="0">
                <a:latin typeface="Cambria" panose="02040503050406030204" pitchFamily="18" charset="0"/>
                <a:ea typeface="Cambria" panose="02040503050406030204" pitchFamily="18" charset="0"/>
                <a:cs typeface="Arial" panose="020B0604020202020204" pitchFamily="34" charset="0"/>
              </a:rPr>
              <a:t>automatically generated </a:t>
            </a:r>
            <a:r>
              <a:rPr lang="en-US" sz="2400" i="1" dirty="0">
                <a:latin typeface="Cambria" panose="02040503050406030204" pitchFamily="18" charset="0"/>
                <a:ea typeface="Cambria" panose="02040503050406030204" pitchFamily="18" charset="0"/>
                <a:cs typeface="Arial" panose="020B0604020202020204" pitchFamily="34" charset="0"/>
              </a:rPr>
              <a:t>(default) constructor / destructor / copy assignment do </a:t>
            </a:r>
            <a:r>
              <a:rPr lang="en-US" sz="2400" b="1" i="1" dirty="0">
                <a:latin typeface="Cambria" panose="02040503050406030204" pitchFamily="18" charset="0"/>
                <a:ea typeface="Cambria" panose="02040503050406030204" pitchFamily="18" charset="0"/>
                <a:cs typeface="Arial" panose="020B0604020202020204" pitchFamily="34" charset="0"/>
              </a:rPr>
              <a:t>not</a:t>
            </a:r>
            <a:r>
              <a:rPr lang="en-US" sz="2400" i="1" dirty="0">
                <a:latin typeface="Cambria" panose="02040503050406030204" pitchFamily="18" charset="0"/>
                <a:ea typeface="Cambria" panose="02040503050406030204" pitchFamily="18" charset="0"/>
                <a:cs typeface="Arial" panose="020B0604020202020204" pitchFamily="34" charset="0"/>
              </a:rPr>
              <a:t> perform “deep” operations.</a:t>
            </a:r>
            <a:endParaRPr lang="en-US" sz="2400" i="1" dirty="0"/>
          </a:p>
          <a:p>
            <a:pPr marL="0" indent="0">
              <a:lnSpc>
                <a:spcPct val="150000"/>
              </a:lnSpc>
              <a:buNone/>
            </a:pPr>
            <a:endParaRPr lang="en-US" dirty="0"/>
          </a:p>
        </p:txBody>
      </p:sp>
    </p:spTree>
    <p:extLst>
      <p:ext uri="{BB962C8B-B14F-4D97-AF65-F5344CB8AC3E}">
        <p14:creationId xmlns:p14="http://schemas.microsoft.com/office/powerpoint/2010/main" val="3034384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E3464-96C0-48F2-BE95-4BDEB42515F6}"/>
              </a:ext>
            </a:extLst>
          </p:cNvPr>
          <p:cNvSpPr>
            <a:spLocks noGrp="1"/>
          </p:cNvSpPr>
          <p:nvPr>
            <p:ph type="title"/>
          </p:nvPr>
        </p:nvSpPr>
        <p:spPr/>
        <p:txBody>
          <a:bodyPr/>
          <a:lstStyle/>
          <a:p>
            <a:r>
              <a:rPr lang="en-US" dirty="0"/>
              <a:t>Copy assignment vs. copy constructor</a:t>
            </a:r>
            <a:endParaRPr lang="he-IL" dirty="0"/>
          </a:p>
        </p:txBody>
      </p:sp>
      <p:graphicFrame>
        <p:nvGraphicFramePr>
          <p:cNvPr id="15" name="Table 14">
            <a:extLst>
              <a:ext uri="{FF2B5EF4-FFF2-40B4-BE49-F238E27FC236}">
                <a16:creationId xmlns:a16="http://schemas.microsoft.com/office/drawing/2014/main" id="{D9A69A9E-6D5C-4243-ADC9-499DF96F9758}"/>
              </a:ext>
            </a:extLst>
          </p:cNvPr>
          <p:cNvGraphicFramePr>
            <a:graphicFrameLocks noGrp="1"/>
          </p:cNvGraphicFramePr>
          <p:nvPr>
            <p:extLst>
              <p:ext uri="{D42A27DB-BD31-4B8C-83A1-F6EECF244321}">
                <p14:modId xmlns:p14="http://schemas.microsoft.com/office/powerpoint/2010/main" val="1763068423"/>
              </p:ext>
            </p:extLst>
          </p:nvPr>
        </p:nvGraphicFramePr>
        <p:xfrm>
          <a:off x="735392" y="1611086"/>
          <a:ext cx="8160729" cy="4230913"/>
        </p:xfrm>
        <a:graphic>
          <a:graphicData uri="http://schemas.openxmlformats.org/drawingml/2006/table">
            <a:tbl>
              <a:tblPr rtl="1" firstRow="1" bandRow="1">
                <a:tableStyleId>{5C22544A-7EE6-4342-B048-85BDC9FD1C3A}</a:tableStyleId>
              </a:tblPr>
              <a:tblGrid>
                <a:gridCol w="4084416">
                  <a:extLst>
                    <a:ext uri="{9D8B030D-6E8A-4147-A177-3AD203B41FA5}">
                      <a16:colId xmlns:a16="http://schemas.microsoft.com/office/drawing/2014/main" val="1110394281"/>
                    </a:ext>
                  </a:extLst>
                </a:gridCol>
                <a:gridCol w="4076313">
                  <a:extLst>
                    <a:ext uri="{9D8B030D-6E8A-4147-A177-3AD203B41FA5}">
                      <a16:colId xmlns:a16="http://schemas.microsoft.com/office/drawing/2014/main" val="1197377217"/>
                    </a:ext>
                  </a:extLst>
                </a:gridCol>
              </a:tblGrid>
              <a:tr h="650263">
                <a:tc>
                  <a:txBody>
                    <a:bodyPr/>
                    <a:lstStyle/>
                    <a:p>
                      <a:pPr algn="l" rtl="0"/>
                      <a:r>
                        <a:rPr lang="en-US" dirty="0"/>
                        <a:t>Copy assignment operator</a:t>
                      </a:r>
                      <a:endParaRPr lang="he-IL" dirty="0"/>
                    </a:p>
                  </a:txBody>
                  <a:tcPr/>
                </a:tc>
                <a:tc>
                  <a:txBody>
                    <a:bodyPr/>
                    <a:lstStyle/>
                    <a:p>
                      <a:pPr algn="l" rtl="0"/>
                      <a:r>
                        <a:rPr lang="en-US" dirty="0"/>
                        <a:t>Copy constructor</a:t>
                      </a:r>
                      <a:endParaRPr lang="he-IL" dirty="0"/>
                    </a:p>
                  </a:txBody>
                  <a:tcPr/>
                </a:tc>
                <a:extLst>
                  <a:ext uri="{0D108BD9-81ED-4DB2-BD59-A6C34878D82A}">
                    <a16:rowId xmlns:a16="http://schemas.microsoft.com/office/drawing/2014/main" val="1854521192"/>
                  </a:ext>
                </a:extLst>
              </a:tr>
              <a:tr h="1193550">
                <a:tc>
                  <a:txBody>
                    <a:bodyPr/>
                    <a:lstStyle/>
                    <a:p>
                      <a:pPr algn="l" rtl="0"/>
                      <a:r>
                        <a:rPr lang="en-US" dirty="0"/>
                        <a:t>Object already initialized (must free memory to avoid memory leaks)</a:t>
                      </a:r>
                      <a:endParaRPr lang="he-IL" dirty="0"/>
                    </a:p>
                  </a:txBody>
                  <a:tcPr/>
                </a:tc>
                <a:tc>
                  <a:txBody>
                    <a:bodyPr/>
                    <a:lstStyle/>
                    <a:p>
                      <a:pPr algn="l" rtl="0"/>
                      <a:r>
                        <a:rPr lang="en-US" dirty="0"/>
                        <a:t>Initializes and creates the object</a:t>
                      </a:r>
                      <a:endParaRPr lang="he-IL" dirty="0"/>
                    </a:p>
                  </a:txBody>
                  <a:tcPr/>
                </a:tc>
                <a:extLst>
                  <a:ext uri="{0D108BD9-81ED-4DB2-BD59-A6C34878D82A}">
                    <a16:rowId xmlns:a16="http://schemas.microsoft.com/office/drawing/2014/main" val="2691863037"/>
                  </a:ext>
                </a:extLst>
              </a:tr>
              <a:tr h="1193550">
                <a:tc>
                  <a:txBody>
                    <a:bodyPr/>
                    <a:lstStyle/>
                    <a:p>
                      <a:pPr algn="l" rtl="0"/>
                      <a:r>
                        <a:rPr lang="en-US" dirty="0"/>
                        <a:t>Self assignment is possible (and need to be checked for by the programmer)</a:t>
                      </a:r>
                      <a:endParaRPr lang="he-IL" dirty="0"/>
                    </a:p>
                  </a:txBody>
                  <a:tcPr/>
                </a:tc>
                <a:tc>
                  <a:txBody>
                    <a:bodyPr/>
                    <a:lstStyle/>
                    <a:p>
                      <a:pPr algn="l" rtl="0"/>
                      <a:r>
                        <a:rPr lang="en-US" dirty="0"/>
                        <a:t>Self assignment not possible</a:t>
                      </a:r>
                      <a:endParaRPr lang="he-IL" dirty="0"/>
                    </a:p>
                  </a:txBody>
                  <a:tcPr/>
                </a:tc>
                <a:extLst>
                  <a:ext uri="{0D108BD9-81ED-4DB2-BD59-A6C34878D82A}">
                    <a16:rowId xmlns:a16="http://schemas.microsoft.com/office/drawing/2014/main" val="3822567086"/>
                  </a:ext>
                </a:extLst>
              </a:tr>
              <a:tr h="1193550">
                <a:tc>
                  <a:txBody>
                    <a:bodyPr/>
                    <a:lstStyle/>
                    <a:p>
                      <a:pPr algn="l" rtl="0"/>
                      <a:r>
                        <a:rPr lang="en-US" dirty="0"/>
                        <a:t>Returns a reference to the object after assignment. Supports chained assignment.</a:t>
                      </a:r>
                      <a:endParaRPr lang="he-IL" dirty="0"/>
                    </a:p>
                  </a:txBody>
                  <a:tcPr/>
                </a:tc>
                <a:tc>
                  <a:txBody>
                    <a:bodyPr/>
                    <a:lstStyle/>
                    <a:p>
                      <a:pPr algn="l" rtl="0"/>
                      <a:r>
                        <a:rPr lang="en-US" dirty="0"/>
                        <a:t>A constructor (doesn’t return a value)</a:t>
                      </a:r>
                      <a:endParaRPr lang="he-IL" dirty="0"/>
                    </a:p>
                  </a:txBody>
                  <a:tcPr/>
                </a:tc>
                <a:extLst>
                  <a:ext uri="{0D108BD9-81ED-4DB2-BD59-A6C34878D82A}">
                    <a16:rowId xmlns:a16="http://schemas.microsoft.com/office/drawing/2014/main" val="1893660869"/>
                  </a:ext>
                </a:extLst>
              </a:tr>
            </a:tbl>
          </a:graphicData>
        </a:graphic>
      </p:graphicFrame>
    </p:spTree>
    <p:extLst>
      <p:ext uri="{BB962C8B-B14F-4D97-AF65-F5344CB8AC3E}">
        <p14:creationId xmlns:p14="http://schemas.microsoft.com/office/powerpoint/2010/main" val="1660601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59D15-947D-4B7A-BD20-40D4C4D374DA}"/>
              </a:ext>
            </a:extLst>
          </p:cNvPr>
          <p:cNvSpPr>
            <a:spLocks noGrp="1"/>
          </p:cNvSpPr>
          <p:nvPr>
            <p:ph type="title"/>
          </p:nvPr>
        </p:nvSpPr>
        <p:spPr>
          <a:xfrm>
            <a:off x="677334" y="723676"/>
            <a:ext cx="8596668" cy="1320800"/>
          </a:xfrm>
        </p:spPr>
        <p:txBody>
          <a:bodyPr/>
          <a:lstStyle/>
          <a:p>
            <a:r>
              <a:rPr lang="en-US" dirty="0"/>
              <a:t>Exception safety in copy assignment</a:t>
            </a:r>
            <a:endParaRPr lang="he-IL" dirty="0"/>
          </a:p>
        </p:txBody>
      </p:sp>
      <p:sp>
        <p:nvSpPr>
          <p:cNvPr id="3" name="Content Placeholder 2">
            <a:extLst>
              <a:ext uri="{FF2B5EF4-FFF2-40B4-BE49-F238E27FC236}">
                <a16:creationId xmlns:a16="http://schemas.microsoft.com/office/drawing/2014/main" id="{98824724-CE8F-4A1F-BF69-A30482250B43}"/>
              </a:ext>
            </a:extLst>
          </p:cNvPr>
          <p:cNvSpPr>
            <a:spLocks noGrp="1"/>
          </p:cNvSpPr>
          <p:nvPr>
            <p:ph idx="1"/>
          </p:nvPr>
        </p:nvSpPr>
        <p:spPr>
          <a:xfrm>
            <a:off x="677334" y="1703391"/>
            <a:ext cx="8596668" cy="2063068"/>
          </a:xfrm>
        </p:spPr>
        <p:txBody>
          <a:bodyPr/>
          <a:lstStyle/>
          <a:p>
            <a:pPr>
              <a:lnSpc>
                <a:spcPct val="150000"/>
              </a:lnSpc>
            </a:pPr>
            <a:r>
              <a:rPr lang="en-US" dirty="0"/>
              <a:t>The copy assignment operator must not throw exceptions (this may leave the object in an invalid state). </a:t>
            </a:r>
          </a:p>
          <a:p>
            <a:pPr>
              <a:lnSpc>
                <a:spcPct val="150000"/>
              </a:lnSpc>
            </a:pPr>
            <a:r>
              <a:rPr lang="en-US" dirty="0"/>
              <a:t>If the automatically-generated default copy assignment operator may throw exceptions, one must be written explicitly	</a:t>
            </a:r>
            <a:endParaRPr lang="he-IL" dirty="0"/>
          </a:p>
        </p:txBody>
      </p:sp>
      <p:sp>
        <p:nvSpPr>
          <p:cNvPr id="5" name="TextBox 4">
            <a:extLst>
              <a:ext uri="{FF2B5EF4-FFF2-40B4-BE49-F238E27FC236}">
                <a16:creationId xmlns:a16="http://schemas.microsoft.com/office/drawing/2014/main" id="{7370D35D-B082-5C98-6E83-C1BF47D6D15F}"/>
              </a:ext>
            </a:extLst>
          </p:cNvPr>
          <p:cNvSpPr txBox="1"/>
          <p:nvPr/>
        </p:nvSpPr>
        <p:spPr>
          <a:xfrm>
            <a:off x="583273" y="3630840"/>
            <a:ext cx="8690729" cy="3240603"/>
          </a:xfrm>
          <a:prstGeom prst="roundRect">
            <a:avLst/>
          </a:prstGeom>
          <a:noFill/>
          <a:ln w="12700">
            <a:solidFill>
              <a:schemeClr val="accent1">
                <a:lumMod val="60000"/>
                <a:lumOff val="40000"/>
              </a:schemeClr>
            </a:solidFill>
          </a:ln>
        </p:spPr>
        <p:txBody>
          <a:bodyPr wrap="square">
            <a:spAutoFit/>
          </a:bodyPr>
          <a:lstStyle/>
          <a:p>
            <a:pPr latinLnBrk="1">
              <a:spcAft>
                <a:spcPts val="1000"/>
              </a:spcAft>
            </a:pPr>
            <a:r>
              <a:rPr lang="en-US" sz="1600" b="1" dirty="0">
                <a:solidFill>
                  <a:srgbClr val="007020"/>
                </a:solidFill>
                <a:latin typeface="Consolas" panose="020B0609020204030204" pitchFamily="49" charset="0"/>
                <a:ea typeface="Cambria" panose="02040503050406030204" pitchFamily="18" charset="0"/>
                <a:cs typeface="Arial" panose="020B0604020202020204" pitchFamily="34" charset="0"/>
              </a:rPr>
              <a:t>//Copy assignment operator</a:t>
            </a:r>
          </a:p>
          <a:p>
            <a:r>
              <a:rPr lang="en-US" sz="1600" dirty="0" err="1">
                <a:effectLst/>
                <a:latin typeface="Consolas" panose="020B0609020204030204" pitchFamily="49" charset="0"/>
                <a:ea typeface="Cambria" panose="02040503050406030204" pitchFamily="18" charset="0"/>
                <a:cs typeface="Arial" panose="020B0604020202020204" pitchFamily="34" charset="0"/>
              </a:rPr>
              <a:t>MyClass</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&amp;</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MyClass</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operator</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7D9029"/>
                </a:solidFill>
                <a:effectLst/>
                <a:latin typeface="Consolas" panose="020B0609020204030204" pitchFamily="49" charset="0"/>
                <a:ea typeface="Cambria" panose="02040503050406030204" pitchFamily="18" charset="0"/>
                <a:cs typeface="Arial" panose="020B0604020202020204" pitchFamily="34" charset="0"/>
              </a:rPr>
              <a:t>const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MyClass</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&amp;</a:t>
            </a:r>
            <a:r>
              <a:rPr lang="en-US" sz="1600" dirty="0">
                <a:effectLst/>
                <a:latin typeface="Consolas" panose="020B0609020204030204" pitchFamily="49" charset="0"/>
                <a:ea typeface="Cambria" panose="02040503050406030204" pitchFamily="18" charset="0"/>
                <a:cs typeface="Arial" panose="020B0604020202020204" pitchFamily="34" charset="0"/>
              </a:rPr>
              <a:t> other</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if</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this</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&amp;</a:t>
            </a:r>
            <a:r>
              <a:rPr lang="en-US" sz="1600" dirty="0">
                <a:effectLst/>
                <a:latin typeface="Consolas" panose="020B0609020204030204" pitchFamily="49" charset="0"/>
                <a:ea typeface="Cambria" panose="02040503050406030204" pitchFamily="18" charset="0"/>
                <a:cs typeface="Arial" panose="020B0604020202020204" pitchFamily="34" charset="0"/>
              </a:rPr>
              <a:t>other</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is this not self-assignment?</a:t>
            </a:r>
          </a:p>
          <a:p>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 make some changes to </a:t>
            </a:r>
            <a:r>
              <a:rPr lang="en-US" sz="1600" b="1"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this</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methodThatMightThrowException</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exception here = invalid state</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		// make more changes to </a:t>
            </a:r>
            <a:r>
              <a:rPr lang="en-US" sz="1600" b="1" i="1" dirty="0">
                <a:solidFill>
                  <a:srgbClr val="60A0B0"/>
                </a:solidFill>
                <a:effectLst/>
                <a:latin typeface="Consolas" panose="020B0609020204030204" pitchFamily="49" charset="0"/>
                <a:ea typeface="Cambria" panose="02040503050406030204" pitchFamily="18" charset="0"/>
                <a:cs typeface="Arial" panose="020B0604020202020204" pitchFamily="34" charset="0"/>
              </a:rPr>
              <a:t>this</a:t>
            </a:r>
            <a:br>
              <a:rPr lang="en-US" sz="1600" dirty="0">
                <a:effectLst/>
                <a:latin typeface="Cambria" panose="02040503050406030204" pitchFamily="18" charset="0"/>
                <a:ea typeface="Cambria" panose="02040503050406030204" pitchFamily="18" charset="0"/>
                <a:cs typeface="Arial" panose="020B0604020202020204" pitchFamily="34" charset="0"/>
              </a:rPr>
            </a:b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return</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this</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ambria" panose="02040503050406030204" pitchFamily="18"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endParaRPr lang="en-US" sz="1600" dirty="0"/>
          </a:p>
        </p:txBody>
      </p:sp>
    </p:spTree>
    <p:extLst>
      <p:ext uri="{BB962C8B-B14F-4D97-AF65-F5344CB8AC3E}">
        <p14:creationId xmlns:p14="http://schemas.microsoft.com/office/powerpoint/2010/main" val="267475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33051-3D67-7433-4C0F-6E3A6A9664B7}"/>
              </a:ext>
            </a:extLst>
          </p:cNvPr>
          <p:cNvSpPr>
            <a:spLocks noGrp="1"/>
          </p:cNvSpPr>
          <p:nvPr>
            <p:ph type="title"/>
          </p:nvPr>
        </p:nvSpPr>
        <p:spPr>
          <a:xfrm>
            <a:off x="677334" y="495300"/>
            <a:ext cx="8596668" cy="1320800"/>
          </a:xfrm>
        </p:spPr>
        <p:txBody>
          <a:bodyPr/>
          <a:lstStyle/>
          <a:p>
            <a:r>
              <a:rPr lang="en-US" dirty="0"/>
              <a:t>Derived Class Constructor - Example</a:t>
            </a:r>
          </a:p>
        </p:txBody>
      </p:sp>
      <p:sp>
        <p:nvSpPr>
          <p:cNvPr id="7" name="TextBox 6">
            <a:extLst>
              <a:ext uri="{FF2B5EF4-FFF2-40B4-BE49-F238E27FC236}">
                <a16:creationId xmlns:a16="http://schemas.microsoft.com/office/drawing/2014/main" id="{3A97BA38-A7E7-2C94-88A1-51B7C3EFD77B}"/>
              </a:ext>
            </a:extLst>
          </p:cNvPr>
          <p:cNvSpPr txBox="1"/>
          <p:nvPr/>
        </p:nvSpPr>
        <p:spPr>
          <a:xfrm>
            <a:off x="744416" y="1229249"/>
            <a:ext cx="7858896" cy="5550456"/>
          </a:xfrm>
          <a:prstGeom prst="roundRect">
            <a:avLst/>
          </a:prstGeom>
          <a:noFill/>
          <a:ln w="12700">
            <a:solidFill>
              <a:schemeClr val="accent1">
                <a:lumMod val="60000"/>
                <a:lumOff val="40000"/>
              </a:schemeClr>
            </a:solidFill>
          </a:ln>
        </p:spPr>
        <p:txBody>
          <a:bodyPr wrap="square">
            <a:spAutoFit/>
          </a:bodyPr>
          <a:lstStyle/>
          <a:p>
            <a:pPr marL="0" marR="0" latinLnBrk="1">
              <a:spcBef>
                <a:spcPts val="0"/>
              </a:spcBef>
              <a:spcAft>
                <a:spcPts val="1000"/>
              </a:spcAft>
            </a:pP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class</a:t>
            </a:r>
            <a:r>
              <a:rPr lang="en-US" sz="1600" dirty="0">
                <a:effectLst/>
                <a:latin typeface="Consolas" panose="020B0609020204030204" pitchFamily="49" charset="0"/>
                <a:ea typeface="Cambria" panose="02040503050406030204" pitchFamily="18" charset="0"/>
                <a:cs typeface="Arial" panose="020B0604020202020204" pitchFamily="34" charset="0"/>
              </a:rPr>
              <a:t> Person</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public</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Person</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a:effectLs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 </a:t>
            </a:r>
            <a:r>
              <a:rPr lang="en-US" sz="1600" dirty="0">
                <a:effectLst/>
                <a:latin typeface="Consolas" panose="020B0609020204030204" pitchFamily="49" charset="0"/>
                <a:ea typeface="Cambria" panose="02040503050406030204" pitchFamily="18" charset="0"/>
                <a:cs typeface="Arial" panose="020B0604020202020204" pitchFamily="34" charset="0"/>
              </a:rPr>
              <a:t>_name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name</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_name</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a:effectLs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getName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protected</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a:effectLs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 </a:t>
            </a:r>
            <a:r>
              <a:rPr lang="en-US" sz="1600" dirty="0">
                <a:effectLst/>
                <a:latin typeface="Consolas" panose="020B0609020204030204" pitchFamily="49" charset="0"/>
                <a:ea typeface="Cambria" panose="02040503050406030204" pitchFamily="18" charset="0"/>
                <a:cs typeface="Arial" panose="020B0604020202020204" pitchFamily="34" charset="0"/>
              </a:rPr>
              <a:t>name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class</a:t>
            </a:r>
            <a:r>
              <a:rPr lang="en-US" sz="1600" dirty="0">
                <a:effectLst/>
                <a:latin typeface="Consolas" panose="020B0609020204030204" pitchFamily="49" charset="0"/>
                <a:ea typeface="Cambria" panose="02040503050406030204" pitchFamily="18" charset="0"/>
                <a:cs typeface="Arial" panose="020B0604020202020204" pitchFamily="34" charset="0"/>
              </a:rPr>
              <a:t> Student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public</a:t>
            </a:r>
            <a:r>
              <a:rPr lang="en-US" sz="1600" dirty="0">
                <a:effectLst/>
                <a:latin typeface="Consolas" panose="020B0609020204030204" pitchFamily="49" charset="0"/>
                <a:ea typeface="Cambria" panose="02040503050406030204" pitchFamily="18" charset="0"/>
                <a:cs typeface="Arial" panose="020B0604020202020204" pitchFamily="34" charset="0"/>
              </a:rPr>
              <a:t> Person</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public</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Student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a:effectLs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 </a:t>
            </a:r>
            <a:r>
              <a:rPr lang="en-US" sz="1600" dirty="0">
                <a:effectLst/>
                <a:latin typeface="Consolas" panose="020B0609020204030204" pitchFamily="49" charset="0"/>
                <a:ea typeface="Cambria" panose="02040503050406030204" pitchFamily="18" charset="0"/>
                <a:cs typeface="Arial" panose="020B0604020202020204" pitchFamily="34" charset="0"/>
              </a:rPr>
              <a:t>_name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Person</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_</a:t>
            </a:r>
            <a:r>
              <a:rPr lang="en-US" sz="1600" dirty="0">
                <a:effectLst/>
                <a:latin typeface="Consolas" panose="020B0609020204030204" pitchFamily="49" charset="0"/>
                <a:ea typeface="Cambria" panose="02040503050406030204" pitchFamily="18" charset="0"/>
                <a:cs typeface="Arial" panose="020B0604020202020204" pitchFamily="34" charset="0"/>
              </a:rPr>
              <a:t>name</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void</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err="1">
                <a:effectLst/>
                <a:latin typeface="Consolas" panose="020B0609020204030204" pitchFamily="49" charset="0"/>
                <a:ea typeface="Cambria" panose="02040503050406030204" pitchFamily="18" charset="0"/>
                <a:cs typeface="Arial" panose="020B0604020202020204" pitchFamily="34" charset="0"/>
              </a:rPr>
              <a:t>doHomework</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902000"/>
                </a:solidFill>
                <a:effectLst/>
                <a:latin typeface="Consolas" panose="020B0609020204030204" pitchFamily="49" charset="0"/>
                <a:ea typeface="Cambria" panose="02040503050406030204" pitchFamily="18" charset="0"/>
                <a:cs typeface="Arial" panose="020B0604020202020204" pitchFamily="34" charset="0"/>
              </a:rPr>
              <a:t>void</a:t>
            </a:r>
            <a:r>
              <a:rPr lang="en-US" sz="1600" dirty="0">
                <a:effectLst/>
                <a:latin typeface="Consolas" panose="020B0609020204030204" pitchFamily="49" charset="0"/>
                <a:ea typeface="Cambria" panose="02040503050406030204" pitchFamily="18" charset="0"/>
                <a:cs typeface="Arial" panose="020B0604020202020204" pitchFamily="34" charset="0"/>
              </a:rPr>
              <a:t> Student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err="1">
                <a:effectLst/>
                <a:latin typeface="Consolas" panose="020B0609020204030204" pitchFamily="49" charset="0"/>
                <a:ea typeface="Cambria" panose="02040503050406030204" pitchFamily="18" charset="0"/>
                <a:cs typeface="Arial" panose="020B0604020202020204" pitchFamily="34" charset="0"/>
              </a:rPr>
              <a:t>doHomework</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err="1">
                <a:effectLst/>
                <a:latin typeface="Consolas" panose="020B0609020204030204" pitchFamily="49" charset="0"/>
                <a:ea typeface="Cambria" panose="02040503050406030204" pitchFamily="18" charset="0"/>
                <a:cs typeface="Arial" panose="020B0604020202020204" pitchFamily="34" charset="0"/>
              </a:rPr>
              <a:t>cout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 &lt;&lt;</a:t>
            </a:r>
            <a:r>
              <a:rPr lang="en-US" sz="1600" dirty="0">
                <a:effectLst/>
                <a:latin typeface="Consolas" panose="020B0609020204030204" pitchFamily="49" charset="0"/>
                <a:ea typeface="Cambria" panose="02040503050406030204" pitchFamily="18" charset="0"/>
                <a:cs typeface="Arial" panose="020B0604020202020204" pitchFamily="34" charset="0"/>
              </a:rPr>
              <a:t> name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&lt;&lt;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4070A0"/>
                </a:solidFill>
                <a:effectLst/>
                <a:latin typeface="Consolas" panose="020B0609020204030204" pitchFamily="49" charset="0"/>
                <a:ea typeface="Cambria" panose="02040503050406030204" pitchFamily="18" charset="0"/>
                <a:cs typeface="Arial" panose="020B0604020202020204" pitchFamily="34" charset="0"/>
              </a:rPr>
              <a:t>" is doing homework"</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&lt;&lt;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err="1">
                <a:effectLst/>
                <a:latin typeface="Consolas" panose="020B0609020204030204" pitchFamily="49" charset="0"/>
                <a:ea typeface="Cambria" panose="02040503050406030204" pitchFamily="18" charset="0"/>
                <a:cs typeface="Arial" panose="020B0604020202020204" pitchFamily="34" charset="0"/>
              </a:rPr>
              <a:t>endl</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endParaRPr lang="en-US" sz="1600" dirty="0">
              <a:effectLst/>
              <a:latin typeface="Consolas" panose="020B0609020204030204" pitchFamily="49" charset="0"/>
              <a:ea typeface="Cambria" panose="02040503050406030204" pitchFamily="18" charset="0"/>
              <a:cs typeface="Arial" panose="020B0604020202020204" pitchFamily="34" charset="0"/>
            </a:endParaRPr>
          </a:p>
        </p:txBody>
      </p:sp>
      <p:sp>
        <p:nvSpPr>
          <p:cNvPr id="4" name="Rectangle 3">
            <a:extLst>
              <a:ext uri="{FF2B5EF4-FFF2-40B4-BE49-F238E27FC236}">
                <a16:creationId xmlns:a16="http://schemas.microsoft.com/office/drawing/2014/main" id="{319723FB-A82C-F69F-FD51-B82EC328C1B1}"/>
              </a:ext>
            </a:extLst>
          </p:cNvPr>
          <p:cNvSpPr/>
          <p:nvPr/>
        </p:nvSpPr>
        <p:spPr>
          <a:xfrm>
            <a:off x="7132320" y="1511406"/>
            <a:ext cx="1339597" cy="400110"/>
          </a:xfrm>
          <a:prstGeom prst="rect">
            <a:avLst/>
          </a:prstGeom>
          <a:noFill/>
        </p:spPr>
        <p:txBody>
          <a:bodyPr wrap="none" lIns="91440" tIns="45720" rIns="91440" bIns="45720">
            <a:spAutoFit/>
          </a:bodyPr>
          <a:lstStyle/>
          <a:p>
            <a:pPr algn="ctr"/>
            <a:r>
              <a:rPr lang="en-US" sz="2000" b="0" cap="none" spc="0" dirty="0" err="1">
                <a:ln w="0"/>
                <a:solidFill>
                  <a:schemeClr val="accent1"/>
                </a:solidFill>
                <a:effectLst>
                  <a:outerShdw blurRad="38100" dist="25400" dir="5400000" algn="ctr" rotWithShape="0">
                    <a:srgbClr val="6E747A">
                      <a:alpha val="43000"/>
                    </a:srgbClr>
                  </a:outerShdw>
                </a:effectLst>
              </a:rPr>
              <a:t>Entity.cpp</a:t>
            </a:r>
            <a:endParaRPr lang="en-US" sz="20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611703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33051-3D67-7433-4C0F-6E3A6A9664B7}"/>
              </a:ext>
            </a:extLst>
          </p:cNvPr>
          <p:cNvSpPr>
            <a:spLocks noGrp="1"/>
          </p:cNvSpPr>
          <p:nvPr>
            <p:ph type="title"/>
          </p:nvPr>
        </p:nvSpPr>
        <p:spPr/>
        <p:txBody>
          <a:bodyPr/>
          <a:lstStyle/>
          <a:p>
            <a:r>
              <a:rPr lang="en-US" dirty="0"/>
              <a:t>Constructors in Derived Classes</a:t>
            </a:r>
          </a:p>
        </p:txBody>
      </p:sp>
      <p:sp>
        <p:nvSpPr>
          <p:cNvPr id="3" name="Content Placeholder 2">
            <a:extLst>
              <a:ext uri="{FF2B5EF4-FFF2-40B4-BE49-F238E27FC236}">
                <a16:creationId xmlns:a16="http://schemas.microsoft.com/office/drawing/2014/main" id="{0ECC8612-D2ED-F583-4FE5-E1FDD42081EB}"/>
              </a:ext>
            </a:extLst>
          </p:cNvPr>
          <p:cNvSpPr>
            <a:spLocks noGrp="1"/>
          </p:cNvSpPr>
          <p:nvPr>
            <p:ph idx="1"/>
          </p:nvPr>
        </p:nvSpPr>
        <p:spPr>
          <a:xfrm>
            <a:off x="677334" y="1778760"/>
            <a:ext cx="8596668" cy="3953825"/>
          </a:xfrm>
        </p:spPr>
        <p:txBody>
          <a:bodyPr>
            <a:normAutofit lnSpcReduction="10000"/>
          </a:bodyPr>
          <a:lstStyle/>
          <a:p>
            <a:pPr>
              <a:lnSpc>
                <a:spcPct val="150000"/>
              </a:lnSpc>
            </a:pPr>
            <a:r>
              <a:rPr lang="en-US" dirty="0"/>
              <a:t>Explicit call to base class constructor:</a:t>
            </a:r>
          </a:p>
          <a:p>
            <a:pPr marL="0" indent="0">
              <a:lnSpc>
                <a:spcPct val="150000"/>
              </a:lnSpc>
              <a:buNone/>
            </a:pPr>
            <a:r>
              <a:rPr lang="en-US" dirty="0">
                <a:latin typeface="Consolas" panose="020B0609020204030204" pitchFamily="49" charset="0"/>
                <a:ea typeface="Cambria" panose="02040503050406030204" pitchFamily="18" charset="0"/>
                <a:cs typeface="Arial" panose="020B0604020202020204" pitchFamily="34" charset="0"/>
              </a:rPr>
              <a:t>	Student</a:t>
            </a:r>
            <a:r>
              <a:rPr lang="en-US"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dirty="0">
                <a:solidFill>
                  <a:srgbClr val="008000"/>
                </a:solidFill>
                <a:latin typeface="Consolas" panose="020B0609020204030204" pitchFamily="49" charset="0"/>
                <a:ea typeface="Cambria" panose="02040503050406030204" pitchFamily="18" charset="0"/>
                <a:cs typeface="Arial" panose="020B0604020202020204" pitchFamily="34" charset="0"/>
              </a:rPr>
              <a:t>std::</a:t>
            </a:r>
            <a:r>
              <a:rPr lang="en-US" dirty="0">
                <a:latin typeface="Consolas" panose="020B0609020204030204" pitchFamily="49" charset="0"/>
                <a:ea typeface="Cambria" panose="02040503050406030204" pitchFamily="18" charset="0"/>
                <a:cs typeface="Arial" panose="020B0604020202020204" pitchFamily="34" charset="0"/>
              </a:rPr>
              <a:t>string</a:t>
            </a:r>
            <a:r>
              <a:rPr lang="en-US" dirty="0">
                <a:solidFill>
                  <a:srgbClr val="666666"/>
                </a:solidFill>
                <a:latin typeface="Consolas" panose="020B0609020204030204" pitchFamily="49" charset="0"/>
                <a:ea typeface="Cambria" panose="02040503050406030204" pitchFamily="18" charset="0"/>
                <a:cs typeface="Arial" panose="020B0604020202020204" pitchFamily="34" charset="0"/>
              </a:rPr>
              <a:t> </a:t>
            </a:r>
            <a:r>
              <a:rPr lang="en-US" dirty="0">
                <a:latin typeface="Consolas" panose="020B0609020204030204" pitchFamily="49" charset="0"/>
                <a:ea typeface="Cambria" panose="02040503050406030204" pitchFamily="18" charset="0"/>
                <a:cs typeface="Arial" panose="020B0604020202020204" pitchFamily="34" charset="0"/>
              </a:rPr>
              <a:t>_name</a:t>
            </a:r>
            <a:r>
              <a:rPr lang="en-US"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dirty="0">
                <a:latin typeface="Consolas" panose="020B0609020204030204" pitchFamily="49" charset="0"/>
                <a:ea typeface="Cambria" panose="02040503050406030204" pitchFamily="18" charset="0"/>
                <a:cs typeface="Arial" panose="020B0604020202020204" pitchFamily="34" charset="0"/>
              </a:rPr>
              <a:t> </a:t>
            </a:r>
            <a:r>
              <a:rPr lang="en-US"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dirty="0">
                <a:latin typeface="Consolas" panose="020B0609020204030204" pitchFamily="49" charset="0"/>
                <a:ea typeface="Cambria" panose="02040503050406030204" pitchFamily="18" charset="0"/>
                <a:cs typeface="Arial" panose="020B0604020202020204" pitchFamily="34" charset="0"/>
              </a:rPr>
              <a:t> </a:t>
            </a:r>
            <a:r>
              <a:rPr lang="en-US" dirty="0">
                <a:highlight>
                  <a:srgbClr val="FFFF00"/>
                </a:highlight>
                <a:latin typeface="Consolas" panose="020B0609020204030204" pitchFamily="49" charset="0"/>
                <a:ea typeface="Cambria" panose="02040503050406030204" pitchFamily="18" charset="0"/>
                <a:cs typeface="Arial" panose="020B0604020202020204" pitchFamily="34" charset="0"/>
              </a:rPr>
              <a:t>Person</a:t>
            </a:r>
            <a:r>
              <a:rPr lang="en-US" dirty="0">
                <a:solidFill>
                  <a:srgbClr val="666666"/>
                </a:solidFill>
                <a:highlight>
                  <a:srgbClr val="FFFF00"/>
                </a:highlight>
                <a:latin typeface="Consolas" panose="020B0609020204030204" pitchFamily="49" charset="0"/>
                <a:ea typeface="Cambria" panose="02040503050406030204" pitchFamily="18" charset="0"/>
                <a:cs typeface="Arial" panose="020B0604020202020204" pitchFamily="34" charset="0"/>
              </a:rPr>
              <a:t>(_</a:t>
            </a:r>
            <a:r>
              <a:rPr lang="en-US" dirty="0">
                <a:highlight>
                  <a:srgbClr val="FFFF00"/>
                </a:highlight>
                <a:latin typeface="Consolas" panose="020B0609020204030204" pitchFamily="49" charset="0"/>
                <a:ea typeface="Cambria" panose="02040503050406030204" pitchFamily="18" charset="0"/>
                <a:cs typeface="Arial" panose="020B0604020202020204" pitchFamily="34" charset="0"/>
              </a:rPr>
              <a:t>name</a:t>
            </a:r>
            <a:r>
              <a:rPr lang="en-US" dirty="0">
                <a:solidFill>
                  <a:srgbClr val="666666"/>
                </a:solidFill>
                <a:highlight>
                  <a:srgbClr val="FFFF00"/>
                </a:highlight>
                <a:latin typeface="Consolas" panose="020B0609020204030204" pitchFamily="49" charset="0"/>
                <a:ea typeface="Cambria" panose="02040503050406030204" pitchFamily="18" charset="0"/>
                <a:cs typeface="Arial" panose="020B0604020202020204" pitchFamily="34" charset="0"/>
              </a:rPr>
              <a:t>)</a:t>
            </a:r>
            <a:r>
              <a:rPr lang="en-US" dirty="0">
                <a:latin typeface="Consolas" panose="020B0609020204030204" pitchFamily="49" charset="0"/>
                <a:ea typeface="Cambria" panose="02040503050406030204" pitchFamily="18" charset="0"/>
                <a:cs typeface="Arial" panose="020B0604020202020204" pitchFamily="34" charset="0"/>
              </a:rPr>
              <a:t> </a:t>
            </a:r>
            <a:r>
              <a:rPr lang="en-US" dirty="0">
                <a:solidFill>
                  <a:srgbClr val="666666"/>
                </a:solidFill>
                <a:latin typeface="Consolas" panose="020B0609020204030204" pitchFamily="49" charset="0"/>
                <a:ea typeface="Cambria" panose="02040503050406030204" pitchFamily="18" charset="0"/>
                <a:cs typeface="Arial" panose="020B0604020202020204" pitchFamily="34" charset="0"/>
              </a:rPr>
              <a:t>{}</a:t>
            </a:r>
            <a:endParaRPr lang="en-US" dirty="0"/>
          </a:p>
          <a:p>
            <a:pPr>
              <a:lnSpc>
                <a:spcPct val="150000"/>
              </a:lnSpc>
            </a:pPr>
            <a:r>
              <a:rPr lang="en-US" dirty="0"/>
              <a:t>Implicit call to base class default constructor:</a:t>
            </a:r>
          </a:p>
          <a:p>
            <a:pPr marL="0" indent="0">
              <a:lnSpc>
                <a:spcPct val="150000"/>
              </a:lnSpc>
              <a:buNone/>
            </a:pPr>
            <a:r>
              <a:rPr lang="en-US" dirty="0"/>
              <a:t>	</a:t>
            </a:r>
            <a:r>
              <a:rPr lang="en-US" dirty="0">
                <a:latin typeface="Consolas" panose="020B0609020204030204" pitchFamily="49" charset="0"/>
                <a:ea typeface="Cambria" panose="02040503050406030204" pitchFamily="18" charset="0"/>
                <a:cs typeface="Arial" panose="020B0604020202020204" pitchFamily="34" charset="0"/>
              </a:rPr>
              <a:t>Student</a:t>
            </a:r>
            <a:r>
              <a:rPr lang="en-US"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dirty="0">
                <a:solidFill>
                  <a:srgbClr val="008000"/>
                </a:solidFill>
                <a:latin typeface="Consolas" panose="020B0609020204030204" pitchFamily="49" charset="0"/>
                <a:ea typeface="Cambria" panose="02040503050406030204" pitchFamily="18" charset="0"/>
                <a:cs typeface="Arial" panose="020B0604020202020204" pitchFamily="34" charset="0"/>
              </a:rPr>
              <a:t>std::</a:t>
            </a:r>
            <a:r>
              <a:rPr lang="en-US" dirty="0">
                <a:latin typeface="Consolas" panose="020B0609020204030204" pitchFamily="49" charset="0"/>
                <a:ea typeface="Cambria" panose="02040503050406030204" pitchFamily="18" charset="0"/>
                <a:cs typeface="Arial" panose="020B0604020202020204" pitchFamily="34" charset="0"/>
              </a:rPr>
              <a:t>string</a:t>
            </a:r>
            <a:r>
              <a:rPr lang="en-US" dirty="0">
                <a:solidFill>
                  <a:srgbClr val="666666"/>
                </a:solidFill>
                <a:latin typeface="Consolas" panose="020B0609020204030204" pitchFamily="49" charset="0"/>
                <a:ea typeface="Cambria" panose="02040503050406030204" pitchFamily="18" charset="0"/>
                <a:cs typeface="Arial" panose="020B0604020202020204" pitchFamily="34" charset="0"/>
              </a:rPr>
              <a:t> </a:t>
            </a:r>
            <a:r>
              <a:rPr lang="en-US" dirty="0">
                <a:latin typeface="Consolas" panose="020B0609020204030204" pitchFamily="49" charset="0"/>
                <a:ea typeface="Cambria" panose="02040503050406030204" pitchFamily="18" charset="0"/>
                <a:cs typeface="Arial" panose="020B0604020202020204" pitchFamily="34" charset="0"/>
              </a:rPr>
              <a:t>_name</a:t>
            </a:r>
            <a:r>
              <a:rPr lang="en-US"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dirty="0">
                <a:latin typeface="Consolas" panose="020B0609020204030204" pitchFamily="49" charset="0"/>
                <a:ea typeface="Cambria" panose="02040503050406030204" pitchFamily="18" charset="0"/>
                <a:cs typeface="Arial" panose="020B0604020202020204" pitchFamily="34" charset="0"/>
              </a:rPr>
              <a:t> </a:t>
            </a:r>
            <a:r>
              <a:rPr lang="en-US" dirty="0">
                <a:highlight>
                  <a:srgbClr val="FFFF00"/>
                </a:highlight>
                <a:latin typeface="Consolas" panose="020B0609020204030204" pitchFamily="49" charset="0"/>
                <a:ea typeface="Cambria" panose="02040503050406030204" pitchFamily="18" charset="0"/>
                <a:cs typeface="Arial" panose="020B0604020202020204" pitchFamily="34" charset="0"/>
              </a:rPr>
              <a:t> </a:t>
            </a:r>
            <a:r>
              <a:rPr lang="en-US" dirty="0">
                <a:latin typeface="Consolas" panose="020B0609020204030204" pitchFamily="49" charset="0"/>
                <a:ea typeface="Cambria" panose="02040503050406030204" pitchFamily="18" charset="0"/>
                <a:cs typeface="Arial" panose="020B0604020202020204" pitchFamily="34" charset="0"/>
              </a:rPr>
              <a:t> </a:t>
            </a:r>
            <a:r>
              <a:rPr lang="en-US" dirty="0">
                <a:solidFill>
                  <a:srgbClr val="666666"/>
                </a:solidFill>
                <a:latin typeface="Consolas" panose="020B0609020204030204" pitchFamily="49" charset="0"/>
                <a:ea typeface="Cambria" panose="02040503050406030204" pitchFamily="18" charset="0"/>
                <a:cs typeface="Arial" panose="020B0604020202020204" pitchFamily="34" charset="0"/>
              </a:rPr>
              <a:t>{}</a:t>
            </a:r>
            <a:endParaRPr lang="en-US" dirty="0"/>
          </a:p>
          <a:p>
            <a:pPr>
              <a:lnSpc>
                <a:spcPct val="150000"/>
              </a:lnSpc>
            </a:pPr>
            <a:r>
              <a:rPr lang="en-US" dirty="0"/>
              <a:t>Compilation will fail if no constructor is explicitly called and:</a:t>
            </a:r>
          </a:p>
          <a:p>
            <a:pPr lvl="1">
              <a:lnSpc>
                <a:spcPct val="150000"/>
              </a:lnSpc>
            </a:pPr>
            <a:r>
              <a:rPr lang="en-US" dirty="0"/>
              <a:t>The base class </a:t>
            </a:r>
            <a:r>
              <a:rPr lang="en-US" b="1" dirty="0"/>
              <a:t>has no default constructor</a:t>
            </a:r>
            <a:r>
              <a:rPr lang="en-US" dirty="0"/>
              <a:t>. </a:t>
            </a:r>
          </a:p>
          <a:p>
            <a:pPr marL="457200" lvl="1" indent="0">
              <a:lnSpc>
                <a:spcPct val="150000"/>
              </a:lnSpc>
              <a:buNone/>
            </a:pPr>
            <a:r>
              <a:rPr lang="en-US" dirty="0"/>
              <a:t>Or </a:t>
            </a:r>
          </a:p>
          <a:p>
            <a:pPr lvl="1">
              <a:lnSpc>
                <a:spcPct val="150000"/>
              </a:lnSpc>
            </a:pPr>
            <a:r>
              <a:rPr lang="en-US" dirty="0"/>
              <a:t>the default constructor is </a:t>
            </a:r>
            <a:r>
              <a:rPr lang="en-US" b="1" dirty="0"/>
              <a:t>declared as private</a:t>
            </a:r>
            <a:r>
              <a:rPr lang="en-US" dirty="0"/>
              <a:t>.</a:t>
            </a:r>
          </a:p>
        </p:txBody>
      </p:sp>
    </p:spTree>
    <p:extLst>
      <p:ext uri="{BB962C8B-B14F-4D97-AF65-F5344CB8AC3E}">
        <p14:creationId xmlns:p14="http://schemas.microsoft.com/office/powerpoint/2010/main" val="50308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33051-3D67-7433-4C0F-6E3A6A9664B7}"/>
              </a:ext>
            </a:extLst>
          </p:cNvPr>
          <p:cNvSpPr>
            <a:spLocks noGrp="1"/>
          </p:cNvSpPr>
          <p:nvPr>
            <p:ph type="title"/>
          </p:nvPr>
        </p:nvSpPr>
        <p:spPr>
          <a:xfrm>
            <a:off x="677334" y="138546"/>
            <a:ext cx="8596668" cy="1320800"/>
          </a:xfrm>
        </p:spPr>
        <p:txBody>
          <a:bodyPr/>
          <a:lstStyle/>
          <a:p>
            <a:r>
              <a:rPr lang="en-US" dirty="0"/>
              <a:t>Virtual Functions</a:t>
            </a:r>
          </a:p>
        </p:txBody>
      </p:sp>
      <p:sp>
        <p:nvSpPr>
          <p:cNvPr id="3" name="Content Placeholder 2">
            <a:extLst>
              <a:ext uri="{FF2B5EF4-FFF2-40B4-BE49-F238E27FC236}">
                <a16:creationId xmlns:a16="http://schemas.microsoft.com/office/drawing/2014/main" id="{0ECC8612-D2ED-F583-4FE5-E1FDD42081EB}"/>
              </a:ext>
            </a:extLst>
          </p:cNvPr>
          <p:cNvSpPr>
            <a:spLocks noGrp="1"/>
          </p:cNvSpPr>
          <p:nvPr>
            <p:ph idx="1"/>
          </p:nvPr>
        </p:nvSpPr>
        <p:spPr>
          <a:xfrm>
            <a:off x="677334" y="955931"/>
            <a:ext cx="8596668" cy="920577"/>
          </a:xfrm>
        </p:spPr>
        <p:txBody>
          <a:bodyPr/>
          <a:lstStyle/>
          <a:p>
            <a:r>
              <a:rPr lang="en-US" sz="1800" dirty="0">
                <a:effectLst/>
                <a:latin typeface="Cambria" panose="02040503050406030204" pitchFamily="18" charset="0"/>
                <a:ea typeface="Cambria" panose="02040503050406030204" pitchFamily="18" charset="0"/>
                <a:cs typeface="Arial" panose="020B0604020202020204" pitchFamily="34" charset="0"/>
              </a:rPr>
              <a:t>Regular methods: </a:t>
            </a:r>
            <a:r>
              <a:rPr lang="en-US" sz="1800" b="1" dirty="0">
                <a:effectLst/>
                <a:latin typeface="Cambria" panose="02040503050406030204" pitchFamily="18" charset="0"/>
                <a:ea typeface="Cambria" panose="02040503050406030204" pitchFamily="18" charset="0"/>
                <a:cs typeface="Arial" panose="020B0604020202020204" pitchFamily="34" charset="0"/>
              </a:rPr>
              <a:t>compile time (early) binding</a:t>
            </a:r>
            <a:r>
              <a:rPr lang="en-US" sz="1800" dirty="0">
                <a:effectLst/>
                <a:latin typeface="Cambria" panose="02040503050406030204" pitchFamily="18" charset="0"/>
                <a:ea typeface="Cambria" panose="02040503050406030204" pitchFamily="18" charset="0"/>
                <a:cs typeface="Arial" panose="020B0604020202020204" pitchFamily="34" charset="0"/>
              </a:rPr>
              <a:t>.</a:t>
            </a:r>
          </a:p>
          <a:p>
            <a:r>
              <a:rPr lang="en-US" dirty="0">
                <a:latin typeface="Cambria" panose="02040503050406030204" pitchFamily="18" charset="0"/>
                <a:ea typeface="Cambria" panose="02040503050406030204" pitchFamily="18" charset="0"/>
                <a:cs typeface="Arial" panose="020B0604020202020204" pitchFamily="34" charset="0"/>
              </a:rPr>
              <a:t>Virtual methods: </a:t>
            </a:r>
            <a:r>
              <a:rPr lang="en-US" sz="1800" b="1" dirty="0">
                <a:effectLst/>
                <a:latin typeface="Cambria" panose="02040503050406030204" pitchFamily="18" charset="0"/>
                <a:ea typeface="Cambria" panose="02040503050406030204" pitchFamily="18" charset="0"/>
                <a:cs typeface="Arial" panose="020B0604020202020204" pitchFamily="34" charset="0"/>
              </a:rPr>
              <a:t>runtime (late) binding</a:t>
            </a:r>
            <a:r>
              <a:rPr lang="en-US" dirty="0">
                <a:latin typeface="Cambria" panose="02040503050406030204" pitchFamily="18" charset="0"/>
                <a:ea typeface="Cambria" panose="02040503050406030204" pitchFamily="18" charset="0"/>
                <a:cs typeface="Arial" panose="020B0604020202020204" pitchFamily="34" charset="0"/>
              </a:rPr>
              <a:t>.</a:t>
            </a:r>
            <a:endParaRPr lang="en-US" dirty="0"/>
          </a:p>
        </p:txBody>
      </p:sp>
      <p:sp>
        <p:nvSpPr>
          <p:cNvPr id="5" name="TextBox 4">
            <a:extLst>
              <a:ext uri="{FF2B5EF4-FFF2-40B4-BE49-F238E27FC236}">
                <a16:creationId xmlns:a16="http://schemas.microsoft.com/office/drawing/2014/main" id="{FA22501B-2035-0F0E-22E1-1F38C6C88405}"/>
              </a:ext>
            </a:extLst>
          </p:cNvPr>
          <p:cNvSpPr txBox="1"/>
          <p:nvPr/>
        </p:nvSpPr>
        <p:spPr>
          <a:xfrm>
            <a:off x="571500" y="1876508"/>
            <a:ext cx="7634246" cy="4614029"/>
          </a:xfrm>
          <a:prstGeom prst="roundRect">
            <a:avLst/>
          </a:prstGeom>
          <a:noFill/>
          <a:ln w="12700">
            <a:solidFill>
              <a:schemeClr val="accent1">
                <a:lumMod val="60000"/>
                <a:lumOff val="40000"/>
              </a:schemeClr>
            </a:solidFill>
          </a:ln>
        </p:spPr>
        <p:txBody>
          <a:bodyPr wrap="square">
            <a:spAutoFit/>
          </a:bodyPr>
          <a:lstStyle/>
          <a:p>
            <a:pPr marL="0" marR="0" latinLnBrk="1">
              <a:spcBef>
                <a:spcPts val="0"/>
              </a:spcBef>
              <a:spcAft>
                <a:spcPts val="1000"/>
              </a:spcAft>
            </a:pP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class</a:t>
            </a:r>
            <a:r>
              <a:rPr lang="en-US" sz="1600" dirty="0">
                <a:effectLst/>
                <a:latin typeface="Consolas" panose="020B0609020204030204" pitchFamily="49" charset="0"/>
                <a:ea typeface="Cambria" panose="02040503050406030204" pitchFamily="18" charset="0"/>
                <a:cs typeface="Arial" panose="020B0604020202020204" pitchFamily="34" charset="0"/>
              </a:rPr>
              <a:t> Person</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public</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Person</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a:effectLs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 </a:t>
            </a:r>
            <a:r>
              <a:rPr lang="en-US" sz="1600" dirty="0">
                <a:effectLst/>
                <a:latin typeface="Consolas" panose="020B0609020204030204" pitchFamily="49" charset="0"/>
                <a:ea typeface="Cambria" panose="02040503050406030204" pitchFamily="18" charset="0"/>
                <a:cs typeface="Arial" panose="020B0604020202020204" pitchFamily="34" charset="0"/>
              </a:rPr>
              <a:t>_name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name</a:t>
            </a:r>
            <a:r>
              <a:rPr lang="en-US" sz="1600" dirty="0">
                <a:solidFill>
                  <a:srgbClr val="666666"/>
                </a:solidFill>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_name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highlight>
                  <a:srgbClr val="FFFF00"/>
                </a:highlight>
                <a:latin typeface="Consolas" panose="020B0609020204030204" pitchFamily="49" charset="0"/>
                <a:ea typeface="Cambria" panose="02040503050406030204" pitchFamily="18" charset="0"/>
                <a:cs typeface="Arial" panose="020B0604020202020204" pitchFamily="34" charset="0"/>
              </a:rPr>
              <a:t>virtual</a:t>
            </a:r>
            <a:r>
              <a:rPr lang="en-US" sz="1600" dirty="0">
                <a:effectLst/>
                <a:highlight>
                  <a:srgbClr val="FFFF00"/>
                </a:highligh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008000"/>
                </a:solidFill>
                <a:effectLst/>
                <a:highlight>
                  <a:srgbClr val="FFFF00"/>
                </a:highlight>
                <a:latin typeface="Consolas" panose="020B0609020204030204" pitchFamily="49" charset="0"/>
                <a:ea typeface="Cambria" panose="02040503050406030204" pitchFamily="18" charset="0"/>
                <a:cs typeface="Arial" panose="020B0604020202020204" pitchFamily="34" charset="0"/>
              </a:rPr>
              <a:t>std::</a:t>
            </a:r>
            <a:r>
              <a:rPr lang="en-US" sz="1600" dirty="0">
                <a:effectLst/>
                <a:highlight>
                  <a:srgbClr val="FFFF00"/>
                </a:highligh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highlight>
                  <a:srgbClr val="FFFF00"/>
                </a:highlight>
                <a:latin typeface="Consolas" panose="020B0609020204030204" pitchFamily="49" charset="0"/>
                <a:ea typeface="Cambria" panose="02040503050406030204" pitchFamily="18" charset="0"/>
                <a:cs typeface="Arial" panose="020B0604020202020204" pitchFamily="34" charset="0"/>
              </a:rPr>
              <a:t> </a:t>
            </a:r>
            <a:r>
              <a:rPr lang="en-US" sz="1600" dirty="0">
                <a:highlight>
                  <a:srgbClr val="FFFF00"/>
                </a:highlight>
                <a:latin typeface="Consolas" panose="020B0609020204030204" pitchFamily="49" charset="0"/>
                <a:ea typeface="Cambria" panose="02040503050406030204" pitchFamily="18" charset="0"/>
                <a:cs typeface="Arial" panose="020B0604020202020204" pitchFamily="34" charset="0"/>
              </a:rPr>
              <a:t>describe</a:t>
            </a:r>
            <a:r>
              <a:rPr lang="en-US" sz="1600" dirty="0">
                <a:solidFill>
                  <a:srgbClr val="666666"/>
                </a:solidFill>
                <a:effectLst/>
                <a:highlight>
                  <a:srgbClr val="FFFF00"/>
                </a:highligh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endParaRPr lang="en-US" sz="1600" dirty="0">
              <a:latin typeface="Consolas" panose="020B0609020204030204" pitchFamily="49" charset="0"/>
              <a:ea typeface="Cambria" panose="02040503050406030204" pitchFamily="18" charset="0"/>
              <a:cs typeface="Arial" panose="020B0604020202020204" pitchFamily="34" charset="0"/>
            </a:endParaRPr>
          </a:p>
          <a:p>
            <a:pPr latinLnBrk="1">
              <a:spcAft>
                <a:spcPts val="1000"/>
              </a:spcAft>
            </a:pP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class</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latin typeface="Consolas" panose="020B0609020204030204" pitchFamily="49" charset="0"/>
                <a:ea typeface="Cambria" panose="02040503050406030204" pitchFamily="18" charset="0"/>
                <a:cs typeface="Arial" panose="020B0604020202020204" pitchFamily="34" charset="0"/>
              </a:rPr>
              <a:t>Student: </a:t>
            </a: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public</a:t>
            </a:r>
            <a:r>
              <a:rPr lang="en-US" sz="1600" dirty="0">
                <a:effectLst/>
                <a:latin typeface="Consolas" panose="020B0609020204030204" pitchFamily="49" charset="0"/>
                <a:ea typeface="Cambria" panose="02040503050406030204" pitchFamily="18" charset="0"/>
                <a:cs typeface="Arial" panose="020B0604020202020204" pitchFamily="34" charset="0"/>
              </a:rPr>
              <a:t> Person</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b="1" dirty="0">
                <a:solidFill>
                  <a:srgbClr val="007020"/>
                </a:solidFill>
                <a:effectLst/>
                <a:latin typeface="Consolas" panose="020B0609020204030204" pitchFamily="49" charset="0"/>
                <a:ea typeface="Cambria" panose="02040503050406030204" pitchFamily="18" charset="0"/>
                <a:cs typeface="Arial" panose="020B0604020202020204" pitchFamily="34" charset="0"/>
              </a:rPr>
              <a:t>public</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Student</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solidFill>
                  <a:srgbClr val="008000"/>
                </a:solidFill>
                <a:effectLst/>
                <a:latin typeface="Consolas" panose="020B0609020204030204" pitchFamily="49" charset="0"/>
                <a:ea typeface="Cambria" panose="02040503050406030204" pitchFamily="18" charset="0"/>
                <a:cs typeface="Arial" panose="020B0604020202020204" pitchFamily="34" charset="0"/>
              </a:rPr>
              <a:t>std::</a:t>
            </a:r>
            <a:r>
              <a:rPr lang="en-US" sz="1600" dirty="0">
                <a:effectLs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 </a:t>
            </a:r>
            <a:r>
              <a:rPr lang="en-US" sz="1600" dirty="0">
                <a:effectLst/>
                <a:latin typeface="Consolas" panose="020B0609020204030204" pitchFamily="49" charset="0"/>
                <a:ea typeface="Cambria" panose="02040503050406030204" pitchFamily="18" charset="0"/>
                <a:cs typeface="Arial" panose="020B0604020202020204" pitchFamily="34" charset="0"/>
              </a:rPr>
              <a:t>_name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Person</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_name</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br>
              <a:rPr lang="en-US" sz="1600" dirty="0">
                <a:effectLst/>
                <a:latin typeface="Consolas" panose="020B0609020204030204" pitchFamily="49" charset="0"/>
                <a:ea typeface="Cambria" panose="02040503050406030204" pitchFamily="18" charset="0"/>
                <a:cs typeface="Arial" panose="020B0604020202020204" pitchFamily="34" charset="0"/>
              </a:rPr>
            </a:br>
            <a:r>
              <a:rPr lang="en-US" sz="1600" dirty="0">
                <a:effectLst/>
                <a:latin typeface="Consolas" panose="020B0609020204030204" pitchFamily="49" charset="0"/>
                <a:ea typeface="Cambria" panose="02040503050406030204" pitchFamily="18" charset="0"/>
                <a:cs typeface="Arial" panose="020B0604020202020204" pitchFamily="34" charset="0"/>
              </a:rPr>
              <a:t>    </a:t>
            </a:r>
            <a:r>
              <a:rPr lang="en-US" sz="1600" dirty="0">
                <a:effectLst/>
                <a:highlight>
                  <a:srgbClr val="FFFF00"/>
                </a:highlight>
                <a:latin typeface="Consolas" panose="020B0609020204030204" pitchFamily="49" charset="0"/>
                <a:ea typeface="Cambria" panose="02040503050406030204" pitchFamily="18" charset="0"/>
                <a:cs typeface="Arial" panose="020B0604020202020204" pitchFamily="34" charset="0"/>
              </a:rPr>
              <a:t>virtual </a:t>
            </a:r>
            <a:r>
              <a:rPr lang="en-US" sz="1600" dirty="0">
                <a:solidFill>
                  <a:srgbClr val="008000"/>
                </a:solidFill>
                <a:effectLst/>
                <a:highlight>
                  <a:srgbClr val="FFFF00"/>
                </a:highlight>
                <a:latin typeface="Consolas" panose="020B0609020204030204" pitchFamily="49" charset="0"/>
                <a:ea typeface="Cambria" panose="02040503050406030204" pitchFamily="18" charset="0"/>
                <a:cs typeface="Arial" panose="020B0604020202020204" pitchFamily="34" charset="0"/>
              </a:rPr>
              <a:t>std::</a:t>
            </a:r>
            <a:r>
              <a:rPr lang="en-US" sz="1600" dirty="0">
                <a:effectLst/>
                <a:highlight>
                  <a:srgbClr val="FFFF00"/>
                </a:highlight>
                <a:latin typeface="Consolas" panose="020B0609020204030204" pitchFamily="49" charset="0"/>
                <a:ea typeface="Cambria" panose="02040503050406030204" pitchFamily="18" charset="0"/>
                <a:cs typeface="Arial" panose="020B0604020202020204" pitchFamily="34" charset="0"/>
              </a:rPr>
              <a:t>string</a:t>
            </a:r>
            <a:r>
              <a:rPr lang="en-US" sz="1600" dirty="0">
                <a:solidFill>
                  <a:srgbClr val="666666"/>
                </a:solidFill>
                <a:effectLst/>
                <a:highlight>
                  <a:srgbClr val="FFFF00"/>
                </a:highlight>
                <a:latin typeface="Consolas" panose="020B0609020204030204" pitchFamily="49" charset="0"/>
                <a:ea typeface="Cambria" panose="02040503050406030204" pitchFamily="18" charset="0"/>
                <a:cs typeface="Arial" panose="020B0604020202020204" pitchFamily="34" charset="0"/>
              </a:rPr>
              <a:t> </a:t>
            </a:r>
            <a:r>
              <a:rPr lang="en-US" sz="1600" dirty="0">
                <a:effectLst/>
                <a:highlight>
                  <a:srgbClr val="FFFF00"/>
                </a:highlight>
                <a:latin typeface="Consolas" panose="020B0609020204030204" pitchFamily="49" charset="0"/>
                <a:ea typeface="Cambria" panose="02040503050406030204" pitchFamily="18" charset="0"/>
                <a:cs typeface="Arial" panose="020B0604020202020204" pitchFamily="34" charset="0"/>
              </a:rPr>
              <a:t>describe</a:t>
            </a:r>
            <a:r>
              <a:rPr lang="en-US" sz="1600" dirty="0">
                <a:solidFill>
                  <a:srgbClr val="666666"/>
                </a:solidFill>
                <a:effectLst/>
                <a:highlight>
                  <a:srgbClr val="FFFF00"/>
                </a:highlight>
                <a:latin typeface="Consolas" panose="020B0609020204030204" pitchFamily="49" charset="0"/>
                <a:ea typeface="Cambria" panose="02040503050406030204" pitchFamily="18" charset="0"/>
                <a:cs typeface="Arial" panose="020B0604020202020204" pitchFamily="34" charset="0"/>
              </a:rPr>
              <a:t>()</a:t>
            </a:r>
            <a:r>
              <a:rPr lang="en-US" sz="1600" dirty="0">
                <a:effectLst/>
                <a:highlight>
                  <a:srgbClr val="FFFF00"/>
                </a:highlight>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effectLst/>
                <a:highlight>
                  <a:srgbClr val="FFFF00"/>
                </a:highlight>
                <a:latin typeface="Consolas" panose="020B0609020204030204" pitchFamily="49" charset="0"/>
                <a:ea typeface="Cambria" panose="02040503050406030204" pitchFamily="18" charset="0"/>
                <a:cs typeface="Arial" panose="020B0604020202020204" pitchFamily="34" charset="0"/>
              </a:rPr>
              <a:t>override</a:t>
            </a:r>
            <a:r>
              <a:rPr lang="en-US" sz="1600" dirty="0">
                <a:solidFill>
                  <a:srgbClr val="666666"/>
                </a:solidFill>
                <a:effectLst/>
                <a:highlight>
                  <a:srgbClr val="FFFF00"/>
                </a:highlight>
                <a:latin typeface="Consolas" panose="020B0609020204030204" pitchFamily="49" charset="0"/>
                <a:ea typeface="Cambria" panose="02040503050406030204" pitchFamily="18" charset="0"/>
                <a:cs typeface="Arial" panose="020B0604020202020204" pitchFamily="34" charset="0"/>
              </a:rPr>
              <a:t>;</a:t>
            </a:r>
            <a:br>
              <a:rPr lang="en-US" sz="1600" dirty="0">
                <a:effectLst/>
                <a:highlight>
                  <a:srgbClr val="FFFF00"/>
                </a:highlight>
                <a:latin typeface="Consolas" panose="020B0609020204030204" pitchFamily="49" charset="0"/>
                <a:ea typeface="Cambria" panose="02040503050406030204" pitchFamily="18" charset="0"/>
                <a:cs typeface="Arial" panose="020B0604020202020204" pitchFamily="34" charset="0"/>
              </a:rPr>
            </a:br>
            <a:r>
              <a:rPr lang="en-US" sz="1600" dirty="0">
                <a:solidFill>
                  <a:srgbClr val="666666"/>
                </a:solidFill>
                <a:effectLst/>
                <a:latin typeface="Consolas" panose="020B0609020204030204" pitchFamily="49" charset="0"/>
                <a:ea typeface="Cambria" panose="02040503050406030204" pitchFamily="18" charset="0"/>
                <a:cs typeface="Arial" panose="020B0604020202020204" pitchFamily="34" charset="0"/>
              </a:rPr>
              <a:t>};</a:t>
            </a:r>
          </a:p>
          <a:p>
            <a:pPr latinLnBrk="1">
              <a:spcAft>
                <a:spcPts val="1000"/>
              </a:spcAft>
            </a:pPr>
            <a:r>
              <a:rPr lang="en-US" sz="1600" dirty="0">
                <a:latin typeface="Consolas" panose="020B0609020204030204" pitchFamily="49" charset="0"/>
                <a:ea typeface="Cambria" panose="02040503050406030204" pitchFamily="18" charset="0"/>
                <a:cs typeface="Arial" panose="020B0604020202020204" pitchFamily="34" charset="0"/>
              </a:rPr>
              <a:t>Person *p = new Student(“</a:t>
            </a:r>
            <a:r>
              <a:rPr lang="en-US" sz="1600" dirty="0" err="1">
                <a:latin typeface="Consolas" panose="020B0609020204030204" pitchFamily="49" charset="0"/>
                <a:ea typeface="Cambria" panose="02040503050406030204" pitchFamily="18" charset="0"/>
                <a:cs typeface="Arial" panose="020B0604020202020204" pitchFamily="34" charset="0"/>
              </a:rPr>
              <a:t>Omri</a:t>
            </a:r>
            <a:r>
              <a:rPr lang="en-US" sz="1600" dirty="0">
                <a:latin typeface="Consolas" panose="020B0609020204030204" pitchFamily="49" charset="0"/>
                <a:ea typeface="Cambria" panose="02040503050406030204" pitchFamily="18" charset="0"/>
                <a:cs typeface="Arial" panose="020B0604020202020204" pitchFamily="34" charset="0"/>
              </a:rPr>
              <a:t>”); </a:t>
            </a:r>
            <a:r>
              <a:rPr lang="en-US" sz="1600" b="1" dirty="0">
                <a:solidFill>
                  <a:srgbClr val="007020"/>
                </a:solidFill>
                <a:latin typeface="Consolas" panose="020B0609020204030204" pitchFamily="49" charset="0"/>
                <a:ea typeface="Cambria" panose="02040503050406030204" pitchFamily="18" charset="0"/>
                <a:cs typeface="Arial" panose="020B0604020202020204" pitchFamily="34" charset="0"/>
              </a:rPr>
              <a:t>//Example </a:t>
            </a:r>
            <a:endParaRPr lang="en-US" sz="1600" dirty="0">
              <a:latin typeface="Consolas" panose="020B0609020204030204" pitchFamily="49" charset="0"/>
              <a:ea typeface="Cambria" panose="02040503050406030204" pitchFamily="18" charset="0"/>
              <a:cs typeface="Arial" panose="020B0604020202020204" pitchFamily="34" charset="0"/>
            </a:endParaRPr>
          </a:p>
          <a:p>
            <a:pPr latinLnBrk="1">
              <a:spcAft>
                <a:spcPts val="1000"/>
              </a:spcAft>
            </a:pPr>
            <a:r>
              <a:rPr lang="en-US" sz="1600" dirty="0">
                <a:latin typeface="Consolas" panose="020B0609020204030204" pitchFamily="49" charset="0"/>
                <a:ea typeface="Cambria" panose="02040503050406030204" pitchFamily="18" charset="0"/>
                <a:cs typeface="Arial" panose="020B0604020202020204" pitchFamily="34" charset="0"/>
              </a:rPr>
              <a:t>p-&gt;describe();</a:t>
            </a:r>
            <a:endParaRPr lang="en-US" sz="1600" dirty="0">
              <a:effectLst/>
              <a:latin typeface="Consolas" panose="020B0609020204030204" pitchFamily="49" charset="0"/>
              <a:ea typeface="Cambria" panose="02040503050406030204" pitchFamily="18" charset="0"/>
              <a:cs typeface="Arial" panose="020B0604020202020204" pitchFamily="34" charset="0"/>
            </a:endParaRPr>
          </a:p>
        </p:txBody>
      </p:sp>
      <p:sp>
        <p:nvSpPr>
          <p:cNvPr id="4" name="Cloud Callout 3">
            <a:extLst>
              <a:ext uri="{FF2B5EF4-FFF2-40B4-BE49-F238E27FC236}">
                <a16:creationId xmlns:a16="http://schemas.microsoft.com/office/drawing/2014/main" id="{832FE933-6CCB-0EBB-7A1E-BCFB0F55FEC5}"/>
              </a:ext>
            </a:extLst>
          </p:cNvPr>
          <p:cNvSpPr/>
          <p:nvPr/>
        </p:nvSpPr>
        <p:spPr>
          <a:xfrm>
            <a:off x="8698728" y="3660692"/>
            <a:ext cx="3403158" cy="1991803"/>
          </a:xfrm>
          <a:prstGeom prst="cloudCallout">
            <a:avLst>
              <a:gd name="adj1" fmla="val -88246"/>
              <a:gd name="adj2" fmla="val 315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Overridden method is also considered </a:t>
            </a:r>
            <a:r>
              <a:rPr lang="en-US" sz="1400" b="1" dirty="0"/>
              <a:t>virtual</a:t>
            </a:r>
            <a:r>
              <a:rPr lang="en-US" sz="1400" dirty="0"/>
              <a:t> in the derived class, even if you don’t explicitly use the virtual keyword.</a:t>
            </a:r>
            <a:endParaRPr lang="en-IL" sz="1400" dirty="0"/>
          </a:p>
        </p:txBody>
      </p:sp>
    </p:spTree>
    <p:extLst>
      <p:ext uri="{BB962C8B-B14F-4D97-AF65-F5344CB8AC3E}">
        <p14:creationId xmlns:p14="http://schemas.microsoft.com/office/powerpoint/2010/main" val="49998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33051-3D67-7433-4C0F-6E3A6A9664B7}"/>
              </a:ext>
            </a:extLst>
          </p:cNvPr>
          <p:cNvSpPr>
            <a:spLocks noGrp="1"/>
          </p:cNvSpPr>
          <p:nvPr>
            <p:ph type="title"/>
          </p:nvPr>
        </p:nvSpPr>
        <p:spPr>
          <a:xfrm>
            <a:off x="668541" y="573550"/>
            <a:ext cx="8596668" cy="1320800"/>
          </a:xfrm>
        </p:spPr>
        <p:txBody>
          <a:bodyPr/>
          <a:lstStyle/>
          <a:p>
            <a:r>
              <a:rPr lang="en-US" dirty="0"/>
              <a:t>Rules for Virtual Functions</a:t>
            </a:r>
          </a:p>
        </p:txBody>
      </p:sp>
      <p:sp>
        <p:nvSpPr>
          <p:cNvPr id="3" name="Content Placeholder 2">
            <a:extLst>
              <a:ext uri="{FF2B5EF4-FFF2-40B4-BE49-F238E27FC236}">
                <a16:creationId xmlns:a16="http://schemas.microsoft.com/office/drawing/2014/main" id="{0ECC8612-D2ED-F583-4FE5-E1FDD42081EB}"/>
              </a:ext>
            </a:extLst>
          </p:cNvPr>
          <p:cNvSpPr>
            <a:spLocks noGrp="1"/>
          </p:cNvSpPr>
          <p:nvPr>
            <p:ph idx="1"/>
          </p:nvPr>
        </p:nvSpPr>
        <p:spPr>
          <a:xfrm>
            <a:off x="668541" y="1680586"/>
            <a:ext cx="8596668" cy="2018578"/>
          </a:xfrm>
        </p:spPr>
        <p:txBody>
          <a:bodyPr/>
          <a:lstStyle/>
          <a:p>
            <a:r>
              <a:rPr lang="en-US" dirty="0"/>
              <a:t>Cannot be static.</a:t>
            </a:r>
          </a:p>
          <a:p>
            <a:r>
              <a:rPr lang="en-US" dirty="0"/>
              <a:t>Prototype of a virtual function must be the same in the base and derived classes.</a:t>
            </a:r>
          </a:p>
          <a:p>
            <a:r>
              <a:rPr lang="en-US" dirty="0"/>
              <a:t>If not overridden in the derived class ⇒ base class method is called.</a:t>
            </a:r>
          </a:p>
          <a:p>
            <a:r>
              <a:rPr lang="en-US" dirty="0"/>
              <a:t>Constructors cannot be defined as virtual.</a:t>
            </a:r>
          </a:p>
        </p:txBody>
      </p:sp>
      <p:sp>
        <p:nvSpPr>
          <p:cNvPr id="5" name="Content Placeholder 2">
            <a:extLst>
              <a:ext uri="{FF2B5EF4-FFF2-40B4-BE49-F238E27FC236}">
                <a16:creationId xmlns:a16="http://schemas.microsoft.com/office/drawing/2014/main" id="{03A0D8CC-F5D3-2629-705C-3EC27ADB2407}"/>
              </a:ext>
            </a:extLst>
          </p:cNvPr>
          <p:cNvSpPr txBox="1">
            <a:spLocks/>
          </p:cNvSpPr>
          <p:nvPr/>
        </p:nvSpPr>
        <p:spPr>
          <a:xfrm>
            <a:off x="668541" y="3414112"/>
            <a:ext cx="8596668" cy="127217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dirty="0"/>
          </a:p>
        </p:txBody>
      </p:sp>
    </p:spTree>
    <p:extLst>
      <p:ext uri="{BB962C8B-B14F-4D97-AF65-F5344CB8AC3E}">
        <p14:creationId xmlns:p14="http://schemas.microsoft.com/office/powerpoint/2010/main" val="74121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nodePh="1">
                                  <p:stCondLst>
                                    <p:cond delay="0"/>
                                  </p:stCondLst>
                                  <p:endCondLst>
                                    <p:cond evt="begin" delay="0">
                                      <p:tn val="21"/>
                                    </p:cond>
                                  </p:end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DABB5E-8681-E5DF-922C-D85EF2604613}"/>
              </a:ext>
            </a:extLst>
          </p:cNvPr>
          <p:cNvSpPr txBox="1">
            <a:spLocks/>
          </p:cNvSpPr>
          <p:nvPr/>
        </p:nvSpPr>
        <p:spPr>
          <a:xfrm>
            <a:off x="720495" y="436539"/>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Virtual Destructor</a:t>
            </a:r>
          </a:p>
        </p:txBody>
      </p:sp>
      <p:sp>
        <p:nvSpPr>
          <p:cNvPr id="5" name="Content Placeholder 2">
            <a:extLst>
              <a:ext uri="{FF2B5EF4-FFF2-40B4-BE49-F238E27FC236}">
                <a16:creationId xmlns:a16="http://schemas.microsoft.com/office/drawing/2014/main" id="{752097A5-E971-59A9-306D-164E84915B2A}"/>
              </a:ext>
            </a:extLst>
          </p:cNvPr>
          <p:cNvSpPr txBox="1">
            <a:spLocks/>
          </p:cNvSpPr>
          <p:nvPr/>
        </p:nvSpPr>
        <p:spPr>
          <a:xfrm>
            <a:off x="720495" y="1325539"/>
            <a:ext cx="8596668" cy="127217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dirty="0">
                <a:effectLst/>
                <a:latin typeface="Cambria" panose="02040503050406030204" pitchFamily="18" charset="0"/>
                <a:ea typeface="Cambria" panose="02040503050406030204" pitchFamily="18" charset="0"/>
                <a:cs typeface="Arial" panose="020B0604020202020204" pitchFamily="34" charset="0"/>
              </a:rPr>
              <a:t>Derived class is deleted using a pointer of a base class ⇒ undefined result.</a:t>
            </a:r>
          </a:p>
          <a:p>
            <a:r>
              <a:rPr lang="en-US" dirty="0">
                <a:latin typeface="Cambria" panose="02040503050406030204" pitchFamily="18" charset="0"/>
                <a:ea typeface="Cambria" panose="02040503050406030204" pitchFamily="18" charset="0"/>
                <a:cs typeface="Arial" panose="020B0604020202020204" pitchFamily="34" charset="0"/>
              </a:rPr>
              <a:t>Always use if a class is supposed to be inherited from.</a:t>
            </a:r>
            <a:endParaRPr lang="en-US" dirty="0"/>
          </a:p>
        </p:txBody>
      </p:sp>
      <p:pic>
        <p:nvPicPr>
          <p:cNvPr id="6" name="Picture 5" descr="A black background with white text&#10;&#10;AI-generated content may be incorrect.">
            <a:extLst>
              <a:ext uri="{FF2B5EF4-FFF2-40B4-BE49-F238E27FC236}">
                <a16:creationId xmlns:a16="http://schemas.microsoft.com/office/drawing/2014/main" id="{C1CCA855-3CA6-47CA-1556-D2ABD4FD7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495" y="2546910"/>
            <a:ext cx="7030027" cy="1879600"/>
          </a:xfrm>
          <a:prstGeom prst="rect">
            <a:avLst/>
          </a:prstGeom>
        </p:spPr>
      </p:pic>
      <p:pic>
        <p:nvPicPr>
          <p:cNvPr id="7" name="Picture 6" descr="A black background with white text&#10;&#10;AI-generated content may be incorrect.">
            <a:extLst>
              <a:ext uri="{FF2B5EF4-FFF2-40B4-BE49-F238E27FC236}">
                <a16:creationId xmlns:a16="http://schemas.microsoft.com/office/drawing/2014/main" id="{AA4E6289-5F47-2089-E42A-664623CA86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495" y="4803331"/>
            <a:ext cx="3403600" cy="825500"/>
          </a:xfrm>
          <a:prstGeom prst="rect">
            <a:avLst/>
          </a:prstGeom>
        </p:spPr>
      </p:pic>
    </p:spTree>
    <p:extLst>
      <p:ext uri="{BB962C8B-B14F-4D97-AF65-F5344CB8AC3E}">
        <p14:creationId xmlns:p14="http://schemas.microsoft.com/office/powerpoint/2010/main" val="172833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40A36-D790-0DD1-89DB-99CC666D176C}"/>
              </a:ext>
            </a:extLst>
          </p:cNvPr>
          <p:cNvSpPr>
            <a:spLocks noGrp="1"/>
          </p:cNvSpPr>
          <p:nvPr>
            <p:ph type="title"/>
          </p:nvPr>
        </p:nvSpPr>
        <p:spPr>
          <a:xfrm>
            <a:off x="677334" y="256309"/>
            <a:ext cx="8596668" cy="844408"/>
          </a:xfrm>
        </p:spPr>
        <p:txBody>
          <a:bodyPr/>
          <a:lstStyle/>
          <a:p>
            <a:r>
              <a:rPr lang="en-US" dirty="0"/>
              <a:t>Pure Virtual Functions – Abstract Classes</a:t>
            </a:r>
          </a:p>
        </p:txBody>
      </p:sp>
      <p:sp>
        <p:nvSpPr>
          <p:cNvPr id="3" name="Content Placeholder 2">
            <a:extLst>
              <a:ext uri="{FF2B5EF4-FFF2-40B4-BE49-F238E27FC236}">
                <a16:creationId xmlns:a16="http://schemas.microsoft.com/office/drawing/2014/main" id="{2E67994B-B3A9-9BCB-237C-E88258B69910}"/>
              </a:ext>
            </a:extLst>
          </p:cNvPr>
          <p:cNvSpPr>
            <a:spLocks noGrp="1"/>
          </p:cNvSpPr>
          <p:nvPr>
            <p:ph idx="1"/>
          </p:nvPr>
        </p:nvSpPr>
        <p:spPr>
          <a:xfrm>
            <a:off x="677334" y="1100717"/>
            <a:ext cx="8596668" cy="1278801"/>
          </a:xfrm>
        </p:spPr>
        <p:txBody>
          <a:bodyPr/>
          <a:lstStyle/>
          <a:p>
            <a:r>
              <a:rPr lang="en-US" sz="1800" dirty="0">
                <a:effectLst/>
                <a:latin typeface="Cambria" panose="02040503050406030204" pitchFamily="18" charset="0"/>
                <a:ea typeface="Cambria" panose="02040503050406030204" pitchFamily="18" charset="0"/>
                <a:cs typeface="Arial" panose="020B0604020202020204" pitchFamily="34" charset="0"/>
              </a:rPr>
              <a:t>Declare </a:t>
            </a:r>
            <a:r>
              <a:rPr lang="en-US" sz="1800" i="1" dirty="0">
                <a:effectLst/>
                <a:latin typeface="Cambria" panose="02040503050406030204" pitchFamily="18" charset="0"/>
                <a:ea typeface="Cambria" panose="02040503050406030204" pitchFamily="18" charset="0"/>
                <a:cs typeface="Arial" panose="020B0604020202020204" pitchFamily="34" charset="0"/>
              </a:rPr>
              <a:t>pure virtual</a:t>
            </a:r>
            <a:r>
              <a:rPr lang="en-US" sz="1800" dirty="0">
                <a:effectLst/>
                <a:latin typeface="Cambria" panose="02040503050406030204" pitchFamily="18" charset="0"/>
                <a:ea typeface="Cambria" panose="02040503050406030204" pitchFamily="18" charset="0"/>
                <a:cs typeface="Arial" panose="020B0604020202020204" pitchFamily="34" charset="0"/>
              </a:rPr>
              <a:t> by appending “</a:t>
            </a:r>
            <a:r>
              <a:rPr lang="en-US" sz="1800" dirty="0">
                <a:effectLst/>
                <a:latin typeface="Consolas" panose="020B0609020204030204" pitchFamily="49" charset="0"/>
                <a:ea typeface="Cambria" panose="02040503050406030204" pitchFamily="18" charset="0"/>
                <a:cs typeface="Arial" panose="020B0604020202020204" pitchFamily="34" charset="0"/>
              </a:rPr>
              <a:t>=0</a:t>
            </a:r>
            <a:r>
              <a:rPr lang="en-US" sz="1800" dirty="0">
                <a:effectLst/>
                <a:latin typeface="Cambria" panose="02040503050406030204" pitchFamily="18" charset="0"/>
                <a:ea typeface="Cambria" panose="02040503050406030204" pitchFamily="18" charset="0"/>
                <a:cs typeface="Arial" panose="020B0604020202020204" pitchFamily="34" charset="0"/>
              </a:rPr>
              <a:t>“ in the function declaration.</a:t>
            </a:r>
          </a:p>
          <a:p>
            <a:r>
              <a:rPr lang="en-US" dirty="0">
                <a:latin typeface="Cambria" panose="02040503050406030204" pitchFamily="18" charset="0"/>
                <a:ea typeface="Cambria" panose="02040503050406030204" pitchFamily="18" charset="0"/>
                <a:cs typeface="Arial" panose="020B0604020202020204" pitchFamily="34" charset="0"/>
              </a:rPr>
              <a:t>Cannot be instantiated.</a:t>
            </a:r>
          </a:p>
          <a:p>
            <a:r>
              <a:rPr lang="en-US" dirty="0">
                <a:latin typeface="Cambria" panose="02040503050406030204" pitchFamily="18" charset="0"/>
                <a:ea typeface="Cambria" panose="02040503050406030204" pitchFamily="18" charset="0"/>
                <a:cs typeface="Arial" panose="020B0604020202020204" pitchFamily="34" charset="0"/>
              </a:rPr>
              <a:t>Similar to abstract classes in Java.</a:t>
            </a:r>
          </a:p>
          <a:p>
            <a:endParaRPr lang="en-US" dirty="0"/>
          </a:p>
        </p:txBody>
      </p:sp>
      <p:pic>
        <p:nvPicPr>
          <p:cNvPr id="5" name="Picture 4" descr="A screen shot of a computer program&#10;&#10;AI-generated content may be incorrect.">
            <a:extLst>
              <a:ext uri="{FF2B5EF4-FFF2-40B4-BE49-F238E27FC236}">
                <a16:creationId xmlns:a16="http://schemas.microsoft.com/office/drawing/2014/main" id="{77737818-2418-258C-3ECF-3B18BBEE7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253" y="2379518"/>
            <a:ext cx="5311292" cy="4248288"/>
          </a:xfrm>
          <a:prstGeom prst="rect">
            <a:avLst/>
          </a:prstGeom>
        </p:spPr>
      </p:pic>
    </p:spTree>
    <p:extLst>
      <p:ext uri="{BB962C8B-B14F-4D97-AF65-F5344CB8AC3E}">
        <p14:creationId xmlns:p14="http://schemas.microsoft.com/office/powerpoint/2010/main" val="174562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
  <a:themeElements>
    <a:clrScheme name="Custom 1">
      <a:dk1>
        <a:sysClr val="windowText" lastClr="000000"/>
      </a:dk1>
      <a:lt1>
        <a:sysClr val="window" lastClr="FFFFFF"/>
      </a:lt1>
      <a:dk2>
        <a:srgbClr val="17406D"/>
      </a:dk2>
      <a:lt2>
        <a:srgbClr val="DBEFF9"/>
      </a:lt2>
      <a:accent1>
        <a:srgbClr val="17406D"/>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6171</TotalTime>
  <Words>2156</Words>
  <Application>Microsoft Macintosh PowerPoint</Application>
  <PresentationFormat>Widescreen</PresentationFormat>
  <Paragraphs>149</Paragraphs>
  <Slides>27</Slides>
  <Notes>0</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Cambria</vt:lpstr>
      <vt:lpstr>Consolas</vt:lpstr>
      <vt:lpstr>Trebuchet MS</vt:lpstr>
      <vt:lpstr>Wingdings 3</vt:lpstr>
      <vt:lpstr>Facet</vt:lpstr>
      <vt:lpstr>SPL – PS3</vt:lpstr>
      <vt:lpstr>Overview</vt:lpstr>
      <vt:lpstr>Passing parameter by value</vt:lpstr>
      <vt:lpstr>Passing parameters by reference</vt:lpstr>
      <vt:lpstr>Passing pointers</vt:lpstr>
      <vt:lpstr>Header files – a reminder</vt:lpstr>
      <vt:lpstr>C++ classes – declaration example</vt:lpstr>
      <vt:lpstr>C++ classes – implementation example</vt:lpstr>
      <vt:lpstr>Syntax differences between C++ and Java</vt:lpstr>
      <vt:lpstr>Member initialization list</vt:lpstr>
      <vt:lpstr>C++ objects</vt:lpstr>
      <vt:lpstr>The dot and arrow operators</vt:lpstr>
      <vt:lpstr>The this pointer</vt:lpstr>
      <vt:lpstr>Creating and destroying objects</vt:lpstr>
      <vt:lpstr>Default constructor</vt:lpstr>
      <vt:lpstr>Copy constructor</vt:lpstr>
      <vt:lpstr>Copy assignment operator</vt:lpstr>
      <vt:lpstr>Destructor</vt:lpstr>
      <vt:lpstr>The rule of 3</vt:lpstr>
      <vt:lpstr>Copy assignment vs. copy constructor</vt:lpstr>
      <vt:lpstr>Exception safety in copy assignment</vt:lpstr>
      <vt:lpstr>Derived Class Constructor - Example</vt:lpstr>
      <vt:lpstr>Constructors in Derived Classes</vt:lpstr>
      <vt:lpstr>Virtual Functions</vt:lpstr>
      <vt:lpstr>Rules for Virtual Functions</vt:lpstr>
      <vt:lpstr>PowerPoint Presentation</vt:lpstr>
      <vt:lpstr>Pure Virtual Functions – Abstract Classes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SPL – PS3</dc:title>
  <dc:creator>Dolav Nitay</dc:creator>
  <cp:lastModifiedBy>אחמד מסאלחה</cp:lastModifiedBy>
  <cp:revision>73</cp:revision>
  <dcterms:created xsi:type="dcterms:W3CDTF">2018-11-01T15:12:36Z</dcterms:created>
  <dcterms:modified xsi:type="dcterms:W3CDTF">2025-11-09T12:07:02Z</dcterms:modified>
</cp:coreProperties>
</file>