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6" r:id="rId17"/>
    <p:sldId id="271" r:id="rId18"/>
    <p:sldId id="277" r:id="rId19"/>
    <p:sldId id="272" r:id="rId20"/>
    <p:sldId id="273" r:id="rId21"/>
    <p:sldId id="274" r:id="rId22"/>
    <p:sldId id="275" r:id="rId23"/>
  </p:sldIdLst>
  <p:sldSz cx="12192000" cy="6858000"/>
  <p:notesSz cx="6858000" cy="9144000"/>
  <p:defaultTextStyle>
    <a:defPPr>
      <a:defRPr lang="he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2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0717" autoAdjust="0"/>
  </p:normalViewPr>
  <p:slideViewPr>
    <p:cSldViewPr snapToGrid="0">
      <p:cViewPr varScale="1">
        <p:scale>
          <a:sx n="103" d="100"/>
          <a:sy n="103" d="100"/>
        </p:scale>
        <p:origin x="85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552739A8-F8F2-44B7-8671-D19AD161DC12}" type="datetimeFigureOut">
              <a:rPr lang="he-IL" smtClean="0"/>
              <a:t>כ"ח/תשרי/תשפ"א</a:t>
            </a:fld>
            <a:endParaRPr lang="he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e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B2219128-9DD8-4052-B14F-BA88A0530DB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60615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219128-9DD8-4052-B14F-BA88A0530DBA}" type="slidenum">
              <a:rPr lang="he-IL" smtClean="0"/>
              <a:t>1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703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219128-9DD8-4052-B14F-BA88A0530DBA}" type="slidenum">
              <a:rPr lang="he-IL" smtClean="0"/>
              <a:t>2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163461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Identifiers that needed to be declared in more then one source file can be placed in one header file, which is then included whenever it’s contents are required.</a:t>
            </a:r>
          </a:p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219128-9DD8-4052-B14F-BA88A0530DBA}" type="slidenum">
              <a:rPr lang="he-IL" smtClean="0"/>
              <a:t>4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355714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Beware of circular dependencies</a:t>
            </a:r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219128-9DD8-4052-B14F-BA88A0530DBA}" type="slidenum">
              <a:rPr lang="he-IL" smtClean="0"/>
              <a:t>5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886445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Examples of preprocessor commands :  #include, #</a:t>
            </a:r>
            <a:r>
              <a:rPr lang="en-US" dirty="0" err="1"/>
              <a:t>ifndef</a:t>
            </a:r>
            <a:r>
              <a:rPr lang="en-US" dirty="0"/>
              <a:t>, #define..</a:t>
            </a:r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219128-9DD8-4052-B14F-BA88A0530DBA}" type="slidenum">
              <a:rPr lang="he-IL" smtClean="0"/>
              <a:t>6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460314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</a:t>
            </a:r>
            <a:r>
              <a:rPr lang="en-US" dirty="0" err="1"/>
              <a:t>soure</a:t>
            </a:r>
            <a:r>
              <a:rPr lang="en-US" dirty="0"/>
              <a:t> file needs to be compiled separately.</a:t>
            </a:r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219128-9DD8-4052-B14F-BA88A0530DBA}" type="slidenum">
              <a:rPr lang="he-IL" smtClean="0"/>
              <a:t>7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483526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us it’s part of the compiler.</a:t>
            </a:r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219128-9DD8-4052-B14F-BA88A0530DBA}" type="slidenum">
              <a:rPr lang="he-IL" smtClean="0"/>
              <a:t>8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752748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If a source file references functions defined in other source files, the linker takes care of that.</a:t>
            </a:r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219128-9DD8-4052-B14F-BA88A0530DBA}" type="slidenum">
              <a:rPr lang="he-IL" smtClean="0"/>
              <a:t>9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130273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fine when we have one or two source files, but what should we do if we compile a program with a larger number of source files?</a:t>
            </a:r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219128-9DD8-4052-B14F-BA88A0530DBA}" type="slidenum">
              <a:rPr lang="he-IL" smtClean="0"/>
              <a:t>12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338493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need to remember these parameters.</a:t>
            </a:r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219128-9DD8-4052-B14F-BA88A0530DBA}" type="slidenum">
              <a:rPr lang="he-IL" smtClean="0"/>
              <a:t>13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304986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48697-246C-4A04-AEA6-47D8A6BCC5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47110D-C566-45B9-B4A3-F240A1FB0A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C3747A-A4F9-49CD-9FB1-8A425AECA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E8936-69DA-4E81-8824-DAA57A37F6B4}" type="datetimeFigureOut">
              <a:rPr lang="he-IL" smtClean="0"/>
              <a:t>כ"ח/תשרי/תשפ"א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07569C-8604-4E73-8F1A-F8866B393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BA2079-3646-405D-A6B5-0B5E385F5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E465D-BD0B-481F-926E-949E63DA52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421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FC67A-4A1E-464C-804B-8109627D7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FE97B4-118D-41AB-AE79-23DBF17D0C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7F9530-C7EE-4C6F-A831-58E99E0A9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E8936-69DA-4E81-8824-DAA57A37F6B4}" type="datetimeFigureOut">
              <a:rPr lang="he-IL" smtClean="0"/>
              <a:t>כ"ח/תשרי/תשפ"א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286CFE-702F-4946-8E81-C96FC8E2B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52FB7D-CF59-4029-9660-DAAD72E04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E465D-BD0B-481F-926E-949E63DA52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048527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BADA3-B88E-40A3-92FD-BE711480D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384DFB-62A2-4ADC-B958-839E503271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3E435E-9D7B-43C7-A736-C73F0E8E1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E8936-69DA-4E81-8824-DAA57A37F6B4}" type="datetimeFigureOut">
              <a:rPr lang="he-IL" smtClean="0"/>
              <a:t>כ"ח/תשרי/תשפ"א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0669F6-BA65-4781-BDD7-AEA95F20A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0F08C7-85F2-4DB7-8C7A-9E08DA58C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E465D-BD0B-481F-926E-949E63DA52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01566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4964D-6FF6-4550-B21C-1499CDDD7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1643BC-939F-414A-AB62-842596D967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3A829E-95FF-474A-8F70-6C4B54A420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A5D1A7-821C-48BE-9B52-DA96E939A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E8936-69DA-4E81-8824-DAA57A37F6B4}" type="datetimeFigureOut">
              <a:rPr lang="he-IL" smtClean="0"/>
              <a:t>כ"ח/תשרי/תשפ"א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E40EC3-5C47-4550-9758-C8E55846D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771511-499C-44F8-B9F6-D7D70F633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E465D-BD0B-481F-926E-949E63DA52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84317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17517-8BB0-47A5-AFB0-2D163FE94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F0D286-BB3E-49F5-9AD7-55A50457D3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A430A9-A472-4CA2-84C4-3F678000EB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DD2AD8-3ECA-492C-B954-29B7A2DADC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9A99E6-F872-4AB3-831A-FF883CD3C7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79FED2-E43F-44CD-AC32-028336E98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E8936-69DA-4E81-8824-DAA57A37F6B4}" type="datetimeFigureOut">
              <a:rPr lang="he-IL" smtClean="0"/>
              <a:t>כ"ח/תשרי/תשפ"א</a:t>
            </a:fld>
            <a:endParaRPr lang="he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BD51A7-E1D7-4AF2-BCA0-23B0B6949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14E02A-8837-4BE7-931F-FE07F5E96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E465D-BD0B-481F-926E-949E63DA52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714730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43D57-49A2-46E5-BE08-ACA700534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FA526A-70BA-47B8-8DEA-5FEDD0CBD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E8936-69DA-4E81-8824-DAA57A37F6B4}" type="datetimeFigureOut">
              <a:rPr lang="he-IL" smtClean="0"/>
              <a:t>כ"ח/תשרי/תשפ"א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269385-713A-4D1E-80CA-E651A9348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A6185B-05E7-4794-9929-7B711D52E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E465D-BD0B-481F-926E-949E63DA52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192031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A46E99-38EC-4CE9-9E5D-3965870E3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E8936-69DA-4E81-8824-DAA57A37F6B4}" type="datetimeFigureOut">
              <a:rPr lang="he-IL" smtClean="0"/>
              <a:t>כ"ח/תשרי/תשפ"א</a:t>
            </a:fld>
            <a:endParaRPr lang="he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F8E7DC-185D-40A0-936B-9F7B76BE5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ED25DD-14D1-412D-8F8B-F6CDC4F4D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E465D-BD0B-481F-926E-949E63DA52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75487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B2D5C-96F5-4929-B9B5-DFAF670B7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3C04D3-99DC-4D81-BDCD-2345B93528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C9AFDB-FFBB-46B8-A89F-18385BF120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20363C-F9A1-4D4F-B82D-EE1A471A1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E8936-69DA-4E81-8824-DAA57A37F6B4}" type="datetimeFigureOut">
              <a:rPr lang="he-IL" smtClean="0"/>
              <a:t>כ"ח/תשרי/תשפ"א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28272A-CD87-427B-9829-866925805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EE80F4-7C89-48C4-B49C-29C1CB59F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E465D-BD0B-481F-926E-949E63DA52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62404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38B9B-02EB-4069-8DC8-5AD4568A4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429900-7E48-4498-A8B4-8B9FF1DFB0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558568-6E01-4086-BC88-69FE3354E8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F1EC31-A7F2-49A1-8544-42EAC714E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E8936-69DA-4E81-8824-DAA57A37F6B4}" type="datetimeFigureOut">
              <a:rPr lang="he-IL" smtClean="0"/>
              <a:t>כ"ח/תשרי/תשפ"א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DF4957-F46C-43F6-A48C-20F6E1485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7BC650-20AB-488F-912D-699F48814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E465D-BD0B-481F-926E-949E63DA52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05099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8DA01-A5FD-419D-A3F0-FCE6522B8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FE1B76-9376-41EF-94AC-932D09B0CE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AD1D1C-50EF-403A-89E7-DBBF0873C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E8936-69DA-4E81-8824-DAA57A37F6B4}" type="datetimeFigureOut">
              <a:rPr lang="he-IL" smtClean="0"/>
              <a:t>כ"ח/תשרי/תשפ"א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5B478F-BB2C-4C9D-B3F6-7A2C39676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29122C-A636-463B-9A16-C39C50100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E465D-BD0B-481F-926E-949E63DA52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3002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A8BCD2-6BAF-4D8B-A047-164D4BD3FF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AFEF8C-FDBC-41BA-84A7-A63300B3A5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B818B5-68CC-443E-BEC8-577115FDF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E8936-69DA-4E81-8824-DAA57A37F6B4}" type="datetimeFigureOut">
              <a:rPr lang="he-IL" smtClean="0"/>
              <a:t>כ"ח/תשרי/תשפ"א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FA8C97-DFDD-496E-A27A-87254ED5D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E17CD6-7011-4FD0-9DD3-E4F4858F9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E465D-BD0B-481F-926E-949E63DA52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704021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E83223-72F1-4F6B-BD13-44C0A0C51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D7C49E-D81B-4FFF-8793-2D22DD763E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42F9E5-DB10-461E-A6D4-F393E76394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7E8936-69DA-4E81-8824-DAA57A37F6B4}" type="datetimeFigureOut">
              <a:rPr lang="he-IL" smtClean="0"/>
              <a:t>כ"ח/תשרי/תשפ"א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03F5DE-A493-48AD-95AA-52FF3A0B8A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6A2B1F-E8E5-4ACA-BA95-775FC7576E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2E465D-BD0B-481F-926E-949E63DA52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73698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D9FD0-6E0C-4109-8BF9-899974A255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SPL – PS1</a:t>
            </a:r>
            <a:endParaRPr lang="he-I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92E7AB-08EF-420E-AD6D-9F36F83E02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Introduction to C++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266121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F0345-D428-45C3-96BA-2279DE5F6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terminology and C++ functions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5F1BA4-4FFC-4FD0-A864-8B1F54E59D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Functions in C++ are like methods in Java. However C++ functions don’t have to be a part of a class.</a:t>
            </a:r>
          </a:p>
          <a:p>
            <a:r>
              <a:rPr lang="en-US" dirty="0"/>
              <a:t>In C++ a function or a variable can be declared outside of a class. In that case we say it is in the global scope. </a:t>
            </a:r>
          </a:p>
          <a:p>
            <a:r>
              <a:rPr lang="en-US" dirty="0"/>
              <a:t>During this course, you should avoid declaring functions or variables in the global scope.</a:t>
            </a:r>
          </a:p>
          <a:p>
            <a:r>
              <a:rPr lang="en-US" dirty="0"/>
              <a:t>Like in Java, </a:t>
            </a:r>
            <a:r>
              <a:rPr lang="en-US" b="1" dirty="0"/>
              <a:t>main</a:t>
            </a:r>
            <a:r>
              <a:rPr lang="en-US" dirty="0"/>
              <a:t> is a unique free function name that will be executed on program start. It returns an </a:t>
            </a:r>
            <a:r>
              <a:rPr lang="en-US" dirty="0" err="1"/>
              <a:t>int</a:t>
            </a:r>
            <a:r>
              <a:rPr lang="en-US" dirty="0"/>
              <a:t> value, and receives the command line arguments. (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argc</a:t>
            </a:r>
            <a:r>
              <a:rPr lang="en-US" dirty="0"/>
              <a:t>, char** </a:t>
            </a:r>
            <a:r>
              <a:rPr lang="en-US" dirty="0" err="1"/>
              <a:t>argv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072536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73E1E-6008-4514-9FD3-5C566BF3B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functions (</a:t>
            </a:r>
            <a:r>
              <a:rPr lang="en-US" dirty="0" err="1"/>
              <a:t>cont</a:t>
            </a:r>
            <a:r>
              <a:rPr lang="en-US" dirty="0"/>
              <a:t>)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722FEE-A025-41AA-ACEA-986886FFBF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function definition contains both a prototype and a body. For example:</a:t>
            </a:r>
          </a:p>
          <a:p>
            <a:endParaRPr lang="en-US" dirty="0"/>
          </a:p>
          <a:p>
            <a:r>
              <a:rPr lang="en-US" dirty="0"/>
              <a:t>A function declaration contains only the prototype followed by a semicolon:</a:t>
            </a:r>
          </a:p>
          <a:p>
            <a:endParaRPr lang="en-US" dirty="0"/>
          </a:p>
          <a:p>
            <a:r>
              <a:rPr lang="en-US" dirty="0"/>
              <a:t>You can have multiple declarations of the same function but only one definition.</a:t>
            </a:r>
            <a:endParaRPr lang="he-IL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71A49ED-F27E-4FAA-BF30-129A4E8F28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6341" y="2702424"/>
            <a:ext cx="6329779" cy="400110"/>
          </a:xfrm>
          <a:prstGeom prst="rect">
            <a:avLst/>
          </a:prstGeom>
          <a:ln>
            <a:headEnd/>
            <a:tailEnd/>
          </a:ln>
          <a:effectLst>
            <a:softEdge rad="12700"/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e-IL" altLang="he-IL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int add(int a, int b) { return a + b; };</a:t>
            </a:r>
            <a:endParaRPr kumimoji="0" lang="he-IL" altLang="he-IL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A39609A6-5CFF-4976-9C07-ABED1C840E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6340" y="4039583"/>
            <a:ext cx="6329779" cy="400110"/>
          </a:xfrm>
          <a:prstGeom prst="rect">
            <a:avLst/>
          </a:prstGeom>
          <a:ln>
            <a:headEnd/>
            <a:tailEnd/>
          </a:ln>
          <a:effectLst>
            <a:softEdge rad="12700"/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he-IL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int</a:t>
            </a:r>
            <a:r>
              <a:rPr lang="en-US" altLang="he-IL" sz="2000" dirty="0">
                <a:solidFill>
                  <a:schemeClr val="tx1"/>
                </a:solidFill>
                <a:latin typeface="Arial" panose="020B0604020202020204" pitchFamily="34" charset="0"/>
              </a:rPr>
              <a:t> add(</a:t>
            </a:r>
            <a:r>
              <a:rPr lang="en-US" altLang="he-IL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int</a:t>
            </a:r>
            <a:r>
              <a:rPr lang="en-US" altLang="he-IL" sz="200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altLang="he-IL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int</a:t>
            </a:r>
            <a:r>
              <a:rPr lang="en-US" altLang="he-IL" sz="2000" dirty="0">
                <a:solidFill>
                  <a:schemeClr val="tx1"/>
                </a:solidFill>
                <a:latin typeface="Arial" panose="020B0604020202020204" pitchFamily="34" charset="0"/>
              </a:rPr>
              <a:t>);</a:t>
            </a:r>
            <a:endParaRPr kumimoji="0" lang="he-IL" altLang="he-IL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6806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5F259-95FB-4E7A-92FE-C4247DBFC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Forward declarations and header files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24641-DE3A-4C14-8CCE-F8F2635138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Forward declaration is a declaration of a </a:t>
            </a:r>
            <a:r>
              <a:rPr lang="en-US" u="sng" dirty="0"/>
              <a:t>variable</a:t>
            </a:r>
            <a:r>
              <a:rPr lang="en-US" dirty="0"/>
              <a:t> a </a:t>
            </a:r>
            <a:r>
              <a:rPr lang="en-US" u="sng" dirty="0"/>
              <a:t>function</a:t>
            </a:r>
            <a:r>
              <a:rPr lang="en-US" dirty="0"/>
              <a:t> or a </a:t>
            </a:r>
            <a:r>
              <a:rPr lang="en-US" u="sng" dirty="0"/>
              <a:t>class</a:t>
            </a:r>
            <a:r>
              <a:rPr lang="en-US" dirty="0"/>
              <a:t> for which the programmer has not yet given a complete definition. </a:t>
            </a:r>
          </a:p>
          <a:p>
            <a:r>
              <a:rPr lang="en-US" dirty="0"/>
              <a:t>The compiler uses the declaration to determine how to generate the object code. (More on that later)</a:t>
            </a:r>
          </a:p>
          <a:p>
            <a:r>
              <a:rPr lang="en-US" dirty="0"/>
              <a:t>A header file (*.h) commonly contains forward declarations of subroutines, variables, classes and other identifiers. A C++ source file (*.</a:t>
            </a:r>
            <a:r>
              <a:rPr lang="en-US" dirty="0" err="1"/>
              <a:t>cpp</a:t>
            </a:r>
            <a:r>
              <a:rPr lang="en-US" dirty="0"/>
              <a:t>) will define behavior for identifiers.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403840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D9E3E-7B58-45FE-86C2-1ACA45941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Header files (</a:t>
            </a:r>
            <a:r>
              <a:rPr lang="en-US" dirty="0" err="1"/>
              <a:t>cont</a:t>
            </a:r>
            <a:r>
              <a:rPr lang="en-US" dirty="0"/>
              <a:t>)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3321D-1975-40CF-B515-8CAE086E0E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#include has the same purpose as Java’s import. However unlike Java, #include “copy-pastes” contents of the included file into the current file.</a:t>
            </a:r>
          </a:p>
          <a:p>
            <a:r>
              <a:rPr lang="en-US" dirty="0"/>
              <a:t>This is why you must be careful as to what you include. As a rule, include only header files.</a:t>
            </a:r>
          </a:p>
          <a:p>
            <a:endParaRPr lang="he-IL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F7D05D-20C8-4473-8BC2-F11436AFAC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832" y="4285379"/>
            <a:ext cx="6295029" cy="1746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583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38733-6BD1-483E-9A7B-65F7266F7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Compiling and Linking a C++ program</a:t>
            </a:r>
            <a:endParaRPr lang="he-IL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98E25FF-0D4D-4F19-995B-1C28FF3806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3295650" cy="4538272"/>
          </a:xfr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A601FDEF-D2CA-4E48-A0EB-D44CA0E63047}"/>
              </a:ext>
            </a:extLst>
          </p:cNvPr>
          <p:cNvGrpSpPr/>
          <p:nvPr/>
        </p:nvGrpSpPr>
        <p:grpSpPr>
          <a:xfrm>
            <a:off x="2068497" y="1811045"/>
            <a:ext cx="8930936" cy="2923877"/>
            <a:chOff x="2068497" y="1811045"/>
            <a:chExt cx="8930936" cy="2923877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7653626-6A4B-494E-BB10-4181278B13D5}"/>
                </a:ext>
              </a:extLst>
            </p:cNvPr>
            <p:cNvSpPr txBox="1"/>
            <p:nvPr/>
          </p:nvSpPr>
          <p:spPr>
            <a:xfrm>
              <a:off x="4847208" y="1811045"/>
              <a:ext cx="6152225" cy="2923877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en-US" sz="3200" dirty="0"/>
                <a:t>The preprocessor</a:t>
              </a:r>
              <a:endParaRPr lang="en-US" sz="2400" dirty="0"/>
            </a:p>
            <a:p>
              <a:r>
                <a:rPr lang="en-US" sz="2400" dirty="0"/>
                <a:t>The preprocessor accepts </a:t>
              </a:r>
              <a:r>
                <a:rPr lang="en-US" sz="2400" b="1" dirty="0"/>
                <a:t>source code (*.</a:t>
              </a:r>
              <a:r>
                <a:rPr lang="en-US" sz="2400" b="1" dirty="0" err="1"/>
                <a:t>cpp</a:t>
              </a:r>
              <a:r>
                <a:rPr lang="en-US" sz="2400" b="1" dirty="0"/>
                <a:t>)</a:t>
              </a:r>
              <a:r>
                <a:rPr lang="en-US" sz="2400" dirty="0"/>
                <a:t> as an input, and is responsible for: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US" sz="2400" dirty="0"/>
                <a:t>Removing comments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US" sz="2400" dirty="0"/>
                <a:t>Interpreting special preprocessor directives, denoted by </a:t>
              </a:r>
              <a:r>
                <a:rPr lang="en-US" sz="2400" b="1" dirty="0"/>
                <a:t>#</a:t>
              </a:r>
              <a:endParaRPr lang="en-US" sz="2400" dirty="0"/>
            </a:p>
            <a:p>
              <a:endParaRPr lang="en-US" sz="3200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ACD7FA4-BAEC-4F86-97B4-F8B6AEBC1572}"/>
                </a:ext>
              </a:extLst>
            </p:cNvPr>
            <p:cNvSpPr/>
            <p:nvPr/>
          </p:nvSpPr>
          <p:spPr>
            <a:xfrm>
              <a:off x="2068497" y="1961965"/>
              <a:ext cx="1225119" cy="612559"/>
            </a:xfrm>
            <a:prstGeom prst="rect">
              <a:avLst/>
            </a:prstGeom>
            <a:solidFill>
              <a:srgbClr val="FFFF00">
                <a:alpha val="50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 dirty="0"/>
            </a:p>
          </p:txBody>
        </p:sp>
      </p:grpSp>
    </p:spTree>
    <p:extLst>
      <p:ext uri="{BB962C8B-B14F-4D97-AF65-F5344CB8AC3E}">
        <p14:creationId xmlns:p14="http://schemas.microsoft.com/office/powerpoint/2010/main" val="2268581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38733-6BD1-483E-9A7B-65F7266F7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Compiling and Linking a C++ program</a:t>
            </a:r>
            <a:endParaRPr lang="he-IL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98E25FF-0D4D-4F19-995B-1C28FF3806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3295650" cy="4538272"/>
          </a:xfr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63A37212-488E-497F-82B5-6762DF17848F}"/>
              </a:ext>
            </a:extLst>
          </p:cNvPr>
          <p:cNvGrpSpPr/>
          <p:nvPr/>
        </p:nvGrpSpPr>
        <p:grpSpPr>
          <a:xfrm>
            <a:off x="2068497" y="1811045"/>
            <a:ext cx="8930936" cy="2185214"/>
            <a:chOff x="2068497" y="1811045"/>
            <a:chExt cx="8930936" cy="218521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882C20E-2942-41CF-B362-F88D6AFE371B}"/>
                </a:ext>
              </a:extLst>
            </p:cNvPr>
            <p:cNvSpPr txBox="1"/>
            <p:nvPr/>
          </p:nvSpPr>
          <p:spPr>
            <a:xfrm>
              <a:off x="4847208" y="1811045"/>
              <a:ext cx="6152225" cy="2185214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en-US" sz="3200" dirty="0"/>
                <a:t>C++ Compiler</a:t>
              </a:r>
              <a:endParaRPr lang="en-US" sz="2400" dirty="0"/>
            </a:p>
            <a:p>
              <a:r>
                <a:rPr lang="en-US" sz="2400" dirty="0"/>
                <a:t>The C++ Compiler translates source to assembly code. The source code is received from the preprocessor.</a:t>
              </a:r>
            </a:p>
            <a:p>
              <a:endParaRPr lang="en-US" sz="3200" dirty="0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59FAC9E-29D9-4695-A16D-EB017270A13B}"/>
                </a:ext>
              </a:extLst>
            </p:cNvPr>
            <p:cNvSpPr/>
            <p:nvPr/>
          </p:nvSpPr>
          <p:spPr>
            <a:xfrm>
              <a:off x="2068497" y="2938509"/>
              <a:ext cx="1207363" cy="594804"/>
            </a:xfrm>
            <a:prstGeom prst="rect">
              <a:avLst/>
            </a:prstGeom>
            <a:solidFill>
              <a:srgbClr val="FFFF00">
                <a:alpha val="50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</p:grpSp>
    </p:spTree>
    <p:extLst>
      <p:ext uri="{BB962C8B-B14F-4D97-AF65-F5344CB8AC3E}">
        <p14:creationId xmlns:p14="http://schemas.microsoft.com/office/powerpoint/2010/main" val="1006879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38733-6BD1-483E-9A7B-65F7266F7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Compiling and Linking a C++ program</a:t>
            </a:r>
            <a:endParaRPr lang="he-IL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98E25FF-0D4D-4F19-995B-1C28FF3806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3295650" cy="4538272"/>
          </a:xfr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CF61367A-079C-44A8-BF65-D3C1D5B6994E}"/>
              </a:ext>
            </a:extLst>
          </p:cNvPr>
          <p:cNvGrpSpPr/>
          <p:nvPr/>
        </p:nvGrpSpPr>
        <p:grpSpPr>
          <a:xfrm>
            <a:off x="2068497" y="1712051"/>
            <a:ext cx="8930936" cy="2801381"/>
            <a:chOff x="2068497" y="729618"/>
            <a:chExt cx="8930936" cy="2801381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B3C77AA-6CB2-4AE3-B94F-57542A767913}"/>
                </a:ext>
              </a:extLst>
            </p:cNvPr>
            <p:cNvSpPr txBox="1"/>
            <p:nvPr/>
          </p:nvSpPr>
          <p:spPr>
            <a:xfrm>
              <a:off x="4847208" y="729618"/>
              <a:ext cx="6152225" cy="2185214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en-US" sz="3200" dirty="0"/>
                <a:t>Assembler</a:t>
              </a:r>
              <a:endParaRPr lang="en-US" sz="2400" dirty="0"/>
            </a:p>
            <a:p>
              <a:r>
                <a:rPr lang="en-US" sz="2400" dirty="0"/>
                <a:t>The assembler creates </a:t>
              </a:r>
              <a:r>
                <a:rPr lang="en-US" sz="2400" b="1" dirty="0"/>
                <a:t>object code</a:t>
              </a:r>
              <a:r>
                <a:rPr lang="en-US" sz="2400" dirty="0"/>
                <a:t>. On a </a:t>
              </a:r>
              <a:r>
                <a:rPr lang="en-US" sz="2400" dirty="0" err="1"/>
                <a:t>unix</a:t>
              </a:r>
              <a:r>
                <a:rPr lang="en-US" sz="2400" dirty="0"/>
                <a:t> system you may see files with a </a:t>
              </a:r>
              <a:r>
                <a:rPr lang="en-US" sz="2400" b="1" dirty="0"/>
                <a:t>*.o</a:t>
              </a:r>
              <a:r>
                <a:rPr lang="en-US" sz="2400" dirty="0"/>
                <a:t> suffix (*.</a:t>
              </a:r>
              <a:r>
                <a:rPr lang="en-US" sz="2400" dirty="0" err="1"/>
                <a:t>obj</a:t>
              </a:r>
              <a:r>
                <a:rPr lang="en-US" sz="2400" dirty="0"/>
                <a:t> on MS-DOS systems) to indicate object files.</a:t>
              </a:r>
            </a:p>
            <a:p>
              <a:endParaRPr lang="en-US" sz="3200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9D07230-CB8C-4F4E-A99E-97BA065CEC63}"/>
                </a:ext>
              </a:extLst>
            </p:cNvPr>
            <p:cNvSpPr/>
            <p:nvPr/>
          </p:nvSpPr>
          <p:spPr>
            <a:xfrm>
              <a:off x="2068497" y="2936195"/>
              <a:ext cx="1207363" cy="594804"/>
            </a:xfrm>
            <a:prstGeom prst="rect">
              <a:avLst/>
            </a:prstGeom>
            <a:solidFill>
              <a:srgbClr val="FFFF00">
                <a:alpha val="50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 dirty="0"/>
            </a:p>
          </p:txBody>
        </p:sp>
      </p:grpSp>
    </p:spTree>
    <p:extLst>
      <p:ext uri="{BB962C8B-B14F-4D97-AF65-F5344CB8AC3E}">
        <p14:creationId xmlns:p14="http://schemas.microsoft.com/office/powerpoint/2010/main" val="2542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38733-6BD1-483E-9A7B-65F7266F7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Compiling and Linking a C++ program</a:t>
            </a:r>
            <a:endParaRPr lang="he-IL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98E25FF-0D4D-4F19-995B-1C28FF3806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3295650" cy="4538272"/>
          </a:xfr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B3C77AA-6CB2-4AE3-B94F-57542A767913}"/>
              </a:ext>
            </a:extLst>
          </p:cNvPr>
          <p:cNvSpPr txBox="1"/>
          <p:nvPr/>
        </p:nvSpPr>
        <p:spPr>
          <a:xfrm>
            <a:off x="4273421" y="1460125"/>
            <a:ext cx="7763070" cy="649408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3200" dirty="0"/>
              <a:t>Linker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The linker combines the code to create a single executable file.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External function and variable references are resolved by the linker.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The linker also looks for the main() function to mark it as the starting point of the executable.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The linker combines </a:t>
            </a:r>
            <a:r>
              <a:rPr lang="en-US" sz="3200" u="sng" dirty="0"/>
              <a:t>multiple</a:t>
            </a:r>
            <a:r>
              <a:rPr lang="en-US" sz="3200" dirty="0"/>
              <a:t> object files (*.o) and libraries (*.a) into one executable.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D07230-CB8C-4F4E-A99E-97BA065CEC63}"/>
              </a:ext>
            </a:extLst>
          </p:cNvPr>
          <p:cNvSpPr/>
          <p:nvPr/>
        </p:nvSpPr>
        <p:spPr>
          <a:xfrm>
            <a:off x="2068497" y="5010310"/>
            <a:ext cx="1207363" cy="594804"/>
          </a:xfrm>
          <a:prstGeom prst="rect">
            <a:avLst/>
          </a:prstGeom>
          <a:solidFill>
            <a:srgbClr val="FFFF00">
              <a:alpha val="5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373452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uiExpand="1" build="p"/>
      <p:bldP spid="1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283AD-0F36-43F9-9BC8-4CA3DA53D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Differences from Java</a:t>
            </a:r>
            <a:endParaRPr lang="he-IL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00EDA06-326C-450F-B8E3-D7DA87994F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9446343"/>
              </p:ext>
            </p:extLst>
          </p:nvPr>
        </p:nvGraphicFramePr>
        <p:xfrm>
          <a:off x="1909525" y="1780606"/>
          <a:ext cx="8127999" cy="357124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07839253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53435413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3204729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Java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C++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51042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Does only compilation. It has no assembler step, since it is not machine specific.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C++ compiler by default will do pre-compilation, compilation and assembler.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Compiler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26588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Linking is done in runtime. Whenever execution of Java bytecode requires the presence of a new class then a class loader is invoked to fetch the class material.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C++ linker will link the object files to an executable.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Linker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80222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36875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A9AB40-0591-4F09-9491-AC42030AE4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5857" y="0"/>
            <a:ext cx="81602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8132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2936F-DDDC-419D-B5F3-73C39F26B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Compiling C++ manually 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865496-CA27-4036-AC75-4844D71003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Open terminal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Go to project root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Clean: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Compile: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Compile: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Link: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Run: 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3532A6D-DE30-4969-8E71-5F4E85E6C3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9078" y="2938638"/>
            <a:ext cx="1792994" cy="33513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2F77A31-61F7-464C-81FF-8AEA903983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040" y="3429000"/>
            <a:ext cx="8872538" cy="33513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BFDD569-D378-46AE-88B7-ED2AE89EC7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4039" y="4001293"/>
            <a:ext cx="8872537" cy="33513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49D9853-DEA5-40B3-BE70-B880C052AF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4060" y="4472560"/>
            <a:ext cx="7274466" cy="33513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63F999F-DF34-46CC-84DB-4EDD567CE56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4060" y="4962921"/>
            <a:ext cx="1853116" cy="335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389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0219D-56DB-4445-A983-6BEE7A655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g++ Parameters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94879-A88E-4264-8D01-7709816399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-o filename</a:t>
            </a:r>
            <a:r>
              <a:rPr lang="en-US" dirty="0"/>
              <a:t> – Places output in filename. By default it will create a file called </a:t>
            </a:r>
            <a:r>
              <a:rPr lang="en-US" dirty="0" err="1"/>
              <a:t>a.out</a:t>
            </a:r>
            <a:endParaRPr lang="en-US" dirty="0"/>
          </a:p>
          <a:p>
            <a:r>
              <a:rPr lang="en-US" b="1" dirty="0"/>
              <a:t>-c</a:t>
            </a:r>
            <a:r>
              <a:rPr lang="en-US" dirty="0"/>
              <a:t> – Compile or assemble the source files, but do not link. The compiler output is an object file corresponding to each source file.</a:t>
            </a:r>
          </a:p>
          <a:p>
            <a:r>
              <a:rPr lang="en-US" b="1" dirty="0"/>
              <a:t>-</a:t>
            </a:r>
            <a:r>
              <a:rPr lang="en-US" b="1" dirty="0" err="1"/>
              <a:t>Ldir</a:t>
            </a:r>
            <a:r>
              <a:rPr lang="en-US" dirty="0"/>
              <a:t> – Add directory </a:t>
            </a:r>
            <a:r>
              <a:rPr lang="en-US" dirty="0" err="1"/>
              <a:t>dir</a:t>
            </a:r>
            <a:r>
              <a:rPr lang="en-US" dirty="0"/>
              <a:t> to the list of directories to be searched for.</a:t>
            </a:r>
          </a:p>
          <a:p>
            <a:r>
              <a:rPr lang="en-US" b="1" dirty="0"/>
              <a:t>-</a:t>
            </a:r>
            <a:r>
              <a:rPr lang="en-US" b="1" dirty="0" err="1"/>
              <a:t>llib</a:t>
            </a:r>
            <a:r>
              <a:rPr lang="en-US" b="1" dirty="0"/>
              <a:t> </a:t>
            </a:r>
            <a:r>
              <a:rPr lang="en-US" dirty="0"/>
              <a:t>– Use the library named lib when linking. </a:t>
            </a:r>
          </a:p>
          <a:p>
            <a:r>
              <a:rPr lang="en-US" b="1" dirty="0"/>
              <a:t>-O </a:t>
            </a:r>
            <a:r>
              <a:rPr lang="en-US" dirty="0"/>
              <a:t>– Optimize. Use this to yield optimized code.</a:t>
            </a:r>
          </a:p>
          <a:p>
            <a:r>
              <a:rPr lang="en-US" b="1" dirty="0"/>
              <a:t>-g</a:t>
            </a:r>
            <a:r>
              <a:rPr lang="en-US" dirty="0"/>
              <a:t> – Add debug information.</a:t>
            </a:r>
          </a:p>
          <a:p>
            <a:r>
              <a:rPr lang="en-US" b="1" dirty="0"/>
              <a:t>-W </a:t>
            </a:r>
            <a:r>
              <a:rPr lang="en-US" dirty="0"/>
              <a:t>– What warning level would you like to receive.</a:t>
            </a:r>
            <a:endParaRPr lang="he-IL" b="1" dirty="0"/>
          </a:p>
        </p:txBody>
      </p:sp>
    </p:spTree>
    <p:extLst>
      <p:ext uri="{BB962C8B-B14F-4D97-AF65-F5344CB8AC3E}">
        <p14:creationId xmlns:p14="http://schemas.microsoft.com/office/powerpoint/2010/main" val="3708461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6B18E-07FE-4032-BCC4-8EC688BF0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Makefiles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E48C1F-AD17-4A21-98F4-BF79E72B60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Makefiles</a:t>
            </a:r>
            <a:r>
              <a:rPr lang="en-US" dirty="0"/>
              <a:t> are used to specify dependencies between abstract targets, and what needs to be done to achieve each target.</a:t>
            </a:r>
          </a:p>
          <a:p>
            <a:r>
              <a:rPr lang="en-US" dirty="0"/>
              <a:t>Target name and dependencies are assumed to be files. </a:t>
            </a:r>
          </a:p>
          <a:p>
            <a:r>
              <a:rPr lang="en-US" dirty="0"/>
              <a:t>Consider a simple target $T_1$, which depends on $D_1$ and $D_2$. To build $T_1$ the make utility will work as follows: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If either $D_1$ and $D_2$ do not exist, build them (recursively)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Check if both $D_1$ and $D_2$ are up to date. If not, build them.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Check the date of $T_1$. If $T_1$ is at least as new as </a:t>
            </a:r>
            <a:r>
              <a:rPr lang="en-US" sz="2400" b="1" dirty="0"/>
              <a:t>both</a:t>
            </a:r>
            <a:r>
              <a:rPr lang="en-US" sz="2400" dirty="0"/>
              <a:t> $D_1$ and $D_2$ we are done.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Otherwise, follow the instructions given to build $T_1$</a:t>
            </a:r>
          </a:p>
        </p:txBody>
      </p:sp>
    </p:spTree>
    <p:extLst>
      <p:ext uri="{BB962C8B-B14F-4D97-AF65-F5344CB8AC3E}">
        <p14:creationId xmlns:p14="http://schemas.microsoft.com/office/powerpoint/2010/main" val="3440640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90D5F-8A87-498A-B62D-6BC3183CE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Makefiles</a:t>
            </a:r>
            <a:r>
              <a:rPr lang="en-US" dirty="0"/>
              <a:t> (</a:t>
            </a:r>
            <a:r>
              <a:rPr lang="en-US" dirty="0" err="1"/>
              <a:t>cont</a:t>
            </a:r>
            <a:r>
              <a:rPr lang="en-US" dirty="0"/>
              <a:t>)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EFE3C-6679-4A64-B112-398DD4EB68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you type “make” in your shell, the script will look for a file “</a:t>
            </a:r>
            <a:r>
              <a:rPr lang="en-US" dirty="0" err="1"/>
              <a:t>makefile</a:t>
            </a:r>
            <a:r>
              <a:rPr lang="en-US" dirty="0"/>
              <a:t>” in the same directory and will execute it, using the rules defined in the “</a:t>
            </a:r>
            <a:r>
              <a:rPr lang="en-US" dirty="0" err="1"/>
              <a:t>makefile</a:t>
            </a:r>
            <a:r>
              <a:rPr lang="en-US" dirty="0"/>
              <a:t>” file.</a:t>
            </a:r>
          </a:p>
          <a:p>
            <a:r>
              <a:rPr lang="en-US" dirty="0"/>
              <a:t>By default, make will execute only the </a:t>
            </a:r>
            <a:r>
              <a:rPr lang="en-US" b="1" dirty="0"/>
              <a:t>first</a:t>
            </a:r>
            <a:r>
              <a:rPr lang="en-US" dirty="0"/>
              <a:t> target in the </a:t>
            </a:r>
            <a:r>
              <a:rPr lang="en-US" dirty="0" err="1"/>
              <a:t>makefile</a:t>
            </a:r>
            <a:r>
              <a:rPr lang="en-US" dirty="0"/>
              <a:t>. So make sure the first target causes a complete build. 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176568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6B18E-07FE-4032-BCC4-8EC688BF0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Makefiles</a:t>
            </a:r>
            <a:endParaRPr lang="he-IL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C27E6E6-964B-4F64-B38E-632E6D621B06}"/>
              </a:ext>
            </a:extLst>
          </p:cNvPr>
          <p:cNvSpPr/>
          <p:nvPr/>
        </p:nvSpPr>
        <p:spPr>
          <a:xfrm>
            <a:off x="4001192" y="2302625"/>
            <a:ext cx="1047404" cy="104740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T1</a:t>
            </a:r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44D24BF-77EC-4EBE-9552-C35B5D8F1FA5}"/>
              </a:ext>
            </a:extLst>
          </p:cNvPr>
          <p:cNvSpPr/>
          <p:nvPr/>
        </p:nvSpPr>
        <p:spPr>
          <a:xfrm>
            <a:off x="2953788" y="3685308"/>
            <a:ext cx="1047404" cy="104740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D1</a:t>
            </a:r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65FDE9B-B2EB-498B-A1AF-618928B89A7B}"/>
              </a:ext>
            </a:extLst>
          </p:cNvPr>
          <p:cNvSpPr/>
          <p:nvPr/>
        </p:nvSpPr>
        <p:spPr>
          <a:xfrm>
            <a:off x="5048596" y="3685308"/>
            <a:ext cx="1047404" cy="104740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D</a:t>
            </a:r>
            <a:r>
              <a:rPr lang="en-US" dirty="0">
                <a:solidFill>
                  <a:schemeClr val="tx1"/>
                </a:solidFill>
              </a:rPr>
              <a:t>2</a:t>
            </a:r>
            <a:endParaRPr lang="he-IL" dirty="0">
              <a:solidFill>
                <a:schemeClr val="tx1"/>
              </a:solidFill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5A5593F-4369-4B87-8A1B-1D66E2D3BD96}"/>
              </a:ext>
            </a:extLst>
          </p:cNvPr>
          <p:cNvCxnSpPr>
            <a:cxnSpLocks/>
            <a:stCxn id="7" idx="0"/>
            <a:endCxn id="6" idx="3"/>
          </p:cNvCxnSpPr>
          <p:nvPr/>
        </p:nvCxnSpPr>
        <p:spPr>
          <a:xfrm flipV="1">
            <a:off x="3477490" y="3196640"/>
            <a:ext cx="677091" cy="488668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267EDB4-692F-4F27-9645-EE928D226A27}"/>
              </a:ext>
            </a:extLst>
          </p:cNvPr>
          <p:cNvCxnSpPr>
            <a:cxnSpLocks/>
            <a:stCxn id="8" idx="0"/>
            <a:endCxn id="6" idx="5"/>
          </p:cNvCxnSpPr>
          <p:nvPr/>
        </p:nvCxnSpPr>
        <p:spPr>
          <a:xfrm flipH="1" flipV="1">
            <a:off x="4895207" y="3196640"/>
            <a:ext cx="677091" cy="488668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BB0B6F9C-5926-4795-BAD0-A78B9FFB85FF}"/>
              </a:ext>
            </a:extLst>
          </p:cNvPr>
          <p:cNvSpPr/>
          <p:nvPr/>
        </p:nvSpPr>
        <p:spPr>
          <a:xfrm>
            <a:off x="5048596" y="5067991"/>
            <a:ext cx="1047404" cy="104740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D</a:t>
            </a:r>
            <a:r>
              <a:rPr lang="en-US" dirty="0">
                <a:solidFill>
                  <a:schemeClr val="tx1"/>
                </a:solidFill>
              </a:rPr>
              <a:t>3</a:t>
            </a:r>
            <a:endParaRPr lang="he-IL" dirty="0">
              <a:solidFill>
                <a:schemeClr val="tx1"/>
              </a:solidFill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76CB52D-1435-4F00-990D-BD5167A476D8}"/>
              </a:ext>
            </a:extLst>
          </p:cNvPr>
          <p:cNvCxnSpPr>
            <a:cxnSpLocks/>
            <a:stCxn id="25" idx="0"/>
            <a:endCxn id="8" idx="4"/>
          </p:cNvCxnSpPr>
          <p:nvPr/>
        </p:nvCxnSpPr>
        <p:spPr>
          <a:xfrm flipV="1">
            <a:off x="5572298" y="4732712"/>
            <a:ext cx="0" cy="335279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324E8C37-72EB-45D3-8353-9693C48183E5}"/>
              </a:ext>
            </a:extLst>
          </p:cNvPr>
          <p:cNvSpPr/>
          <p:nvPr/>
        </p:nvSpPr>
        <p:spPr>
          <a:xfrm>
            <a:off x="5233752" y="2584703"/>
            <a:ext cx="2668555" cy="31724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instructions</a:t>
            </a:r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64383AE-89CB-4450-8CC3-CA4AC9162FC7}"/>
              </a:ext>
            </a:extLst>
          </p:cNvPr>
          <p:cNvSpPr/>
          <p:nvPr/>
        </p:nvSpPr>
        <p:spPr>
          <a:xfrm>
            <a:off x="6249389" y="4050389"/>
            <a:ext cx="2668555" cy="31724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instructions</a:t>
            </a:r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407B282-43B5-47BC-AD7C-B45CF1011EB5}"/>
              </a:ext>
            </a:extLst>
          </p:cNvPr>
          <p:cNvSpPr/>
          <p:nvPr/>
        </p:nvSpPr>
        <p:spPr>
          <a:xfrm>
            <a:off x="131844" y="4050389"/>
            <a:ext cx="2668555" cy="31724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instructions</a:t>
            </a:r>
            <a:endParaRPr lang="he-IL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8912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  <p:bldP spid="3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45BB5-7652-40D6-B52C-DC625D8CF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Makefile</a:t>
            </a:r>
            <a:r>
              <a:rPr lang="en-US" dirty="0"/>
              <a:t> example</a:t>
            </a:r>
            <a:endParaRPr lang="he-IL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279C41F-F63D-4C5E-9D01-CEC9C5EBD3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11171291" cy="4595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8023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6B18E-07FE-4032-BCC4-8EC688BF0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Makefiles</a:t>
            </a:r>
            <a:endParaRPr lang="he-IL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C27E6E6-964B-4F64-B38E-632E6D621B06}"/>
              </a:ext>
            </a:extLst>
          </p:cNvPr>
          <p:cNvSpPr/>
          <p:nvPr/>
        </p:nvSpPr>
        <p:spPr>
          <a:xfrm>
            <a:off x="4001192" y="2680105"/>
            <a:ext cx="1047404" cy="104740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hello</a:t>
            </a:r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44D24BF-77EC-4EBE-9552-C35B5D8F1FA5}"/>
              </a:ext>
            </a:extLst>
          </p:cNvPr>
          <p:cNvSpPr/>
          <p:nvPr/>
        </p:nvSpPr>
        <p:spPr>
          <a:xfrm>
            <a:off x="2953788" y="4062788"/>
            <a:ext cx="1047404" cy="104740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helloWorld.o</a:t>
            </a:r>
            <a:endParaRPr lang="he-IL" sz="1400" dirty="0">
              <a:solidFill>
                <a:schemeClr val="tx1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65FDE9B-B2EB-498B-A1AF-618928B89A7B}"/>
              </a:ext>
            </a:extLst>
          </p:cNvPr>
          <p:cNvSpPr/>
          <p:nvPr/>
        </p:nvSpPr>
        <p:spPr>
          <a:xfrm>
            <a:off x="5048596" y="4062788"/>
            <a:ext cx="1047404" cy="104740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run.o</a:t>
            </a:r>
            <a:endParaRPr lang="he-IL" dirty="0">
              <a:solidFill>
                <a:schemeClr val="tx1"/>
              </a:solidFill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5A5593F-4369-4B87-8A1B-1D66E2D3BD96}"/>
              </a:ext>
            </a:extLst>
          </p:cNvPr>
          <p:cNvCxnSpPr>
            <a:cxnSpLocks/>
            <a:stCxn id="7" idx="0"/>
            <a:endCxn id="6" idx="3"/>
          </p:cNvCxnSpPr>
          <p:nvPr/>
        </p:nvCxnSpPr>
        <p:spPr>
          <a:xfrm flipV="1">
            <a:off x="3477490" y="3574120"/>
            <a:ext cx="677091" cy="488668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267EDB4-692F-4F27-9645-EE928D226A27}"/>
              </a:ext>
            </a:extLst>
          </p:cNvPr>
          <p:cNvCxnSpPr>
            <a:cxnSpLocks/>
            <a:stCxn id="8" idx="0"/>
            <a:endCxn id="6" idx="5"/>
          </p:cNvCxnSpPr>
          <p:nvPr/>
        </p:nvCxnSpPr>
        <p:spPr>
          <a:xfrm flipH="1" flipV="1">
            <a:off x="4895207" y="3574120"/>
            <a:ext cx="677091" cy="488668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BB0B6F9C-5926-4795-BAD0-A78B9FFB85FF}"/>
              </a:ext>
            </a:extLst>
          </p:cNvPr>
          <p:cNvSpPr/>
          <p:nvPr/>
        </p:nvSpPr>
        <p:spPr>
          <a:xfrm>
            <a:off x="5048596" y="5445471"/>
            <a:ext cx="1047404" cy="104740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Run.cpp</a:t>
            </a:r>
            <a:endParaRPr lang="he-IL" sz="1400" dirty="0">
              <a:solidFill>
                <a:schemeClr val="tx1"/>
              </a:solidFill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76CB52D-1435-4F00-990D-BD5167A476D8}"/>
              </a:ext>
            </a:extLst>
          </p:cNvPr>
          <p:cNvCxnSpPr>
            <a:cxnSpLocks/>
            <a:stCxn id="25" idx="0"/>
            <a:endCxn id="8" idx="4"/>
          </p:cNvCxnSpPr>
          <p:nvPr/>
        </p:nvCxnSpPr>
        <p:spPr>
          <a:xfrm flipV="1">
            <a:off x="5572298" y="5110192"/>
            <a:ext cx="0" cy="335279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DD156FE1-E202-438B-98D0-DD39F840E626}"/>
              </a:ext>
            </a:extLst>
          </p:cNvPr>
          <p:cNvSpPr/>
          <p:nvPr/>
        </p:nvSpPr>
        <p:spPr>
          <a:xfrm>
            <a:off x="4001192" y="1280608"/>
            <a:ext cx="1047404" cy="104740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all</a:t>
            </a:r>
            <a:endParaRPr lang="he-IL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159D691-81FE-4B4A-8B8D-96D24376E70D}"/>
              </a:ext>
            </a:extLst>
          </p:cNvPr>
          <p:cNvCxnSpPr>
            <a:stCxn id="12" idx="4"/>
            <a:endCxn id="6" idx="0"/>
          </p:cNvCxnSpPr>
          <p:nvPr/>
        </p:nvCxnSpPr>
        <p:spPr>
          <a:xfrm>
            <a:off x="4524894" y="2328012"/>
            <a:ext cx="0" cy="35209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B39F4A7B-EA7A-4AAE-9A03-20F02997D797}"/>
              </a:ext>
            </a:extLst>
          </p:cNvPr>
          <p:cNvSpPr/>
          <p:nvPr/>
        </p:nvSpPr>
        <p:spPr>
          <a:xfrm>
            <a:off x="2953788" y="5445471"/>
            <a:ext cx="1047404" cy="104740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helloWorld.cpp</a:t>
            </a:r>
            <a:endParaRPr lang="he-IL" sz="1400" dirty="0">
              <a:solidFill>
                <a:schemeClr val="tx1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8546F39-A0BF-4C7B-A83D-476D352EB63B}"/>
              </a:ext>
            </a:extLst>
          </p:cNvPr>
          <p:cNvCxnSpPr>
            <a:cxnSpLocks/>
            <a:stCxn id="15" idx="0"/>
          </p:cNvCxnSpPr>
          <p:nvPr/>
        </p:nvCxnSpPr>
        <p:spPr>
          <a:xfrm flipV="1">
            <a:off x="3477490" y="5110192"/>
            <a:ext cx="0" cy="335279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204B9D9D-9094-4F96-8A4A-9ED995D10632}"/>
              </a:ext>
            </a:extLst>
          </p:cNvPr>
          <p:cNvSpPr/>
          <p:nvPr/>
        </p:nvSpPr>
        <p:spPr>
          <a:xfrm>
            <a:off x="7740352" y="5330671"/>
            <a:ext cx="1047404" cy="104740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clean</a:t>
            </a:r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195196A-36A0-467B-8AD3-2F40D58E2610}"/>
              </a:ext>
            </a:extLst>
          </p:cNvPr>
          <p:cNvSpPr/>
          <p:nvPr/>
        </p:nvSpPr>
        <p:spPr>
          <a:xfrm>
            <a:off x="5306556" y="2994716"/>
            <a:ext cx="4584582" cy="31724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g++ -o bin/hello bin/</a:t>
            </a:r>
            <a:r>
              <a:rPr lang="en-US" dirty="0" err="1">
                <a:solidFill>
                  <a:schemeClr val="tx1"/>
                </a:solidFill>
              </a:rPr>
              <a:t>helloWorld.o</a:t>
            </a:r>
            <a:r>
              <a:rPr lang="en-US" dirty="0">
                <a:solidFill>
                  <a:schemeClr val="tx1"/>
                </a:solidFill>
              </a:rPr>
              <a:t> bin/</a:t>
            </a:r>
            <a:r>
              <a:rPr lang="en-US" dirty="0" err="1">
                <a:solidFill>
                  <a:schemeClr val="tx1"/>
                </a:solidFill>
              </a:rPr>
              <a:t>run.o</a:t>
            </a:r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46A5587-35C8-41CA-B11A-2D54DE9868DA}"/>
              </a:ext>
            </a:extLst>
          </p:cNvPr>
          <p:cNvSpPr/>
          <p:nvPr/>
        </p:nvSpPr>
        <p:spPr>
          <a:xfrm>
            <a:off x="6390875" y="4370023"/>
            <a:ext cx="2734464" cy="31724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g++ -g –Wall –</a:t>
            </a:r>
            <a:r>
              <a:rPr lang="en-US" dirty="0" err="1">
                <a:solidFill>
                  <a:schemeClr val="tx1"/>
                </a:solidFill>
              </a:rPr>
              <a:t>Weffc</a:t>
            </a:r>
            <a:r>
              <a:rPr lang="en-US" dirty="0">
                <a:solidFill>
                  <a:schemeClr val="tx1"/>
                </a:solidFill>
              </a:rPr>
              <a:t>++ …</a:t>
            </a:r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15E8EA4-00D3-4620-8343-ECA3E3B270CF}"/>
              </a:ext>
            </a:extLst>
          </p:cNvPr>
          <p:cNvSpPr/>
          <p:nvPr/>
        </p:nvSpPr>
        <p:spPr>
          <a:xfrm>
            <a:off x="65935" y="4427869"/>
            <a:ext cx="2734464" cy="31724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g++ -g –Wall –</a:t>
            </a:r>
            <a:r>
              <a:rPr lang="en-US" dirty="0" err="1">
                <a:solidFill>
                  <a:schemeClr val="tx1"/>
                </a:solidFill>
              </a:rPr>
              <a:t>Weffc</a:t>
            </a:r>
            <a:r>
              <a:rPr lang="en-US" dirty="0">
                <a:solidFill>
                  <a:schemeClr val="tx1"/>
                </a:solidFill>
              </a:rPr>
              <a:t>++ …</a:t>
            </a:r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2CCEB00-4E82-4570-98A6-2AE26657A21E}"/>
              </a:ext>
            </a:extLst>
          </p:cNvPr>
          <p:cNvSpPr/>
          <p:nvPr/>
        </p:nvSpPr>
        <p:spPr>
          <a:xfrm>
            <a:off x="8996318" y="5695753"/>
            <a:ext cx="2734464" cy="31724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rm –f bin/*</a:t>
            </a:r>
            <a:endParaRPr lang="he-IL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3436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20" grpId="0" animBg="1"/>
      <p:bldP spid="22" grpId="0" animBg="1"/>
      <p:bldP spid="2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9D6D6-7651-4CCB-B82D-EFCCFE283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types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635B90-03A5-47B4-A0A7-517E47CB35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C++ has primitive (built-in) types. For example : </a:t>
            </a:r>
            <a:r>
              <a:rPr lang="en-US" dirty="0" err="1"/>
              <a:t>int</a:t>
            </a:r>
            <a:r>
              <a:rPr lang="en-US" dirty="0"/>
              <a:t>, double, long, bool, char</a:t>
            </a:r>
          </a:p>
          <a:p>
            <a:r>
              <a:rPr lang="en-US" dirty="0"/>
              <a:t>C++ uses the </a:t>
            </a:r>
            <a:r>
              <a:rPr lang="en-US" dirty="0" err="1"/>
              <a:t>const</a:t>
            </a:r>
            <a:r>
              <a:rPr lang="en-US" dirty="0"/>
              <a:t> keyword, instead of Java’s final.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707596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485AD-BF52-4FE0-AB50-88319E8E0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standard library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B8A704-F53D-4EF6-9CED-94FFA7B2CE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collection of classes and functions written in the core language, and is part of the C++ standard. It contains 4 major components: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Algorithms – Such as binary search or lower bound.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Containers – Such as vectors, set, stack, map, queue,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Functional – Set of class templates for function objects (Function wrappers). We will discuss templates in a later class.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Iterators – Iterators for STL containers.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737094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49E2B-9973-4644-B97A-B74DE7F12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strings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E29B02-4575-4B9A-A3BC-C8121284DF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C++ string type is called </a:t>
            </a:r>
            <a:r>
              <a:rPr lang="en-US" b="1" dirty="0"/>
              <a:t>string</a:t>
            </a:r>
            <a:r>
              <a:rPr lang="en-US" dirty="0"/>
              <a:t>. It comes under the namespace std. (We will elaborate on namespaces later)</a:t>
            </a:r>
          </a:p>
          <a:p>
            <a:r>
              <a:rPr lang="en-US" dirty="0"/>
              <a:t>It is quite similar to the Java String, although there are a few differences:</a:t>
            </a:r>
          </a:p>
          <a:p>
            <a:endParaRPr lang="he-IL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B21EAC5-1A3F-4087-8AAE-14A1888CE6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1623538"/>
              </p:ext>
            </p:extLst>
          </p:nvPr>
        </p:nvGraphicFramePr>
        <p:xfrm>
          <a:off x="2032000" y="3716020"/>
          <a:ext cx="8128000" cy="178308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34143433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433020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Java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C++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2654159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pPr marL="0" marR="0" lvl="0" indent="0" algn="l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Immutable</a:t>
                      </a:r>
                      <a:endParaRPr lang="he-IL" dirty="0"/>
                    </a:p>
                    <a:p>
                      <a:pPr rtl="1"/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Can be modified.</a:t>
                      </a:r>
                      <a:endParaRPr lang="he-IL" dirty="0"/>
                    </a:p>
                    <a:p>
                      <a:pPr rtl="1"/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93516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Comparison is done using the methods equals() and </a:t>
                      </a:r>
                      <a:r>
                        <a:rPr lang="en-US" dirty="0" err="1"/>
                        <a:t>compareTo</a:t>
                      </a:r>
                      <a:r>
                        <a:rPr lang="en-US" dirty="0"/>
                        <a:t>()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Comparison is done using the operators == &lt;= </a:t>
                      </a:r>
                      <a:r>
                        <a:rPr lang="en-US" sz="2000" dirty="0"/>
                        <a:t>&gt;= &lt; &gt; (lexicographic order)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35191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6911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9BAFB-1AE3-4649-96BE-CC42FE0E2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vector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8EB306-B07B-4F52-A2ED-B1CE4BA374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Vector also comes under the namespace std.</a:t>
            </a:r>
          </a:p>
          <a:p>
            <a:r>
              <a:rPr lang="en-US" dirty="0"/>
              <a:t>The C++ vector combines the best features of arrays and vectors in Java.</a:t>
            </a:r>
          </a:p>
          <a:p>
            <a:r>
              <a:rPr lang="en-US" dirty="0"/>
              <a:t> A C++ vector has convenient element access (random access).</a:t>
            </a:r>
          </a:p>
          <a:p>
            <a:r>
              <a:rPr lang="en-US" dirty="0"/>
              <a:t>It grows dynamically. </a:t>
            </a:r>
          </a:p>
          <a:p>
            <a:r>
              <a:rPr lang="en-US" dirty="0"/>
              <a:t>If T is a type, then vector&lt;T&gt; is a dynamic array of elements of type T.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556795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TM03090430[[fn=Banded]]</Template>
  <TotalTime>1542</TotalTime>
  <Words>1412</Words>
  <Application>Microsoft Office PowerPoint</Application>
  <PresentationFormat>Widescreen</PresentationFormat>
  <Paragraphs>138</Paragraphs>
  <Slides>22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Arial Unicode MS</vt:lpstr>
      <vt:lpstr>Calibri</vt:lpstr>
      <vt:lpstr>Calibri Light</vt:lpstr>
      <vt:lpstr>Office Theme</vt:lpstr>
      <vt:lpstr>SPL – PS1</vt:lpstr>
      <vt:lpstr>Basic terminology and C++ functions</vt:lpstr>
      <vt:lpstr>C++ functions (cont)</vt:lpstr>
      <vt:lpstr>Forward declarations and header files</vt:lpstr>
      <vt:lpstr>Header files (cont)</vt:lpstr>
      <vt:lpstr>Compiling and Linking a C++ program</vt:lpstr>
      <vt:lpstr>Compiling and Linking a C++ program</vt:lpstr>
      <vt:lpstr>Compiling and Linking a C++ program</vt:lpstr>
      <vt:lpstr>Compiling and Linking a C++ program</vt:lpstr>
      <vt:lpstr>Differences from Java</vt:lpstr>
      <vt:lpstr>PowerPoint Presentation</vt:lpstr>
      <vt:lpstr>Compiling C++ manually </vt:lpstr>
      <vt:lpstr>g++ Parameters</vt:lpstr>
      <vt:lpstr>Makefiles</vt:lpstr>
      <vt:lpstr>Makefiles (cont)</vt:lpstr>
      <vt:lpstr>Makefiles</vt:lpstr>
      <vt:lpstr>Makefile example</vt:lpstr>
      <vt:lpstr>Makefiles</vt:lpstr>
      <vt:lpstr>C++ types</vt:lpstr>
      <vt:lpstr>C++ standard library</vt:lpstr>
      <vt:lpstr>C++ strings</vt:lpstr>
      <vt:lpstr>C++ vector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SPL – PS1</dc:title>
  <dc:creator>Dolav Nitay</dc:creator>
  <cp:lastModifiedBy>Dolav Nitay</cp:lastModifiedBy>
  <cp:revision>56</cp:revision>
  <dcterms:created xsi:type="dcterms:W3CDTF">2018-10-13T10:23:11Z</dcterms:created>
  <dcterms:modified xsi:type="dcterms:W3CDTF">2020-10-16T10:05:07Z</dcterms:modified>
</cp:coreProperties>
</file>