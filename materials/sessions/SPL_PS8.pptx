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66" r:id="rId4"/>
    <p:sldId id="267" r:id="rId5"/>
    <p:sldId id="268" r:id="rId6"/>
    <p:sldId id="269" r:id="rId7"/>
    <p:sldId id="273" r:id="rId8"/>
    <p:sldId id="279" r:id="rId9"/>
    <p:sldId id="280" r:id="rId10"/>
    <p:sldId id="281" r:id="rId11"/>
    <p:sldId id="284" r:id="rId12"/>
    <p:sldId id="283" r:id="rId13"/>
    <p:sldId id="282" r:id="rId14"/>
    <p:sldId id="285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3" autoAdjust="0"/>
    <p:restoredTop sz="94767"/>
  </p:normalViewPr>
  <p:slideViewPr>
    <p:cSldViewPr snapToGrid="0">
      <p:cViewPr varScale="1">
        <p:scale>
          <a:sx n="101" d="100"/>
          <a:sy n="101" d="100"/>
        </p:scale>
        <p:origin x="9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B6C04-6A4F-714C-BF0D-ADAD47B33895}" type="datetimeFigureOut">
              <a:rPr lang="en-US" smtClean="0"/>
              <a:t>12/26/24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FAE03-7847-D642-BC33-D5C897F377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8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FAD9F-35D3-4E0F-A36F-4418837E09CD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4782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355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6481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130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2460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429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9580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765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252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460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1066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433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1590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5304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3159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6535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8642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8D038-5F0B-4089-83C5-F06D8D138375}" type="datetimeFigureOut">
              <a:rPr lang="he-IL" smtClean="0"/>
              <a:t>כ"ה.כסלו.תשפ"ה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2ED264-19A8-46BA-87BB-C08F41786C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4803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F983-F0F3-4EE9-9A2E-D94B77FBD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05933" y="1566334"/>
            <a:ext cx="7766936" cy="1646302"/>
          </a:xfrm>
        </p:spPr>
        <p:txBody>
          <a:bodyPr/>
          <a:lstStyle/>
          <a:p>
            <a:r>
              <a:rPr lang="en-US" dirty="0"/>
              <a:t>SPL – PS8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11409C-7C68-404D-B34E-F095079BB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05933" y="3212633"/>
            <a:ext cx="7766936" cy="1096899"/>
          </a:xfrm>
        </p:spPr>
        <p:txBody>
          <a:bodyPr/>
          <a:lstStyle/>
          <a:p>
            <a:r>
              <a:rPr lang="en-US" dirty="0"/>
              <a:t>More concurrency issues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1183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CC11-1044-43C2-9CE8-8F8D0E44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58F40-F281-4B7D-859A-8F0E12B70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reminder to Liveness:</a:t>
            </a:r>
          </a:p>
          <a:p>
            <a:pPr lvl="1"/>
            <a:r>
              <a:rPr lang="en-US" dirty="0"/>
              <a:t>Deadlock</a:t>
            </a:r>
          </a:p>
          <a:p>
            <a:pPr lvl="1"/>
            <a:r>
              <a:rPr lang="en-US" dirty="0"/>
              <a:t>Starvation</a:t>
            </a:r>
          </a:p>
          <a:p>
            <a:pPr lvl="1"/>
            <a:r>
              <a:rPr lang="en-US" dirty="0" err="1"/>
              <a:t>Livelock</a:t>
            </a:r>
            <a:endParaRPr lang="en-US" dirty="0"/>
          </a:p>
          <a:p>
            <a:r>
              <a:rPr lang="en-US" dirty="0"/>
              <a:t>Atomic actions – another example</a:t>
            </a:r>
          </a:p>
          <a:p>
            <a:r>
              <a:rPr lang="en-US" dirty="0"/>
              <a:t>Thread safe singleton design pattern</a:t>
            </a:r>
          </a:p>
          <a:p>
            <a:r>
              <a:rPr lang="en-US" dirty="0" err="1"/>
              <a:t>Callables</a:t>
            </a:r>
            <a:r>
              <a:rPr lang="en-US" dirty="0"/>
              <a:t> and Futures</a:t>
            </a:r>
          </a:p>
          <a:p>
            <a:r>
              <a:rPr lang="en-US" dirty="0"/>
              <a:t>Thread (safe) cancellation – Interrupt mechanism</a:t>
            </a:r>
          </a:p>
        </p:txBody>
      </p:sp>
    </p:spTree>
    <p:extLst>
      <p:ext uri="{BB962C8B-B14F-4D97-AF65-F5344CB8AC3E}">
        <p14:creationId xmlns:p14="http://schemas.microsoft.com/office/powerpoint/2010/main" val="2497638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2FDA5-8100-4A03-99AD-6CA2164D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Liveness – a reminder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EAA64-EF54-4A76-A4D0-BB78A7B24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7989"/>
            <a:ext cx="8596668" cy="5065711"/>
          </a:xfrm>
        </p:spPr>
        <p:txBody>
          <a:bodyPr/>
          <a:lstStyle/>
          <a:p>
            <a:r>
              <a:rPr lang="en-US" dirty="0"/>
              <a:t>A concurrent application’s ability to execute in a timely manner is known as it’s </a:t>
            </a:r>
            <a:r>
              <a:rPr lang="en-US" b="1" dirty="0"/>
              <a:t>liveness</a:t>
            </a:r>
            <a:r>
              <a:rPr lang="en-US" dirty="0"/>
              <a:t>.</a:t>
            </a:r>
          </a:p>
          <a:p>
            <a:r>
              <a:rPr lang="en-US" dirty="0"/>
              <a:t>There are several situations that can hinder </a:t>
            </a:r>
            <a:r>
              <a:rPr lang="en-US" b="1" dirty="0"/>
              <a:t>liveness</a:t>
            </a:r>
            <a:r>
              <a:rPr lang="en-US" dirty="0"/>
              <a:t>, we’ll go over some of them in this practical session.</a:t>
            </a:r>
          </a:p>
          <a:p>
            <a:endParaRPr lang="en-US" dirty="0"/>
          </a:p>
          <a:p>
            <a:r>
              <a:rPr lang="en-US" dirty="0"/>
              <a:t>We can estimate a program’s performance by its:</a:t>
            </a:r>
          </a:p>
          <a:p>
            <a:pPr lvl="1"/>
            <a:r>
              <a:rPr lang="en-US" dirty="0"/>
              <a:t>Throughput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Efficiency</a:t>
            </a:r>
          </a:p>
          <a:p>
            <a:pPr lvl="1"/>
            <a:r>
              <a:rPr lang="en-US" dirty="0"/>
              <a:t>Scalability</a:t>
            </a:r>
          </a:p>
          <a:p>
            <a:r>
              <a:rPr lang="en-US" dirty="0"/>
              <a:t>What could hurt our program’s performance?</a:t>
            </a:r>
          </a:p>
          <a:p>
            <a:pPr lvl="1"/>
            <a:r>
              <a:rPr lang="en-US" dirty="0"/>
              <a:t>I/O: Such as network requests, file access, or keyboard input.</a:t>
            </a:r>
          </a:p>
          <a:p>
            <a:pPr lvl="1"/>
            <a:r>
              <a:rPr lang="en-US" dirty="0"/>
              <a:t>Poor Synchronization: Inefficient coordination of concurrent tasks.</a:t>
            </a:r>
          </a:p>
        </p:txBody>
      </p:sp>
    </p:spTree>
    <p:extLst>
      <p:ext uri="{BB962C8B-B14F-4D97-AF65-F5344CB8AC3E}">
        <p14:creationId xmlns:p14="http://schemas.microsoft.com/office/powerpoint/2010/main" val="303719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EDD6-AFD4-4EF0-A5C5-948EB4AB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7FFB-FF47-4912-9F96-4676DCA3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6089"/>
            <a:ext cx="8596668" cy="3880773"/>
          </a:xfrm>
        </p:spPr>
        <p:txBody>
          <a:bodyPr/>
          <a:lstStyle/>
          <a:p>
            <a:r>
              <a:rPr lang="en-US" dirty="0"/>
              <a:t>A situation in which two or more threads are </a:t>
            </a:r>
            <a:r>
              <a:rPr lang="en-US" b="1" dirty="0"/>
              <a:t>blocked</a:t>
            </a:r>
            <a:r>
              <a:rPr lang="en-US" dirty="0"/>
              <a:t>, </a:t>
            </a:r>
            <a:r>
              <a:rPr lang="en-US" b="1" dirty="0"/>
              <a:t>waiting</a:t>
            </a:r>
            <a:r>
              <a:rPr lang="en-US" dirty="0"/>
              <a:t> </a:t>
            </a:r>
            <a:r>
              <a:rPr lang="en-US" b="1" dirty="0"/>
              <a:t>for each other forever.</a:t>
            </a:r>
          </a:p>
          <a:p>
            <a:r>
              <a:rPr lang="en-US" dirty="0"/>
              <a:t>Can be solved by resource ordering.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E2C0D-D426-4E47-AAD6-A84DA525D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058" y="3454401"/>
            <a:ext cx="4178944" cy="239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04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C649-9710-4925-9130-18C6B396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Starvation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3A611-8DFF-4833-B1B9-B4181FDA4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Describes a situation in which a thread is unable to gain </a:t>
            </a:r>
            <a:r>
              <a:rPr lang="en-US" b="1" dirty="0"/>
              <a:t>regular access </a:t>
            </a:r>
            <a:r>
              <a:rPr lang="en-US" dirty="0"/>
              <a:t>to a shared resource.</a:t>
            </a:r>
          </a:p>
          <a:p>
            <a:r>
              <a:rPr lang="en-US" dirty="0"/>
              <a:t>Can happen when a shared resource is being held for a long period of time by a “greedy” thread.</a:t>
            </a:r>
          </a:p>
          <a:p>
            <a:r>
              <a:rPr lang="en-US" dirty="0"/>
              <a:t>Can also happen when using priority scheduling.</a:t>
            </a:r>
          </a:p>
          <a:p>
            <a:r>
              <a:rPr lang="en-US" dirty="0"/>
              <a:t>Can be solved by introducing fairness to the allocation of the shared resource.</a:t>
            </a:r>
          </a:p>
          <a:p>
            <a:r>
              <a:rPr lang="en-US" dirty="0"/>
              <a:t>In Java, can be done using </a:t>
            </a:r>
            <a:r>
              <a:rPr lang="en-US" b="1" dirty="0"/>
              <a:t>fair semaphores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586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D840-243A-4BB8-AACF-DEF6DB9A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Livelock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73380-D02C-404A-A6C2-EB1E477D7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threads are </a:t>
            </a:r>
            <a:r>
              <a:rPr lang="en-US" b="1" dirty="0"/>
              <a:t>unable to make further progress</a:t>
            </a:r>
            <a:r>
              <a:rPr lang="en-US" dirty="0"/>
              <a:t> – like in a deadlock.</a:t>
            </a:r>
          </a:p>
          <a:p>
            <a:r>
              <a:rPr lang="en-US" dirty="0"/>
              <a:t>Unlike deadlock, the threads are </a:t>
            </a:r>
            <a:r>
              <a:rPr lang="en-US" b="1" dirty="0"/>
              <a:t>not blocked </a:t>
            </a:r>
            <a:r>
              <a:rPr lang="en-US" dirty="0"/>
              <a:t>– they are too busy responding to each other to resume work.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05712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DFEFA-E7BC-289D-4A78-7F09D96A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11" y="1234613"/>
            <a:ext cx="10972359" cy="3880773"/>
          </a:xfrm>
        </p:spPr>
        <p:txBody>
          <a:bodyPr>
            <a:normAutofit/>
          </a:bodyPr>
          <a:lstStyle/>
          <a:p>
            <a:r>
              <a:rPr lang="en-US" dirty="0"/>
              <a:t>Most CPU’s today offer a set of atomic instructions designed for multi-threading.</a:t>
            </a:r>
          </a:p>
          <a:p>
            <a:r>
              <a:rPr lang="en-US" dirty="0"/>
              <a:t>An important such action is the CAS (Compare and set) action.</a:t>
            </a:r>
          </a:p>
          <a:p>
            <a:r>
              <a:rPr lang="en-US" dirty="0"/>
              <a:t>The CAS action is atomic, meaning that the scheduler can’t stop the thread during the action, only before or after.</a:t>
            </a:r>
          </a:p>
          <a:p>
            <a:r>
              <a:rPr lang="en-US" dirty="0"/>
              <a:t>A reminder: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6C3202-9600-4273-A36D-65707092A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4471707" cy="660400"/>
          </a:xfrm>
        </p:spPr>
        <p:txBody>
          <a:bodyPr>
            <a:normAutofit/>
          </a:bodyPr>
          <a:lstStyle/>
          <a:p>
            <a:r>
              <a:rPr lang="en-US" dirty="0"/>
              <a:t>Atomic instructions</a:t>
            </a:r>
            <a:endParaRPr lang="he-IL" dirty="0"/>
          </a:p>
        </p:txBody>
      </p:sp>
      <p:pic>
        <p:nvPicPr>
          <p:cNvPr id="3" name="Picture 2" descr="A computer code on a blue background&#10;&#10;Description automatically generated">
            <a:extLst>
              <a:ext uri="{FF2B5EF4-FFF2-40B4-BE49-F238E27FC236}">
                <a16:creationId xmlns:a16="http://schemas.microsoft.com/office/drawing/2014/main" id="{B21F54F5-14B1-60F2-DB7A-9E7361B1A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30" y="3429000"/>
            <a:ext cx="6989570" cy="23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56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DFEFA-E7BC-289D-4A78-7F09D96A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7" y="1311337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The CAS action can be used through the Java’s atomic library.</a:t>
            </a:r>
          </a:p>
          <a:p>
            <a:r>
              <a:rPr lang="en-US" dirty="0"/>
              <a:t>We could use the CAS action to write lock-free implementations for thread-safe classes.</a:t>
            </a:r>
            <a:endParaRPr lang="he-IL" dirty="0"/>
          </a:p>
          <a:p>
            <a:r>
              <a:rPr lang="en-US" dirty="0"/>
              <a:t>A reminder to ”counter” free-lock class implementation:</a:t>
            </a:r>
          </a:p>
        </p:txBody>
      </p:sp>
      <p:pic>
        <p:nvPicPr>
          <p:cNvPr id="3" name="Picture 2" descr="A computer code with colorful text&#10;&#10;Description automatically generated">
            <a:extLst>
              <a:ext uri="{FF2B5EF4-FFF2-40B4-BE49-F238E27FC236}">
                <a16:creationId xmlns:a16="http://schemas.microsoft.com/office/drawing/2014/main" id="{EF909DD4-0A16-4E51-7084-27DF34F850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33" r="1503"/>
          <a:stretch/>
        </p:blipFill>
        <p:spPr>
          <a:xfrm>
            <a:off x="1320799" y="3162299"/>
            <a:ext cx="5614097" cy="346480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32BDCF2-E93B-5366-2A04-D70FA0F3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4471707" cy="660400"/>
          </a:xfrm>
        </p:spPr>
        <p:txBody>
          <a:bodyPr>
            <a:normAutofit/>
          </a:bodyPr>
          <a:lstStyle/>
          <a:p>
            <a:r>
              <a:rPr lang="en-US" dirty="0"/>
              <a:t>Atomic instructions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4127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90DFEFA-E7BC-289D-4A78-7F09D96AD2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3826" y="1311337"/>
                <a:ext cx="9196173" cy="388077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AtomicInteger is a class that holds an integer we can perform CAS on.</a:t>
                </a:r>
              </a:p>
              <a:p>
                <a:r>
                  <a:rPr lang="en-US" dirty="0"/>
                  <a:t>There is no usage of synchronized anywhere in the class.</a:t>
                </a:r>
              </a:p>
              <a:p>
                <a:r>
                  <a:rPr lang="en-US" dirty="0"/>
                  <a:t>If there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threads trying to invoke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𝑎𝑑𝑑</m:t>
                    </m:r>
                  </m:oMath>
                </a14:m>
                <a:r>
                  <a:rPr lang="en-US" dirty="0"/>
                  <a:t> one time all at once, then </a:t>
                </a:r>
                <a:r>
                  <a:rPr lang="en-US" dirty="0" err="1"/>
                  <a:t>w.l.o.g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will enter the while loop once,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will enter at most twice,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will enter at most n times. In total: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attempts.</a:t>
                </a:r>
              </a:p>
              <a:p>
                <a:r>
                  <a:rPr lang="en-US" dirty="0"/>
                  <a:t>The code runs significantly faster than a synchronized one, as we do not send a thread to sleep whenever a concurrent access happens.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90DFEFA-E7BC-289D-4A78-7F09D96AD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3826" y="1311337"/>
                <a:ext cx="9196173" cy="3880773"/>
              </a:xfrm>
              <a:blipFill>
                <a:blip r:embed="rId2"/>
                <a:stretch>
                  <a:fillRect l="-138" t="-654" r="-2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B32BDCF2-E93B-5366-2A04-D70FA0F3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7573770" cy="660400"/>
          </a:xfrm>
        </p:spPr>
        <p:txBody>
          <a:bodyPr>
            <a:normAutofit fontScale="90000"/>
          </a:bodyPr>
          <a:lstStyle/>
          <a:p>
            <a:r>
              <a:rPr lang="en-US" dirty="0"/>
              <a:t>Atomic instructions – Counter Summary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2644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DFEFA-E7BC-289D-4A78-7F09D96A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6" y="1311337"/>
            <a:ext cx="9196173" cy="1228663"/>
          </a:xfrm>
        </p:spPr>
        <p:txBody>
          <a:bodyPr>
            <a:normAutofit/>
          </a:bodyPr>
          <a:lstStyle/>
          <a:p>
            <a:r>
              <a:rPr lang="en-US" dirty="0"/>
              <a:t>Pair class has two class members – first, second.</a:t>
            </a:r>
          </a:p>
          <a:p>
            <a:r>
              <a:rPr lang="en-US" dirty="0"/>
              <a:t>We wish to implement Pair in a lock-free design pattern.</a:t>
            </a:r>
          </a:p>
          <a:p>
            <a:r>
              <a:rPr lang="en-US" dirty="0"/>
              <a:t>How would you do it?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2BDCF2-E93B-5366-2A04-D70FA0F3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7573770" cy="660400"/>
          </a:xfrm>
        </p:spPr>
        <p:txBody>
          <a:bodyPr>
            <a:normAutofit/>
          </a:bodyPr>
          <a:lstStyle/>
          <a:p>
            <a:r>
              <a:rPr lang="en-US" dirty="0"/>
              <a:t>Atomic Reference - Pair Example</a:t>
            </a:r>
            <a:endParaRPr lang="he-IL" dirty="0"/>
          </a:p>
        </p:txBody>
      </p:sp>
      <p:pic>
        <p:nvPicPr>
          <p:cNvPr id="3" name="Picture 2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5D79F3A6-CA40-A136-C5C2-F5E3FFD77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0" y="2836279"/>
            <a:ext cx="5099050" cy="3659401"/>
          </a:xfrm>
          <a:prstGeom prst="rect">
            <a:avLst/>
          </a:prstGeom>
        </p:spPr>
      </p:pic>
      <p:sp>
        <p:nvSpPr>
          <p:cNvPr id="5" name="Connector 4">
            <a:extLst>
              <a:ext uri="{FF2B5EF4-FFF2-40B4-BE49-F238E27FC236}">
                <a16:creationId xmlns:a16="http://schemas.microsoft.com/office/drawing/2014/main" id="{119D6B6C-23AE-9C41-1926-7DB65ED49B84}"/>
              </a:ext>
            </a:extLst>
          </p:cNvPr>
          <p:cNvSpPr/>
          <p:nvPr/>
        </p:nvSpPr>
        <p:spPr>
          <a:xfrm>
            <a:off x="8163126" y="3046660"/>
            <a:ext cx="2759340" cy="217129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dirty="0"/>
              <a:t>We’ll use AtomicReference to wrap a Pair</a:t>
            </a:r>
          </a:p>
        </p:txBody>
      </p:sp>
      <p:pic>
        <p:nvPicPr>
          <p:cNvPr id="7" name="Picture 6" descr="A computer screen shot of code&#10;&#10;Description automatically generated">
            <a:extLst>
              <a:ext uri="{FF2B5EF4-FFF2-40B4-BE49-F238E27FC236}">
                <a16:creationId xmlns:a16="http://schemas.microsoft.com/office/drawing/2014/main" id="{BF19784E-3B59-7322-FA1F-26E2CE05D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50" y="2705040"/>
            <a:ext cx="7034231" cy="392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07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DFEFA-E7BC-289D-4A78-7F09D96A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6" y="1311337"/>
            <a:ext cx="9196173" cy="1228663"/>
          </a:xfrm>
        </p:spPr>
        <p:txBody>
          <a:bodyPr>
            <a:normAutofit/>
          </a:bodyPr>
          <a:lstStyle/>
          <a:p>
            <a:r>
              <a:rPr lang="en-US" dirty="0"/>
              <a:t>Using the </a:t>
            </a:r>
            <a:r>
              <a:rPr lang="en-US" dirty="0" err="1"/>
              <a:t>AtomicReference</a:t>
            </a:r>
            <a:r>
              <a:rPr lang="en-US" dirty="0"/>
              <a:t>, we can create lock-free implementations for more advanced data structures.</a:t>
            </a:r>
          </a:p>
          <a:p>
            <a:r>
              <a:rPr lang="en-US" dirty="0"/>
              <a:t>For example, lock-free implementation of a LinkedList: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2BDCF2-E93B-5366-2A04-D70FA0F3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7573770" cy="660400"/>
          </a:xfrm>
        </p:spPr>
        <p:txBody>
          <a:bodyPr>
            <a:normAutofit fontScale="90000"/>
          </a:bodyPr>
          <a:lstStyle/>
          <a:p>
            <a:r>
              <a:rPr lang="en-US" dirty="0"/>
              <a:t>Atomic Reference - LinkedList Example</a:t>
            </a:r>
            <a:endParaRPr lang="he-IL" dirty="0"/>
          </a:p>
        </p:txBody>
      </p:sp>
      <p:pic>
        <p:nvPicPr>
          <p:cNvPr id="6" name="Picture 5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79DDF3BA-321D-7108-9E99-073A747EA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510" y="2540000"/>
            <a:ext cx="4617138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1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DFEFA-E7BC-289D-4A78-7F09D96A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64" y="1300827"/>
            <a:ext cx="9196173" cy="2609021"/>
          </a:xfrm>
        </p:spPr>
        <p:txBody>
          <a:bodyPr>
            <a:normAutofit/>
          </a:bodyPr>
          <a:lstStyle/>
          <a:p>
            <a:r>
              <a:rPr lang="en-US" dirty="0"/>
              <a:t>Using the Lock-free data structures have their limitations.</a:t>
            </a:r>
          </a:p>
          <a:p>
            <a:r>
              <a:rPr lang="en-US" dirty="0"/>
              <a:t>Since there are no locks we cannot block threads, which may be a required property of the data structure, for example blocking queues.</a:t>
            </a:r>
          </a:p>
          <a:p>
            <a:r>
              <a:rPr lang="en-US" dirty="0"/>
              <a:t>Lock-free data structures are harder to write.</a:t>
            </a:r>
          </a:p>
          <a:p>
            <a:r>
              <a:rPr lang="en-US" dirty="0"/>
              <a:t>There are some cases in which the state of the data structure may be complex, and may require a lock-free implementation to copy a large amount of data, in such cases a synchronized approach may be better.</a:t>
            </a:r>
          </a:p>
          <a:p>
            <a:endParaRPr lang="en-US" dirty="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2BDCF2-E93B-5366-2A04-D70FA0F3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7573770" cy="660400"/>
          </a:xfrm>
        </p:spPr>
        <p:txBody>
          <a:bodyPr>
            <a:normAutofit fontScale="90000"/>
          </a:bodyPr>
          <a:lstStyle/>
          <a:p>
            <a:r>
              <a:rPr lang="en-US" dirty="0"/>
              <a:t>Lock-free Implementations (Summary)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2969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DFEFA-E7BC-289D-4A78-7F09D96A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6" y="1311338"/>
            <a:ext cx="9196173" cy="1589518"/>
          </a:xfrm>
        </p:spPr>
        <p:txBody>
          <a:bodyPr>
            <a:normAutofit/>
          </a:bodyPr>
          <a:lstStyle/>
          <a:p>
            <a:r>
              <a:rPr lang="en-US" dirty="0"/>
              <a:t>In some cases you’ll want to have exactly one instance of a class in your program.</a:t>
            </a:r>
          </a:p>
          <a:p>
            <a:r>
              <a:rPr lang="en-US" dirty="0"/>
              <a:t>Those types of objects are accessed throughout the program, and therefore require a global point of access.</a:t>
            </a:r>
          </a:p>
          <a:p>
            <a:r>
              <a:rPr lang="en-US" dirty="0"/>
              <a:t>We call such objects singletons. A naïve implementation could be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2BDCF2-E93B-5366-2A04-D70FA0F3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7573770" cy="660400"/>
          </a:xfrm>
        </p:spPr>
        <p:txBody>
          <a:bodyPr>
            <a:normAutofit/>
          </a:bodyPr>
          <a:lstStyle/>
          <a:p>
            <a:r>
              <a:rPr lang="en-US" dirty="0"/>
              <a:t>The Singleton Design Pattern</a:t>
            </a:r>
            <a:endParaRPr lang="he-IL" dirty="0"/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D02AE0D8-F807-5B94-5939-CBA47BD5B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55" y="3181611"/>
            <a:ext cx="5101319" cy="326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0DFEFA-E7BC-289D-4A78-7F09D96A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826" y="1311338"/>
            <a:ext cx="9196173" cy="1589518"/>
          </a:xfrm>
        </p:spPr>
        <p:txBody>
          <a:bodyPr>
            <a:normAutofit/>
          </a:bodyPr>
          <a:lstStyle/>
          <a:p>
            <a:r>
              <a:rPr lang="en-US" dirty="0"/>
              <a:t>In some cases you’ll want to have exactly one instance of a class in your program.</a:t>
            </a:r>
          </a:p>
          <a:p>
            <a:r>
              <a:rPr lang="en-US" dirty="0"/>
              <a:t>Those types of objects are accessed throughout the program, and therefore require a global point of access.</a:t>
            </a:r>
          </a:p>
          <a:p>
            <a:r>
              <a:rPr lang="en-US" dirty="0"/>
              <a:t>We call such objects singletons. A naïve implementation could be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32BDCF2-E93B-5366-2A04-D70FA0F3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230" y="144277"/>
            <a:ext cx="7573770" cy="660400"/>
          </a:xfrm>
        </p:spPr>
        <p:txBody>
          <a:bodyPr>
            <a:normAutofit/>
          </a:bodyPr>
          <a:lstStyle/>
          <a:p>
            <a:r>
              <a:rPr lang="en-US" dirty="0"/>
              <a:t>The Singleton Design Pattern</a:t>
            </a:r>
            <a:endParaRPr lang="he-IL" dirty="0"/>
          </a:p>
        </p:txBody>
      </p:sp>
      <p:pic>
        <p:nvPicPr>
          <p:cNvPr id="3" name="Picture 2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D02AE0D8-F807-5B94-5939-CBA47BD5B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55" y="3181611"/>
            <a:ext cx="5101319" cy="326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5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76C2-077E-4DF5-BE87-71E3D7A2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E3EEC-2CF9-451C-9F78-7C3F13231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naïve implementation of the singleton works well in a single threaded environment, but not in a multi-threaded one.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we try to create a thread-safe implementation?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FA9900-4D74-433E-AD3B-DD6DB5433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13242"/>
            <a:ext cx="436526" cy="436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E26CA7-3462-4332-B8D0-3DC04B845B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37" y="2913242"/>
            <a:ext cx="436526" cy="436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D790DB-AEDD-CD22-3402-D3290CD38EF9}"/>
              </a:ext>
            </a:extLst>
          </p:cNvPr>
          <p:cNvSpPr txBox="1"/>
          <p:nvPr/>
        </p:nvSpPr>
        <p:spPr>
          <a:xfrm>
            <a:off x="1373411" y="3003858"/>
            <a:ext cx="1051559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678DD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sz="3600" b="0" dirty="0">
                <a:solidFill>
                  <a:srgbClr val="E06C75"/>
                </a:solidFill>
                <a:effectLst/>
                <a:latin typeface="JetBrains Mono" panose="02000009000000000000" pitchFamily="49" charset="0"/>
              </a:rPr>
              <a:t>instance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56B6C2"/>
                </a:solidFill>
                <a:effectLst/>
                <a:latin typeface="JetBrains Mono" panose="02000009000000000000" pitchFamily="49" charset="0"/>
              </a:rPr>
              <a:t>==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D19A66"/>
                </a:solidFill>
                <a:effectLst/>
                <a:latin typeface="JetBrains Mono" panose="02000009000000000000" pitchFamily="49" charset="0"/>
              </a:rPr>
              <a:t>null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r>
              <a:rPr lang="en-US" sz="3600" b="0" dirty="0">
                <a:solidFill>
                  <a:srgbClr val="E06C75"/>
                </a:solidFill>
                <a:effectLst/>
                <a:latin typeface="JetBrains Mono" panose="02000009000000000000" pitchFamily="49" charset="0"/>
              </a:rPr>
              <a:t>	instance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56B6C2"/>
                </a:solidFill>
                <a:effectLst/>
                <a:latin typeface="JetBrains Mono" panose="02000009000000000000" pitchFamily="49" charset="0"/>
              </a:rPr>
              <a:t>=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C678DD"/>
                </a:solidFill>
                <a:effectLst/>
                <a:latin typeface="JetBrains Mono" panose="02000009000000000000" pitchFamily="49" charset="0"/>
              </a:rPr>
              <a:t>new</a:t>
            </a:r>
            <a:r>
              <a:rPr lang="en-US" sz="3600" dirty="0">
                <a:solidFill>
                  <a:srgbClr val="ABB2BF"/>
                </a:solidFill>
                <a:latin typeface="JetBrains Mono" panose="02000009000000000000" pitchFamily="49" charset="0"/>
              </a:rPr>
              <a:t> </a:t>
            </a:r>
            <a:r>
              <a:rPr lang="en-US" sz="3600" b="0" dirty="0" err="1">
                <a:solidFill>
                  <a:srgbClr val="61AFEF"/>
                </a:solidFill>
                <a:effectLst/>
                <a:latin typeface="JetBrains Mono" panose="02000009000000000000" pitchFamily="49" charset="0"/>
              </a:rPr>
              <a:t>ClassicSingleton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509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48148E-6 L 0.00013 0.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48148E-6 L 0.00013 0.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76C2-077E-4DF5-BE87-71E3D7A2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E3EEC-2CF9-451C-9F78-7C3F13231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naïve implementation of the singleton works well in a single threaded environment, but not in a multi-threaded one.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we try to create a thread-safe implementation?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FA9900-4D74-433E-AD3B-DD6DB5433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13242"/>
            <a:ext cx="436526" cy="4365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E26CA7-3462-4332-B8D0-3DC04B845B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37" y="2913242"/>
            <a:ext cx="436526" cy="4365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D790DB-AEDD-CD22-3402-D3290CD38EF9}"/>
              </a:ext>
            </a:extLst>
          </p:cNvPr>
          <p:cNvSpPr txBox="1"/>
          <p:nvPr/>
        </p:nvSpPr>
        <p:spPr>
          <a:xfrm>
            <a:off x="1373411" y="3003858"/>
            <a:ext cx="1051559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3600" b="0" dirty="0">
                <a:solidFill>
                  <a:srgbClr val="C678DD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sz="3600" b="0" dirty="0">
                <a:solidFill>
                  <a:srgbClr val="E06C75"/>
                </a:solidFill>
                <a:effectLst/>
                <a:latin typeface="JetBrains Mono" panose="02000009000000000000" pitchFamily="49" charset="0"/>
              </a:rPr>
              <a:t>instance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56B6C2"/>
                </a:solidFill>
                <a:effectLst/>
                <a:latin typeface="JetBrains Mono" panose="02000009000000000000" pitchFamily="49" charset="0"/>
              </a:rPr>
              <a:t>==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D19A66"/>
                </a:solidFill>
                <a:effectLst/>
                <a:latin typeface="JetBrains Mono" panose="02000009000000000000" pitchFamily="49" charset="0"/>
              </a:rPr>
              <a:t>null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r>
              <a:rPr lang="en-US" sz="3600" b="0" dirty="0">
                <a:solidFill>
                  <a:srgbClr val="E06C75"/>
                </a:solidFill>
                <a:effectLst/>
                <a:latin typeface="JetBrains Mono" panose="02000009000000000000" pitchFamily="49" charset="0"/>
              </a:rPr>
              <a:t>	instance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56B6C2"/>
                </a:solidFill>
                <a:effectLst/>
                <a:latin typeface="JetBrains Mono" panose="02000009000000000000" pitchFamily="49" charset="0"/>
              </a:rPr>
              <a:t>=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sz="3600" b="0" dirty="0">
                <a:solidFill>
                  <a:srgbClr val="C678DD"/>
                </a:solidFill>
                <a:effectLst/>
                <a:latin typeface="JetBrains Mono" panose="02000009000000000000" pitchFamily="49" charset="0"/>
              </a:rPr>
              <a:t>new</a:t>
            </a:r>
            <a:r>
              <a:rPr lang="en-US" sz="3600" dirty="0">
                <a:solidFill>
                  <a:srgbClr val="ABB2BF"/>
                </a:solidFill>
                <a:latin typeface="JetBrains Mono" panose="02000009000000000000" pitchFamily="49" charset="0"/>
              </a:rPr>
              <a:t> </a:t>
            </a:r>
            <a:r>
              <a:rPr lang="en-US" sz="3600" b="0" dirty="0" err="1">
                <a:solidFill>
                  <a:srgbClr val="61AFEF"/>
                </a:solidFill>
                <a:effectLst/>
                <a:latin typeface="JetBrains Mono" panose="02000009000000000000" pitchFamily="49" charset="0"/>
              </a:rPr>
              <a:t>ClassicSingleton</a:t>
            </a:r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r>
              <a:rPr lang="en-US" sz="3600" b="0" dirty="0">
                <a:solidFill>
                  <a:srgbClr val="ABB2BF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134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48148E-6 L 0.00013 0.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48148E-6 L 0.00013 0.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0344-F81B-440A-9BBE-9F2CB1F57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92" y="357883"/>
            <a:ext cx="9843521" cy="1320800"/>
          </a:xfrm>
        </p:spPr>
        <p:txBody>
          <a:bodyPr/>
          <a:lstStyle/>
          <a:p>
            <a:r>
              <a:rPr lang="en-US" dirty="0"/>
              <a:t>Thread safe singleton using eager </a:t>
            </a:r>
            <a:r>
              <a:rPr lang="en-US" dirty="0" err="1"/>
              <a:t>initalization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B4089-77D5-43BC-92DC-B5C15AB377B5}"/>
              </a:ext>
            </a:extLst>
          </p:cNvPr>
          <p:cNvSpPr txBox="1"/>
          <p:nvPr/>
        </p:nvSpPr>
        <p:spPr>
          <a:xfrm>
            <a:off x="838200" y="5299788"/>
            <a:ext cx="105156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Since the instance is initialized at the time of class loading, this approach is called </a:t>
            </a:r>
            <a:r>
              <a:rPr lang="en-US" sz="2400" b="1" dirty="0"/>
              <a:t>eager initialization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instance is created even if it is never used in the program.</a:t>
            </a:r>
            <a:endParaRPr lang="he-IL" sz="2400" dirty="0"/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4E89E912-34EF-024A-20A5-9514DFFCF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68722"/>
            <a:ext cx="8389315" cy="364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0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0344-F81B-440A-9BBE-9F2CB1F57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92" y="357883"/>
            <a:ext cx="9843521" cy="1320800"/>
          </a:xfrm>
        </p:spPr>
        <p:txBody>
          <a:bodyPr/>
          <a:lstStyle/>
          <a:p>
            <a:r>
              <a:rPr lang="en-US" dirty="0"/>
              <a:t>Thread safe singleton using eager </a:t>
            </a:r>
            <a:r>
              <a:rPr lang="en-US" dirty="0" err="1"/>
              <a:t>initalization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B4089-77D5-43BC-92DC-B5C15AB377B5}"/>
              </a:ext>
            </a:extLst>
          </p:cNvPr>
          <p:cNvSpPr txBox="1"/>
          <p:nvPr/>
        </p:nvSpPr>
        <p:spPr>
          <a:xfrm>
            <a:off x="838200" y="5299788"/>
            <a:ext cx="105156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Since the instance is initialized at the time of class loading, this approach is called </a:t>
            </a:r>
            <a:r>
              <a:rPr lang="en-US" sz="2400" b="1" dirty="0"/>
              <a:t>eager initialization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instance is created even if it is never used in the program.</a:t>
            </a:r>
            <a:endParaRPr lang="he-IL" sz="2400" dirty="0"/>
          </a:p>
        </p:txBody>
      </p:sp>
      <p:pic>
        <p:nvPicPr>
          <p:cNvPr id="4" name="Picture 3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4E89E912-34EF-024A-20A5-9514DFFCF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68722"/>
            <a:ext cx="8389315" cy="364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5004-EDB4-49B0-A83D-05A80053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safe singleton using locks</a:t>
            </a:r>
            <a:endParaRPr lang="he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7C994-8FE4-4B04-B525-EBF78C26473A}"/>
              </a:ext>
            </a:extLst>
          </p:cNvPr>
          <p:cNvSpPr txBox="1"/>
          <p:nvPr/>
        </p:nvSpPr>
        <p:spPr>
          <a:xfrm>
            <a:off x="838200" y="3724712"/>
            <a:ext cx="9824207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Will work, because the initialization is done in a synchronized block.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Problem: every time we would want to get the instance of the singleton our thread could be blocked. Damages the liveness of our program.</a:t>
            </a:r>
            <a:br>
              <a:rPr lang="en-US" sz="2400" b="1" u="sng" dirty="0">
                <a:solidFill>
                  <a:srgbClr val="FF0000"/>
                </a:solidFill>
              </a:rPr>
            </a:br>
            <a:r>
              <a:rPr lang="en-US" sz="2400" dirty="0"/>
              <a:t>A better solution?</a:t>
            </a:r>
            <a:endParaRPr lang="he-IL" sz="2400" dirty="0"/>
          </a:p>
        </p:txBody>
      </p:sp>
      <p:pic>
        <p:nvPicPr>
          <p:cNvPr id="4" name="Picture 3" descr="A computer code on a blue background&#10;&#10;Description automatically generated">
            <a:extLst>
              <a:ext uri="{FF2B5EF4-FFF2-40B4-BE49-F238E27FC236}">
                <a16:creationId xmlns:a16="http://schemas.microsoft.com/office/drawing/2014/main" id="{740CE88B-FB53-AEC1-74DB-67F88F240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15" y="1426993"/>
            <a:ext cx="6895921" cy="21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7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BDBB-8CC2-49E8-A349-3FC374A50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20718"/>
            <a:ext cx="9580763" cy="1320800"/>
          </a:xfrm>
        </p:spPr>
        <p:txBody>
          <a:bodyPr/>
          <a:lstStyle/>
          <a:p>
            <a:r>
              <a:rPr lang="en-US" dirty="0"/>
              <a:t>Alternative thread safe singleton using locks</a:t>
            </a:r>
            <a:endParaRPr lang="he-I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1E89D9-606B-1FA1-AA72-ACE86377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371" y="4279192"/>
            <a:ext cx="9196173" cy="1320801"/>
          </a:xfrm>
        </p:spPr>
        <p:txBody>
          <a:bodyPr>
            <a:normAutofit/>
          </a:bodyPr>
          <a:lstStyle/>
          <a:p>
            <a:r>
              <a:rPr lang="en-US" dirty="0"/>
              <a:t>Why is a double null check necessary?</a:t>
            </a:r>
          </a:p>
          <a:p>
            <a:r>
              <a:rPr lang="en-US" dirty="0"/>
              <a:t>Which monitor is held within the synchronized block?</a:t>
            </a:r>
          </a:p>
          <a:p>
            <a:r>
              <a:rPr lang="en-US" dirty="0"/>
              <a:t>Will it solve our previous problems? No, due to Java optimization.</a:t>
            </a:r>
          </a:p>
        </p:txBody>
      </p:sp>
      <p:pic>
        <p:nvPicPr>
          <p:cNvPr id="10" name="Picture 9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A6BC9BEA-53A5-ECE8-0CCC-CD0A0E5F3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3" y="1056771"/>
            <a:ext cx="5541367" cy="2854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7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9091-D9A5-4F3D-8133-F1DF7AA64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safe singleton solution.</a:t>
            </a:r>
            <a:endParaRPr lang="he-IL" dirty="0"/>
          </a:p>
        </p:txBody>
      </p:sp>
      <p:pic>
        <p:nvPicPr>
          <p:cNvPr id="4" name="Picture 3" descr="A computer code with text&#10;&#10;Description automatically generated">
            <a:extLst>
              <a:ext uri="{FF2B5EF4-FFF2-40B4-BE49-F238E27FC236}">
                <a16:creationId xmlns:a16="http://schemas.microsoft.com/office/drawing/2014/main" id="{CCB0C292-CD60-ECAB-4F49-E9E49EF1DC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391307"/>
            <a:ext cx="7772400" cy="362985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9B1FC6-6432-7517-33CC-F3E94BC51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61" y="5315168"/>
            <a:ext cx="10200100" cy="1320801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SingletonHolder</a:t>
            </a:r>
            <a:r>
              <a:rPr lang="en-US" dirty="0"/>
              <a:t> class would only be initialized once we call the </a:t>
            </a:r>
            <a:r>
              <a:rPr lang="en-US" dirty="0" err="1"/>
              <a:t>getInstance</a:t>
            </a:r>
            <a:r>
              <a:rPr lang="en-US" dirty="0"/>
              <a:t>() method.</a:t>
            </a:r>
          </a:p>
          <a:p>
            <a:r>
              <a:rPr lang="en-US" dirty="0"/>
              <a:t>Java guarantees us that the loading and initialization of the static class will be done once, and the static fields will be published safely.</a:t>
            </a:r>
          </a:p>
        </p:txBody>
      </p:sp>
    </p:spTree>
    <p:extLst>
      <p:ext uri="{BB962C8B-B14F-4D97-AF65-F5344CB8AC3E}">
        <p14:creationId xmlns:p14="http://schemas.microsoft.com/office/powerpoint/2010/main" val="192109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D4A2-7717-4673-898B-A5A2C9271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51" y="566142"/>
            <a:ext cx="8596668" cy="1320800"/>
          </a:xfrm>
        </p:spPr>
        <p:txBody>
          <a:bodyPr/>
          <a:lstStyle/>
          <a:p>
            <a:r>
              <a:rPr lang="en-US" dirty="0" err="1"/>
              <a:t>Callables</a:t>
            </a:r>
            <a:r>
              <a:rPr lang="en-US" dirty="0"/>
              <a:t> and Futures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ED25-68EB-49B9-B32E-6DF152805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51" y="1750685"/>
            <a:ext cx="10926087" cy="3880773"/>
          </a:xfrm>
        </p:spPr>
        <p:txBody>
          <a:bodyPr>
            <a:normAutofit/>
          </a:bodyPr>
          <a:lstStyle/>
          <a:p>
            <a:r>
              <a:rPr lang="en-US" dirty="0"/>
              <a:t>If you want your threads to return a completed result you could use </a:t>
            </a:r>
            <a:r>
              <a:rPr lang="en-US" dirty="0" err="1"/>
              <a:t>java.util.concurrent.Callable</a:t>
            </a:r>
            <a:r>
              <a:rPr lang="en-US" dirty="0"/>
              <a:t>.</a:t>
            </a:r>
          </a:p>
          <a:p>
            <a:r>
              <a:rPr lang="en-US" dirty="0" err="1"/>
              <a:t>Callables</a:t>
            </a:r>
            <a:r>
              <a:rPr lang="en-US" dirty="0"/>
              <a:t> allow returning of values after a computation.</a:t>
            </a:r>
          </a:p>
          <a:p>
            <a:r>
              <a:rPr lang="en-US" dirty="0"/>
              <a:t>Since you wish to receive the computed result, you need to keep a connection to the thread executing the Callable.</a:t>
            </a:r>
          </a:p>
          <a:p>
            <a:r>
              <a:rPr lang="en-US" dirty="0"/>
              <a:t> To do so, you may use Futures and Executors (specifically the </a:t>
            </a:r>
            <a:r>
              <a:rPr lang="en-US" dirty="0" err="1"/>
              <a:t>ExecutorCompletionService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(This could be done using normal threads with the use of the </a:t>
            </a:r>
            <a:r>
              <a:rPr lang="en-US" dirty="0" err="1"/>
              <a:t>FutureTask</a:t>
            </a:r>
            <a:r>
              <a:rPr lang="en-US" dirty="0"/>
              <a:t> java class)</a:t>
            </a:r>
          </a:p>
        </p:txBody>
      </p:sp>
      <p:pic>
        <p:nvPicPr>
          <p:cNvPr id="5" name="Picture 4" descr="A computer code with text&#10;&#10;Description automatically generated with medium confidence">
            <a:extLst>
              <a:ext uri="{FF2B5EF4-FFF2-40B4-BE49-F238E27FC236}">
                <a16:creationId xmlns:a16="http://schemas.microsoft.com/office/drawing/2014/main" id="{C9B4E23B-57A9-E346-C1E0-825CD5866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78" y="4312307"/>
            <a:ext cx="4279900" cy="1701800"/>
          </a:xfrm>
          <a:prstGeom prst="rect">
            <a:avLst/>
          </a:prstGeom>
        </p:spPr>
      </p:pic>
      <p:pic>
        <p:nvPicPr>
          <p:cNvPr id="7" name="Picture 6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003704C1-6B51-1B37-4F72-4EE61CDC8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78" y="4312307"/>
            <a:ext cx="8903646" cy="182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D4A2-7717-4673-898B-A5A2C9271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Callables</a:t>
            </a:r>
            <a:r>
              <a:rPr lang="en-US" dirty="0"/>
              <a:t> and Futures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3ED25-68EB-49B9-B32E-6DF152805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06008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sz="2400" dirty="0">
                <a:solidFill>
                  <a:srgbClr val="E5C07B"/>
                </a:solidFill>
                <a:latin typeface="JetBrains Mono" panose="020B0509020102050004" pitchFamily="49" charset="0"/>
              </a:rPr>
              <a:t>Future</a:t>
            </a:r>
            <a:r>
              <a:rPr lang="en-US" dirty="0"/>
              <a:t> and </a:t>
            </a:r>
            <a:r>
              <a:rPr lang="en-US" sz="2400" dirty="0">
                <a:solidFill>
                  <a:srgbClr val="E5C07B"/>
                </a:solidFill>
                <a:latin typeface="JetBrains Mono" panose="020B0509020102050004" pitchFamily="49" charset="0"/>
              </a:rPr>
              <a:t>Callable</a:t>
            </a:r>
            <a:r>
              <a:rPr lang="en-US" dirty="0"/>
              <a:t> interfaces:</a:t>
            </a:r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5E8BB62C-1AF4-5C5C-E1F4-8CEE500D3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578100"/>
            <a:ext cx="9857752" cy="2018952"/>
          </a:xfrm>
          <a:prstGeom prst="rect">
            <a:avLst/>
          </a:prstGeom>
        </p:spPr>
      </p:pic>
      <p:pic>
        <p:nvPicPr>
          <p:cNvPr id="5" name="Picture 4" descr="A computer code with text&#10;&#10;Description automatically generated with medium confidence">
            <a:extLst>
              <a:ext uri="{FF2B5EF4-FFF2-40B4-BE49-F238E27FC236}">
                <a16:creationId xmlns:a16="http://schemas.microsoft.com/office/drawing/2014/main" id="{C4A57549-7E21-B4E9-3ACD-D377BB2B7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4927407"/>
            <a:ext cx="4095082" cy="162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45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FB268-1841-4041-A47C-98D1ACFD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Completion Service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6FA7A-959C-4C29-8374-1BADDB47B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giving a Callable to the Executor, it returns a Future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8F712-DE94-4B5F-ACBC-4DACA8D95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959" y="2413992"/>
            <a:ext cx="3174603" cy="317460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9CD45AE-8130-43D4-A1E5-5F085623CADB}"/>
              </a:ext>
            </a:extLst>
          </p:cNvPr>
          <p:cNvGrpSpPr/>
          <p:nvPr/>
        </p:nvGrpSpPr>
        <p:grpSpPr>
          <a:xfrm>
            <a:off x="5732277" y="3298071"/>
            <a:ext cx="1013869" cy="1013869"/>
            <a:chOff x="5631010" y="3289682"/>
            <a:chExt cx="1013869" cy="101386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890A35E-721F-4316-B57A-D0DE55E14523}"/>
                </a:ext>
              </a:extLst>
            </p:cNvPr>
            <p:cNvSpPr/>
            <p:nvPr/>
          </p:nvSpPr>
          <p:spPr>
            <a:xfrm>
              <a:off x="5631010" y="3289682"/>
              <a:ext cx="1013869" cy="101386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302A7A-81DE-4752-BE39-C50B41C59FE9}"/>
                </a:ext>
              </a:extLst>
            </p:cNvPr>
            <p:cNvSpPr txBox="1"/>
            <p:nvPr/>
          </p:nvSpPr>
          <p:spPr>
            <a:xfrm>
              <a:off x="5890469" y="3489921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DC141A3-C3B8-41A2-B8FB-14FC4830B421}"/>
              </a:ext>
            </a:extLst>
          </p:cNvPr>
          <p:cNvSpPr/>
          <p:nvPr/>
        </p:nvSpPr>
        <p:spPr>
          <a:xfrm>
            <a:off x="838200" y="2555689"/>
            <a:ext cx="1300293" cy="3867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5A860F-0625-4A3B-8568-F4067752F431}"/>
              </a:ext>
            </a:extLst>
          </p:cNvPr>
          <p:cNvSpPr txBox="1"/>
          <p:nvPr/>
        </p:nvSpPr>
        <p:spPr>
          <a:xfrm>
            <a:off x="4578184" y="5439533"/>
            <a:ext cx="645952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</a:t>
            </a:r>
            <a:endParaRPr lang="he-IL" sz="3200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099EC0-9816-4354-988E-302F8BA261F0}"/>
              </a:ext>
            </a:extLst>
          </p:cNvPr>
          <p:cNvGrpSpPr/>
          <p:nvPr/>
        </p:nvGrpSpPr>
        <p:grpSpPr>
          <a:xfrm>
            <a:off x="8199438" y="4225425"/>
            <a:ext cx="1013869" cy="1013869"/>
            <a:chOff x="2356326" y="3704338"/>
            <a:chExt cx="1013869" cy="101386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6589663-E470-46EA-B78A-48B1F6FEABF0}"/>
                </a:ext>
              </a:extLst>
            </p:cNvPr>
            <p:cNvSpPr/>
            <p:nvPr/>
          </p:nvSpPr>
          <p:spPr>
            <a:xfrm>
              <a:off x="2356326" y="3704338"/>
              <a:ext cx="1013869" cy="101386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F03B94-22C3-4DC6-8400-5CE80B1BEF00}"/>
                </a:ext>
              </a:extLst>
            </p:cNvPr>
            <p:cNvSpPr txBox="1"/>
            <p:nvPr/>
          </p:nvSpPr>
          <p:spPr>
            <a:xfrm>
              <a:off x="2656886" y="3904577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623002C-ADCF-444C-B0B3-8183CF130D21}"/>
              </a:ext>
            </a:extLst>
          </p:cNvPr>
          <p:cNvGrpSpPr/>
          <p:nvPr/>
        </p:nvGrpSpPr>
        <p:grpSpPr>
          <a:xfrm>
            <a:off x="5732276" y="3298071"/>
            <a:ext cx="1013869" cy="1013869"/>
            <a:chOff x="5631010" y="3289682"/>
            <a:chExt cx="1013869" cy="1013869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D7714D1-2257-4FB4-87CE-469301DF9C56}"/>
                </a:ext>
              </a:extLst>
            </p:cNvPr>
            <p:cNvSpPr/>
            <p:nvPr/>
          </p:nvSpPr>
          <p:spPr>
            <a:xfrm>
              <a:off x="5631010" y="3289682"/>
              <a:ext cx="1013869" cy="101386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0E8764-828A-44F4-AFB8-88CBF6259BA0}"/>
                </a:ext>
              </a:extLst>
            </p:cNvPr>
            <p:cNvSpPr txBox="1"/>
            <p:nvPr/>
          </p:nvSpPr>
          <p:spPr>
            <a:xfrm>
              <a:off x="5890469" y="3489921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7489D4D-50BD-43EF-9935-7DC89E925B0A}"/>
              </a:ext>
            </a:extLst>
          </p:cNvPr>
          <p:cNvGrpSpPr/>
          <p:nvPr/>
        </p:nvGrpSpPr>
        <p:grpSpPr>
          <a:xfrm>
            <a:off x="8199437" y="4211116"/>
            <a:ext cx="1013869" cy="1013869"/>
            <a:chOff x="2356326" y="3704338"/>
            <a:chExt cx="1013869" cy="1013869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33B984B-0FA7-478B-894E-309A511E3327}"/>
                </a:ext>
              </a:extLst>
            </p:cNvPr>
            <p:cNvSpPr/>
            <p:nvPr/>
          </p:nvSpPr>
          <p:spPr>
            <a:xfrm>
              <a:off x="2356326" y="3704338"/>
              <a:ext cx="1013869" cy="101386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CF6BA2C-97F4-4D69-9C6B-7D261157AA86}"/>
                </a:ext>
              </a:extLst>
            </p:cNvPr>
            <p:cNvSpPr txBox="1"/>
            <p:nvPr/>
          </p:nvSpPr>
          <p:spPr>
            <a:xfrm>
              <a:off x="2656886" y="3904577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1F81934-F283-50DE-C94F-CACB21BFE03F}"/>
              </a:ext>
            </a:extLst>
          </p:cNvPr>
          <p:cNvSpPr txBox="1"/>
          <p:nvPr/>
        </p:nvSpPr>
        <p:spPr>
          <a:xfrm>
            <a:off x="53246" y="6423014"/>
            <a:ext cx="287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data structure we created</a:t>
            </a:r>
          </a:p>
        </p:txBody>
      </p:sp>
    </p:spTree>
    <p:extLst>
      <p:ext uri="{BB962C8B-B14F-4D97-AF65-F5344CB8AC3E}">
        <p14:creationId xmlns:p14="http://schemas.microsoft.com/office/powerpoint/2010/main" val="329711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11111E-6 L 0.15534 0.00255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3.7037E-6 L -0.30039 -0.0088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26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039 -0.0088 L -0.37968 -0.11899 C -0.39622 -0.14352 -0.42096 -0.15672 -0.44687 -0.15672 C -0.47656 -0.15672 -0.50013 -0.14352 -0.51679 -0.11899 L -0.5957 -0.0088 " pathEditMode="relative" rAng="0" ptsTypes="AAAAA">
                                      <p:cBhvr>
                                        <p:cTn id="4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-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571 -0.0088 L -0.59245 0.16759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8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11111E-6 L 0.15534 0.00255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-0.30039 -0.00879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26" y="-4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039 -0.00879 L -0.37968 -0.11898 C -0.39622 -0.14352 -0.42096 -0.15671 -0.44687 -0.15671 C -0.47656 -0.15671 -0.50013 -0.14352 -0.51679 -0.11898 L -0.5957 -0.00879 " pathEditMode="relative" rAng="0" ptsTypes="AAAAA">
                                      <p:cBhvr>
                                        <p:cTn id="7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-7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57 -0.00879 L -0.5957 -0.00671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3A17F-D6FC-4D03-9925-1964969B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Executor Completion Service - </a:t>
            </a:r>
            <a:r>
              <a:rPr lang="en-US" dirty="0" err="1"/>
              <a:t>cont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8E915-8668-4B71-B445-B4D05CE7E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Executor Completion Service if we don’t want to manage the futures by ourselves.</a:t>
            </a:r>
          </a:p>
          <a:p>
            <a:r>
              <a:rPr lang="en-US" dirty="0"/>
              <a:t>We can use the take method on</a:t>
            </a:r>
          </a:p>
          <a:p>
            <a:pPr marL="0" indent="0">
              <a:buNone/>
            </a:pPr>
            <a:r>
              <a:rPr lang="en-US" dirty="0"/>
              <a:t> the ECS to receive a finished</a:t>
            </a:r>
          </a:p>
          <a:p>
            <a:pPr marL="0" indent="0">
              <a:buNone/>
            </a:pPr>
            <a:r>
              <a:rPr lang="en-US" dirty="0"/>
              <a:t> Future.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89794-32CC-4F46-8252-C71D369A7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685" y="3429000"/>
            <a:ext cx="3174603" cy="317460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4AD1531-5599-4D80-95C8-FEC806A69981}"/>
              </a:ext>
            </a:extLst>
          </p:cNvPr>
          <p:cNvGrpSpPr/>
          <p:nvPr/>
        </p:nvGrpSpPr>
        <p:grpSpPr>
          <a:xfrm>
            <a:off x="5909912" y="2589196"/>
            <a:ext cx="6092791" cy="4148488"/>
            <a:chOff x="5909912" y="2589196"/>
            <a:chExt cx="6092791" cy="41484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ADCD44-5918-4299-B682-776C79B0AFC5}"/>
                </a:ext>
              </a:extLst>
            </p:cNvPr>
            <p:cNvSpPr/>
            <p:nvPr/>
          </p:nvSpPr>
          <p:spPr>
            <a:xfrm>
              <a:off x="5909912" y="2589196"/>
              <a:ext cx="6092791" cy="4148488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B2A79E-FA7C-4356-9992-767D4B446909}"/>
                </a:ext>
              </a:extLst>
            </p:cNvPr>
            <p:cNvSpPr txBox="1"/>
            <p:nvPr/>
          </p:nvSpPr>
          <p:spPr>
            <a:xfrm>
              <a:off x="6096000" y="2620478"/>
              <a:ext cx="3590223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/>
                <a:t>ECS</a:t>
              </a:r>
              <a:endParaRPr lang="he-IL" sz="3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0560524-5B0B-4341-9F95-0249A6C9AF62}"/>
              </a:ext>
            </a:extLst>
          </p:cNvPr>
          <p:cNvGrpSpPr/>
          <p:nvPr/>
        </p:nvGrpSpPr>
        <p:grpSpPr>
          <a:xfrm>
            <a:off x="3414554" y="3205253"/>
            <a:ext cx="1013869" cy="1013869"/>
            <a:chOff x="5631010" y="3289682"/>
            <a:chExt cx="1013869" cy="101386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C937AC2-C730-4EEA-93C6-B7D2EE3E6C4A}"/>
                </a:ext>
              </a:extLst>
            </p:cNvPr>
            <p:cNvSpPr/>
            <p:nvPr/>
          </p:nvSpPr>
          <p:spPr>
            <a:xfrm>
              <a:off x="5631010" y="3289682"/>
              <a:ext cx="1013869" cy="101386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3E215-4264-47DA-971C-7A87F39F48B6}"/>
                </a:ext>
              </a:extLst>
            </p:cNvPr>
            <p:cNvSpPr txBox="1"/>
            <p:nvPr/>
          </p:nvSpPr>
          <p:spPr>
            <a:xfrm>
              <a:off x="5890469" y="3489921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A85CA47-9048-4D05-A793-5EC5E44EDF95}"/>
              </a:ext>
            </a:extLst>
          </p:cNvPr>
          <p:cNvGrpSpPr/>
          <p:nvPr/>
        </p:nvGrpSpPr>
        <p:grpSpPr>
          <a:xfrm>
            <a:off x="8449372" y="5589734"/>
            <a:ext cx="1013869" cy="1013869"/>
            <a:chOff x="2356326" y="3704338"/>
            <a:chExt cx="1013869" cy="1013869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15065C1-CFC7-477B-ACD2-76A1EE9B4357}"/>
                </a:ext>
              </a:extLst>
            </p:cNvPr>
            <p:cNvSpPr/>
            <p:nvPr/>
          </p:nvSpPr>
          <p:spPr>
            <a:xfrm>
              <a:off x="2356326" y="3704338"/>
              <a:ext cx="1013869" cy="101386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AE29E3-37C5-4203-AA7A-E47119A8F968}"/>
                </a:ext>
              </a:extLst>
            </p:cNvPr>
            <p:cNvSpPr txBox="1"/>
            <p:nvPr/>
          </p:nvSpPr>
          <p:spPr>
            <a:xfrm>
              <a:off x="2656886" y="3904577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6B2A45B-2483-4CF7-8C6A-4EDA4E0725FA}"/>
              </a:ext>
            </a:extLst>
          </p:cNvPr>
          <p:cNvGrpSpPr/>
          <p:nvPr/>
        </p:nvGrpSpPr>
        <p:grpSpPr>
          <a:xfrm>
            <a:off x="3414553" y="3190944"/>
            <a:ext cx="1013869" cy="1013869"/>
            <a:chOff x="5631010" y="3289682"/>
            <a:chExt cx="1013869" cy="1013869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647B250-65A2-4F62-83FA-CE18CC66610B}"/>
                </a:ext>
              </a:extLst>
            </p:cNvPr>
            <p:cNvSpPr/>
            <p:nvPr/>
          </p:nvSpPr>
          <p:spPr>
            <a:xfrm>
              <a:off x="5631010" y="3289682"/>
              <a:ext cx="1013869" cy="101386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80AA8D8-90F2-485F-BB23-C32B2E812193}"/>
                </a:ext>
              </a:extLst>
            </p:cNvPr>
            <p:cNvSpPr txBox="1"/>
            <p:nvPr/>
          </p:nvSpPr>
          <p:spPr>
            <a:xfrm>
              <a:off x="5890469" y="3489921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8CB76EB-0981-48BE-9BEA-50F73719EC4B}"/>
              </a:ext>
            </a:extLst>
          </p:cNvPr>
          <p:cNvGrpSpPr/>
          <p:nvPr/>
        </p:nvGrpSpPr>
        <p:grpSpPr>
          <a:xfrm>
            <a:off x="8449372" y="5575425"/>
            <a:ext cx="1013869" cy="1013869"/>
            <a:chOff x="2356326" y="3704338"/>
            <a:chExt cx="1013869" cy="1013869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A1F385F-8EDF-4F64-A687-C7F6B325A9C2}"/>
                </a:ext>
              </a:extLst>
            </p:cNvPr>
            <p:cNvSpPr/>
            <p:nvPr/>
          </p:nvSpPr>
          <p:spPr>
            <a:xfrm>
              <a:off x="2356326" y="3704338"/>
              <a:ext cx="1013869" cy="1013869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he-IL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1CB9C47-A78A-4E3C-A6A1-77DBAAA2A15B}"/>
                </a:ext>
              </a:extLst>
            </p:cNvPr>
            <p:cNvSpPr txBox="1"/>
            <p:nvPr/>
          </p:nvSpPr>
          <p:spPr>
            <a:xfrm>
              <a:off x="2656886" y="3904577"/>
              <a:ext cx="64595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</a:t>
              </a:r>
              <a:endParaRPr lang="he-IL" sz="3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131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-0.00069 L 0.15755 0.00185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56 0.00186 L 0.15756 0.00186 C 0.17162 -0.00046 0.17292 -0.00092 0.19219 -0.00092 C 0.19623 -0.00092 0.20013 -3.7037E-6 0.20404 0.00047 C 0.20912 0.00348 0.20365 -0.00069 0.20886 0.00602 C 0.20977 0.00718 0.21094 0.00811 0.21198 0.0088 C 0.21355 0.00996 0.21537 0.00996 0.21667 0.01158 C 0.21875 0.01412 0.22253 0.01829 0.22461 0.02153 C 0.2254 0.02269 0.22605 0.02454 0.22696 0.0257 C 0.22826 0.02732 0.22969 0.02824 0.23086 0.02986 C 0.23777 0.03866 0.23308 0.03542 0.23803 0.0382 C 0.23933 0.04167 0.2405 0.04514 0.24193 0.04815 C 0.24271 0.04954 0.24362 0.0507 0.24441 0.05232 C 0.24545 0.05486 0.24753 0.06065 0.24753 0.06065 C 0.24779 0.0625 0.24792 0.06459 0.24831 0.06644 C 0.2487 0.06783 0.24935 0.06922 0.24987 0.07061 C 0.2504 0.07246 0.25105 0.07431 0.25144 0.07616 C 0.25183 0.07801 0.2517 0.0801 0.25222 0.08172 C 0.25417 0.08866 0.25456 0.08611 0.25704 0.09167 C 0.25795 0.09375 0.25847 0.09653 0.25938 0.09861 C 0.26081 0.10232 0.26211 0.10324 0.26407 0.10556 C 0.26641 0.12176 0.2629 0.10255 0.26719 0.11412 C 0.26784 0.11574 0.26758 0.11806 0.26797 0.11968 C 0.26888 0.12269 0.27123 0.12824 0.27123 0.12824 C 0.27149 0.1301 0.27149 0.13195 0.27201 0.1338 C 0.2724 0.13519 0.27305 0.13658 0.27357 0.13797 C 0.27409 0.13982 0.27461 0.14167 0.27513 0.14352 C 0.27566 0.14514 0.27631 0.1463 0.2767 0.14769 C 0.27735 0.15047 0.27761 0.15348 0.27826 0.15625 C 0.2793 0.15996 0.28073 0.16343 0.28152 0.16736 C 0.28256 0.17338 0.2823 0.1713 0.28308 0.17871 C 0.28334 0.18149 0.28347 0.18426 0.28386 0.18704 C 0.28425 0.19005 0.2849 0.19283 0.28542 0.19561 C 0.28659 0.21899 0.28542 0.20371 0.28698 0.21667 C 0.28724 0.21875 0.28803 0.22662 0.28855 0.22917 C 0.28894 0.23125 0.28972 0.23287 0.29011 0.23473 C 0.2905 0.23611 0.2905 0.23774 0.29089 0.23912 C 0.2918 0.2419 0.29349 0.24422 0.29415 0.24746 C 0.29623 0.25903 0.2948 0.25348 0.29883 0.26436 L 0.3004 0.26852 L 0.30196 0.27269 C 0.30339 0.2801 0.30183 0.27408 0.30508 0.28125 C 0.30573 0.28241 0.30599 0.28426 0.30678 0.28542 C 0.30743 0.28635 0.30834 0.28635 0.30912 0.28681 C 0.31068 0.28866 0.31198 0.29144 0.31381 0.29236 C 0.31537 0.29329 0.31719 0.29352 0.31862 0.29514 C 0.31941 0.29607 0.32006 0.29769 0.32097 0.29792 C 0.32318 0.29908 0.32566 0.29885 0.328 0.29954 L 0.35808 0.29792 C 0.3612 0.29769 0.36433 0.29723 0.36758 0.29653 C 0.37071 0.29584 0.37696 0.29375 0.37696 0.29375 C 0.39141 0.29514 0.38646 0.29514 0.39206 0.29514 " pathEditMode="relative" ptsTypes="AAAAAAAAAA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11111E-6 L -0.19649 0.0009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31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2 -0.00069 L 0.15756 0.00185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6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756 0.00185 L 0.15756 0.00208 C 0.17162 -0.00046 0.17292 -0.00093 0.19219 -0.00093 C 0.19623 -0.00093 0.20013 -3.7037E-7 0.20404 0.00046 C 0.20912 0.00347 0.20365 -0.00069 0.20886 0.00602 C 0.20977 0.00718 0.21094 0.0081 0.21198 0.0088 C 0.21355 0.00995 0.21537 0.00995 0.21667 0.01157 C 0.21875 0.01412 0.22253 0.01829 0.22461 0.02153 C 0.2254 0.02269 0.22605 0.02454 0.22696 0.02569 C 0.22826 0.02732 0.22969 0.02824 0.23086 0.02986 C 0.23777 0.03866 0.23308 0.03542 0.23803 0.03819 C 0.23933 0.04167 0.2405 0.04514 0.24193 0.04815 C 0.24271 0.04954 0.24362 0.05069 0.24441 0.05232 C 0.24545 0.05486 0.24753 0.06065 0.24753 0.06088 C 0.24779 0.0625 0.24792 0.06458 0.24831 0.06644 C 0.2487 0.06782 0.24935 0.06921 0.24987 0.0706 C 0.2504 0.07245 0.25105 0.07431 0.25144 0.07616 C 0.25183 0.07801 0.2517 0.08009 0.25222 0.08171 C 0.25417 0.08866 0.25456 0.08611 0.25704 0.09167 C 0.25795 0.09375 0.25847 0.09653 0.25938 0.09861 C 0.26081 0.10232 0.26211 0.10324 0.26407 0.10556 C 0.26641 0.12176 0.2629 0.10255 0.26719 0.11412 C 0.26784 0.11574 0.26758 0.11806 0.26797 0.11968 C 0.26888 0.12269 0.27123 0.12824 0.27123 0.12847 C 0.27149 0.13009 0.27149 0.13194 0.27201 0.1338 C 0.2724 0.13519 0.27305 0.13657 0.27357 0.13796 C 0.27409 0.13982 0.27461 0.14167 0.27513 0.14352 C 0.27566 0.14514 0.27631 0.1463 0.2767 0.14769 C 0.27735 0.15046 0.27761 0.15347 0.27826 0.15625 C 0.2793 0.15995 0.28073 0.16343 0.28152 0.16736 C 0.28256 0.17338 0.2823 0.1713 0.28308 0.1787 C 0.28334 0.18148 0.28347 0.18426 0.28386 0.18704 C 0.28425 0.19005 0.2849 0.19282 0.28542 0.1956 C 0.28659 0.21898 0.28542 0.2037 0.28698 0.21667 C 0.28724 0.21875 0.28803 0.22662 0.28855 0.22917 C 0.28894 0.23125 0.28972 0.23287 0.29011 0.23472 C 0.2905 0.23611 0.2905 0.23773 0.29089 0.23912 C 0.2918 0.2419 0.29349 0.24421 0.29415 0.24745 C 0.29623 0.25903 0.2948 0.25347 0.29883 0.26435 L 0.3004 0.26852 L 0.30196 0.27269 C 0.30339 0.28009 0.30183 0.27407 0.30508 0.28125 C 0.30573 0.28241 0.30599 0.28426 0.30678 0.28542 C 0.30743 0.28634 0.30834 0.28634 0.30912 0.28681 C 0.31068 0.28866 0.31198 0.29144 0.31381 0.29236 C 0.31537 0.29329 0.31719 0.29352 0.31862 0.29514 C 0.31941 0.29607 0.32006 0.29769 0.32097 0.29792 C 0.32318 0.29907 0.32566 0.29884 0.328 0.29954 L 0.35808 0.29792 C 0.3612 0.29769 0.36433 0.29722 0.36758 0.29653 C 0.37071 0.29583 0.37696 0.29375 0.37696 0.29398 C 0.39141 0.29514 0.38646 0.29514 0.39206 0.29514 " pathEditMode="relative" rAng="0" ptsTypes="AAAAAAAAAAAAAAAAAAAAAAAAAAAAAAAAAAAAAAAAAAAAAAAAAAAA">
                                      <p:cBhvr>
                                        <p:cTn id="5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1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44444E-6 L -0.09831 4.44444E-6 C -0.14232 4.44444E-6 -0.19649 -0.04491 -0.19649 -0.08125 L -0.19649 -0.1625 " pathEditMode="relative" rAng="0" ptsTypes="AAAA">
                                      <p:cBhvr>
                                        <p:cTn id="6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31" y="-8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649 -0.1625 L -0.41237 -0.16227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79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51D2-7421-4FEC-B125-1D18F858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cancellation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78AC3-7A16-478A-9F39-78A24BEF6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thread has a predefined task it works on, when the task ends, the thread exits.</a:t>
            </a:r>
          </a:p>
          <a:p>
            <a:r>
              <a:rPr lang="en-US" dirty="0"/>
              <a:t>Sometimes we want to tell a thread to stop working before it finished the task.</a:t>
            </a:r>
          </a:p>
          <a:p>
            <a:r>
              <a:rPr lang="en-US" dirty="0"/>
              <a:t>One way is calling the thread’s stop() method. This is </a:t>
            </a:r>
            <a:r>
              <a:rPr lang="en-US" b="1" dirty="0"/>
              <a:t>always unsafe</a:t>
            </a:r>
            <a:r>
              <a:rPr lang="en-US" dirty="0"/>
              <a:t>, and you should </a:t>
            </a:r>
            <a:r>
              <a:rPr lang="en-US" b="1" dirty="0"/>
              <a:t>never do that.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C941-EA26-4155-A329-261C22CA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cancellation (</a:t>
            </a:r>
            <a:r>
              <a:rPr lang="en-US" dirty="0" err="1"/>
              <a:t>cont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2133-50A7-4208-9C6F-5B774D9A1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way is by changing a variable which the thread sees, for example: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B6FCD-00B1-46EA-87F0-AA8586BF2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31645"/>
            <a:ext cx="6654087" cy="354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9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1DCDD-9629-4375-A7D8-F41A1D6E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interrupt mechanism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C8460-ACBC-4A0C-AFB1-E015462B3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if the thread waits or sleeps when receiving the stop signal?</a:t>
            </a:r>
          </a:p>
          <a:p>
            <a:r>
              <a:rPr lang="en-US" dirty="0"/>
              <a:t>In Java that issue is solved with the interrupt mechanism.</a:t>
            </a:r>
          </a:p>
          <a:p>
            <a:r>
              <a:rPr lang="en-US" dirty="0"/>
              <a:t>When calling the interrupt method on a thread, a flag (similar to the </a:t>
            </a:r>
            <a:r>
              <a:rPr lang="en-US" dirty="0" err="1"/>
              <a:t>shouldStop</a:t>
            </a:r>
            <a:r>
              <a:rPr lang="en-US" dirty="0"/>
              <a:t> flag) value is changed to true.</a:t>
            </a:r>
          </a:p>
          <a:p>
            <a:r>
              <a:rPr lang="en-US" dirty="0"/>
              <a:t>If the thread is waiting or sleeping, an </a:t>
            </a:r>
            <a:r>
              <a:rPr lang="en-US" dirty="0" err="1"/>
              <a:t>InterruptedException</a:t>
            </a:r>
            <a:r>
              <a:rPr lang="en-US" dirty="0"/>
              <a:t> is thrown, and he wakes up.</a:t>
            </a:r>
          </a:p>
          <a:p>
            <a:r>
              <a:rPr lang="en-US" dirty="0"/>
              <a:t>If the thread starts sleeping while the flag is raised, the exception will be thrown immediately.</a:t>
            </a:r>
          </a:p>
          <a:p>
            <a:r>
              <a:rPr lang="en-US" dirty="0"/>
              <a:t>Note that after an interrupted exception is thrown, the value of the interrupted flag receives false value.</a:t>
            </a:r>
          </a:p>
        </p:txBody>
      </p:sp>
    </p:spTree>
    <p:extLst>
      <p:ext uri="{BB962C8B-B14F-4D97-AF65-F5344CB8AC3E}">
        <p14:creationId xmlns:p14="http://schemas.microsoft.com/office/powerpoint/2010/main" val="351347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{EED9DC13-DD42-D840-A709-2CC1C97D1D09}tf10001060</Template>
  <TotalTime>7040</TotalTime>
  <Words>1381</Words>
  <Application>Microsoft Macintosh PowerPoint</Application>
  <PresentationFormat>Widescreen</PresentationFormat>
  <Paragraphs>156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JetBrains Mono</vt:lpstr>
      <vt:lpstr>Trebuchet MS</vt:lpstr>
      <vt:lpstr>Wingdings 3</vt:lpstr>
      <vt:lpstr>Facet</vt:lpstr>
      <vt:lpstr>SPL – PS8</vt:lpstr>
      <vt:lpstr>Overview</vt:lpstr>
      <vt:lpstr>Liveness – a reminder</vt:lpstr>
      <vt:lpstr>Deadlock</vt:lpstr>
      <vt:lpstr>Starvation</vt:lpstr>
      <vt:lpstr>Livelock</vt:lpstr>
      <vt:lpstr>Atomic instructions</vt:lpstr>
      <vt:lpstr>Atomic instructions</vt:lpstr>
      <vt:lpstr>Atomic instructions – Counter Summary</vt:lpstr>
      <vt:lpstr>Atomic Reference - Pair Example</vt:lpstr>
      <vt:lpstr>Atomic Reference - LinkedList Example</vt:lpstr>
      <vt:lpstr>Lock-free Implementations (Summary)</vt:lpstr>
      <vt:lpstr>The Singleton Design Pattern</vt:lpstr>
      <vt:lpstr>The Singleton Design Pattern</vt:lpstr>
      <vt:lpstr>Singleton (cont)</vt:lpstr>
      <vt:lpstr>Singleton (cont)</vt:lpstr>
      <vt:lpstr>Thread safe singleton using eager initalization</vt:lpstr>
      <vt:lpstr>Thread safe singleton using eager initalization</vt:lpstr>
      <vt:lpstr>Thread safe singleton using locks</vt:lpstr>
      <vt:lpstr>Alternative thread safe singleton using locks</vt:lpstr>
      <vt:lpstr>Thread safe singleton solution.</vt:lpstr>
      <vt:lpstr>Callables and Futures</vt:lpstr>
      <vt:lpstr>Callables and Futures</vt:lpstr>
      <vt:lpstr>Executor Completion Service</vt:lpstr>
      <vt:lpstr>Executor Completion Service - cont</vt:lpstr>
      <vt:lpstr>Thread cancellation</vt:lpstr>
      <vt:lpstr>Thread cancellation (cont)</vt:lpstr>
      <vt:lpstr>The interrupt mechanism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 – PS7</dc:title>
  <dc:creator>Dolav Nitay</dc:creator>
  <cp:lastModifiedBy>Nir Sorani</cp:lastModifiedBy>
  <cp:revision>85</cp:revision>
  <dcterms:created xsi:type="dcterms:W3CDTF">2018-11-23T15:06:30Z</dcterms:created>
  <dcterms:modified xsi:type="dcterms:W3CDTF">2024-12-26T12:04:50Z</dcterms:modified>
</cp:coreProperties>
</file>