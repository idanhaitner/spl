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05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4" r:id="rId7"/>
    <p:sldId id="297" r:id="rId8"/>
    <p:sldId id="262" r:id="rId9"/>
    <p:sldId id="263" r:id="rId10"/>
    <p:sldId id="299" r:id="rId11"/>
    <p:sldId id="265" r:id="rId12"/>
    <p:sldId id="300" r:id="rId13"/>
    <p:sldId id="266" r:id="rId14"/>
    <p:sldId id="267" r:id="rId15"/>
    <p:sldId id="268" r:id="rId16"/>
    <p:sldId id="269" r:id="rId17"/>
    <p:sldId id="270" r:id="rId18"/>
    <p:sldId id="271" r:id="rId19"/>
    <p:sldId id="301" r:id="rId20"/>
    <p:sldId id="272" r:id="rId21"/>
    <p:sldId id="273" r:id="rId22"/>
    <p:sldId id="274" r:id="rId23"/>
    <p:sldId id="293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98" r:id="rId34"/>
    <p:sldId id="284" r:id="rId35"/>
    <p:sldId id="302" r:id="rId36"/>
    <p:sldId id="285" r:id="rId37"/>
    <p:sldId id="294" r:id="rId38"/>
    <p:sldId id="289" r:id="rId39"/>
    <p:sldId id="290" r:id="rId40"/>
    <p:sldId id="291" r:id="rId41"/>
    <p:sldId id="292" r:id="rId42"/>
    <p:sldId id="295" r:id="rId43"/>
  </p:sldIdLst>
  <p:sldSz cx="12192000" cy="6858000"/>
  <p:notesSz cx="7559675" cy="10691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23" autoAdjust="0"/>
    <p:restoredTop sz="94716"/>
  </p:normalViewPr>
  <p:slideViewPr>
    <p:cSldViewPr snapToGrid="0">
      <p:cViewPr varScale="1">
        <p:scale>
          <a:sx n="116" d="100"/>
          <a:sy n="116" d="100"/>
        </p:scale>
        <p:origin x="98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19BFB-14C3-E948-AD1A-C10F88DA0146}" type="datetimeFigureOut">
              <a:rPr lang="en-IL" smtClean="0"/>
              <a:t>24/11/2025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74F3B4-F5EA-9649-91C6-9507E3F8BE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26582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4F3B4-F5EA-9649-91C6-9507E3F8BEB8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41350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581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36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75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422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94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58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735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210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11/24/2025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393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027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3400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166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3123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2895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500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466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136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  <a:ea typeface="DejaVu Sans"/>
              </a:rPr>
              <a:t>SPL – PS5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1523880" y="3602160"/>
            <a:ext cx="9142920" cy="165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Generics, DBC, Lambdas and Reflection</a:t>
            </a: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Overview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79" name="CustomShape 2"/>
          <p:cNvSpPr/>
          <p:nvPr/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Return to Java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Generics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Anonymous classes and lambdas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Default methods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Exceptions</a:t>
            </a:r>
            <a:endParaRPr lang="en-US" sz="2800" b="0" strike="noStrike" spc="-1" dirty="0">
              <a:latin typeface="Arial"/>
            </a:endParaRPr>
          </a:p>
          <a:p>
            <a:pPr algn="l" rtl="0"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Java collections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838080" y="1825560"/>
            <a:ext cx="10514520" cy="46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Collections are objects that holds other objects in some</a:t>
            </a:r>
            <a:b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manner.</a:t>
            </a:r>
            <a:b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</a:b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 example: List, Map, and Set.</a:t>
            </a:r>
            <a:b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</a:b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Java platform provides many ready to use collection classes.</a:t>
            </a:r>
            <a:br>
              <a:rPr lang="en-US" sz="2800" spc="-1" dirty="0">
                <a:solidFill>
                  <a:srgbClr val="000000"/>
                </a:solidFill>
                <a:latin typeface="Calibri"/>
                <a:ea typeface="DejaVu Sans"/>
              </a:rPr>
            </a:br>
            <a:endParaRPr lang="en-US" sz="2800" b="0" strike="noStrike" spc="-1" dirty="0">
              <a:latin typeface="Arial"/>
            </a:endParaRPr>
          </a:p>
          <a:p>
            <a:pPr marL="72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(At the minimum, </a:t>
            </a:r>
            <a:r>
              <a:rPr lang="en-US" sz="2800" spc="-1" dirty="0">
                <a:solidFill>
                  <a:srgbClr val="000000"/>
                </a:solidFill>
                <a:latin typeface="Calibri"/>
                <a:ea typeface="DejaVu Sans"/>
              </a:rPr>
              <a:t>we are interested in the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List and Map</a:t>
            </a:r>
            <a:b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interfaces, and in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ArrayList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and HashMap classes.)</a:t>
            </a:r>
            <a:endParaRPr lang="en-US" sz="28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Generics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838080" y="1825560"/>
            <a:ext cx="10514520" cy="354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 mechanism for creating objects parameterized by a type.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 example – a stack.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We want to create a stack of integers</a:t>
            </a:r>
            <a:br>
              <a:rPr lang="en-US" sz="2800" spc="-1" dirty="0">
                <a:solidFill>
                  <a:srgbClr val="000000"/>
                </a:solidFill>
                <a:latin typeface="Arial"/>
                <a:ea typeface="DejaVu Sans"/>
              </a:rPr>
            </a:br>
            <a:br>
              <a:rPr lang="en-US" sz="2800" spc="-1" dirty="0">
                <a:solidFill>
                  <a:srgbClr val="000000"/>
                </a:solidFill>
                <a:latin typeface="Arial"/>
                <a:ea typeface="DejaVu Sans"/>
              </a:rPr>
            </a:br>
            <a:br>
              <a:rPr lang="en-US" sz="2800" spc="-1" dirty="0">
                <a:solidFill>
                  <a:srgbClr val="000000"/>
                </a:solidFill>
                <a:latin typeface="Arial"/>
                <a:ea typeface="DejaVu Sans"/>
              </a:rPr>
            </a:br>
            <a:br>
              <a:rPr lang="en-US" sz="2800" spc="-1" dirty="0">
                <a:solidFill>
                  <a:srgbClr val="000000"/>
                </a:solidFill>
                <a:latin typeface="Arial"/>
                <a:ea typeface="DejaVu Sans"/>
              </a:rPr>
            </a:br>
            <a:endParaRPr lang="en-US" sz="2800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latin typeface="Arial"/>
              </a:rPr>
              <a:t>a</a:t>
            </a:r>
            <a:r>
              <a:rPr lang="en-US" sz="2800" b="0" strike="noStrike" spc="-1" dirty="0">
                <a:latin typeface="Arial"/>
              </a:rPr>
              <a:t>nd a stack of cows</a:t>
            </a:r>
          </a:p>
        </p:txBody>
      </p:sp>
      <p:pic>
        <p:nvPicPr>
          <p:cNvPr id="3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D7FE6F9A-146E-4B12-A504-9DF5EDF4DA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5" t="20020" r="13920" b="20031"/>
          <a:stretch/>
        </p:blipFill>
        <p:spPr>
          <a:xfrm>
            <a:off x="1233376" y="3342443"/>
            <a:ext cx="2408333" cy="1432581"/>
          </a:xfrm>
          <a:prstGeom prst="rect">
            <a:avLst/>
          </a:prstGeom>
        </p:spPr>
      </p:pic>
      <p:pic>
        <p:nvPicPr>
          <p:cNvPr id="8" name="Picture 7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94AC696E-73E8-3518-6062-798E4225D0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82" t="19847" r="13962" b="19646"/>
          <a:stretch/>
        </p:blipFill>
        <p:spPr>
          <a:xfrm>
            <a:off x="1153353" y="5369040"/>
            <a:ext cx="2488356" cy="14854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Generics (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Calibri Light"/>
                <a:ea typeface="DejaVu Sans"/>
              </a:rPr>
              <a:t>cont</a:t>
            </a: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)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Since there is code duplication, we may want to create</a:t>
            </a:r>
            <a:b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 generalized stack.</a:t>
            </a:r>
            <a:endParaRPr lang="en-US" sz="2800" b="0" strike="noStrike" spc="-1" dirty="0">
              <a:latin typeface="Arial"/>
            </a:endParaRPr>
          </a:p>
          <a:p>
            <a:pPr algn="l" rtl="0"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latin typeface="Arial"/>
            </a:endParaRPr>
          </a:p>
          <a:p>
            <a:pPr algn="l" rtl="0"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This stack can hold both cows and integers at the same time! </a:t>
            </a:r>
            <a:b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Usually that’s not what we want</a:t>
            </a:r>
            <a:r>
              <a:rPr lang="en-US" sz="2800" spc="-1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3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6A9AAFD7-AEDF-8AFD-CDC7-CC1E4F90F2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66" t="20330" r="13724" b="19287"/>
          <a:stretch/>
        </p:blipFill>
        <p:spPr>
          <a:xfrm>
            <a:off x="1153886" y="2829027"/>
            <a:ext cx="2939143" cy="16884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Generics (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Calibri Light"/>
                <a:ea typeface="DejaVu Sans"/>
              </a:rPr>
              <a:t>cont</a:t>
            </a: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)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100" name="CustomShape 2"/>
          <p:cNvSpPr/>
          <p:nvPr/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Let’s assume this is our Cow class:</a:t>
            </a:r>
            <a:endParaRPr lang="en-US" sz="2800" b="0" strike="noStrike" spc="-1" dirty="0">
              <a:latin typeface="Arial"/>
            </a:endParaRPr>
          </a:p>
          <a:p>
            <a:pPr algn="l" rtl="0"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latin typeface="Arial"/>
            </a:endParaRPr>
          </a:p>
          <a:p>
            <a:pPr algn="l" rtl="0"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latin typeface="Arial"/>
            </a:endParaRPr>
          </a:p>
          <a:p>
            <a:pPr algn="l" rtl="0"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latin typeface="Arial"/>
            </a:endParaRPr>
          </a:p>
          <a:p>
            <a:pPr algn="l" rtl="0"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latin typeface="Arial"/>
            </a:endParaRPr>
          </a:p>
          <a:p>
            <a:pPr marL="72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en-US" sz="2800" spc="-1" dirty="0">
              <a:solidFill>
                <a:srgbClr val="000000"/>
              </a:solidFill>
              <a:latin typeface="Calibri"/>
              <a:ea typeface="DejaVu Sans"/>
            </a:endParaRPr>
          </a:p>
        </p:txBody>
      </p:sp>
      <p:pic>
        <p:nvPicPr>
          <p:cNvPr id="3" name="Picture 2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FA2044DF-8C23-E754-06E6-1E26BDCB11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4" t="13611" r="9014" b="13413"/>
          <a:stretch/>
        </p:blipFill>
        <p:spPr>
          <a:xfrm>
            <a:off x="1143000" y="2656113"/>
            <a:ext cx="5378742" cy="32548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Generics (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Calibri Light"/>
                <a:ea typeface="DejaVu Sans"/>
              </a:rPr>
              <a:t>cont</a:t>
            </a: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)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838080" y="1564303"/>
            <a:ext cx="10514520" cy="19788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We want both type-safety and a general stack:</a:t>
            </a: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spc="-1" dirty="0">
              <a:solidFill>
                <a:srgbClr val="000000"/>
              </a:solidFill>
              <a:latin typeface="Calibri"/>
            </a:endParaRPr>
          </a:p>
          <a:p>
            <a:pPr marL="72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</a:rPr>
              <a:t>An implementation using Gener</a:t>
            </a:r>
            <a:r>
              <a:rPr lang="en-US" sz="2800" spc="-1" dirty="0">
                <a:solidFill>
                  <a:srgbClr val="000000"/>
                </a:solidFill>
                <a:latin typeface="Arial"/>
              </a:rPr>
              <a:t>ics.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8BDD8B19-07CF-75AE-44E0-099B4E0455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2" t="19721" r="13689" b="19490"/>
          <a:stretch/>
        </p:blipFill>
        <p:spPr>
          <a:xfrm>
            <a:off x="1186543" y="2059917"/>
            <a:ext cx="2569546" cy="1483193"/>
          </a:xfrm>
          <a:prstGeom prst="rect">
            <a:avLst/>
          </a:prstGeom>
        </p:spPr>
      </p:pic>
      <p:pic>
        <p:nvPicPr>
          <p:cNvPr id="8" name="Picture 7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B585649D-65D4-562C-C7BB-9081292B7F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3" t="16475" r="8231" b="16458"/>
          <a:stretch/>
        </p:blipFill>
        <p:spPr>
          <a:xfrm>
            <a:off x="1148960" y="4201885"/>
            <a:ext cx="5698154" cy="219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3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838080" y="187612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Default methods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838080" y="1512052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 default method is a method which is implemented directly in the interface.</a:t>
            </a:r>
            <a:endParaRPr lang="en-US" sz="2800" b="0" strike="noStrike" spc="-1" dirty="0">
              <a:latin typeface="Arial"/>
            </a:endParaRPr>
          </a:p>
          <a:p>
            <a:pPr algn="l" rtl="0"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latin typeface="Arial"/>
            </a:endParaRPr>
          </a:p>
          <a:p>
            <a:pPr algn="l" rtl="0"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latin typeface="Arial"/>
            </a:endParaRPr>
          </a:p>
          <a:p>
            <a:pPr algn="l" rtl="0"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latin typeface="Arial"/>
            </a:endParaRPr>
          </a:p>
          <a:p>
            <a:pPr algn="l" rtl="0"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There’s a straight-forward way to implement the method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isEmpty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5" name="Picture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BFE14ED0-8276-098B-F27B-7FC1E7B5D0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00" t="18457" r="14543" b="18358"/>
          <a:stretch/>
        </p:blipFill>
        <p:spPr>
          <a:xfrm>
            <a:off x="1036897" y="2477228"/>
            <a:ext cx="2477037" cy="1712156"/>
          </a:xfrm>
          <a:prstGeom prst="rect">
            <a:avLst/>
          </a:prstGeom>
        </p:spPr>
      </p:pic>
      <p:pic>
        <p:nvPicPr>
          <p:cNvPr id="7" name="Picture 6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AA5A2E5C-CB8B-051B-14E3-69B5F1058A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1" t="17504" r="8299" b="16907"/>
          <a:stretch/>
        </p:blipFill>
        <p:spPr>
          <a:xfrm>
            <a:off x="1036897" y="4976858"/>
            <a:ext cx="5151252" cy="1891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Default methods(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Calibri Light"/>
                <a:ea typeface="DejaVu Sans"/>
              </a:rPr>
              <a:t>cont</a:t>
            </a: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)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This implementation can suit most implementations of stack. 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Only requires calling methods that was already defined in the Stack interface. 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3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725CC371-BD7B-1172-5F80-EFD3547E5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44" t="18335" r="9244" b="18289"/>
          <a:stretch/>
        </p:blipFill>
        <p:spPr>
          <a:xfrm>
            <a:off x="1121229" y="3537857"/>
            <a:ext cx="5551713" cy="21367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Generic methods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100" name="CustomShape 2"/>
          <p:cNvSpPr/>
          <p:nvPr/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 addition to generic classes and interfaces, Java supports generic methods.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 reminder - this is our Cow class:</a:t>
            </a:r>
            <a:endParaRPr lang="en-US" sz="2800" b="0" strike="noStrike" spc="-1" dirty="0">
              <a:latin typeface="Arial"/>
            </a:endParaRPr>
          </a:p>
          <a:p>
            <a:pPr algn="l" rtl="0"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latin typeface="Arial"/>
            </a:endParaRPr>
          </a:p>
          <a:p>
            <a:pPr algn="l" rtl="0"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latin typeface="Arial"/>
            </a:endParaRPr>
          </a:p>
          <a:p>
            <a:pPr algn="l" rtl="0"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latin typeface="Arial"/>
            </a:endParaRPr>
          </a:p>
          <a:p>
            <a:pPr algn="l" rtl="0"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 dirty="0">
              <a:latin typeface="Arial"/>
            </a:endParaRPr>
          </a:p>
          <a:p>
            <a:pPr marL="72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en-US" sz="2800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How can we find the maximal Cow in a collection?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3" name="Picture 2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FA2044DF-8C23-E754-06E6-1E26BDCB115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4" t="13611" r="9014" b="13413"/>
          <a:stretch/>
        </p:blipFill>
        <p:spPr>
          <a:xfrm>
            <a:off x="1153886" y="3276599"/>
            <a:ext cx="4071257" cy="246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24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Reminder: Comparator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104" name="CustomShape 2"/>
          <p:cNvSpPr/>
          <p:nvPr/>
        </p:nvSpPr>
        <p:spPr>
          <a:xfrm>
            <a:off x="838080" y="3717309"/>
            <a:ext cx="1051452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120" algn="l" rtl="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Given two objects of type T, the method compare will compare them and return:</a:t>
            </a:r>
            <a:endParaRPr lang="en-US" sz="2400" b="0" strike="noStrike" spc="-1" dirty="0">
              <a:latin typeface="Arial"/>
            </a:endParaRPr>
          </a:p>
          <a:p>
            <a:pPr marL="285840" indent="-285120" algn="l" rtl="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 positive integer if o1&gt;o2</a:t>
            </a:r>
            <a:endParaRPr lang="en-US" sz="2400" b="0" strike="noStrike" spc="-1" dirty="0">
              <a:latin typeface="Arial"/>
            </a:endParaRPr>
          </a:p>
          <a:p>
            <a:pPr marL="285840" indent="-285120" algn="l" rtl="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 negative integer if o2&gt;o1</a:t>
            </a:r>
            <a:endParaRPr lang="en-US" sz="2400" b="0" strike="noStrike" spc="-1" dirty="0">
              <a:latin typeface="Arial"/>
            </a:endParaRPr>
          </a:p>
          <a:p>
            <a:pPr marL="285840" indent="-285120" algn="l" rtl="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Zero if both objects are equal</a:t>
            </a:r>
            <a:endParaRPr lang="en-US" sz="2400" b="0" strike="noStrike" spc="-1" dirty="0">
              <a:latin typeface="Arial"/>
            </a:endParaRPr>
          </a:p>
        </p:txBody>
      </p:sp>
      <p:pic>
        <p:nvPicPr>
          <p:cNvPr id="3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A97D3A16-BD11-EC87-1826-FBFCFF8289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0" t="23474" r="11765" b="24426"/>
          <a:stretch/>
        </p:blipFill>
        <p:spPr>
          <a:xfrm>
            <a:off x="942583" y="1660896"/>
            <a:ext cx="5379840" cy="1840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Examples - Comparator Implementations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104" name="CustomShape 2"/>
          <p:cNvSpPr/>
          <p:nvPr/>
        </p:nvSpPr>
        <p:spPr>
          <a:xfrm>
            <a:off x="838080" y="3270995"/>
            <a:ext cx="1051452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120" algn="l" rtl="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Given two objects of type Integer, the method compares their values using o1 - o2.</a:t>
            </a:r>
          </a:p>
          <a:p>
            <a:pPr marL="285840" indent="-285120" algn="l" rtl="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Compares 5 and 10 and returns -5 (5 is less than 10).</a:t>
            </a:r>
            <a:endParaRPr lang="en-US" sz="2000" b="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6A584C09-6BE0-467E-E1CE-431526D74A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3" t="19802" r="7142" b="20368"/>
          <a:stretch/>
        </p:blipFill>
        <p:spPr>
          <a:xfrm>
            <a:off x="947057" y="1486062"/>
            <a:ext cx="6651172" cy="1698172"/>
          </a:xfrm>
          <a:prstGeom prst="rect">
            <a:avLst/>
          </a:prstGeom>
        </p:spPr>
      </p:pic>
      <p:pic>
        <p:nvPicPr>
          <p:cNvPr id="6" name="Picture 5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18A3558A-AF9A-E547-A9A2-FC75623511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3" t="19969" r="7213" b="20201"/>
          <a:stretch/>
        </p:blipFill>
        <p:spPr>
          <a:xfrm>
            <a:off x="947057" y="4064188"/>
            <a:ext cx="6651172" cy="1698172"/>
          </a:xfrm>
          <a:prstGeom prst="rect">
            <a:avLst/>
          </a:prstGeom>
        </p:spPr>
      </p:pic>
      <p:sp>
        <p:nvSpPr>
          <p:cNvPr id="7" name="CustomShape 2">
            <a:extLst>
              <a:ext uri="{FF2B5EF4-FFF2-40B4-BE49-F238E27FC236}">
                <a16:creationId xmlns:a16="http://schemas.microsoft.com/office/drawing/2014/main" id="{6B8DA388-AE48-6A89-EEB5-CB22D4984B72}"/>
              </a:ext>
            </a:extLst>
          </p:cNvPr>
          <p:cNvSpPr/>
          <p:nvPr/>
        </p:nvSpPr>
        <p:spPr>
          <a:xfrm>
            <a:off x="730422" y="5849121"/>
            <a:ext cx="11461577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840" indent="-285120" algn="l" rtl="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Given two objects of type Cow, the method compares their age using o1.getAge() - o2.getAge().</a:t>
            </a:r>
          </a:p>
          <a:p>
            <a:pPr marL="285840" indent="-285120" algn="l" rtl="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Compares a 5-year-old cow and a 3-year-old cow and returns 2 (5 is older than 5).</a:t>
            </a:r>
            <a:endParaRPr lang="en-US" sz="2000" b="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77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Generic methods(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Calibri Light"/>
                <a:ea typeface="DejaVu Sans"/>
              </a:rPr>
              <a:t>cont</a:t>
            </a: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)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106" name="CustomShape 2"/>
          <p:cNvSpPr/>
          <p:nvPr/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The following is a generic method used to find a maximal </a:t>
            </a:r>
            <a:b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element in an array.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3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60A40558-3F4B-9DFB-AC8D-3C005ECE3A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7" t="11908" r="7368" b="12009"/>
          <a:stretch/>
        </p:blipFill>
        <p:spPr>
          <a:xfrm>
            <a:off x="1143000" y="2852056"/>
            <a:ext cx="6640286" cy="34598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Generic methods(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Calibri Light"/>
                <a:ea typeface="DejaVu Sans"/>
              </a:rPr>
              <a:t>cont</a:t>
            </a: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)</a:t>
            </a:r>
            <a:endParaRPr lang="en-US" sz="4400" b="0" strike="noStrike" spc="-1" dirty="0">
              <a:latin typeface="Arial"/>
            </a:endParaRPr>
          </a:p>
        </p:txBody>
      </p:sp>
      <p:pic>
        <p:nvPicPr>
          <p:cNvPr id="5" name="Picture 4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F577F66B-33EB-1D82-6877-9652599CCE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3" t="15573" r="7003" b="15437"/>
          <a:stretch/>
        </p:blipFill>
        <p:spPr>
          <a:xfrm>
            <a:off x="838080" y="1783431"/>
            <a:ext cx="6662058" cy="244928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5361C2-FDA1-E646-8903-2A65A62828D6}"/>
              </a:ext>
            </a:extLst>
          </p:cNvPr>
          <p:cNvCxnSpPr>
            <a:cxnSpLocks/>
          </p:cNvCxnSpPr>
          <p:nvPr/>
        </p:nvCxnSpPr>
        <p:spPr>
          <a:xfrm flipH="1">
            <a:off x="5649686" y="3516086"/>
            <a:ext cx="3265714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A3B08F9-E436-5C7B-7621-11CD18742CA4}"/>
              </a:ext>
            </a:extLst>
          </p:cNvPr>
          <p:cNvSpPr/>
          <p:nvPr/>
        </p:nvSpPr>
        <p:spPr>
          <a:xfrm>
            <a:off x="8915400" y="3042557"/>
            <a:ext cx="1534886" cy="947057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</a:t>
            </a:r>
            <a:r>
              <a:rPr lang="en-IL" dirty="0">
                <a:solidFill>
                  <a:schemeClr val="tx1"/>
                </a:solidFill>
              </a:rPr>
              <a:t>ax integer is 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8AD10D-2D2C-28C6-52FE-7485A4DA0FE4}"/>
              </a:ext>
            </a:extLst>
          </p:cNvPr>
          <p:cNvCxnSpPr>
            <a:cxnSpLocks/>
          </p:cNvCxnSpPr>
          <p:nvPr/>
        </p:nvCxnSpPr>
        <p:spPr>
          <a:xfrm flipH="1">
            <a:off x="6694715" y="3712029"/>
            <a:ext cx="3265714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46D050-6F49-FE32-0B47-5A24EDE3F308}"/>
              </a:ext>
            </a:extLst>
          </p:cNvPr>
          <p:cNvSpPr/>
          <p:nvPr/>
        </p:nvSpPr>
        <p:spPr>
          <a:xfrm>
            <a:off x="9960428" y="3238500"/>
            <a:ext cx="1905119" cy="947057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eldest cow is 9 years old</a:t>
            </a:r>
            <a:endParaRPr lang="en-IL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Anonymous classes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838080" y="1455445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Anonymous classes help make you your code more concise.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Enable you to declare and instantiate a class at the same time.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Use them if you need to use a local class only once.  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5" name="Picture 4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CC83FE79-A51F-C0A5-ACAE-3562889AF7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6" t="11532" r="7660" b="11801"/>
          <a:stretch/>
        </p:blipFill>
        <p:spPr>
          <a:xfrm>
            <a:off x="1132113" y="3102428"/>
            <a:ext cx="5990357" cy="354874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3E725A-035C-1F2A-CE30-5322409F1C3D}"/>
              </a:ext>
            </a:extLst>
          </p:cNvPr>
          <p:cNvCxnSpPr>
            <a:cxnSpLocks/>
          </p:cNvCxnSpPr>
          <p:nvPr/>
        </p:nvCxnSpPr>
        <p:spPr>
          <a:xfrm flipH="1">
            <a:off x="6019800" y="4572000"/>
            <a:ext cx="3265714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E7CE180-CA1A-1FF7-661C-D29B80B620E4}"/>
              </a:ext>
            </a:extLst>
          </p:cNvPr>
          <p:cNvSpPr/>
          <p:nvPr/>
        </p:nvSpPr>
        <p:spPr>
          <a:xfrm>
            <a:off x="9285514" y="4098471"/>
            <a:ext cx="1534886" cy="947057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</a:t>
            </a:r>
            <a:r>
              <a:rPr lang="en-IL" dirty="0">
                <a:solidFill>
                  <a:schemeClr val="tx1"/>
                </a:solidFill>
              </a:rPr>
              <a:t>ax integer is 4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56F53FE-030E-0F8D-0078-C220ABBB4B67}"/>
              </a:ext>
            </a:extLst>
          </p:cNvPr>
          <p:cNvCxnSpPr>
            <a:cxnSpLocks/>
          </p:cNvCxnSpPr>
          <p:nvPr/>
        </p:nvCxnSpPr>
        <p:spPr>
          <a:xfrm flipH="1">
            <a:off x="5638800" y="5794802"/>
            <a:ext cx="3515969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8483BF8-4E46-032A-BFC2-9D4FD11125B0}"/>
              </a:ext>
            </a:extLst>
          </p:cNvPr>
          <p:cNvSpPr/>
          <p:nvPr/>
        </p:nvSpPr>
        <p:spPr>
          <a:xfrm>
            <a:off x="9154768" y="5321273"/>
            <a:ext cx="1905119" cy="947057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eldest cow is 9 years old</a:t>
            </a:r>
            <a:endParaRPr lang="en-IL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Lambda expressions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An issue with anonymous classes is that their syntax can be a bit unclear.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We can use Lambda expressions instead: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3" name="Picture 2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FCCCD07C-739D-8EA7-35CB-A052AEC5DD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2" t="17356" r="5602" b="17558"/>
          <a:stretch/>
        </p:blipFill>
        <p:spPr>
          <a:xfrm>
            <a:off x="1230085" y="3429000"/>
            <a:ext cx="8406594" cy="1992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838080" y="77496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Lambda expressions (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Calibri Light"/>
                <a:ea typeface="DejaVu Sans"/>
              </a:rPr>
              <a:t>cont</a:t>
            </a: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)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838080" y="1253880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The lambda syntax is</a:t>
            </a:r>
          </a:p>
          <a:p>
            <a:endParaRPr lang="en-US" sz="2800" spc="-1" dirty="0">
              <a:solidFill>
                <a:srgbClr val="000000"/>
              </a:solidFill>
              <a:effectLst/>
              <a:latin typeface="Calibri"/>
            </a:endParaRPr>
          </a:p>
          <a:p>
            <a:endParaRPr lang="en-US" sz="2800" spc="-1" dirty="0">
              <a:solidFill>
                <a:srgbClr val="000000"/>
              </a:solidFill>
              <a:effectLst/>
              <a:latin typeface="Calibri"/>
            </a:endParaRPr>
          </a:p>
          <a:p>
            <a:endParaRPr lang="en-US" sz="2400" b="0" dirty="0">
              <a:solidFill>
                <a:srgbClr val="ABB2BF"/>
              </a:solidFill>
              <a:effectLst/>
              <a:latin typeface="JetBrains Mono" panose="02000009000000000000" pitchFamily="49" charset="0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You can replace an anonymous class with a lambda expression only if the class has a single non-default method.</a:t>
            </a:r>
            <a:endParaRPr lang="en-US" sz="2800" b="0" strike="noStrike" spc="-1" dirty="0">
              <a:latin typeface="Arial"/>
            </a:endParaRPr>
          </a:p>
          <a:p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If all your lambda does return a value, you can write both </a:t>
            </a:r>
            <a:b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</a:br>
            <a:endParaRPr lang="en-US" sz="28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No need to declare the type of the parameter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No need to declare a single parameter in parenthesis (Required for multiple parameters)</a:t>
            </a:r>
            <a:endParaRPr lang="en-US" sz="2800" b="0" strike="noStrike" spc="-1" dirty="0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Can drop the </a:t>
            </a:r>
            <a:r>
              <a:rPr lang="en-IL" sz="24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{}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if it is a single expression.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5" name="Picture 4" descr="A black rectangular with yellow text&#10;&#10;Description automatically generated">
            <a:extLst>
              <a:ext uri="{FF2B5EF4-FFF2-40B4-BE49-F238E27FC236}">
                <a16:creationId xmlns:a16="http://schemas.microsoft.com/office/drawing/2014/main" id="{62354551-8930-F90C-E7E5-4013D2E456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4" t="26819" r="10505" b="28959"/>
          <a:stretch/>
        </p:blipFill>
        <p:spPr>
          <a:xfrm>
            <a:off x="925285" y="1824781"/>
            <a:ext cx="4757057" cy="1026206"/>
          </a:xfrm>
          <a:prstGeom prst="rect">
            <a:avLst/>
          </a:prstGeom>
        </p:spPr>
      </p:pic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899F81E3-82DD-69EA-5A81-389D5EBC59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4" t="40646" r="8417" b="36864"/>
          <a:stretch/>
        </p:blipFill>
        <p:spPr>
          <a:xfrm>
            <a:off x="925285" y="4245428"/>
            <a:ext cx="5693229" cy="5007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Lambda expression example</a:t>
            </a:r>
            <a:endParaRPr lang="en-US" sz="4400" b="0" strike="noStrike" spc="-1" dirty="0">
              <a:latin typeface="Arial"/>
            </a:endParaRPr>
          </a:p>
        </p:txBody>
      </p:sp>
      <p:pic>
        <p:nvPicPr>
          <p:cNvPr id="3" name="Picture 2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B62C64A9-2A94-CA90-7580-FB94F53C45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2" t="8808" r="6403" b="9077"/>
          <a:stretch/>
        </p:blipFill>
        <p:spPr>
          <a:xfrm>
            <a:off x="925286" y="1556657"/>
            <a:ext cx="6770914" cy="49363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Lambda expression example (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Calibri Light"/>
                <a:ea typeface="DejaVu Sans"/>
              </a:rPr>
              <a:t>cont</a:t>
            </a: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)</a:t>
            </a:r>
            <a:endParaRPr lang="en-US" sz="4400" b="0" strike="noStrike" spc="-1" dirty="0">
              <a:latin typeface="Arial"/>
            </a:endParaRPr>
          </a:p>
        </p:txBody>
      </p:sp>
      <p:pic>
        <p:nvPicPr>
          <p:cNvPr id="4" name="Picture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17182CFE-D67E-A082-CA46-06A2DBCD4D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2" t="16968" r="6302" b="17098"/>
          <a:stretch/>
        </p:blipFill>
        <p:spPr>
          <a:xfrm>
            <a:off x="957823" y="1689480"/>
            <a:ext cx="7348804" cy="208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97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Class object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122" name="CustomShape 2"/>
          <p:cNvSpPr/>
          <p:nvPr/>
        </p:nvSpPr>
        <p:spPr>
          <a:xfrm>
            <a:off x="838080" y="1825559"/>
            <a:ext cx="10514520" cy="49077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There’s a special class in Java called </a:t>
            </a:r>
            <a:r>
              <a:rPr lang="en-US" sz="2400" b="0" dirty="0">
                <a:solidFill>
                  <a:srgbClr val="E5C07B"/>
                </a:solidFill>
                <a:effectLst/>
                <a:latin typeface="JetBrains Mono" panose="02000009000000000000" pitchFamily="49" charset="0"/>
              </a:rPr>
              <a:t>Class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Instances of class </a:t>
            </a:r>
            <a:r>
              <a:rPr lang="en-US" sz="2400" b="0" dirty="0">
                <a:solidFill>
                  <a:srgbClr val="E5C07B"/>
                </a:solidFill>
                <a:effectLst/>
                <a:latin typeface="JetBrains Mono" panose="02000009000000000000" pitchFamily="49" charset="0"/>
              </a:rPr>
              <a:t>Class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represents classes and instances running in the Java application.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Every class in Java has a corresponding </a:t>
            </a:r>
            <a:r>
              <a:rPr lang="en-US" sz="2400" b="0" dirty="0">
                <a:solidFill>
                  <a:srgbClr val="E5C07B"/>
                </a:solidFill>
                <a:effectLst/>
                <a:latin typeface="JetBrains Mono" panose="02000009000000000000" pitchFamily="49" charset="0"/>
              </a:rPr>
              <a:t>Class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object.</a:t>
            </a:r>
            <a:endParaRPr lang="en-US" sz="2800" b="0" strike="noStrike" spc="-1" dirty="0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You can receive the object Class in runtime using the static class property, or the method </a:t>
            </a:r>
            <a:r>
              <a:rPr lang="en-US" sz="2400" b="0" dirty="0" err="1">
                <a:solidFill>
                  <a:srgbClr val="61AFEF"/>
                </a:solidFill>
                <a:effectLst/>
                <a:latin typeface="JetBrains Mono" panose="02000009000000000000" pitchFamily="49" charset="0"/>
              </a:rPr>
              <a:t>getClass</a:t>
            </a:r>
            <a:r>
              <a:rPr lang="en-US" sz="24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()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en-US" sz="2800" b="0" strike="noStrike" spc="-1" dirty="0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The class Object has several methods, </a:t>
            </a:r>
            <a:r>
              <a:rPr lang="en-US" sz="2400" b="0" dirty="0" err="1">
                <a:solidFill>
                  <a:srgbClr val="61AFEF"/>
                </a:solidFill>
                <a:effectLst/>
                <a:latin typeface="JetBrains Mono" panose="02000009000000000000" pitchFamily="49" charset="0"/>
              </a:rPr>
              <a:t>getName</a:t>
            </a:r>
            <a:r>
              <a:rPr lang="en-US" sz="24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()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which returns the name of the class, and </a:t>
            </a:r>
            <a:r>
              <a:rPr lang="en-US" sz="2400" b="0" dirty="0" err="1">
                <a:solidFill>
                  <a:srgbClr val="61AFEF"/>
                </a:solidFill>
                <a:effectLst/>
                <a:latin typeface="JetBrains Mono" panose="02000009000000000000" pitchFamily="49" charset="0"/>
              </a:rPr>
              <a:t>isAssignableFrom</a:t>
            </a:r>
            <a:r>
              <a:rPr lang="en-US" sz="24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sz="2400" b="0" dirty="0" err="1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some_class</a:t>
            </a:r>
            <a:r>
              <a:rPr lang="en-US" sz="24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)</a:t>
            </a:r>
            <a:r>
              <a:rPr lang="en-US" sz="2800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Calibri"/>
              </a:rPr>
              <a:t>Generally can be used to do ‘reflection’, i.e., get meta </a:t>
            </a:r>
            <a:br>
              <a:rPr lang="en-US" sz="2800" spc="-1" dirty="0">
                <a:solidFill>
                  <a:srgbClr val="000000"/>
                </a:solidFill>
                <a:latin typeface="Calibri"/>
              </a:rPr>
            </a:br>
            <a:r>
              <a:rPr lang="en-US" sz="2800" spc="-1" dirty="0">
                <a:solidFill>
                  <a:srgbClr val="000000"/>
                </a:solidFill>
                <a:latin typeface="Calibri"/>
              </a:rPr>
              <a:t>information on the class.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Class object example</a:t>
            </a:r>
            <a:endParaRPr lang="en-US" sz="4400" b="0" strike="noStrike" spc="-1" dirty="0"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B5E813-4A46-381E-D8CE-B53452084FCD}"/>
              </a:ext>
            </a:extLst>
          </p:cNvPr>
          <p:cNvGrpSpPr/>
          <p:nvPr/>
        </p:nvGrpSpPr>
        <p:grpSpPr>
          <a:xfrm>
            <a:off x="936171" y="1513112"/>
            <a:ext cx="5060319" cy="5268686"/>
            <a:chOff x="936171" y="1513112"/>
            <a:chExt cx="5060319" cy="5268686"/>
          </a:xfrm>
        </p:grpSpPr>
        <p:pic>
          <p:nvPicPr>
            <p:cNvPr id="3" name="Picture 2" descr="A screen shot of a computer program&#10;&#10;Description automatically generated">
              <a:extLst>
                <a:ext uri="{FF2B5EF4-FFF2-40B4-BE49-F238E27FC236}">
                  <a16:creationId xmlns:a16="http://schemas.microsoft.com/office/drawing/2014/main" id="{82A9A81F-1217-A260-86A0-9E1727611F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" t="7619" r="8065" b="8095"/>
            <a:stretch/>
          </p:blipFill>
          <p:spPr>
            <a:xfrm>
              <a:off x="936171" y="1513112"/>
              <a:ext cx="5060319" cy="526868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5CD3F01-8D22-9EFC-9B14-843332326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49557" y="5774040"/>
              <a:ext cx="644785" cy="25400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Design by contract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126" name="CustomShape 2"/>
          <p:cNvSpPr/>
          <p:nvPr/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DBC is a simple terminology that helps us express contracts between specification and implementation.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DBC relies on three words: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Precondition – things that must be true before a method is invoked.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Postcondition – things that must be true after a method is invoked.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Invariants - things that must be true both before and after any method is invoked and immediately after construction.  </a:t>
            </a:r>
            <a:endParaRPr lang="en-US" sz="28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2"/>
          <p:cNvSpPr/>
          <p:nvPr/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b="0" strike="noStrike" spc="-1" dirty="0">
              <a:latin typeface="Arial"/>
            </a:endParaRP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0A808405-77D6-97B9-35E3-CD0B69F723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1" t="5996" r="7683" b="6238"/>
          <a:stretch/>
        </p:blipFill>
        <p:spPr>
          <a:xfrm>
            <a:off x="838080" y="1068994"/>
            <a:ext cx="4383156" cy="5691034"/>
          </a:xfrm>
          <a:prstGeom prst="rect">
            <a:avLst/>
          </a:prstGeom>
        </p:spPr>
      </p:pic>
      <p:sp>
        <p:nvSpPr>
          <p:cNvPr id="6" name="CustomShape 1">
            <a:extLst>
              <a:ext uri="{FF2B5EF4-FFF2-40B4-BE49-F238E27FC236}">
                <a16:creationId xmlns:a16="http://schemas.microsoft.com/office/drawing/2014/main" id="{526BDCC2-35A9-AD97-5341-D9EFE52D37C7}"/>
              </a:ext>
            </a:extLst>
          </p:cNvPr>
          <p:cNvSpPr/>
          <p:nvPr/>
        </p:nvSpPr>
        <p:spPr>
          <a:xfrm>
            <a:off x="141395" y="-157474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Design by contract - 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Calibri Light"/>
                <a:ea typeface="DejaVu Sans"/>
              </a:rPr>
              <a:t>StepCounter</a:t>
            </a:r>
            <a:endParaRPr lang="en-US" sz="44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803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Rules that ensure testability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128" name="CustomShape 2"/>
          <p:cNvSpPr/>
          <p:nvPr/>
        </p:nvSpPr>
        <p:spPr>
          <a:xfrm>
            <a:off x="838080" y="1689480"/>
            <a:ext cx="10514520" cy="49981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Separate commands and queries.</a:t>
            </a:r>
            <a:b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</a:br>
            <a:r>
              <a:rPr lang="en-US" sz="2400" b="0" strike="noStrike" spc="-1" dirty="0">
                <a:solidFill>
                  <a:srgbClr val="0070C0"/>
                </a:solidFill>
                <a:latin typeface="Calibri"/>
              </a:rPr>
              <a:t>pop -&gt; top, </a:t>
            </a:r>
            <a:r>
              <a:rPr lang="en-US" sz="2400" b="0" strike="noStrike" spc="-1" dirty="0" err="1">
                <a:solidFill>
                  <a:srgbClr val="0070C0"/>
                </a:solidFill>
                <a:latin typeface="Calibri"/>
              </a:rPr>
              <a:t>removeTop</a:t>
            </a:r>
            <a:endParaRPr lang="en-US" sz="2400" b="0" strike="noStrike" spc="-1" dirty="0">
              <a:solidFill>
                <a:srgbClr val="0070C0"/>
              </a:solidFill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Separate basic queries and derived queries.</a:t>
            </a:r>
            <a:b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</a:br>
            <a:r>
              <a:rPr lang="en-US" sz="2400" b="0" strike="noStrike" spc="-1" dirty="0" err="1">
                <a:solidFill>
                  <a:srgbClr val="0070C0"/>
                </a:solidFill>
                <a:latin typeface="Calibri"/>
                <a:ea typeface="DejaVu Sans"/>
              </a:rPr>
              <a:t>isEmpty</a:t>
            </a:r>
            <a:r>
              <a:rPr lang="en-US" sz="24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 is basic while top is derived.</a:t>
            </a:r>
            <a:endParaRPr lang="en-US" sz="2400" b="0" strike="noStrike" spc="-1" dirty="0">
              <a:solidFill>
                <a:srgbClr val="0070C0"/>
              </a:solidFill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Define derived queries in terms of basic queries.</a:t>
            </a:r>
            <a:b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</a:br>
            <a:r>
              <a:rPr lang="en-US" sz="2400" spc="-1" dirty="0">
                <a:solidFill>
                  <a:srgbClr val="0070C0"/>
                </a:solidFill>
                <a:latin typeface="Calibri"/>
                <a:ea typeface="DejaVu Sans"/>
              </a:rPr>
              <a:t>top uses </a:t>
            </a:r>
            <a:r>
              <a:rPr lang="en-US" sz="2400" spc="-1" dirty="0" err="1">
                <a:solidFill>
                  <a:srgbClr val="0070C0"/>
                </a:solidFill>
                <a:latin typeface="Calibri"/>
                <a:ea typeface="DejaVu Sans"/>
              </a:rPr>
              <a:t>isEmpty</a:t>
            </a:r>
            <a:r>
              <a:rPr lang="en-US" sz="2400" spc="-1" dirty="0">
                <a:solidFill>
                  <a:srgbClr val="0070C0"/>
                </a:solidFill>
                <a:latin typeface="Calibri"/>
                <a:ea typeface="DejaVu Sans"/>
              </a:rPr>
              <a:t> to check if the stack is empty and throw exception</a:t>
            </a:r>
            <a:endParaRPr lang="en-US" sz="2400" b="0" strike="noStrike" spc="-1" dirty="0">
              <a:solidFill>
                <a:srgbClr val="0070C0"/>
              </a:solidFill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 each basic command, write post-condition which specify the value of every basic query.</a:t>
            </a:r>
            <a:endParaRPr lang="en-US" sz="24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 each basic command and basic query, express the pre-conditions in terms of basic queries.</a:t>
            </a:r>
            <a:endParaRPr lang="en-US" sz="24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Specify class invariants that impose constraints that must remain always true on the basic queries.  </a:t>
            </a:r>
            <a:b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</a:br>
            <a:r>
              <a:rPr lang="en-US" sz="24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if the stack is empty then size should be 0.</a:t>
            </a:r>
            <a:endParaRPr lang="en-US" sz="2400" b="0" strike="noStrike" spc="-1" dirty="0">
              <a:solidFill>
                <a:srgbClr val="0070C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EB8A06-CC1A-FDDE-9CF2-D4A9F4382FA8}"/>
              </a:ext>
            </a:extLst>
          </p:cNvPr>
          <p:cNvSpPr txBox="1"/>
          <p:nvPr/>
        </p:nvSpPr>
        <p:spPr>
          <a:xfrm>
            <a:off x="224117" y="58846"/>
            <a:ext cx="5211483" cy="6740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/**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* An interface for Stack collection.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* 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@inv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: if (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this.isEmpty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() == true)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this.size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() == 0.</a:t>
            </a: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@inv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: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this.size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() &gt;= 0.</a:t>
            </a: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*/</a:t>
            </a:r>
            <a:endParaRPr lang="en-US" sz="1200" b="0" dirty="0">
              <a:solidFill>
                <a:srgbClr val="C678DD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public</a:t>
            </a:r>
            <a:r>
              <a:rPr lang="en-US" sz="1200" b="0" dirty="0">
                <a:solidFill>
                  <a:srgbClr val="E06C75"/>
                </a:solidFill>
                <a:effectLst/>
                <a:latin typeface="JetBrains Mono" panose="020B05090201020500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interface</a:t>
            </a:r>
            <a:r>
              <a:rPr lang="en-US" sz="1200" b="0" dirty="0">
                <a:solidFill>
                  <a:srgbClr val="E06C75"/>
                </a:solidFill>
                <a:effectLst/>
                <a:latin typeface="JetBrains Mono" panose="020B0509020102050004" pitchFamily="49" charset="0"/>
              </a:rPr>
              <a:t> </a:t>
            </a:r>
            <a:r>
              <a:rPr lang="en-US" sz="1200" b="0" dirty="0">
                <a:solidFill>
                  <a:srgbClr val="00B050"/>
                </a:solidFill>
                <a:effectLst/>
                <a:latin typeface="JetBrains Mono" panose="020B0509020102050004" pitchFamily="49" charset="0"/>
              </a:rPr>
              <a:t>Stack</a:t>
            </a:r>
            <a: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  <a:t>&lt;</a:t>
            </a:r>
            <a:r>
              <a:rPr lang="en-US" sz="1200" b="0" dirty="0">
                <a:solidFill>
                  <a:srgbClr val="00B050"/>
                </a:solidFill>
                <a:effectLst/>
                <a:latin typeface="JetBrains Mono" panose="020B0509020102050004" pitchFamily="49" charset="0"/>
              </a:rPr>
              <a:t>T</a:t>
            </a:r>
            <a: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  <a:t>&gt;</a:t>
            </a:r>
            <a:r>
              <a:rPr lang="en-US" sz="1200" b="0" dirty="0">
                <a:solidFill>
                  <a:srgbClr val="E06C75"/>
                </a:solidFill>
                <a:effectLst/>
                <a:latin typeface="JetBrains Mono" panose="020B0509020102050004" pitchFamily="49" charset="0"/>
              </a:rPr>
              <a:t> </a:t>
            </a:r>
            <a: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  <a:t>{</a:t>
            </a:r>
            <a:b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</a:b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/**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@param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 </a:t>
            </a:r>
            <a:r>
              <a:rPr lang="en-US" sz="1200" b="0" i="1" dirty="0">
                <a:solidFill>
                  <a:srgbClr val="E06C75"/>
                </a:solidFill>
                <a:effectLst/>
                <a:latin typeface="JetBrains Mono" panose="020B0509020102050004" pitchFamily="49" charset="0"/>
              </a:rPr>
              <a:t>obj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 any non null T object.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@pre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: none.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@post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: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this.isEmpty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() == false.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@post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: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this.pop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(); </a:t>
            </a:r>
            <a:b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</a:b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	*	   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this.size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() == @pre(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this.size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())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@post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: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this.top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() ==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@param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 </a:t>
            </a:r>
            <a:r>
              <a:rPr lang="en-US" sz="1200" b="0" i="1" dirty="0">
                <a:solidFill>
                  <a:srgbClr val="E06C75"/>
                </a:solidFill>
                <a:effectLst/>
                <a:latin typeface="JetBrains Mono" panose="020B0509020102050004" pitchFamily="49" charset="0"/>
              </a:rPr>
              <a:t>obj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*/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dirty="0">
                <a:solidFill>
                  <a:srgbClr val="E06C75"/>
                </a:solidFill>
                <a:effectLst/>
                <a:latin typeface="JetBrains Mono" panose="020B0509020102050004" pitchFamily="49" charset="0"/>
              </a:rPr>
              <a:t>    </a:t>
            </a:r>
            <a:r>
              <a:rPr lang="en-US" sz="1200" b="0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void</a:t>
            </a:r>
            <a:r>
              <a:rPr lang="en-US" sz="1200" b="0" dirty="0">
                <a:solidFill>
                  <a:srgbClr val="61AFEF"/>
                </a:solidFill>
                <a:effectLst/>
                <a:latin typeface="JetBrains Mono" panose="020B0509020102050004" pitchFamily="49" charset="0"/>
              </a:rPr>
              <a:t> push</a:t>
            </a:r>
            <a: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  <a:t>(</a:t>
            </a:r>
            <a:r>
              <a:rPr lang="en-US" sz="1200" b="0" dirty="0">
                <a:solidFill>
                  <a:srgbClr val="00B050"/>
                </a:solidFill>
                <a:effectLst/>
                <a:latin typeface="JetBrains Mono" panose="020B0509020102050004" pitchFamily="49" charset="0"/>
              </a:rPr>
              <a:t>T</a:t>
            </a:r>
            <a: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  <a:t> </a:t>
            </a:r>
            <a:r>
              <a:rPr lang="en-US" sz="1200" b="0" i="1" dirty="0">
                <a:solidFill>
                  <a:srgbClr val="E06C75"/>
                </a:solidFill>
                <a:effectLst/>
                <a:latin typeface="JetBrains Mono" panose="020B0509020102050004" pitchFamily="49" charset="0"/>
              </a:rPr>
              <a:t>obj</a:t>
            </a:r>
            <a: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  <a:t>);</a:t>
            </a:r>
          </a:p>
          <a:p>
            <a:pPr algn="l" rtl="0"/>
            <a:b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</a:b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/**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Will return the top object in the stack.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@return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 the top most object if there is one.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	Throws an exception if the stack is empty.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@throws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 </a:t>
            </a:r>
            <a:r>
              <a:rPr lang="en-US" sz="1200" b="0" i="1" dirty="0">
                <a:solidFill>
                  <a:srgbClr val="00B050"/>
                </a:solidFill>
                <a:effectLst/>
                <a:latin typeface="JetBrains Mono" panose="020B0509020102050004" pitchFamily="49" charset="0"/>
              </a:rPr>
              <a:t>Exception</a:t>
            </a:r>
            <a:endParaRPr lang="en-US" sz="1200" b="0" dirty="0">
              <a:solidFill>
                <a:srgbClr val="00B050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@pre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: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this.isEmpty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() == false.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@post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: None.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*/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dirty="0">
                <a:solidFill>
                  <a:srgbClr val="E06C75"/>
                </a:solidFill>
                <a:effectLst/>
                <a:latin typeface="JetBrains Mono" panose="020B0509020102050004" pitchFamily="49" charset="0"/>
              </a:rPr>
              <a:t>    </a:t>
            </a:r>
            <a:r>
              <a:rPr lang="en-US" sz="1200" b="0" dirty="0">
                <a:solidFill>
                  <a:srgbClr val="00B050"/>
                </a:solidFill>
                <a:effectLst/>
                <a:latin typeface="JetBrains Mono" panose="020B0509020102050004" pitchFamily="49" charset="0"/>
              </a:rPr>
              <a:t>T</a:t>
            </a:r>
            <a:r>
              <a:rPr lang="en-US" sz="1200" b="0" dirty="0">
                <a:solidFill>
                  <a:srgbClr val="61AFEF"/>
                </a:solidFill>
                <a:effectLst/>
                <a:latin typeface="JetBrains Mono" panose="020B0509020102050004" pitchFamily="49" charset="0"/>
              </a:rPr>
              <a:t> top</a:t>
            </a:r>
            <a: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  <a:t>()</a:t>
            </a:r>
            <a:r>
              <a:rPr lang="en-US" sz="1200" b="0" dirty="0">
                <a:solidFill>
                  <a:srgbClr val="61AFEF"/>
                </a:solidFill>
                <a:effectLst/>
                <a:latin typeface="JetBrains Mono" panose="020B05090201020500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throws</a:t>
            </a:r>
            <a:r>
              <a:rPr lang="en-US" sz="1200" b="0" dirty="0">
                <a:solidFill>
                  <a:srgbClr val="61AFEF"/>
                </a:solidFill>
                <a:effectLst/>
                <a:latin typeface="JetBrains Mono" panose="020B0509020102050004" pitchFamily="49" charset="0"/>
              </a:rPr>
              <a:t> </a:t>
            </a:r>
            <a:r>
              <a:rPr lang="en-US" sz="1200" b="0" dirty="0">
                <a:solidFill>
                  <a:srgbClr val="00B050"/>
                </a:solidFill>
                <a:effectLst/>
                <a:latin typeface="JetBrains Mono" panose="020B0509020102050004" pitchFamily="49" charset="0"/>
              </a:rPr>
              <a:t>Exception</a:t>
            </a:r>
            <a: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  <a:t>;</a:t>
            </a:r>
          </a:p>
          <a:p>
            <a:pPr algn="l" rtl="0"/>
            <a:b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</a:b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/**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@return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 the current size of the stack.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@pre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: none.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@post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: none.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*/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dirty="0">
                <a:solidFill>
                  <a:srgbClr val="E06C75"/>
                </a:solidFill>
                <a:effectLst/>
                <a:latin typeface="JetBrains Mono" panose="020B0509020102050004" pitchFamily="49" charset="0"/>
              </a:rPr>
              <a:t>    </a:t>
            </a:r>
            <a:r>
              <a:rPr lang="en-US" sz="1200" b="0" dirty="0">
                <a:solidFill>
                  <a:srgbClr val="00B050"/>
                </a:solidFill>
                <a:effectLst/>
                <a:latin typeface="JetBrains Mono" panose="020B0509020102050004" pitchFamily="49" charset="0"/>
              </a:rPr>
              <a:t>T</a:t>
            </a:r>
            <a:r>
              <a:rPr lang="en-US" sz="1200" b="0" dirty="0">
                <a:solidFill>
                  <a:srgbClr val="61AFEF"/>
                </a:solidFill>
                <a:effectLst/>
                <a:latin typeface="JetBrains Mono" panose="020B0509020102050004" pitchFamily="49" charset="0"/>
              </a:rPr>
              <a:t> size</a:t>
            </a:r>
            <a: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  <a:t>();</a:t>
            </a:r>
          </a:p>
          <a:p>
            <a:pPr algn="l" rtl="0"/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EBF07-51BD-6E95-FB7E-BB747DC27C58}"/>
              </a:ext>
            </a:extLst>
          </p:cNvPr>
          <p:cNvSpPr txBox="1"/>
          <p:nvPr/>
        </p:nvSpPr>
        <p:spPr>
          <a:xfrm>
            <a:off x="5435600" y="58846"/>
            <a:ext cx="6436659" cy="6740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</a:t>
            </a:r>
          </a:p>
          <a:p>
            <a:pPr algn="l" rtl="0"/>
            <a:endParaRPr lang="en-US" sz="1200" i="1" dirty="0">
              <a:solidFill>
                <a:srgbClr val="7F848E"/>
              </a:solidFill>
              <a:latin typeface="JetBrains Mono" panose="020B0509020102050004" pitchFamily="49" charset="0"/>
            </a:endParaRPr>
          </a:p>
          <a:p>
            <a:pPr algn="l" rtl="0"/>
            <a:endParaRPr lang="en-US" sz="1200" i="1" dirty="0">
              <a:solidFill>
                <a:srgbClr val="7F848E"/>
              </a:solidFill>
              <a:latin typeface="JetBrains Mono" panose="020B0509020102050004" pitchFamily="49" charset="0"/>
            </a:endParaRPr>
          </a:p>
          <a:p>
            <a:pPr algn="l" rtl="0"/>
            <a:endParaRPr lang="en-US" sz="1200" i="1" dirty="0">
              <a:solidFill>
                <a:srgbClr val="7F848E"/>
              </a:solidFill>
              <a:latin typeface="JetBrains Mono" panose="020B0509020102050004" pitchFamily="49" charset="0"/>
            </a:endParaRPr>
          </a:p>
          <a:p>
            <a:pPr algn="l" rtl="0"/>
            <a:endParaRPr lang="en-US" sz="1200" i="1" dirty="0">
              <a:solidFill>
                <a:srgbClr val="7F848E"/>
              </a:solidFill>
              <a:latin typeface="JetBrains Mono" panose="020B0509020102050004" pitchFamily="49" charset="0"/>
            </a:endParaRPr>
          </a:p>
          <a:p>
            <a:pPr algn="l" rtl="0"/>
            <a:endParaRPr lang="en-US" sz="1200" i="1" dirty="0">
              <a:solidFill>
                <a:srgbClr val="7F848E"/>
              </a:solidFill>
              <a:latin typeface="JetBrains Mono" panose="020B0509020102050004" pitchFamily="49" charset="0"/>
            </a:endParaRPr>
          </a:p>
          <a:p>
            <a:pPr algn="l" rtl="0"/>
            <a:endParaRPr lang="en-US" sz="1200" i="1" dirty="0">
              <a:solidFill>
                <a:srgbClr val="7F848E"/>
              </a:solidFill>
              <a:latin typeface="JetBrains Mono" panose="020B0509020102050004" pitchFamily="49" charset="0"/>
            </a:endParaRPr>
          </a:p>
          <a:p>
            <a:pPr algn="l" rtl="0"/>
            <a:endParaRPr lang="en-US" sz="1200" b="0" i="1" dirty="0">
              <a:solidFill>
                <a:srgbClr val="7F848E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endParaRPr lang="en-US" sz="1200" b="0" i="1" dirty="0">
              <a:solidFill>
                <a:srgbClr val="7F848E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i="1" dirty="0">
                <a:solidFill>
                  <a:srgbClr val="7F848E"/>
                </a:solidFill>
                <a:latin typeface="JetBrains Mono" panose="020B0509020102050004" pitchFamily="49" charset="0"/>
              </a:rPr>
              <a:t>	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/**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Will remove the top object in the stack.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@throws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 </a:t>
            </a:r>
            <a:r>
              <a:rPr lang="en-US" sz="1200" b="0" i="1" dirty="0">
                <a:solidFill>
                  <a:srgbClr val="00B050"/>
                </a:solidFill>
                <a:effectLst/>
                <a:latin typeface="JetBrains Mono" panose="020B0509020102050004" pitchFamily="49" charset="0"/>
              </a:rPr>
              <a:t>Exception</a:t>
            </a:r>
            <a:endParaRPr lang="en-US" sz="1200" b="0" dirty="0">
              <a:solidFill>
                <a:srgbClr val="00B050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@pre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: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this.isEmpty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() == false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@post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: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this.size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() == @pre(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this.size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()) - 1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*/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dirty="0">
                <a:solidFill>
                  <a:srgbClr val="E06C75"/>
                </a:solidFill>
                <a:effectLst/>
                <a:latin typeface="JetBrains Mono" panose="020B0509020102050004" pitchFamily="49" charset="0"/>
              </a:rPr>
              <a:t>    </a:t>
            </a:r>
            <a:r>
              <a:rPr lang="en-US" sz="1200" b="0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void</a:t>
            </a:r>
            <a:r>
              <a:rPr lang="en-US" sz="1200" b="0" dirty="0">
                <a:solidFill>
                  <a:srgbClr val="61AFEF"/>
                </a:solidFill>
                <a:effectLst/>
                <a:latin typeface="JetBrains Mono" panose="020B0509020102050004" pitchFamily="49" charset="0"/>
              </a:rPr>
              <a:t> </a:t>
            </a:r>
            <a:r>
              <a:rPr lang="en-US" sz="1200" b="0" dirty="0" err="1">
                <a:solidFill>
                  <a:srgbClr val="61AFEF"/>
                </a:solidFill>
                <a:effectLst/>
                <a:latin typeface="JetBrains Mono" panose="020B0509020102050004" pitchFamily="49" charset="0"/>
              </a:rPr>
              <a:t>removeTop</a:t>
            </a:r>
            <a: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  <a:t>()</a:t>
            </a:r>
            <a:r>
              <a:rPr lang="en-US" sz="1200" b="0" dirty="0">
                <a:solidFill>
                  <a:srgbClr val="61AFEF"/>
                </a:solidFill>
                <a:effectLst/>
                <a:latin typeface="JetBrains Mono" panose="020B0509020102050004" pitchFamily="49" charset="0"/>
              </a:rPr>
              <a:t> </a:t>
            </a:r>
            <a:r>
              <a:rPr lang="en-US" sz="1200" b="0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throws</a:t>
            </a:r>
            <a:r>
              <a:rPr lang="en-US" sz="1200" b="0" dirty="0">
                <a:solidFill>
                  <a:srgbClr val="61AFEF"/>
                </a:solidFill>
                <a:effectLst/>
                <a:latin typeface="JetBrains Mono" panose="020B0509020102050004" pitchFamily="49" charset="0"/>
              </a:rPr>
              <a:t> </a:t>
            </a:r>
            <a:r>
              <a:rPr lang="en-US" sz="1200" b="0" dirty="0">
                <a:solidFill>
                  <a:srgbClr val="00B050"/>
                </a:solidFill>
                <a:effectLst/>
                <a:latin typeface="JetBrains Mono" panose="020B0509020102050004" pitchFamily="49" charset="0"/>
              </a:rPr>
              <a:t>Exception</a:t>
            </a:r>
            <a: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  <a:t>;</a:t>
            </a:r>
          </a:p>
          <a:p>
            <a:pPr algn="l" rtl="0"/>
            <a:b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</a:b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/**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Will remove the first object in the stack and return it.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@return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 the top most object if there is one, otherwise null.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@pre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: none.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@post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: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@return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 == @pre(this.top()).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@post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: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this.size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() == @pre(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this.size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()) - 1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*/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dirty="0">
                <a:solidFill>
                  <a:srgbClr val="E06C75"/>
                </a:solidFill>
                <a:effectLst/>
                <a:latin typeface="JetBrains Mono" panose="020B0509020102050004" pitchFamily="49" charset="0"/>
              </a:rPr>
              <a:t>    </a:t>
            </a:r>
            <a:r>
              <a:rPr lang="en-US" sz="1200" b="0" dirty="0">
                <a:solidFill>
                  <a:srgbClr val="00B050"/>
                </a:solidFill>
                <a:effectLst/>
                <a:latin typeface="JetBrains Mono" panose="020B0509020102050004" pitchFamily="49" charset="0"/>
              </a:rPr>
              <a:t>T</a:t>
            </a:r>
            <a:r>
              <a:rPr lang="en-US" sz="1200" b="0" dirty="0">
                <a:solidFill>
                  <a:srgbClr val="61AFEF"/>
                </a:solidFill>
                <a:effectLst/>
                <a:latin typeface="JetBrains Mono" panose="020B0509020102050004" pitchFamily="49" charset="0"/>
              </a:rPr>
              <a:t> pop</a:t>
            </a:r>
            <a: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  <a:t>();</a:t>
            </a:r>
          </a:p>
          <a:p>
            <a:pPr algn="l" rtl="0"/>
            <a:b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</a:b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/**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@return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 true if the Stack is empty, or false if the stack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         contains at least on {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@link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 </a:t>
            </a:r>
            <a:r>
              <a:rPr lang="en-US" sz="1200" b="0" i="1" dirty="0">
                <a:solidFill>
                  <a:srgbClr val="00B050"/>
                </a:solidFill>
                <a:effectLst/>
                <a:latin typeface="JetBrains Mono" panose="020B0509020102050004" pitchFamily="49" charset="0"/>
              </a:rPr>
              <a:t>Object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}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@pre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: none.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 </a:t>
            </a:r>
            <a:r>
              <a:rPr lang="en-US" sz="1200" b="0" i="1" dirty="0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@post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: none.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i="1" dirty="0">
                <a:solidFill>
                  <a:srgbClr val="7F848E"/>
                </a:solidFill>
                <a:effectLst/>
                <a:latin typeface="JetBrains Mono" panose="020B0509020102050004" pitchFamily="49" charset="0"/>
              </a:rPr>
              <a:t>     */</a:t>
            </a:r>
            <a:endParaRPr lang="en-US" sz="1200" b="0" dirty="0">
              <a:solidFill>
                <a:srgbClr val="ABB2BF"/>
              </a:solidFill>
              <a:effectLst/>
              <a:latin typeface="JetBrains Mono" panose="020B0509020102050004" pitchFamily="49" charset="0"/>
            </a:endParaRPr>
          </a:p>
          <a:p>
            <a:pPr algn="l" rtl="0"/>
            <a:r>
              <a:rPr lang="en-US" sz="1200" b="0" dirty="0">
                <a:solidFill>
                  <a:srgbClr val="E06C75"/>
                </a:solidFill>
                <a:effectLst/>
                <a:latin typeface="JetBrains Mono" panose="020B0509020102050004" pitchFamily="49" charset="0"/>
              </a:rPr>
              <a:t>    </a:t>
            </a:r>
            <a:r>
              <a:rPr lang="en-US" sz="1200" b="0" dirty="0" err="1">
                <a:solidFill>
                  <a:srgbClr val="C678DD"/>
                </a:solidFill>
                <a:effectLst/>
                <a:latin typeface="JetBrains Mono" panose="020B0509020102050004" pitchFamily="49" charset="0"/>
              </a:rPr>
              <a:t>boolean</a:t>
            </a:r>
            <a:r>
              <a:rPr lang="en-US" sz="1200" b="0" dirty="0">
                <a:solidFill>
                  <a:srgbClr val="61AFEF"/>
                </a:solidFill>
                <a:effectLst/>
                <a:latin typeface="JetBrains Mono" panose="020B0509020102050004" pitchFamily="49" charset="0"/>
              </a:rPr>
              <a:t> </a:t>
            </a:r>
            <a:r>
              <a:rPr lang="en-US" sz="1200" b="0" dirty="0" err="1">
                <a:solidFill>
                  <a:srgbClr val="61AFEF"/>
                </a:solidFill>
                <a:effectLst/>
                <a:latin typeface="JetBrains Mono" panose="020B0509020102050004" pitchFamily="49" charset="0"/>
              </a:rPr>
              <a:t>isEmpty</a:t>
            </a:r>
            <a: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  <a:t>();</a:t>
            </a:r>
          </a:p>
          <a:p>
            <a:pPr algn="l" rtl="0"/>
            <a:r>
              <a:rPr lang="en-US" sz="1200" b="0" dirty="0">
                <a:solidFill>
                  <a:srgbClr val="ABB2BF"/>
                </a:solidFill>
                <a:effectLst/>
                <a:latin typeface="JetBrains Mono" panose="020B05090201020500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Exceptions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Java uses exceptions to handle errors and other exceptional events.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Some examples: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Reading a file that doesn’t exist </a:t>
            </a:r>
            <a:r>
              <a:rPr lang="en-US" sz="2800" spc="-1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2800" spc="-1" dirty="0" err="1">
                <a:solidFill>
                  <a:srgbClr val="FF0000"/>
                </a:solidFill>
                <a:latin typeface="Calibri"/>
              </a:rPr>
              <a:t>FileNotFoundException</a:t>
            </a:r>
            <a:r>
              <a:rPr lang="en-US" sz="2800" spc="-1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Dividing by zero (</a:t>
            </a:r>
            <a:r>
              <a:rPr lang="en-US" sz="2800" b="0" strike="noStrike" spc="-1" dirty="0" err="1">
                <a:solidFill>
                  <a:srgbClr val="FF0000"/>
                </a:solidFill>
                <a:latin typeface="Calibri"/>
                <a:ea typeface="DejaVu Sans"/>
              </a:rPr>
              <a:t>ArithmeticException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Networks problem </a:t>
            </a:r>
            <a:r>
              <a:rPr lang="en-US" sz="2800" spc="-1" dirty="0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lang="en-US" sz="2800" spc="-1" dirty="0" err="1">
                <a:solidFill>
                  <a:srgbClr val="FF0000"/>
                </a:solidFill>
                <a:latin typeface="Calibri"/>
              </a:rPr>
              <a:t>ConnectException</a:t>
            </a:r>
            <a:r>
              <a:rPr lang="en-US" sz="2800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An attempt to access an element out of the array’s bounds.</a:t>
            </a:r>
            <a:b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lang="en-US" sz="2800" b="0" strike="noStrike" spc="-1" dirty="0" err="1">
                <a:solidFill>
                  <a:srgbClr val="FF0000"/>
                </a:solidFill>
                <a:latin typeface="Calibri"/>
                <a:ea typeface="DejaVu Sans"/>
              </a:rPr>
              <a:t>ArrayIndexOutOfBoundsException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US" sz="28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Exceptions Example</a:t>
            </a:r>
            <a:endParaRPr lang="en-US" sz="4400" b="0" strike="noStrike" spc="-1" dirty="0">
              <a:latin typeface="Arial"/>
            </a:endParaRPr>
          </a:p>
        </p:txBody>
      </p:sp>
      <p:pic>
        <p:nvPicPr>
          <p:cNvPr id="3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5F52231D-BA80-44BF-9473-6331DD03F9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4" t="18681" r="9384" b="18680"/>
          <a:stretch/>
        </p:blipFill>
        <p:spPr>
          <a:xfrm>
            <a:off x="838080" y="1872344"/>
            <a:ext cx="6313715" cy="24384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774D89-1591-052B-A417-37960D980774}"/>
              </a:ext>
            </a:extLst>
          </p:cNvPr>
          <p:cNvCxnSpPr>
            <a:cxnSpLocks/>
          </p:cNvCxnSpPr>
          <p:nvPr/>
        </p:nvCxnSpPr>
        <p:spPr>
          <a:xfrm flipH="1">
            <a:off x="4855028" y="3429000"/>
            <a:ext cx="3265714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38761A2-7947-E987-28F2-63E083688FE6}"/>
              </a:ext>
            </a:extLst>
          </p:cNvPr>
          <p:cNvSpPr/>
          <p:nvPr/>
        </p:nvSpPr>
        <p:spPr>
          <a:xfrm>
            <a:off x="8120742" y="2955471"/>
            <a:ext cx="2405744" cy="947057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type of error might occur?</a:t>
            </a:r>
            <a:endParaRPr lang="en-IL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Exceptions (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Calibri Light"/>
                <a:ea typeface="DejaVu Sans"/>
              </a:rPr>
              <a:t>cont</a:t>
            </a: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)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135" name="CustomShape 2"/>
          <p:cNvSpPr/>
          <p:nvPr/>
        </p:nvSpPr>
        <p:spPr>
          <a:xfrm>
            <a:off x="838080" y="1825560"/>
            <a:ext cx="10514520" cy="459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When an error occurs within a method, the method creates an object and hands it off to the runtime system.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The object, called an exception, contains information about the error.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After an exception was thrown, the runtime system attempts to find someone to handle it. By searching the call stack in reverse order looking for a block of code that can handle the exception.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If no such block of code was found, the exception is passed to the JVM which terminates the program.</a:t>
            </a:r>
            <a:endParaRPr lang="en-US" sz="28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433080" y="23040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Exceptions</a:t>
            </a:r>
            <a:endParaRPr lang="en-US" sz="4400" b="0" strike="noStrike" spc="-1" dirty="0">
              <a:latin typeface="Arial"/>
            </a:endParaRPr>
          </a:p>
        </p:txBody>
      </p:sp>
      <p:grpSp>
        <p:nvGrpSpPr>
          <p:cNvPr id="137" name="Group 2"/>
          <p:cNvGrpSpPr/>
          <p:nvPr/>
        </p:nvGrpSpPr>
        <p:grpSpPr>
          <a:xfrm>
            <a:off x="2001960" y="1555920"/>
            <a:ext cx="3999600" cy="879840"/>
            <a:chOff x="2001960" y="1555920"/>
            <a:chExt cx="3999600" cy="879840"/>
          </a:xfrm>
        </p:grpSpPr>
        <p:sp>
          <p:nvSpPr>
            <p:cNvPr id="138" name="CustomShape 3"/>
            <p:cNvSpPr/>
            <p:nvPr/>
          </p:nvSpPr>
          <p:spPr>
            <a:xfrm>
              <a:off x="2001960" y="1555920"/>
              <a:ext cx="3739680" cy="87984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L"/>
            </a:p>
          </p:txBody>
        </p:sp>
        <p:sp>
          <p:nvSpPr>
            <p:cNvPr id="139" name="CustomShape 4"/>
            <p:cNvSpPr/>
            <p:nvPr/>
          </p:nvSpPr>
          <p:spPr>
            <a:xfrm>
              <a:off x="3477600" y="1759680"/>
              <a:ext cx="2523960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l" rtl="0">
                <a:lnSpc>
                  <a:spcPct val="100000"/>
                </a:lnSpc>
              </a:pPr>
              <a:r>
                <a:rPr lang="en-US" sz="1800" b="0" strike="noStrike" spc="-1" dirty="0">
                  <a:solidFill>
                    <a:srgbClr val="000000"/>
                  </a:solidFill>
                  <a:latin typeface="Calibri"/>
                  <a:ea typeface="DejaVu Sans"/>
                </a:rPr>
                <a:t>Main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grpSp>
        <p:nvGrpSpPr>
          <p:cNvPr id="140" name="Group 5"/>
          <p:cNvGrpSpPr/>
          <p:nvPr/>
        </p:nvGrpSpPr>
        <p:grpSpPr>
          <a:xfrm>
            <a:off x="2001960" y="2884680"/>
            <a:ext cx="3739680" cy="879840"/>
            <a:chOff x="2001960" y="2884680"/>
            <a:chExt cx="3739680" cy="879840"/>
          </a:xfrm>
        </p:grpSpPr>
        <p:sp>
          <p:nvSpPr>
            <p:cNvPr id="141" name="CustomShape 6"/>
            <p:cNvSpPr/>
            <p:nvPr/>
          </p:nvSpPr>
          <p:spPr>
            <a:xfrm>
              <a:off x="2001960" y="2884680"/>
              <a:ext cx="3739680" cy="87984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L"/>
            </a:p>
          </p:txBody>
        </p:sp>
        <p:sp>
          <p:nvSpPr>
            <p:cNvPr id="142" name="CustomShape 7"/>
            <p:cNvSpPr/>
            <p:nvPr/>
          </p:nvSpPr>
          <p:spPr>
            <a:xfrm>
              <a:off x="2812320" y="3140640"/>
              <a:ext cx="2523960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l" rtl="0">
                <a:lnSpc>
                  <a:spcPct val="100000"/>
                </a:lnSpc>
              </a:pPr>
              <a:r>
                <a:rPr lang="en-US" sz="1800" b="0" strike="noStrike" spc="-1" dirty="0">
                  <a:solidFill>
                    <a:srgbClr val="000000"/>
                  </a:solidFill>
                  <a:latin typeface="Calibri"/>
                  <a:ea typeface="DejaVu Sans"/>
                </a:rPr>
                <a:t>Function with handler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grpSp>
        <p:nvGrpSpPr>
          <p:cNvPr id="143" name="Group 8"/>
          <p:cNvGrpSpPr/>
          <p:nvPr/>
        </p:nvGrpSpPr>
        <p:grpSpPr>
          <a:xfrm>
            <a:off x="2001960" y="4333680"/>
            <a:ext cx="3739680" cy="879840"/>
            <a:chOff x="2001960" y="4333680"/>
            <a:chExt cx="3739680" cy="879840"/>
          </a:xfrm>
        </p:grpSpPr>
        <p:sp>
          <p:nvSpPr>
            <p:cNvPr id="144" name="CustomShape 9"/>
            <p:cNvSpPr/>
            <p:nvPr/>
          </p:nvSpPr>
          <p:spPr>
            <a:xfrm>
              <a:off x="2001960" y="4333680"/>
              <a:ext cx="3739680" cy="87984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L"/>
            </a:p>
          </p:txBody>
        </p:sp>
        <p:sp>
          <p:nvSpPr>
            <p:cNvPr id="145" name="CustomShape 10"/>
            <p:cNvSpPr/>
            <p:nvPr/>
          </p:nvSpPr>
          <p:spPr>
            <a:xfrm>
              <a:off x="2689560" y="4589640"/>
              <a:ext cx="2769840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l" rtl="0">
                <a:lnSpc>
                  <a:spcPct val="100000"/>
                </a:lnSpc>
              </a:pPr>
              <a:r>
                <a:rPr lang="en-US" sz="1800" b="0" strike="noStrike" spc="-1" dirty="0">
                  <a:solidFill>
                    <a:srgbClr val="000000"/>
                  </a:solidFill>
                  <a:latin typeface="Calibri"/>
                  <a:ea typeface="DejaVu Sans"/>
                </a:rPr>
                <a:t>Function without handler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grpSp>
        <p:nvGrpSpPr>
          <p:cNvPr id="146" name="Group 11"/>
          <p:cNvGrpSpPr/>
          <p:nvPr/>
        </p:nvGrpSpPr>
        <p:grpSpPr>
          <a:xfrm>
            <a:off x="5741640" y="1852200"/>
            <a:ext cx="1842480" cy="1329840"/>
            <a:chOff x="5741640" y="1852200"/>
            <a:chExt cx="1842480" cy="1329840"/>
          </a:xfrm>
        </p:grpSpPr>
        <p:grpSp>
          <p:nvGrpSpPr>
            <p:cNvPr id="147" name="Group 12"/>
            <p:cNvGrpSpPr/>
            <p:nvPr/>
          </p:nvGrpSpPr>
          <p:grpSpPr>
            <a:xfrm>
              <a:off x="5741640" y="1852200"/>
              <a:ext cx="586440" cy="1329840"/>
              <a:chOff x="5741640" y="1852200"/>
              <a:chExt cx="586440" cy="1329840"/>
            </a:xfrm>
          </p:grpSpPr>
          <p:sp>
            <p:nvSpPr>
              <p:cNvPr id="148" name="Line 13"/>
              <p:cNvSpPr/>
              <p:nvPr/>
            </p:nvSpPr>
            <p:spPr>
              <a:xfrm>
                <a:off x="5742360" y="1852200"/>
                <a:ext cx="585360" cy="360"/>
              </a:xfrm>
              <a:prstGeom prst="line">
                <a:avLst/>
              </a:prstGeom>
              <a:ln w="12600">
                <a:solidFill>
                  <a:srgbClr val="3F6EC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L"/>
              </a:p>
            </p:txBody>
          </p:sp>
          <p:sp>
            <p:nvSpPr>
              <p:cNvPr id="149" name="Line 14"/>
              <p:cNvSpPr/>
              <p:nvPr/>
            </p:nvSpPr>
            <p:spPr>
              <a:xfrm flipV="1">
                <a:off x="6327720" y="1852560"/>
                <a:ext cx="360" cy="1328760"/>
              </a:xfrm>
              <a:prstGeom prst="line">
                <a:avLst/>
              </a:prstGeom>
              <a:ln w="12600">
                <a:solidFill>
                  <a:srgbClr val="3F6EC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L"/>
              </a:p>
            </p:txBody>
          </p:sp>
          <p:sp>
            <p:nvSpPr>
              <p:cNvPr id="150" name="CustomShape 15"/>
              <p:cNvSpPr/>
              <p:nvPr/>
            </p:nvSpPr>
            <p:spPr>
              <a:xfrm flipH="1">
                <a:off x="5741280" y="3181680"/>
                <a:ext cx="58428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12600">
                <a:solidFill>
                  <a:srgbClr val="3F6EC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L"/>
              </a:p>
            </p:txBody>
          </p:sp>
        </p:grpSp>
        <p:sp>
          <p:nvSpPr>
            <p:cNvPr id="151" name="CustomShape 16"/>
            <p:cNvSpPr/>
            <p:nvPr/>
          </p:nvSpPr>
          <p:spPr>
            <a:xfrm>
              <a:off x="6328080" y="2347560"/>
              <a:ext cx="1256040" cy="30632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l" rtl="0">
                <a:lnSpc>
                  <a:spcPct val="100000"/>
                </a:lnSpc>
              </a:pPr>
              <a:r>
                <a:rPr lang="en-US" sz="1400" b="0" strike="noStrike" spc="-1" dirty="0">
                  <a:solidFill>
                    <a:srgbClr val="000000"/>
                  </a:solidFill>
                  <a:latin typeface="Calibri"/>
                  <a:ea typeface="DejaVu Sans"/>
                </a:rPr>
                <a:t>Function call</a:t>
              </a:r>
              <a:endParaRPr lang="en-US" sz="1400" b="0" strike="noStrike" spc="-1" dirty="0">
                <a:latin typeface="Arial"/>
              </a:endParaRPr>
            </a:p>
          </p:txBody>
        </p:sp>
      </p:grpSp>
      <p:grpSp>
        <p:nvGrpSpPr>
          <p:cNvPr id="152" name="Group 17"/>
          <p:cNvGrpSpPr/>
          <p:nvPr/>
        </p:nvGrpSpPr>
        <p:grpSpPr>
          <a:xfrm>
            <a:off x="5741640" y="3470400"/>
            <a:ext cx="1842480" cy="1330200"/>
            <a:chOff x="5741640" y="3470400"/>
            <a:chExt cx="1842480" cy="1330200"/>
          </a:xfrm>
        </p:grpSpPr>
        <p:grpSp>
          <p:nvGrpSpPr>
            <p:cNvPr id="153" name="Group 18"/>
            <p:cNvGrpSpPr/>
            <p:nvPr/>
          </p:nvGrpSpPr>
          <p:grpSpPr>
            <a:xfrm>
              <a:off x="5741640" y="3470400"/>
              <a:ext cx="586080" cy="1330200"/>
              <a:chOff x="5741640" y="3470400"/>
              <a:chExt cx="586080" cy="1330200"/>
            </a:xfrm>
          </p:grpSpPr>
          <p:sp>
            <p:nvSpPr>
              <p:cNvPr id="154" name="Line 19"/>
              <p:cNvSpPr/>
              <p:nvPr/>
            </p:nvSpPr>
            <p:spPr>
              <a:xfrm>
                <a:off x="5742000" y="3470400"/>
                <a:ext cx="585360" cy="360"/>
              </a:xfrm>
              <a:prstGeom prst="line">
                <a:avLst/>
              </a:prstGeom>
              <a:ln w="12600">
                <a:solidFill>
                  <a:srgbClr val="3F6EC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L"/>
              </a:p>
            </p:txBody>
          </p:sp>
          <p:sp>
            <p:nvSpPr>
              <p:cNvPr id="155" name="Line 20"/>
              <p:cNvSpPr/>
              <p:nvPr/>
            </p:nvSpPr>
            <p:spPr>
              <a:xfrm flipV="1">
                <a:off x="6327360" y="3470760"/>
                <a:ext cx="360" cy="1328760"/>
              </a:xfrm>
              <a:prstGeom prst="line">
                <a:avLst/>
              </a:prstGeom>
              <a:ln w="12600">
                <a:solidFill>
                  <a:srgbClr val="3F6EC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L"/>
              </a:p>
            </p:txBody>
          </p:sp>
          <p:sp>
            <p:nvSpPr>
              <p:cNvPr id="156" name="CustomShape 21"/>
              <p:cNvSpPr/>
              <p:nvPr/>
            </p:nvSpPr>
            <p:spPr>
              <a:xfrm flipH="1">
                <a:off x="5741280" y="4800240"/>
                <a:ext cx="58428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12600">
                <a:solidFill>
                  <a:srgbClr val="3F6EC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L"/>
              </a:p>
            </p:txBody>
          </p:sp>
        </p:grpSp>
        <p:sp>
          <p:nvSpPr>
            <p:cNvPr id="157" name="CustomShape 22"/>
            <p:cNvSpPr/>
            <p:nvPr/>
          </p:nvSpPr>
          <p:spPr>
            <a:xfrm>
              <a:off x="6328080" y="3975120"/>
              <a:ext cx="1256040" cy="30632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l" rtl="0">
                <a:lnSpc>
                  <a:spcPct val="100000"/>
                </a:lnSpc>
              </a:pPr>
              <a:r>
                <a:rPr lang="en-US" sz="1400" b="0" strike="noStrike" spc="-1" dirty="0">
                  <a:solidFill>
                    <a:srgbClr val="000000"/>
                  </a:solidFill>
                  <a:latin typeface="Calibri"/>
                  <a:ea typeface="DejaVu Sans"/>
                </a:rPr>
                <a:t>Function call</a:t>
              </a:r>
              <a:endParaRPr lang="en-US" sz="1400" b="0" strike="noStrike" spc="-1" dirty="0">
                <a:latin typeface="Arial"/>
              </a:endParaRPr>
            </a:p>
          </p:txBody>
        </p:sp>
      </p:grpSp>
      <p:grpSp>
        <p:nvGrpSpPr>
          <p:cNvPr id="158" name="Group 23"/>
          <p:cNvGrpSpPr/>
          <p:nvPr/>
        </p:nvGrpSpPr>
        <p:grpSpPr>
          <a:xfrm>
            <a:off x="5864040" y="4282920"/>
            <a:ext cx="1012680" cy="1012680"/>
            <a:chOff x="5864040" y="4282920"/>
            <a:chExt cx="1012680" cy="1012680"/>
          </a:xfrm>
        </p:grpSpPr>
        <p:sp>
          <p:nvSpPr>
            <p:cNvPr id="159" name="CustomShape 24"/>
            <p:cNvSpPr/>
            <p:nvPr/>
          </p:nvSpPr>
          <p:spPr>
            <a:xfrm>
              <a:off x="5864040" y="4282920"/>
              <a:ext cx="1012680" cy="101268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280" dist="2808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L"/>
            </a:p>
          </p:txBody>
        </p:sp>
        <p:sp>
          <p:nvSpPr>
            <p:cNvPr id="160" name="CustomShape 25"/>
            <p:cNvSpPr/>
            <p:nvPr/>
          </p:nvSpPr>
          <p:spPr>
            <a:xfrm>
              <a:off x="6069240" y="4497480"/>
              <a:ext cx="644760" cy="5833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l" rtl="0">
                <a:lnSpc>
                  <a:spcPct val="100000"/>
                </a:lnSpc>
              </a:pPr>
              <a:r>
                <a:rPr lang="en-US" sz="3200" b="0" strike="noStrike" spc="-1" dirty="0">
                  <a:solidFill>
                    <a:srgbClr val="FFFFFF"/>
                  </a:solidFill>
                  <a:latin typeface="Calibri"/>
                  <a:ea typeface="DejaVu Sans"/>
                </a:rPr>
                <a:t>Ex</a:t>
              </a:r>
              <a:endParaRPr lang="en-US" sz="3200" b="0" strike="noStrike" spc="-1" dirty="0"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5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006 3.7037E-007 L 3.95833E-006 -0.20463 E">
                                      <p:cBhvr>
                                        <p:cTn id="29" dur="2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33"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 additive="repl">
                                        <p:cTn id="35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433080" y="23040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Exceptions</a:t>
            </a:r>
            <a:endParaRPr lang="en-US" sz="4400" b="0" strike="noStrike" spc="-1" dirty="0">
              <a:latin typeface="Arial"/>
            </a:endParaRPr>
          </a:p>
        </p:txBody>
      </p:sp>
      <p:grpSp>
        <p:nvGrpSpPr>
          <p:cNvPr id="162" name="Group 2"/>
          <p:cNvGrpSpPr/>
          <p:nvPr/>
        </p:nvGrpSpPr>
        <p:grpSpPr>
          <a:xfrm>
            <a:off x="2001960" y="1555920"/>
            <a:ext cx="3739680" cy="879840"/>
            <a:chOff x="2001960" y="1555920"/>
            <a:chExt cx="3739680" cy="879840"/>
          </a:xfrm>
        </p:grpSpPr>
        <p:sp>
          <p:nvSpPr>
            <p:cNvPr id="163" name="CustomShape 3"/>
            <p:cNvSpPr/>
            <p:nvPr/>
          </p:nvSpPr>
          <p:spPr>
            <a:xfrm>
              <a:off x="2001960" y="1555920"/>
              <a:ext cx="3739680" cy="87984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L"/>
            </a:p>
          </p:txBody>
        </p:sp>
        <p:sp>
          <p:nvSpPr>
            <p:cNvPr id="164" name="CustomShape 4"/>
            <p:cNvSpPr/>
            <p:nvPr/>
          </p:nvSpPr>
          <p:spPr>
            <a:xfrm>
              <a:off x="2812320" y="1782360"/>
              <a:ext cx="2523960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l" rtl="0">
                <a:lnSpc>
                  <a:spcPct val="100000"/>
                </a:lnSpc>
              </a:pPr>
              <a:r>
                <a:rPr lang="en-US" sz="1800" b="0" strike="noStrike" spc="-1" dirty="0">
                  <a:solidFill>
                    <a:srgbClr val="000000"/>
                  </a:solidFill>
                  <a:latin typeface="Calibri"/>
                  <a:ea typeface="DejaVu Sans"/>
                </a:rPr>
                <a:t>Main without handler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grpSp>
        <p:nvGrpSpPr>
          <p:cNvPr id="165" name="Group 5"/>
          <p:cNvGrpSpPr/>
          <p:nvPr/>
        </p:nvGrpSpPr>
        <p:grpSpPr>
          <a:xfrm>
            <a:off x="2001960" y="2884680"/>
            <a:ext cx="3739680" cy="879840"/>
            <a:chOff x="2001960" y="2884680"/>
            <a:chExt cx="3739680" cy="879840"/>
          </a:xfrm>
        </p:grpSpPr>
        <p:sp>
          <p:nvSpPr>
            <p:cNvPr id="166" name="CustomShape 6"/>
            <p:cNvSpPr/>
            <p:nvPr/>
          </p:nvSpPr>
          <p:spPr>
            <a:xfrm>
              <a:off x="2001960" y="2884680"/>
              <a:ext cx="3739680" cy="87984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L"/>
            </a:p>
          </p:txBody>
        </p:sp>
        <p:sp>
          <p:nvSpPr>
            <p:cNvPr id="167" name="CustomShape 7"/>
            <p:cNvSpPr/>
            <p:nvPr/>
          </p:nvSpPr>
          <p:spPr>
            <a:xfrm>
              <a:off x="2689560" y="3140640"/>
              <a:ext cx="2646720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l" rtl="0">
                <a:lnSpc>
                  <a:spcPct val="100000"/>
                </a:lnSpc>
              </a:pPr>
              <a:r>
                <a:rPr lang="en-US" sz="1800" b="0" strike="noStrike" spc="-1" dirty="0">
                  <a:solidFill>
                    <a:srgbClr val="000000"/>
                  </a:solidFill>
                  <a:latin typeface="Calibri"/>
                  <a:ea typeface="DejaVu Sans"/>
                </a:rPr>
                <a:t>Function without handler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grpSp>
        <p:nvGrpSpPr>
          <p:cNvPr id="168" name="Group 8"/>
          <p:cNvGrpSpPr/>
          <p:nvPr/>
        </p:nvGrpSpPr>
        <p:grpSpPr>
          <a:xfrm>
            <a:off x="2001960" y="4333680"/>
            <a:ext cx="3739680" cy="879840"/>
            <a:chOff x="2001960" y="4333680"/>
            <a:chExt cx="3739680" cy="879840"/>
          </a:xfrm>
        </p:grpSpPr>
        <p:sp>
          <p:nvSpPr>
            <p:cNvPr id="169" name="CustomShape 9"/>
            <p:cNvSpPr/>
            <p:nvPr/>
          </p:nvSpPr>
          <p:spPr>
            <a:xfrm>
              <a:off x="2001960" y="4333680"/>
              <a:ext cx="3739680" cy="87984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L"/>
            </a:p>
          </p:txBody>
        </p:sp>
        <p:sp>
          <p:nvSpPr>
            <p:cNvPr id="170" name="CustomShape 10"/>
            <p:cNvSpPr/>
            <p:nvPr/>
          </p:nvSpPr>
          <p:spPr>
            <a:xfrm>
              <a:off x="2689560" y="4589640"/>
              <a:ext cx="2769840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l" rtl="0">
                <a:lnSpc>
                  <a:spcPct val="100000"/>
                </a:lnSpc>
              </a:pPr>
              <a:r>
                <a:rPr lang="en-US" sz="1800" b="0" strike="noStrike" spc="-1" dirty="0">
                  <a:solidFill>
                    <a:srgbClr val="000000"/>
                  </a:solidFill>
                  <a:latin typeface="Calibri"/>
                  <a:ea typeface="DejaVu Sans"/>
                </a:rPr>
                <a:t>Function without handler</a:t>
              </a:r>
              <a:endParaRPr lang="en-US" sz="1800" b="0" strike="noStrike" spc="-1" dirty="0">
                <a:latin typeface="Arial"/>
              </a:endParaRPr>
            </a:p>
          </p:txBody>
        </p:sp>
      </p:grpSp>
      <p:grpSp>
        <p:nvGrpSpPr>
          <p:cNvPr id="171" name="Group 11"/>
          <p:cNvGrpSpPr/>
          <p:nvPr/>
        </p:nvGrpSpPr>
        <p:grpSpPr>
          <a:xfrm>
            <a:off x="5741640" y="1852200"/>
            <a:ext cx="1842480" cy="1329840"/>
            <a:chOff x="5741640" y="1852200"/>
            <a:chExt cx="1842480" cy="1329840"/>
          </a:xfrm>
        </p:grpSpPr>
        <p:grpSp>
          <p:nvGrpSpPr>
            <p:cNvPr id="172" name="Group 12"/>
            <p:cNvGrpSpPr/>
            <p:nvPr/>
          </p:nvGrpSpPr>
          <p:grpSpPr>
            <a:xfrm>
              <a:off x="5741640" y="1852200"/>
              <a:ext cx="586440" cy="1329840"/>
              <a:chOff x="5741640" y="1852200"/>
              <a:chExt cx="586440" cy="1329840"/>
            </a:xfrm>
          </p:grpSpPr>
          <p:sp>
            <p:nvSpPr>
              <p:cNvPr id="173" name="Line 13"/>
              <p:cNvSpPr/>
              <p:nvPr/>
            </p:nvSpPr>
            <p:spPr>
              <a:xfrm>
                <a:off x="5742360" y="1852200"/>
                <a:ext cx="585360" cy="360"/>
              </a:xfrm>
              <a:prstGeom prst="line">
                <a:avLst/>
              </a:prstGeom>
              <a:ln w="12600">
                <a:solidFill>
                  <a:srgbClr val="3F6EC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L"/>
              </a:p>
            </p:txBody>
          </p:sp>
          <p:sp>
            <p:nvSpPr>
              <p:cNvPr id="174" name="Line 14"/>
              <p:cNvSpPr/>
              <p:nvPr/>
            </p:nvSpPr>
            <p:spPr>
              <a:xfrm flipV="1">
                <a:off x="6327720" y="1852560"/>
                <a:ext cx="360" cy="1328760"/>
              </a:xfrm>
              <a:prstGeom prst="line">
                <a:avLst/>
              </a:prstGeom>
              <a:ln w="12600">
                <a:solidFill>
                  <a:srgbClr val="3F6EC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L"/>
              </a:p>
            </p:txBody>
          </p:sp>
          <p:sp>
            <p:nvSpPr>
              <p:cNvPr id="175" name="CustomShape 15"/>
              <p:cNvSpPr/>
              <p:nvPr/>
            </p:nvSpPr>
            <p:spPr>
              <a:xfrm flipH="1">
                <a:off x="5741280" y="3181680"/>
                <a:ext cx="58428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12600">
                <a:solidFill>
                  <a:srgbClr val="3F6EC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L"/>
              </a:p>
            </p:txBody>
          </p:sp>
        </p:grpSp>
        <p:sp>
          <p:nvSpPr>
            <p:cNvPr id="176" name="CustomShape 16"/>
            <p:cNvSpPr/>
            <p:nvPr/>
          </p:nvSpPr>
          <p:spPr>
            <a:xfrm>
              <a:off x="6328080" y="2347560"/>
              <a:ext cx="1256040" cy="30632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l" rtl="0">
                <a:lnSpc>
                  <a:spcPct val="100000"/>
                </a:lnSpc>
              </a:pPr>
              <a:r>
                <a:rPr lang="en-US" sz="1400" b="0" strike="noStrike" spc="-1" dirty="0">
                  <a:solidFill>
                    <a:srgbClr val="000000"/>
                  </a:solidFill>
                  <a:latin typeface="Calibri"/>
                  <a:ea typeface="DejaVu Sans"/>
                </a:rPr>
                <a:t>Function call</a:t>
              </a:r>
              <a:endParaRPr lang="en-US" sz="1400" b="0" strike="noStrike" spc="-1" dirty="0">
                <a:latin typeface="Arial"/>
              </a:endParaRPr>
            </a:p>
          </p:txBody>
        </p:sp>
      </p:grpSp>
      <p:grpSp>
        <p:nvGrpSpPr>
          <p:cNvPr id="177" name="Group 17"/>
          <p:cNvGrpSpPr/>
          <p:nvPr/>
        </p:nvGrpSpPr>
        <p:grpSpPr>
          <a:xfrm>
            <a:off x="5741640" y="3470400"/>
            <a:ext cx="1842480" cy="1330200"/>
            <a:chOff x="5741640" y="3470400"/>
            <a:chExt cx="1842480" cy="1330200"/>
          </a:xfrm>
        </p:grpSpPr>
        <p:grpSp>
          <p:nvGrpSpPr>
            <p:cNvPr id="178" name="Group 18"/>
            <p:cNvGrpSpPr/>
            <p:nvPr/>
          </p:nvGrpSpPr>
          <p:grpSpPr>
            <a:xfrm>
              <a:off x="5741640" y="3470400"/>
              <a:ext cx="586080" cy="1330200"/>
              <a:chOff x="5741640" y="3470400"/>
              <a:chExt cx="586080" cy="1330200"/>
            </a:xfrm>
          </p:grpSpPr>
          <p:sp>
            <p:nvSpPr>
              <p:cNvPr id="179" name="Line 19"/>
              <p:cNvSpPr/>
              <p:nvPr/>
            </p:nvSpPr>
            <p:spPr>
              <a:xfrm>
                <a:off x="5742000" y="3470400"/>
                <a:ext cx="585360" cy="360"/>
              </a:xfrm>
              <a:prstGeom prst="line">
                <a:avLst/>
              </a:prstGeom>
              <a:ln w="12600">
                <a:solidFill>
                  <a:srgbClr val="3F6EC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L"/>
              </a:p>
            </p:txBody>
          </p:sp>
          <p:sp>
            <p:nvSpPr>
              <p:cNvPr id="180" name="Line 20"/>
              <p:cNvSpPr/>
              <p:nvPr/>
            </p:nvSpPr>
            <p:spPr>
              <a:xfrm flipV="1">
                <a:off x="6327360" y="3470760"/>
                <a:ext cx="360" cy="1328760"/>
              </a:xfrm>
              <a:prstGeom prst="line">
                <a:avLst/>
              </a:prstGeom>
              <a:ln w="12600">
                <a:solidFill>
                  <a:srgbClr val="3F6EC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L"/>
              </a:p>
            </p:txBody>
          </p:sp>
          <p:sp>
            <p:nvSpPr>
              <p:cNvPr id="181" name="CustomShape 21"/>
              <p:cNvSpPr/>
              <p:nvPr/>
            </p:nvSpPr>
            <p:spPr>
              <a:xfrm flipH="1">
                <a:off x="5741280" y="4800240"/>
                <a:ext cx="58428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12600">
                <a:solidFill>
                  <a:srgbClr val="3F6EC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L"/>
              </a:p>
            </p:txBody>
          </p:sp>
        </p:grpSp>
        <p:sp>
          <p:nvSpPr>
            <p:cNvPr id="182" name="CustomShape 22"/>
            <p:cNvSpPr/>
            <p:nvPr/>
          </p:nvSpPr>
          <p:spPr>
            <a:xfrm>
              <a:off x="6328080" y="3975120"/>
              <a:ext cx="1256040" cy="30632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l" rtl="0">
                <a:lnSpc>
                  <a:spcPct val="100000"/>
                </a:lnSpc>
              </a:pPr>
              <a:r>
                <a:rPr lang="en-US" sz="1400" b="0" strike="noStrike" spc="-1" dirty="0">
                  <a:solidFill>
                    <a:srgbClr val="000000"/>
                  </a:solidFill>
                  <a:latin typeface="Calibri"/>
                  <a:ea typeface="DejaVu Sans"/>
                </a:rPr>
                <a:t>Function call</a:t>
              </a:r>
              <a:endParaRPr lang="en-US" sz="1400" b="0" strike="noStrike" spc="-1" dirty="0">
                <a:latin typeface="Arial"/>
              </a:endParaRPr>
            </a:p>
          </p:txBody>
        </p:sp>
      </p:grpSp>
      <p:grpSp>
        <p:nvGrpSpPr>
          <p:cNvPr id="183" name="Group 23"/>
          <p:cNvGrpSpPr/>
          <p:nvPr/>
        </p:nvGrpSpPr>
        <p:grpSpPr>
          <a:xfrm>
            <a:off x="8018280" y="1102320"/>
            <a:ext cx="3739680" cy="3706200"/>
            <a:chOff x="8018280" y="1102320"/>
            <a:chExt cx="3739680" cy="3706200"/>
          </a:xfrm>
        </p:grpSpPr>
        <p:sp>
          <p:nvSpPr>
            <p:cNvPr id="184" name="CustomShape 24"/>
            <p:cNvSpPr/>
            <p:nvPr/>
          </p:nvSpPr>
          <p:spPr>
            <a:xfrm>
              <a:off x="8018280" y="1102320"/>
              <a:ext cx="3739680" cy="370620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L"/>
            </a:p>
          </p:txBody>
        </p:sp>
        <p:sp>
          <p:nvSpPr>
            <p:cNvPr id="185" name="CustomShape 25"/>
            <p:cNvSpPr/>
            <p:nvPr/>
          </p:nvSpPr>
          <p:spPr>
            <a:xfrm>
              <a:off x="9101160" y="2134080"/>
              <a:ext cx="2523960" cy="1014209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l" rtl="0">
                <a:lnSpc>
                  <a:spcPct val="100000"/>
                </a:lnSpc>
              </a:pPr>
              <a:r>
                <a:rPr lang="en-US" sz="6000" b="0" strike="noStrike" spc="-1" dirty="0">
                  <a:solidFill>
                    <a:srgbClr val="000000"/>
                  </a:solidFill>
                  <a:latin typeface="Calibri"/>
                  <a:ea typeface="DejaVu Sans"/>
                </a:rPr>
                <a:t>JVM</a:t>
              </a:r>
              <a:endParaRPr lang="en-US" sz="6000" b="0" strike="noStrike" spc="-1" dirty="0">
                <a:latin typeface="Arial"/>
              </a:endParaRPr>
            </a:p>
          </p:txBody>
        </p:sp>
      </p:grpSp>
      <p:sp>
        <p:nvSpPr>
          <p:cNvPr id="186" name="CustomShape 26"/>
          <p:cNvSpPr/>
          <p:nvPr/>
        </p:nvSpPr>
        <p:spPr>
          <a:xfrm>
            <a:off x="8726040" y="3605760"/>
            <a:ext cx="25239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Terminates program</a:t>
            </a:r>
            <a:endParaRPr lang="en-US" sz="1800" b="0" strike="noStrike" spc="-1" dirty="0">
              <a:latin typeface="Arial"/>
            </a:endParaRPr>
          </a:p>
        </p:txBody>
      </p:sp>
      <p:grpSp>
        <p:nvGrpSpPr>
          <p:cNvPr id="187" name="Group 27"/>
          <p:cNvGrpSpPr/>
          <p:nvPr/>
        </p:nvGrpSpPr>
        <p:grpSpPr>
          <a:xfrm>
            <a:off x="5864040" y="4282920"/>
            <a:ext cx="1012680" cy="1012680"/>
            <a:chOff x="5864040" y="4282920"/>
            <a:chExt cx="1012680" cy="1012680"/>
          </a:xfrm>
        </p:grpSpPr>
        <p:sp>
          <p:nvSpPr>
            <p:cNvPr id="188" name="CustomShape 28"/>
            <p:cNvSpPr/>
            <p:nvPr/>
          </p:nvSpPr>
          <p:spPr>
            <a:xfrm>
              <a:off x="5864040" y="4282920"/>
              <a:ext cx="1012680" cy="101268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280" dist="2808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L"/>
            </a:p>
          </p:txBody>
        </p:sp>
        <p:sp>
          <p:nvSpPr>
            <p:cNvPr id="189" name="CustomShape 29"/>
            <p:cNvSpPr/>
            <p:nvPr/>
          </p:nvSpPr>
          <p:spPr>
            <a:xfrm>
              <a:off x="6069240" y="4497480"/>
              <a:ext cx="644760" cy="5833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l" rtl="0">
                <a:lnSpc>
                  <a:spcPct val="100000"/>
                </a:lnSpc>
              </a:pPr>
              <a:r>
                <a:rPr lang="en-US" sz="3200" b="0" strike="noStrike" spc="-1" dirty="0">
                  <a:solidFill>
                    <a:srgbClr val="FFFFFF"/>
                  </a:solidFill>
                  <a:latin typeface="Calibri"/>
                  <a:ea typeface="DejaVu Sans"/>
                </a:rPr>
                <a:t>Ex</a:t>
              </a:r>
              <a:endParaRPr lang="en-US" sz="3200" b="0" strike="noStrike" spc="-1" dirty="0"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5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006 3.7037E-007 L 3.95833E-006 -0.20463 E">
                                      <p:cBhvr>
                                        <p:cTn id="29" dur="2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007 -0.20463 L -0.00352 -0.42917 E">
                                      <p:cBhvr>
                                        <p:cTn id="33" dur="2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52 -0.42917 L 0.28567 -0.43148 E">
                                      <p:cBhvr>
                                        <p:cTn id="41" dur="2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Exceptions types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191" name="CustomShape 2"/>
          <p:cNvSpPr/>
          <p:nvPr/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There are two types of exceptions, unchecked exceptions and checked exceptions.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Unchecked exceptions could be divided into errors, and runtime exceptions.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Unchecked exceptions usually indicate conditions which the application cannot anticipate or recover from.</a:t>
            </a:r>
            <a:b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(unchecked exceptions are bugs)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Checked exceptions are conditions which a well-written application should anticipate and recover from.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 example, not finding a file.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3" name="Picture 2" descr="A screenshot of a black screen&#10;&#10;Description automatically generated">
            <a:extLst>
              <a:ext uri="{FF2B5EF4-FFF2-40B4-BE49-F238E27FC236}">
                <a16:creationId xmlns:a16="http://schemas.microsoft.com/office/drawing/2014/main" id="{5E698B7F-C018-29E1-9BE0-02E077112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80" y="1825560"/>
            <a:ext cx="7772400" cy="43818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/>
      <p:bldP spid="191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Exceptions types (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Calibri Light"/>
                <a:ea typeface="DejaVu Sans"/>
              </a:rPr>
              <a:t>cont</a:t>
            </a: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)</a:t>
            </a:r>
            <a:endParaRPr lang="en-US" sz="4400" b="0" strike="noStrike" spc="-1" dirty="0">
              <a:latin typeface="Arial"/>
            </a:endParaRP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191A9F12-0E5B-3FD3-F353-670EDA91B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970" y="1481462"/>
            <a:ext cx="6430272" cy="466790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6DDFD0D-A7DA-C4E8-AA57-14787900D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1" y="0"/>
            <a:ext cx="5410199" cy="241013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Exceptions types (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Calibri Light"/>
                <a:ea typeface="DejaVu Sans"/>
              </a:rPr>
              <a:t>cont</a:t>
            </a: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)</a:t>
            </a:r>
            <a:endParaRPr lang="en-US" sz="4400" b="0" strike="noStrike" spc="-1" dirty="0">
              <a:latin typeface="Arial"/>
            </a:endParaRPr>
          </a:p>
        </p:txBody>
      </p:sp>
      <p:pic>
        <p:nvPicPr>
          <p:cNvPr id="1026" name="Picture 2" descr="List of Checked and Unchecked Exception in Java">
            <a:extLst>
              <a:ext uri="{FF2B5EF4-FFF2-40B4-BE49-F238E27FC236}">
                <a16:creationId xmlns:a16="http://schemas.microsoft.com/office/drawing/2014/main" id="{1F08288A-407E-EA89-CE59-B0F1E0F69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867" y="1803399"/>
            <a:ext cx="6377050" cy="4251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41756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Examples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40FECC17-B91C-9ADE-76D9-EC03BAB439ED}"/>
              </a:ext>
            </a:extLst>
          </p:cNvPr>
          <p:cNvSpPr/>
          <p:nvPr/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An example to unchecked exception: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An example to checked exception: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3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FE27198C-DC9E-CAD5-075D-FED22F5657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4" t="18681" r="9384" b="18680"/>
          <a:stretch/>
        </p:blipFill>
        <p:spPr>
          <a:xfrm>
            <a:off x="1143000" y="2370430"/>
            <a:ext cx="4854909" cy="1874999"/>
          </a:xfrm>
          <a:prstGeom prst="rect">
            <a:avLst/>
          </a:prstGeom>
        </p:spPr>
      </p:pic>
      <p:pic>
        <p:nvPicPr>
          <p:cNvPr id="5" name="Picture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D9BF27AF-67BA-23C7-97F8-54583B0CD3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3" t="22888" r="6583" b="24681"/>
          <a:stretch/>
        </p:blipFill>
        <p:spPr>
          <a:xfrm>
            <a:off x="1034142" y="5018314"/>
            <a:ext cx="6749143" cy="1157486"/>
          </a:xfrm>
          <a:prstGeom prst="rect">
            <a:avLst/>
          </a:prstGeom>
        </p:spPr>
      </p:pic>
      <p:sp>
        <p:nvSpPr>
          <p:cNvPr id="6" name="CustomShape 2">
            <a:extLst>
              <a:ext uri="{FF2B5EF4-FFF2-40B4-BE49-F238E27FC236}">
                <a16:creationId xmlns:a16="http://schemas.microsoft.com/office/drawing/2014/main" id="{0EBA7022-0AF7-0892-FABA-3E473FC085B1}"/>
              </a:ext>
            </a:extLst>
          </p:cNvPr>
          <p:cNvSpPr/>
          <p:nvPr/>
        </p:nvSpPr>
        <p:spPr>
          <a:xfrm>
            <a:off x="6095340" y="2963126"/>
            <a:ext cx="5889171" cy="803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Code compiles even if exception isn’t handled.</a:t>
            </a: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 dirty="0">
                <a:solidFill>
                  <a:srgbClr val="000000"/>
                </a:solidFill>
                <a:latin typeface="Calibri"/>
              </a:rPr>
              <a:t>Handling is optional but recommended.</a:t>
            </a:r>
            <a:endParaRPr lang="en-US" b="0" strike="noStrike" spc="-1" dirty="0">
              <a:latin typeface="Arial"/>
            </a:endParaRPr>
          </a:p>
          <a:p>
            <a:pPr marL="72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endParaRPr lang="en-US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B7DA282D-1080-5B03-EA3C-93BBBD4D0899}"/>
              </a:ext>
            </a:extLst>
          </p:cNvPr>
          <p:cNvSpPr/>
          <p:nvPr/>
        </p:nvSpPr>
        <p:spPr>
          <a:xfrm>
            <a:off x="7870490" y="5195391"/>
            <a:ext cx="4485575" cy="803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Code won’t compile unless exception is handled.</a:t>
            </a: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Requires try-catch or throws.</a:t>
            </a:r>
            <a:endParaRPr lang="en-US" b="0" strike="noStrike" spc="-1" dirty="0">
              <a:latin typeface="Arial"/>
            </a:endParaRPr>
          </a:p>
          <a:p>
            <a:pPr marL="72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endParaRPr lang="en-US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Creating new exceptions</a:t>
            </a:r>
            <a:endParaRPr lang="en-US" sz="4400" b="0" strike="noStrike" spc="-1" dirty="0">
              <a:latin typeface="Arial"/>
            </a:endParaRPr>
          </a:p>
        </p:txBody>
      </p:sp>
      <p:pic>
        <p:nvPicPr>
          <p:cNvPr id="195" name="Picture 4_0"/>
          <p:cNvPicPr/>
          <p:nvPr/>
        </p:nvPicPr>
        <p:blipFill>
          <a:blip r:embed="rId2"/>
          <a:stretch/>
        </p:blipFill>
        <p:spPr>
          <a:xfrm>
            <a:off x="612720" y="1621800"/>
            <a:ext cx="10389960" cy="487008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005913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תיבת טקסט 196"/>
          <p:cNvSpPr txBox="1"/>
          <p:nvPr/>
        </p:nvSpPr>
        <p:spPr>
          <a:xfrm>
            <a:off x="228600" y="1358280"/>
            <a:ext cx="10058400" cy="148353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16000" indent="-216000" algn="l" rtl="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You don’t have to handle exceptions where they occur, by declaring you throw them you can pass the responsibility to the calling method.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5" name="Picture 4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D4309BBC-AA5F-DE47-CA94-11721022839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2" t="10597" r="6280" b="10874"/>
          <a:stretch/>
        </p:blipFill>
        <p:spPr>
          <a:xfrm>
            <a:off x="506627" y="2841812"/>
            <a:ext cx="7533510" cy="36578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  <a:ea typeface="DejaVu Sans"/>
              </a:rPr>
              <a:t>Handling exceptions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199" name="CustomShape 2"/>
          <p:cNvSpPr/>
          <p:nvPr/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Calibri"/>
                <a:ea typeface="DejaVu Sans"/>
              </a:rPr>
              <a:t>If we decide to handle an exception, we need to use the try-catch block.</a:t>
            </a:r>
            <a:br>
              <a:rPr lang="en-US" sz="2800" spc="-1" dirty="0">
                <a:solidFill>
                  <a:srgbClr val="000000"/>
                </a:solidFill>
                <a:latin typeface="Calibri"/>
                <a:ea typeface="DejaVu Sans"/>
              </a:rPr>
            </a:br>
            <a:endParaRPr lang="en-US" sz="2000" b="0" dirty="0">
              <a:solidFill>
                <a:srgbClr val="C678DD"/>
              </a:solidFill>
              <a:effectLst/>
              <a:latin typeface="JetBrains Mono" panose="020B0509020102050004" pitchFamily="49" charset="0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000" strike="noStrike" spc="-1" dirty="0">
              <a:solidFill>
                <a:srgbClr val="C678DD"/>
              </a:solidFill>
              <a:latin typeface="JetBrains Mono" panose="020B0509020102050004" pitchFamily="49" charset="0"/>
              <a:ea typeface="DejaVu Sans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000" b="0" spc="-1" dirty="0">
              <a:solidFill>
                <a:srgbClr val="C678DD"/>
              </a:solidFill>
              <a:latin typeface="JetBrains Mono" panose="020B0509020102050004" pitchFamily="49" charset="0"/>
              <a:ea typeface="DejaVu Sans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000" strike="noStrike" spc="-1" dirty="0">
              <a:solidFill>
                <a:srgbClr val="C678DD"/>
              </a:solidFill>
              <a:latin typeface="JetBrains Mono" panose="020B0509020102050004" pitchFamily="49" charset="0"/>
              <a:ea typeface="DejaVu Sans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000" b="0" spc="-1" dirty="0">
              <a:solidFill>
                <a:srgbClr val="C678DD"/>
              </a:solidFill>
              <a:latin typeface="JetBrains Mono" panose="020B0509020102050004" pitchFamily="49" charset="0"/>
              <a:ea typeface="DejaVu Sans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When handling exceptions, we could do one of the following:</a:t>
            </a:r>
            <a:endParaRPr lang="en-US" sz="2800" b="0" strike="noStrike" spc="-1" dirty="0">
              <a:latin typeface="Arial"/>
            </a:endParaRPr>
          </a:p>
          <a:p>
            <a:pPr marL="685800" lvl="1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Change conditions and </a:t>
            </a:r>
            <a:r>
              <a:rPr lang="en-US" sz="2800" spc="-1" dirty="0">
                <a:solidFill>
                  <a:srgbClr val="000000"/>
                </a:solidFill>
                <a:latin typeface="Calibri"/>
                <a:ea typeface="DejaVu Sans"/>
              </a:rPr>
              <a:t>retry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en-US" sz="2800" b="0" strike="noStrike" spc="-1" dirty="0">
              <a:latin typeface="Arial"/>
            </a:endParaRPr>
          </a:p>
          <a:p>
            <a:pPr marL="685800" lvl="1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Clean up and fail (maybe rethrow exception, if it’s unchecked), for example when attempting to open a file that doesn’t exist.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3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4AF6B5D1-3C47-FBDB-8FC5-24523A84E77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3" t="16135" r="6583" b="16186"/>
          <a:stretch/>
        </p:blipFill>
        <p:spPr>
          <a:xfrm>
            <a:off x="1001485" y="2718092"/>
            <a:ext cx="6085114" cy="18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735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ustomShape 1"/>
          <p:cNvSpPr/>
          <p:nvPr/>
        </p:nvSpPr>
        <p:spPr>
          <a:xfrm>
            <a:off x="838080" y="105063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The finally block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203" name="CustomShape 2"/>
          <p:cNvSpPr/>
          <p:nvPr/>
        </p:nvSpPr>
        <p:spPr>
          <a:xfrm>
            <a:off x="838080" y="1429503"/>
            <a:ext cx="10514520" cy="52298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The finally block comes right after all catch blocks in a try-catch clause.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The code in the finally block is always executed before exiting the try-catch clause, even if an exception occurred, or return/continue/break statement was encountered.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Usually used for cleanup code, and to close resources.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800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72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endParaRPr lang="en-US" sz="28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</p:txBody>
      </p:sp>
      <p:pic>
        <p:nvPicPr>
          <p:cNvPr id="4" name="Picture 3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CC34A5C6-4B03-CD30-13F6-BF62498D7A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3" t="16399" r="6582" b="15847"/>
          <a:stretch/>
        </p:blipFill>
        <p:spPr>
          <a:xfrm>
            <a:off x="1012251" y="4274611"/>
            <a:ext cx="7095534" cy="230777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A304CD-4FEF-11A7-1517-2EB3F7077426}"/>
              </a:ext>
            </a:extLst>
          </p:cNvPr>
          <p:cNvSpPr txBox="1"/>
          <p:nvPr/>
        </p:nvSpPr>
        <p:spPr>
          <a:xfrm>
            <a:off x="1558888" y="5336962"/>
            <a:ext cx="467957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The problem? Closing the resource can throw an exception by itself!</a:t>
            </a:r>
            <a:endParaRPr lang="en-US" sz="2400" b="0" strike="noStrike" spc="-1" dirty="0">
              <a:latin typeface="Arial"/>
            </a:endParaRPr>
          </a:p>
        </p:txBody>
      </p:sp>
      <p:pic>
        <p:nvPicPr>
          <p:cNvPr id="3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F8B3BA62-F5FC-B038-CF2E-11A97280D4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6" t="10786" r="6757" b="9949"/>
          <a:stretch/>
        </p:blipFill>
        <p:spPr>
          <a:xfrm>
            <a:off x="446779" y="467345"/>
            <a:ext cx="7906387" cy="460113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ustomShape 1"/>
          <p:cNvSpPr/>
          <p:nvPr/>
        </p:nvSpPr>
        <p:spPr>
          <a:xfrm>
            <a:off x="838080" y="16920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Try with resources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206" name="CustomShape 2"/>
          <p:cNvSpPr/>
          <p:nvPr/>
        </p:nvSpPr>
        <p:spPr>
          <a:xfrm>
            <a:off x="838080" y="1494720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 order to handle an event in which the closing of the resource would cause an exception, we put a try/catch block inside the finally block.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Since Java 7, there is a more elegant solution – try with resources.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An object that implements the interface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AutoCloseable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can be declared as part of the try statement.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207" name="Picture 8_1"/>
          <p:cNvPicPr/>
          <p:nvPr/>
        </p:nvPicPr>
        <p:blipFill>
          <a:blip r:embed="rId2"/>
          <a:stretch/>
        </p:blipFill>
        <p:spPr>
          <a:xfrm>
            <a:off x="1181880" y="4132080"/>
            <a:ext cx="7922160" cy="26665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Suppressed Exceptions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209" name="CustomShape 2"/>
          <p:cNvSpPr/>
          <p:nvPr/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Suppose that during a try with resource block, an exception was thrown when trying to close the object.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If this is the only exception thrown, then we will simply throw it upwards.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But(!) what if an exception occurred before trying to close the object, and then another one occurred when closing the object?</a:t>
            </a:r>
            <a:endParaRPr lang="en-US" sz="2800" b="0" strike="noStrike" spc="-1" dirty="0">
              <a:latin typeface="Arial"/>
            </a:endParaRPr>
          </a:p>
          <a:p>
            <a:pPr marL="228600" indent="-227880" algn="l" rtl="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 that case, the second exception would be suppressed.</a:t>
            </a:r>
            <a:endParaRPr lang="en-US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rtl="0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Suppressed Exceptions</a:t>
            </a:r>
            <a:endParaRPr lang="en-US" sz="4400" b="0" strike="noStrike" spc="-1" dirty="0">
              <a:latin typeface="Arial"/>
            </a:endParaRPr>
          </a:p>
        </p:txBody>
      </p:sp>
      <p:pic>
        <p:nvPicPr>
          <p:cNvPr id="3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C4293A5B-753C-0B6B-3134-E4C10AF4E3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5" t="13814" r="6014" b="13541"/>
          <a:stretch/>
        </p:blipFill>
        <p:spPr>
          <a:xfrm>
            <a:off x="605480" y="1791730"/>
            <a:ext cx="9032789" cy="328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1586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{A7413BE2-C47D-7A41-935B-90A095FE0882}tf10001060</Template>
  <TotalTime>10006</TotalTime>
  <Words>1933</Words>
  <Application>Microsoft Office PowerPoint</Application>
  <PresentationFormat>Widescreen</PresentationFormat>
  <Paragraphs>259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Calibri Light</vt:lpstr>
      <vt:lpstr>JetBrains Mono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 – PS5</dc:title>
  <dc:subject/>
  <dc:creator>Dolav Nitay</dc:creator>
  <dc:description/>
  <cp:lastModifiedBy>Dan Zlotnikov</cp:lastModifiedBy>
  <cp:revision>129</cp:revision>
  <dcterms:created xsi:type="dcterms:W3CDTF">2018-11-08T17:30:02Z</dcterms:created>
  <dcterms:modified xsi:type="dcterms:W3CDTF">2025-11-24T15:13:48Z</dcterms:modified>
  <dc:language>en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Widescreen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20</vt:i4>
  </property>
</Properties>
</file>