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13DB71-2CCE-46D0-B552-D244D5E3647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B863-D1FC-4E36-A91B-0EDD78808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6E7E9-A0FE-4DAD-BE86-99551530F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D9D7B-D962-4783-958E-D4F74C4E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0491-365A-4F81-B379-537EA21C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7754B-2DF1-4DAC-9E12-A11214CA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487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530B-903E-42E3-9E21-FDA99076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04CD1-90C0-4E01-8C3F-AE80A493C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62601-EBE5-468D-9651-4BCD0D2F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25C37-A219-4A54-969F-9D8FD44B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195D-E7F9-4FCA-B802-00060A73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121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A63A-A54B-4306-B609-1568B68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6B737-996A-4891-9142-75FC4478D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8DE8C-2817-44B5-88F6-EE2F8120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3636-244B-4860-9960-F8F21A60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87A68-6CAD-46AB-BFBC-01373ABB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7017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607D-4EDB-4116-B612-71AE4F2BD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A81F5-582E-40B6-90F8-82DF95483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36B1E-53E2-468A-8DAD-AA24CC951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4666D-26FF-4A55-8C2B-EF4A514A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BCC99-D4B9-4CEF-81D4-BDD119283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8F20C-B57A-410C-9684-FF00B96F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363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3973-9D9B-4E63-B43A-FC815661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549A-6497-4749-BF4F-A74158A3A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20C61-9C7C-4F20-83BE-0000ACFB9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EFBA7-E795-4820-BED4-AAA5B08FD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25BE5-E671-4662-BD6D-4427DA51A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692E5-F99E-4108-9CD4-5FE5916B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D96A9-3905-40E1-92F6-76811DAB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726EB-171B-4C5D-882D-22CAD19F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26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93B62-7DEC-4A72-AF07-E5DFD30E0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D2DEF-9C2C-40E2-BF3C-1C82D89D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7E5DC-A66D-4E44-9809-CEC8989C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A212A-4083-4DCC-8408-2650610B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9855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0B0AA-8F03-458D-A072-4099CF5E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BF70A-9419-48A5-B75B-811011B1A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DEC2-78B0-42F2-92F9-8328F0C2D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495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A73B-551C-4966-B5EC-B602F290C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F09A5-5DF7-4476-ABC9-1B5125A30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3C8F8-908A-4B94-8883-E3BF7D416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BA92B-B88A-42B5-B631-774C8F76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EF5DA-B307-4653-A7F3-FF9F09BB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09D99-3A74-4A19-A9E0-DE57FEA5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922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33A0-C9C5-4D76-8143-195420C06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9EBE3-66B2-470E-86AE-55F4F687A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4ACC0-66C0-4197-9CB7-C9F6E5FD5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BFD7A-F389-4D5F-BF2D-211ECCF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A5367-6B5E-4699-88DC-B219A1D71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26B25-B654-4218-839A-529F2250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014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AC81-69D0-4373-8CC2-D2705726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BDE9D-547C-4CB2-B358-0A37F7F39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21D30-DCBC-4792-91E6-5F0A2BD2E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55E7-5E92-44ED-906B-5E947E410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372D0-513F-4F44-88D7-8A479792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681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887EA-FBD7-4604-AC42-40897D0CC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EBCB6-ABF2-486D-8357-5A001423B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6EA58-85C3-4F62-A860-63302F2F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C3609-2A6B-4BDA-ABE9-7204764C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4B50A-4AC0-4BB9-A69B-2FD423FE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184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5147D-832B-4C3B-91BC-0BE629A5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0F66B-9E7A-41B8-A563-90007AA11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9C012-62D8-4B5F-A4A5-E46756F7F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11337-464C-497E-9AC9-A3A055A46A04}" type="datetimeFigureOut">
              <a:rPr lang="he-IL" smtClean="0"/>
              <a:t>י"ז/טבת/תשפ"ג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ADD53-852C-483A-AC1F-ADF1D2E7B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D90BA-81C6-4AC8-9041-5F354FDF0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39C7F-D921-4926-B431-A7763A97099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52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5911-CA50-40DE-B666-95128CA57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SPL – PS12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0E0CA-B3F9-4E68-A895-97FC26FC4B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Basic SQL and basic Python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0720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2338-8E55-44BC-9C4E-379C857C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59EC7-9E7E-4E3F-906C-0EED4DD43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  <a:p>
            <a:r>
              <a:rPr lang="en-US" dirty="0"/>
              <a:t>Data definition language</a:t>
            </a:r>
          </a:p>
          <a:p>
            <a:r>
              <a:rPr lang="en-US" dirty="0"/>
              <a:t>Data manipulation language</a:t>
            </a:r>
          </a:p>
          <a:p>
            <a:r>
              <a:rPr lang="en-US" dirty="0"/>
              <a:t>Basic Python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0860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0A93-2DFC-4C0C-9D47-0114BCD0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174DC-18CA-4400-A825-3DF112243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would like to have a system that stores data that will have the following features:</a:t>
            </a:r>
          </a:p>
          <a:p>
            <a:r>
              <a:rPr lang="en-US" dirty="0"/>
              <a:t>Store and access data without having to deal with the low level implementation details of storing it.</a:t>
            </a:r>
          </a:p>
          <a:p>
            <a:r>
              <a:rPr lang="en-US" dirty="0"/>
              <a:t>Access specific records without having to read entire files</a:t>
            </a:r>
          </a:p>
          <a:p>
            <a:r>
              <a:rPr lang="en-US" dirty="0"/>
              <a:t>Define relations between different “files”.</a:t>
            </a:r>
          </a:p>
          <a:p>
            <a:r>
              <a:rPr lang="en-US" dirty="0"/>
              <a:t>SQL is the standard way to interact with relational databases.</a:t>
            </a:r>
          </a:p>
        </p:txBody>
      </p:sp>
    </p:spTree>
    <p:extLst>
      <p:ext uri="{BB962C8B-B14F-4D97-AF65-F5344CB8AC3E}">
        <p14:creationId xmlns:p14="http://schemas.microsoft.com/office/powerpoint/2010/main" val="273657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F552-75CD-4895-A2FA-7703139D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D1F27-666B-4BD0-A091-E3D33489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consists of two parts:</a:t>
            </a:r>
          </a:p>
          <a:p>
            <a:r>
              <a:rPr lang="en-US" dirty="0"/>
              <a:t>Data Definition Language</a:t>
            </a:r>
          </a:p>
          <a:p>
            <a:r>
              <a:rPr lang="en-US" dirty="0"/>
              <a:t>Data Manipulation Language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8435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4E21-E0A2-469D-8D74-FC31BB1D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definitions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FDEBA-2D09-4F5E-9E19-1A915154C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</a:t>
            </a:r>
            <a:r>
              <a:rPr lang="en-US" dirty="0"/>
              <a:t> – A table in the database, it holds only one kind of records.</a:t>
            </a:r>
          </a:p>
          <a:p>
            <a:r>
              <a:rPr lang="en-US" dirty="0"/>
              <a:t>For example, TEACHING_ASSISTENTS table:</a:t>
            </a:r>
            <a:endParaRPr lang="he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184DF3-C0D9-40D1-ADEC-6EB533A54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374023"/>
              </p:ext>
            </p:extLst>
          </p:nvPr>
        </p:nvGraphicFramePr>
        <p:xfrm>
          <a:off x="1511884" y="2784475"/>
          <a:ext cx="8127999" cy="3708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205484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141967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3444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OfficeHours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ID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79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Thu 08:00-10:00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Shaked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24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16:00-18:00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Matan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2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2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Mon 10:00-12:00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Yair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3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600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Tue 13:00-14:45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Linoy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25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10:00-12:00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Dolav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5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50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12:00-14:00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Hagit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6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82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Mon 10:30-12:00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Marina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7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326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Mon 12:15-14:00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Irit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5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Mon 18:00-20:00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Hussien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9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90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39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E964-D15B-49F5-A242-33CD48548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definitions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6EACB-0936-4530-A985-73D8BCE5C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Record</a:t>
            </a:r>
            <a:r>
              <a:rPr lang="en-US" dirty="0"/>
              <a:t> – A row from the table:</a:t>
            </a:r>
          </a:p>
          <a:p>
            <a:endParaRPr lang="en-US" dirty="0"/>
          </a:p>
          <a:p>
            <a:r>
              <a:rPr lang="en-US" b="1" dirty="0"/>
              <a:t>Primary key </a:t>
            </a:r>
            <a:r>
              <a:rPr lang="en-US" dirty="0"/>
              <a:t>– A field that is unique in a table. </a:t>
            </a:r>
          </a:p>
          <a:p>
            <a:r>
              <a:rPr lang="en-US" dirty="0"/>
              <a:t>The field ‘ID’ is a primary key in the TA’s table.</a:t>
            </a:r>
            <a:endParaRPr lang="en-US" b="1" dirty="0"/>
          </a:p>
          <a:p>
            <a:r>
              <a:rPr lang="en-US" b="1" dirty="0"/>
              <a:t>Foreign key </a:t>
            </a:r>
            <a:r>
              <a:rPr lang="en-US" dirty="0"/>
              <a:t>– A “pointer” to another record in another table. This will allow us to define relations between tables.</a:t>
            </a:r>
            <a:endParaRPr lang="en-US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DC5553-EDAF-4F2E-B622-B27C1D017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066097"/>
              </p:ext>
            </p:extLst>
          </p:nvPr>
        </p:nvGraphicFramePr>
        <p:xfrm>
          <a:off x="1749338" y="2396076"/>
          <a:ext cx="8127999" cy="370840"/>
        </p:xfrm>
        <a:graphic>
          <a:graphicData uri="http://schemas.openxmlformats.org/drawingml/2006/table">
            <a:tbl>
              <a:tblPr rtl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336967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496117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80543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Thu 08:00-10:00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Shaked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551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97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E1B55-5AEB-4207-A05C-ADF3072B1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ECCF2-2B62-44FB-9B01-DC7E745E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see an example to a foreign key.</a:t>
            </a:r>
            <a:endParaRPr lang="he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E1F36E-3CD1-449B-A8D3-FE44908E8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68069"/>
              </p:ext>
            </p:extLst>
          </p:nvPr>
        </p:nvGraphicFramePr>
        <p:xfrm>
          <a:off x="2209100" y="2398422"/>
          <a:ext cx="7506284" cy="206115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76571">
                  <a:extLst>
                    <a:ext uri="{9D8B030D-6E8A-4147-A177-3AD203B41FA5}">
                      <a16:colId xmlns:a16="http://schemas.microsoft.com/office/drawing/2014/main" val="2172619833"/>
                    </a:ext>
                  </a:extLst>
                </a:gridCol>
                <a:gridCol w="1876571">
                  <a:extLst>
                    <a:ext uri="{9D8B030D-6E8A-4147-A177-3AD203B41FA5}">
                      <a16:colId xmlns:a16="http://schemas.microsoft.com/office/drawing/2014/main" val="1257194951"/>
                    </a:ext>
                  </a:extLst>
                </a:gridCol>
                <a:gridCol w="1876571">
                  <a:extLst>
                    <a:ext uri="{9D8B030D-6E8A-4147-A177-3AD203B41FA5}">
                      <a16:colId xmlns:a16="http://schemas.microsoft.com/office/drawing/2014/main" val="300739134"/>
                    </a:ext>
                  </a:extLst>
                </a:gridCol>
                <a:gridCol w="1876571">
                  <a:extLst>
                    <a:ext uri="{9D8B030D-6E8A-4147-A177-3AD203B41FA5}">
                      <a16:colId xmlns:a16="http://schemas.microsoft.com/office/drawing/2014/main" val="3950428951"/>
                    </a:ext>
                  </a:extLst>
                </a:gridCol>
              </a:tblGrid>
              <a:tr h="342474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Time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Location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GroupNum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TA_ID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extLst>
                  <a:ext uri="{0D108BD9-81ED-4DB2-BD59-A6C34878D82A}">
                    <a16:rowId xmlns:a16="http://schemas.microsoft.com/office/drawing/2014/main" val="1351425854"/>
                  </a:ext>
                </a:extLst>
              </a:tr>
              <a:tr h="342474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14-16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90/145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11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extLst>
                  <a:ext uri="{0D108BD9-81ED-4DB2-BD59-A6C34878D82A}">
                    <a16:rowId xmlns:a16="http://schemas.microsoft.com/office/drawing/2014/main" val="4059943326"/>
                  </a:ext>
                </a:extLst>
              </a:tr>
              <a:tr h="342474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18-20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28/103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12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extLst>
                  <a:ext uri="{0D108BD9-81ED-4DB2-BD59-A6C34878D82A}">
                    <a16:rowId xmlns:a16="http://schemas.microsoft.com/office/drawing/2014/main" val="1070110358"/>
                  </a:ext>
                </a:extLst>
              </a:tr>
              <a:tr h="342474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Mon 18-20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34/005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22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4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extLst>
                  <a:ext uri="{0D108BD9-81ED-4DB2-BD59-A6C34878D82A}">
                    <a16:rowId xmlns:a16="http://schemas.microsoft.com/office/drawing/2014/main" val="2064006656"/>
                  </a:ext>
                </a:extLst>
              </a:tr>
              <a:tr h="342474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12-14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90/236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23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5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extLst>
                  <a:ext uri="{0D108BD9-81ED-4DB2-BD59-A6C34878D82A}">
                    <a16:rowId xmlns:a16="http://schemas.microsoft.com/office/drawing/2014/main" val="3835427386"/>
                  </a:ext>
                </a:extLst>
              </a:tr>
              <a:tr h="342474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Mon 16-18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72/212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62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5</a:t>
                      </a:r>
                      <a:endParaRPr lang="he-IL" sz="1700" dirty="0"/>
                    </a:p>
                  </a:txBody>
                  <a:tcPr marL="84446" marR="84446" marT="42223" marB="42223"/>
                </a:tc>
                <a:extLst>
                  <a:ext uri="{0D108BD9-81ED-4DB2-BD59-A6C34878D82A}">
                    <a16:rowId xmlns:a16="http://schemas.microsoft.com/office/drawing/2014/main" val="367876393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1408EF3-9C11-4D45-BCA2-503B9F26846B}"/>
              </a:ext>
            </a:extLst>
          </p:cNvPr>
          <p:cNvSpPr/>
          <p:nvPr/>
        </p:nvSpPr>
        <p:spPr>
          <a:xfrm>
            <a:off x="2209100" y="2398422"/>
            <a:ext cx="1867950" cy="3280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88223-55E2-45D2-B1BD-ECC3D86F00AF}"/>
              </a:ext>
            </a:extLst>
          </p:cNvPr>
          <p:cNvSpPr/>
          <p:nvPr/>
        </p:nvSpPr>
        <p:spPr>
          <a:xfrm>
            <a:off x="4077050" y="2398422"/>
            <a:ext cx="1867950" cy="32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7FDB58-E691-42FD-B2C5-C3F8422C4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2211"/>
              </p:ext>
            </p:extLst>
          </p:nvPr>
        </p:nvGraphicFramePr>
        <p:xfrm>
          <a:off x="2141988" y="4500643"/>
          <a:ext cx="7732320" cy="211672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577440">
                  <a:extLst>
                    <a:ext uri="{9D8B030D-6E8A-4147-A177-3AD203B41FA5}">
                      <a16:colId xmlns:a16="http://schemas.microsoft.com/office/drawing/2014/main" val="90155837"/>
                    </a:ext>
                  </a:extLst>
                </a:gridCol>
                <a:gridCol w="2577440">
                  <a:extLst>
                    <a:ext uri="{9D8B030D-6E8A-4147-A177-3AD203B41FA5}">
                      <a16:colId xmlns:a16="http://schemas.microsoft.com/office/drawing/2014/main" val="2357016322"/>
                    </a:ext>
                  </a:extLst>
                </a:gridCol>
                <a:gridCol w="2577440">
                  <a:extLst>
                    <a:ext uri="{9D8B030D-6E8A-4147-A177-3AD203B41FA5}">
                      <a16:colId xmlns:a16="http://schemas.microsoft.com/office/drawing/2014/main" val="2523198459"/>
                    </a:ext>
                  </a:extLst>
                </a:gridCol>
              </a:tblGrid>
              <a:tr h="352787"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OfficeHours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Name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Id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extLst>
                  <a:ext uri="{0D108BD9-81ED-4DB2-BD59-A6C34878D82A}">
                    <a16:rowId xmlns:a16="http://schemas.microsoft.com/office/drawing/2014/main" val="1556270416"/>
                  </a:ext>
                </a:extLst>
              </a:tr>
              <a:tr h="352787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Thu 08:00-10:00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Shaked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extLst>
                  <a:ext uri="{0D108BD9-81ED-4DB2-BD59-A6C34878D82A}">
                    <a16:rowId xmlns:a16="http://schemas.microsoft.com/office/drawing/2014/main" val="3504856277"/>
                  </a:ext>
                </a:extLst>
              </a:tr>
              <a:tr h="352787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…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…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…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extLst>
                  <a:ext uri="{0D108BD9-81ED-4DB2-BD59-A6C34878D82A}">
                    <a16:rowId xmlns:a16="http://schemas.microsoft.com/office/drawing/2014/main" val="1347864481"/>
                  </a:ext>
                </a:extLst>
              </a:tr>
              <a:tr h="352787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Tue 13:00-14:45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Linoy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/>
                        <a:t>4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extLst>
                  <a:ext uri="{0D108BD9-81ED-4DB2-BD59-A6C34878D82A}">
                    <a16:rowId xmlns:a16="http://schemas.microsoft.com/office/drawing/2014/main" val="979347585"/>
                  </a:ext>
                </a:extLst>
              </a:tr>
              <a:tr h="352787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Wed 10:00-12:00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Dolav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5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extLst>
                  <a:ext uri="{0D108BD9-81ED-4DB2-BD59-A6C34878D82A}">
                    <a16:rowId xmlns:a16="http://schemas.microsoft.com/office/drawing/2014/main" val="2510778549"/>
                  </a:ext>
                </a:extLst>
              </a:tr>
              <a:tr h="352787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…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…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…</a:t>
                      </a:r>
                      <a:endParaRPr lang="he-IL" sz="1700" dirty="0"/>
                    </a:p>
                  </a:txBody>
                  <a:tcPr marL="86989" marR="86989" marT="43494" marB="43494"/>
                </a:tc>
                <a:extLst>
                  <a:ext uri="{0D108BD9-81ED-4DB2-BD59-A6C34878D82A}">
                    <a16:rowId xmlns:a16="http://schemas.microsoft.com/office/drawing/2014/main" val="3711330951"/>
                  </a:ext>
                </a:extLst>
              </a:tr>
            </a:tbl>
          </a:graphicData>
        </a:graphic>
      </p:graphicFrame>
      <p:grpSp>
        <p:nvGrpSpPr>
          <p:cNvPr id="45" name="Group 44">
            <a:extLst>
              <a:ext uri="{FF2B5EF4-FFF2-40B4-BE49-F238E27FC236}">
                <a16:creationId xmlns:a16="http://schemas.microsoft.com/office/drawing/2014/main" id="{0D7BD7B5-4827-46E4-95FE-5DB2D12783FB}"/>
              </a:ext>
            </a:extLst>
          </p:cNvPr>
          <p:cNvGrpSpPr/>
          <p:nvPr/>
        </p:nvGrpSpPr>
        <p:grpSpPr>
          <a:xfrm>
            <a:off x="1593908" y="2910980"/>
            <a:ext cx="623581" cy="2114026"/>
            <a:chOff x="1593908" y="2910980"/>
            <a:chExt cx="623581" cy="211402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F1CF700-6EDB-43B9-813E-23ACE042C09B}"/>
                </a:ext>
              </a:extLst>
            </p:cNvPr>
            <p:cNvCxnSpPr/>
            <p:nvPr/>
          </p:nvCxnSpPr>
          <p:spPr>
            <a:xfrm flipH="1">
              <a:off x="1996580" y="2910980"/>
              <a:ext cx="21252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0221C5-7C2A-43D7-B99A-AC60DFBABE68}"/>
                </a:ext>
              </a:extLst>
            </p:cNvPr>
            <p:cNvCxnSpPr/>
            <p:nvPr/>
          </p:nvCxnSpPr>
          <p:spPr>
            <a:xfrm flipH="1">
              <a:off x="2004969" y="3273104"/>
              <a:ext cx="212520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7F37CC-A52E-4B9C-A4FB-A17EA323E0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6580" y="2910980"/>
              <a:ext cx="1" cy="36212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A6CE0A9-1521-4FC0-9BE5-5E79BABBB333}"/>
                </a:ext>
              </a:extLst>
            </p:cNvPr>
            <p:cNvCxnSpPr>
              <a:cxnSpLocks/>
            </p:cNvCxnSpPr>
            <p:nvPr/>
          </p:nvCxnSpPr>
          <p:spPr>
            <a:xfrm>
              <a:off x="1593908" y="3092042"/>
              <a:ext cx="402673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B5C0DAD-AB4E-47A0-B346-2DD40B1C1B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3908" y="3092042"/>
              <a:ext cx="8389" cy="193296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D13FE8B-63E7-4D67-B20B-09266E8AEB5B}"/>
                </a:ext>
              </a:extLst>
            </p:cNvPr>
            <p:cNvCxnSpPr>
              <a:cxnSpLocks/>
            </p:cNvCxnSpPr>
            <p:nvPr/>
          </p:nvCxnSpPr>
          <p:spPr>
            <a:xfrm>
              <a:off x="1602297" y="5025006"/>
              <a:ext cx="508932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5129130-2390-4685-9FAD-D796D9F2C98B}"/>
              </a:ext>
            </a:extLst>
          </p:cNvPr>
          <p:cNvGrpSpPr/>
          <p:nvPr/>
        </p:nvGrpSpPr>
        <p:grpSpPr>
          <a:xfrm>
            <a:off x="1087775" y="3596780"/>
            <a:ext cx="1103151" cy="2071924"/>
            <a:chOff x="1087775" y="3596780"/>
            <a:chExt cx="1103151" cy="2071924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892B89A-AD50-4924-AB62-EE25E672465D}"/>
                </a:ext>
              </a:extLst>
            </p:cNvPr>
            <p:cNvCxnSpPr>
              <a:cxnSpLocks/>
            </p:cNvCxnSpPr>
            <p:nvPr/>
          </p:nvCxnSpPr>
          <p:spPr>
            <a:xfrm>
              <a:off x="1090569" y="3596780"/>
              <a:ext cx="1100357" cy="0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37886EA-B3DE-4B64-9770-771474CE4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775" y="3596780"/>
              <a:ext cx="1" cy="2065632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212D139-889E-45C8-8C4D-ECBA8BC9C1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775" y="5662412"/>
              <a:ext cx="1015065" cy="6292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7115621-0E0B-4C2F-8A35-620ECC821EF2}"/>
              </a:ext>
            </a:extLst>
          </p:cNvPr>
          <p:cNvGrpSpPr/>
          <p:nvPr/>
        </p:nvGrpSpPr>
        <p:grpSpPr>
          <a:xfrm>
            <a:off x="746620" y="3943796"/>
            <a:ext cx="1472967" cy="2129405"/>
            <a:chOff x="746620" y="3943796"/>
            <a:chExt cx="1472967" cy="2129405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0C193CC-E15F-4579-9BC0-ED91DBBC948B}"/>
                </a:ext>
              </a:extLst>
            </p:cNvPr>
            <p:cNvCxnSpPr/>
            <p:nvPr/>
          </p:nvCxnSpPr>
          <p:spPr>
            <a:xfrm flipH="1">
              <a:off x="1998678" y="3943796"/>
              <a:ext cx="212520" cy="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AC62511-5C88-4110-B403-A68F47849373}"/>
                </a:ext>
              </a:extLst>
            </p:cNvPr>
            <p:cNvCxnSpPr/>
            <p:nvPr/>
          </p:nvCxnSpPr>
          <p:spPr>
            <a:xfrm flipH="1">
              <a:off x="2007067" y="4305920"/>
              <a:ext cx="212520" cy="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0D99204-2B6D-43B8-A00E-FB546412C7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8678" y="3943796"/>
              <a:ext cx="1" cy="362124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02B16B5-41A0-443D-B613-29A5BB0901CA}"/>
                </a:ext>
              </a:extLst>
            </p:cNvPr>
            <p:cNvCxnSpPr>
              <a:cxnSpLocks/>
            </p:cNvCxnSpPr>
            <p:nvPr/>
          </p:nvCxnSpPr>
          <p:spPr>
            <a:xfrm>
              <a:off x="746620" y="4124858"/>
              <a:ext cx="1252059" cy="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0C5C2E9-76FC-4FB5-A624-92BE6A0A0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6620" y="4132548"/>
              <a:ext cx="8389" cy="1932964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8A8476E-550F-47C6-A329-DAAA4C764F1C}"/>
                </a:ext>
              </a:extLst>
            </p:cNvPr>
            <p:cNvCxnSpPr>
              <a:cxnSpLocks/>
            </p:cNvCxnSpPr>
            <p:nvPr/>
          </p:nvCxnSpPr>
          <p:spPr>
            <a:xfrm>
              <a:off x="755009" y="6073201"/>
              <a:ext cx="1356220" cy="0"/>
            </a:xfrm>
            <a:prstGeom prst="line">
              <a:avLst/>
            </a:prstGeom>
            <a:ln w="127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291CE5C8-801E-4118-B800-8053C48ECA21}"/>
              </a:ext>
            </a:extLst>
          </p:cNvPr>
          <p:cNvSpPr/>
          <p:nvPr/>
        </p:nvSpPr>
        <p:spPr>
          <a:xfrm>
            <a:off x="2165758" y="4507257"/>
            <a:ext cx="2557243" cy="32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968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2A6F-D9EB-4515-902B-E07DDF7E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5A289-EC21-4269-8F80-CCF0CD8A4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Definition Language is used to create and destroy databases.</a:t>
            </a:r>
          </a:p>
          <a:p>
            <a:r>
              <a:rPr lang="en-US" dirty="0"/>
              <a:t>These commands will primarily be used by the administrators during the setup and removal phases of a database object.</a:t>
            </a:r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8BC66D-6E5B-454F-A500-F36F3C928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07" y="3236362"/>
            <a:ext cx="6154449" cy="654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4AB1E2-CF2B-4E5B-ADD6-9E3E8A18D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07" y="3955256"/>
            <a:ext cx="10837460" cy="107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6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A4AE-FB4A-4708-90C1-0B8D5EEF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Definition Language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F99D-6122-4B92-A94F-B6BE4474A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TA table from earlier could be created using the following syntax: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 Practical Sessions table could be created by this command: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F094B-296D-4CFB-896C-C3BE08B8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78" y="2253537"/>
            <a:ext cx="3427155" cy="1640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46733B-928B-479D-BC1E-529BC8004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78" y="4321650"/>
            <a:ext cx="61436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9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BAD1-1BC4-4662-9DEC-0EA33A35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Manipulation Language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81163-8B05-467A-9EF6-2B5C68965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Manipulation Language is used to retrieve, insert, and modify databases.</a:t>
            </a:r>
          </a:p>
          <a:p>
            <a:r>
              <a:rPr lang="en-US" dirty="0"/>
              <a:t>These commands will be used by all database users during the routine operation of the database.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019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90EC-D322-4626-B66D-5751DBD2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  <a:endParaRPr lang="he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8956F7-0AB7-48C7-884E-C94B0D029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939452"/>
              </p:ext>
            </p:extLst>
          </p:nvPr>
        </p:nvGraphicFramePr>
        <p:xfrm>
          <a:off x="1034640" y="1703578"/>
          <a:ext cx="9179424" cy="253984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94856">
                  <a:extLst>
                    <a:ext uri="{9D8B030D-6E8A-4147-A177-3AD203B41FA5}">
                      <a16:colId xmlns:a16="http://schemas.microsoft.com/office/drawing/2014/main" val="2172619833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1257194951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300739134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3950428951"/>
                    </a:ext>
                  </a:extLst>
                </a:gridCol>
              </a:tblGrid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Time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Location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 err="1"/>
                        <a:t>GroupNum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TA_ID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1351425854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14-16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90/145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405994332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18-20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28/103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1070110358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Mon 18-20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34/005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4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206400665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12-14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90/236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83542738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Mon 16-18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72/212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62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6787639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E0288C-A655-4D3B-B1F4-D0C30230A316}"/>
              </a:ext>
            </a:extLst>
          </p:cNvPr>
          <p:cNvSpPr txBox="1"/>
          <p:nvPr/>
        </p:nvSpPr>
        <p:spPr>
          <a:xfrm>
            <a:off x="838200" y="5227832"/>
            <a:ext cx="128257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Insert INTO PRACTICAL_SESSIONS (</a:t>
            </a:r>
            <a:r>
              <a:rPr lang="en-US" sz="2000" dirty="0" err="1"/>
              <a:t>TA_ID,GroupNum,Location,Time</a:t>
            </a:r>
            <a:r>
              <a:rPr lang="en-US" sz="2000" dirty="0"/>
              <a:t>) Values (8,43,’90/328’,’Tue 14-16’)</a:t>
            </a:r>
            <a:endParaRPr lang="he-IL" sz="2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BA5830-C02E-4692-AA01-65461E73E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791975"/>
              </p:ext>
            </p:extLst>
          </p:nvPr>
        </p:nvGraphicFramePr>
        <p:xfrm>
          <a:off x="1034640" y="4243426"/>
          <a:ext cx="9179424" cy="423308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294856">
                  <a:extLst>
                    <a:ext uri="{9D8B030D-6E8A-4147-A177-3AD203B41FA5}">
                      <a16:colId xmlns:a16="http://schemas.microsoft.com/office/drawing/2014/main" val="1617067633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2670150600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2280285477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1803887051"/>
                    </a:ext>
                  </a:extLst>
                </a:gridCol>
              </a:tblGrid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Tue 16-18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90/328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43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849389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57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78AD-5126-4C0E-A85D-62E78955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2D60F4-9D09-494C-B15E-4250FC432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939306"/>
              </p:ext>
            </p:extLst>
          </p:nvPr>
        </p:nvGraphicFramePr>
        <p:xfrm>
          <a:off x="1034640" y="1703578"/>
          <a:ext cx="9179424" cy="296315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94856">
                  <a:extLst>
                    <a:ext uri="{9D8B030D-6E8A-4147-A177-3AD203B41FA5}">
                      <a16:colId xmlns:a16="http://schemas.microsoft.com/office/drawing/2014/main" val="2172619833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1257194951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300739134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3950428951"/>
                    </a:ext>
                  </a:extLst>
                </a:gridCol>
              </a:tblGrid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Time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Location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 err="1"/>
                        <a:t>GroupNum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TA_ID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1351425854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14-16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90/145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405994332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18-20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28/103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1070110358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Mon 18-20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34/005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4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206400665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12-14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90/236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83542738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Mon 16-18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72/212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62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678763933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Tue 16-18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90/328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43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14122337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AED6642-A192-4945-AB4B-40098E784AD3}"/>
              </a:ext>
            </a:extLst>
          </p:cNvPr>
          <p:cNvSpPr txBox="1"/>
          <p:nvPr/>
        </p:nvSpPr>
        <p:spPr>
          <a:xfrm>
            <a:off x="838200" y="5154422"/>
            <a:ext cx="128257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Update PRACTICAL_SESSIONS Set Time=“Tue 14-16” Where </a:t>
            </a:r>
            <a:r>
              <a:rPr lang="en-US" sz="2000" dirty="0" err="1"/>
              <a:t>GroupNum</a:t>
            </a:r>
            <a:r>
              <a:rPr lang="en-US" sz="2000" dirty="0"/>
              <a:t>=43</a:t>
            </a:r>
            <a:endParaRPr lang="he-IL" sz="2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E88C64-1410-4D23-9ED5-2983CD56E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919004"/>
              </p:ext>
            </p:extLst>
          </p:nvPr>
        </p:nvGraphicFramePr>
        <p:xfrm>
          <a:off x="1034640" y="4241432"/>
          <a:ext cx="9179424" cy="423308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294856">
                  <a:extLst>
                    <a:ext uri="{9D8B030D-6E8A-4147-A177-3AD203B41FA5}">
                      <a16:colId xmlns:a16="http://schemas.microsoft.com/office/drawing/2014/main" val="1617067633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2670150600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2280285477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1803887051"/>
                    </a:ext>
                  </a:extLst>
                </a:gridCol>
              </a:tblGrid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Tue 14-16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90/328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43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849389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17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FB5B-2FFA-413C-987F-0304A6A9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16AF87-F335-4017-8FBA-D6971F3B6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474395"/>
              </p:ext>
            </p:extLst>
          </p:nvPr>
        </p:nvGraphicFramePr>
        <p:xfrm>
          <a:off x="1168863" y="1611299"/>
          <a:ext cx="9179424" cy="253984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94856">
                  <a:extLst>
                    <a:ext uri="{9D8B030D-6E8A-4147-A177-3AD203B41FA5}">
                      <a16:colId xmlns:a16="http://schemas.microsoft.com/office/drawing/2014/main" val="2172619833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1257194951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300739134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3950428951"/>
                    </a:ext>
                  </a:extLst>
                </a:gridCol>
              </a:tblGrid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Time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Location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 err="1"/>
                        <a:t>GroupNum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TA_ID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1351425854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14-16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90/145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405994332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18-20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28/103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1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1070110358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Mon 18-20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34/005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4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206400665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Sun 12-14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90/236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23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835427386"/>
                  </a:ext>
                </a:extLst>
              </a:tr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Mon 16-18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72/212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62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5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67876393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3C8553-5A3E-44CB-BDE7-077F0D7EE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365888"/>
              </p:ext>
            </p:extLst>
          </p:nvPr>
        </p:nvGraphicFramePr>
        <p:xfrm>
          <a:off x="1168863" y="4151147"/>
          <a:ext cx="9179424" cy="423308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294856">
                  <a:extLst>
                    <a:ext uri="{9D8B030D-6E8A-4147-A177-3AD203B41FA5}">
                      <a16:colId xmlns:a16="http://schemas.microsoft.com/office/drawing/2014/main" val="1617067633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2670150600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2280285477"/>
                    </a:ext>
                  </a:extLst>
                </a:gridCol>
                <a:gridCol w="2294856">
                  <a:extLst>
                    <a:ext uri="{9D8B030D-6E8A-4147-A177-3AD203B41FA5}">
                      <a16:colId xmlns:a16="http://schemas.microsoft.com/office/drawing/2014/main" val="1803887051"/>
                    </a:ext>
                  </a:extLst>
                </a:gridCol>
              </a:tblGrid>
              <a:tr h="420098"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Tue 16-18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90/328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43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2100" dirty="0"/>
                        <a:t>8</a:t>
                      </a:r>
                      <a:endParaRPr lang="he-IL" sz="2100" dirty="0"/>
                    </a:p>
                  </a:txBody>
                  <a:tcPr marL="103269" marR="103269" marT="51634" marB="51634"/>
                </a:tc>
                <a:extLst>
                  <a:ext uri="{0D108BD9-81ED-4DB2-BD59-A6C34878D82A}">
                    <a16:rowId xmlns:a16="http://schemas.microsoft.com/office/drawing/2014/main" val="384938922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3FC9327-03DB-4808-9B24-0F5E1505DBB3}"/>
              </a:ext>
            </a:extLst>
          </p:cNvPr>
          <p:cNvSpPr txBox="1"/>
          <p:nvPr/>
        </p:nvSpPr>
        <p:spPr>
          <a:xfrm>
            <a:off x="906566" y="5125283"/>
            <a:ext cx="128257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Delete From PRACTICAL_SESSIONS Where </a:t>
            </a:r>
            <a:r>
              <a:rPr lang="en-US" sz="2000" dirty="0" err="1"/>
              <a:t>GroupNum</a:t>
            </a:r>
            <a:r>
              <a:rPr lang="en-US" sz="2000" dirty="0"/>
              <a:t>=43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424525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D16F2-B83C-4C65-91E0-F7B8765E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Select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6FFA7-5D9C-412E-8D68-FF4434DE6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command is the must commonly used command in SQL.</a:t>
            </a:r>
          </a:p>
          <a:p>
            <a:r>
              <a:rPr lang="en-US" dirty="0"/>
              <a:t>It enables database users to retrieve the specific information they desire from an operational database.</a:t>
            </a:r>
          </a:p>
        </p:txBody>
      </p:sp>
    </p:spTree>
    <p:extLst>
      <p:ext uri="{BB962C8B-B14F-4D97-AF65-F5344CB8AC3E}">
        <p14:creationId xmlns:p14="http://schemas.microsoft.com/office/powerpoint/2010/main" val="64465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EE64-EE2E-40A6-9155-0EF586BF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example</a:t>
            </a:r>
            <a:endParaRPr lang="he-IL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F25655-DB50-41E0-9439-4726855EA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998184"/>
              </p:ext>
            </p:extLst>
          </p:nvPr>
        </p:nvGraphicFramePr>
        <p:xfrm>
          <a:off x="1511884" y="2784475"/>
          <a:ext cx="8127999" cy="3708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205484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141967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3444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OfficeHours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ID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79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Thu 08:00-10:00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Shaked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24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16:00-18:00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Matan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2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2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Mon 10:00-12:00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Yair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3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600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Tue 13:00-14:45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Linoy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4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25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10:00-12:00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Dolav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5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50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12:00-14:00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Hagit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6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82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Mon 10:30-12:00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Marina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7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326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Mon 12:15-14:00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Irit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8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5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Mon 18:00-20:00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Hussien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9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903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42AA678-FE4C-4C2F-91FD-49E3630E2241}"/>
              </a:ext>
            </a:extLst>
          </p:cNvPr>
          <p:cNvSpPr txBox="1"/>
          <p:nvPr/>
        </p:nvSpPr>
        <p:spPr>
          <a:xfrm>
            <a:off x="1511884" y="1837471"/>
            <a:ext cx="128257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Select * From TEACHING_ASSISTANTS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142911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FFB7-556F-43D1-90A9-03D4A918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Select Example</a:t>
            </a:r>
            <a:endParaRPr lang="he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99C387-0CDC-4372-A64C-D81855168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040405"/>
              </p:ext>
            </p:extLst>
          </p:nvPr>
        </p:nvGraphicFramePr>
        <p:xfrm>
          <a:off x="3465897" y="2406970"/>
          <a:ext cx="2709333" cy="3708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314196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Name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79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Shaked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245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Matan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2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Yair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600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Linoy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25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Dolav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50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Hagit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823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Marina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326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Irit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25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Hussien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903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876D26-221B-4477-829F-4A3618197BE6}"/>
              </a:ext>
            </a:extLst>
          </p:cNvPr>
          <p:cNvSpPr txBox="1"/>
          <p:nvPr/>
        </p:nvSpPr>
        <p:spPr>
          <a:xfrm>
            <a:off x="1511884" y="1837471"/>
            <a:ext cx="128257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Select Name From TEACHING_ASSISTANTS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3722815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8504-7E0E-4FCF-8253-BF28FBF4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Select with Where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30DDB6-8417-4023-8A48-BC39F05EC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829187"/>
              </p:ext>
            </p:extLst>
          </p:nvPr>
        </p:nvGraphicFramePr>
        <p:xfrm>
          <a:off x="1394438" y="2566361"/>
          <a:ext cx="8127999" cy="14833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205484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141967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3444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OfficeHours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ID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79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16:00-18:00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Matan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2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2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10:00-12:00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Dolav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5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50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Wed 12:00-14:00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Hagit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6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8234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3AE688B-79A0-4B81-85F6-AE9F9BB9564B}"/>
              </a:ext>
            </a:extLst>
          </p:cNvPr>
          <p:cNvSpPr txBox="1"/>
          <p:nvPr/>
        </p:nvSpPr>
        <p:spPr>
          <a:xfrm>
            <a:off x="1511884" y="1837471"/>
            <a:ext cx="128257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/>
              <a:t>Select * From TEACHING_ASSISTANTS Where </a:t>
            </a:r>
            <a:r>
              <a:rPr lang="en-US" sz="2000" dirty="0" err="1"/>
              <a:t>OfficeHours</a:t>
            </a:r>
            <a:r>
              <a:rPr lang="en-US" sz="2000" dirty="0"/>
              <a:t> Like ‘Wed%’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86865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E372-655F-41AA-ACC5-015CCB96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Operation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342E-3598-4381-A1B0-A17F94220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could use the Select operation to retrieve the cartesian product of two tables.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Most of the time we would like to connect related information. We could use the Join query for that.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F1A0A-1150-4F9C-BA5D-2FE2CED25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2" y="2835825"/>
            <a:ext cx="5672910" cy="593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76ABA-DC8B-4170-953A-B794E518F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2" y="4781549"/>
            <a:ext cx="6515390" cy="105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0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9C7B-E3CF-41B0-99EB-EB6AF160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Operation(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81BBD-8C25-4A69-975A-135E8BCDB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ON operation lets us choose what is the connection between the two tables we would like to connect.</a:t>
            </a:r>
          </a:p>
          <a:p>
            <a:r>
              <a:rPr lang="en-US" dirty="0"/>
              <a:t>The AS keyword can be used to give a table a temporary name.</a:t>
            </a:r>
          </a:p>
          <a:p>
            <a:r>
              <a:rPr lang="en-US" dirty="0"/>
              <a:t>The basic Join operation will ignore any lines in TEACHING_ASSISTANTS that doesn’t fit any line in PRACTICAL_SESIONS.</a:t>
            </a:r>
          </a:p>
          <a:p>
            <a:r>
              <a:rPr lang="en-US" dirty="0"/>
              <a:t>We can force the Join to show these lines anyway using Left Join.</a:t>
            </a:r>
          </a:p>
        </p:txBody>
      </p:sp>
    </p:spTree>
    <p:extLst>
      <p:ext uri="{BB962C8B-B14F-4D97-AF65-F5344CB8AC3E}">
        <p14:creationId xmlns:p14="http://schemas.microsoft.com/office/powerpoint/2010/main" val="144760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5C3A-CE0C-41C2-9FDC-5B2580EB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Example</a:t>
            </a:r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95E77-B735-4782-BE36-BAA851F34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3344"/>
            <a:ext cx="6515390" cy="105941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29B128-50F4-44C4-9FF7-21AEAC1C5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987913"/>
              </p:ext>
            </p:extLst>
          </p:nvPr>
        </p:nvGraphicFramePr>
        <p:xfrm>
          <a:off x="1236910" y="2798907"/>
          <a:ext cx="7622796" cy="20867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699">
                  <a:extLst>
                    <a:ext uri="{9D8B030D-6E8A-4147-A177-3AD203B41FA5}">
                      <a16:colId xmlns:a16="http://schemas.microsoft.com/office/drawing/2014/main" val="1948331003"/>
                    </a:ext>
                  </a:extLst>
                </a:gridCol>
                <a:gridCol w="1905699">
                  <a:extLst>
                    <a:ext uri="{9D8B030D-6E8A-4147-A177-3AD203B41FA5}">
                      <a16:colId xmlns:a16="http://schemas.microsoft.com/office/drawing/2014/main" val="2820548460"/>
                    </a:ext>
                  </a:extLst>
                </a:gridCol>
                <a:gridCol w="1905699">
                  <a:extLst>
                    <a:ext uri="{9D8B030D-6E8A-4147-A177-3AD203B41FA5}">
                      <a16:colId xmlns:a16="http://schemas.microsoft.com/office/drawing/2014/main" val="3314196721"/>
                    </a:ext>
                  </a:extLst>
                </a:gridCol>
                <a:gridCol w="1905699">
                  <a:extLst>
                    <a:ext uri="{9D8B030D-6E8A-4147-A177-3AD203B41FA5}">
                      <a16:colId xmlns:a16="http://schemas.microsoft.com/office/drawing/2014/main" val="383444190"/>
                    </a:ext>
                  </a:extLst>
                </a:gridCol>
              </a:tblGrid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ps.Time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ps.Location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ps.GroupNum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ta.Name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493797896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14-16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90/145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11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Shaked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1384245613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18-20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28/103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12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Shaked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352620738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Mon 18-20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34/005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22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Linoy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917508489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12-14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90/236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23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Dolav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125823492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Mon 16-18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72/212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62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Dolav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954326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48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6F51D-FAB3-47FA-AD0A-E3543268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Example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C66E44-F822-466C-96C2-7C3470F59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071355"/>
              </p:ext>
            </p:extLst>
          </p:nvPr>
        </p:nvGraphicFramePr>
        <p:xfrm>
          <a:off x="1228521" y="2564015"/>
          <a:ext cx="7622796" cy="417349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905699">
                  <a:extLst>
                    <a:ext uri="{9D8B030D-6E8A-4147-A177-3AD203B41FA5}">
                      <a16:colId xmlns:a16="http://schemas.microsoft.com/office/drawing/2014/main" val="1948331003"/>
                    </a:ext>
                  </a:extLst>
                </a:gridCol>
                <a:gridCol w="1905699">
                  <a:extLst>
                    <a:ext uri="{9D8B030D-6E8A-4147-A177-3AD203B41FA5}">
                      <a16:colId xmlns:a16="http://schemas.microsoft.com/office/drawing/2014/main" val="2820548460"/>
                    </a:ext>
                  </a:extLst>
                </a:gridCol>
                <a:gridCol w="1905699">
                  <a:extLst>
                    <a:ext uri="{9D8B030D-6E8A-4147-A177-3AD203B41FA5}">
                      <a16:colId xmlns:a16="http://schemas.microsoft.com/office/drawing/2014/main" val="3314196721"/>
                    </a:ext>
                  </a:extLst>
                </a:gridCol>
                <a:gridCol w="1905699">
                  <a:extLst>
                    <a:ext uri="{9D8B030D-6E8A-4147-A177-3AD203B41FA5}">
                      <a16:colId xmlns:a16="http://schemas.microsoft.com/office/drawing/2014/main" val="383444190"/>
                    </a:ext>
                  </a:extLst>
                </a:gridCol>
              </a:tblGrid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ps.Time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ps.Location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ps.GroupNum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ta.Name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493797896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14-16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90/145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11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Shaked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1384245613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18-20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28/103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12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Shaked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352620738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Matan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827600582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Yair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1177125305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Mon 18-20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34/005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22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Linoy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917508489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Sun 12-14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90/236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23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Dolav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125823492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Mon 16-18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72/212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62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Dolav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954326766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Hagit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4141257459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Marina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56090331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 err="1"/>
                        <a:t>Irit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3742023813"/>
                  </a:ext>
                </a:extLst>
              </a:tr>
              <a:tr h="347791"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/>
                        <a:t>NULL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700" dirty="0" err="1"/>
                        <a:t>Hussien</a:t>
                      </a:r>
                      <a:endParaRPr lang="he-IL" sz="1700" dirty="0"/>
                    </a:p>
                  </a:txBody>
                  <a:tcPr marL="85756" marR="85756" marT="42878" marB="42878"/>
                </a:tc>
                <a:extLst>
                  <a:ext uri="{0D108BD9-81ED-4DB2-BD59-A6C34878D82A}">
                    <a16:rowId xmlns:a16="http://schemas.microsoft.com/office/drawing/2014/main" val="28786471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FB9B269-BCF8-4D29-AC9B-82A4686EC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21" y="1515695"/>
            <a:ext cx="60960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C8F7-DD46-4CF2-B26C-09D31D6A8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Python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5032B-030C-46D3-95AA-191D1F22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an open-source, general purpose programming language, that is dynamic, strongly-typed, object-oriented, functional, and memory-managed.</a:t>
            </a:r>
          </a:p>
          <a:p>
            <a:r>
              <a:rPr lang="en-US" dirty="0"/>
              <a:t>Python is an interpreted language, meaning that it uses an interpreter to translate and run its code.</a:t>
            </a:r>
          </a:p>
          <a:p>
            <a:r>
              <a:rPr lang="en-US" dirty="0"/>
              <a:t>The interpreter reads one line of code at a time, just like a script, hence the term “scripting-language”.</a:t>
            </a:r>
          </a:p>
          <a:p>
            <a:r>
              <a:rPr lang="en-US" dirty="0"/>
              <a:t>Python is dynamic, meaning that types are only checked at runtime. But Python is also strongly-typed, meaning that just like Java, you can only execute operations that are supported by the target type.</a:t>
            </a:r>
          </a:p>
        </p:txBody>
      </p:sp>
    </p:spTree>
    <p:extLst>
      <p:ext uri="{BB962C8B-B14F-4D97-AF65-F5344CB8AC3E}">
        <p14:creationId xmlns:p14="http://schemas.microsoft.com/office/powerpoint/2010/main" val="220670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1815-3090-4ECC-8E9E-23BA6B4DF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Python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5E5B5-ADB1-4D92-98C8-CBF1714CD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Being an interpreted language, there are more than one way to code Python.</a:t>
            </a:r>
          </a:p>
          <a:p>
            <a:r>
              <a:rPr lang="en-US" dirty="0"/>
              <a:t>One is using Python’s REPL.</a:t>
            </a:r>
          </a:p>
          <a:p>
            <a:r>
              <a:rPr lang="en-US" dirty="0"/>
              <a:t>Another ono is by using files.</a:t>
            </a:r>
          </a:p>
          <a:p>
            <a:r>
              <a:rPr lang="en-US" dirty="0"/>
              <a:t>Python source files use the “.</a:t>
            </a:r>
            <a:r>
              <a:rPr lang="en-US" dirty="0" err="1"/>
              <a:t>py</a:t>
            </a:r>
            <a:r>
              <a:rPr lang="en-US" dirty="0"/>
              <a:t>” extension, and are called modules.</a:t>
            </a:r>
          </a:p>
          <a:p>
            <a:r>
              <a:rPr lang="en-US" dirty="0"/>
              <a:t>You can run modules through the shell.</a:t>
            </a:r>
          </a:p>
        </p:txBody>
      </p:sp>
    </p:spTree>
    <p:extLst>
      <p:ext uri="{BB962C8B-B14F-4D97-AF65-F5344CB8AC3E}">
        <p14:creationId xmlns:p14="http://schemas.microsoft.com/office/powerpoint/2010/main" val="421116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</TotalTime>
  <Words>1056</Words>
  <Application>Microsoft Office PowerPoint</Application>
  <PresentationFormat>Widescreen</PresentationFormat>
  <Paragraphs>366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SPL – PS12</vt:lpstr>
      <vt:lpstr>Overview</vt:lpstr>
      <vt:lpstr>SQL</vt:lpstr>
      <vt:lpstr>SQL (cont)</vt:lpstr>
      <vt:lpstr>Some definitions</vt:lpstr>
      <vt:lpstr>More definitions</vt:lpstr>
      <vt:lpstr>Foreign keys</vt:lpstr>
      <vt:lpstr>Data Definition Language</vt:lpstr>
      <vt:lpstr>Data Definition Language (cont)</vt:lpstr>
      <vt:lpstr>Data Manipulation Language</vt:lpstr>
      <vt:lpstr>Insert</vt:lpstr>
      <vt:lpstr>Update</vt:lpstr>
      <vt:lpstr>Delete</vt:lpstr>
      <vt:lpstr>Simple Select</vt:lpstr>
      <vt:lpstr>Select example</vt:lpstr>
      <vt:lpstr>Another Select Example</vt:lpstr>
      <vt:lpstr>Using Select with Where</vt:lpstr>
      <vt:lpstr>Join Operation</vt:lpstr>
      <vt:lpstr>Join Operation(cont)</vt:lpstr>
      <vt:lpstr>Join Example</vt:lpstr>
      <vt:lpstr>Join Example (cont)</vt:lpstr>
      <vt:lpstr>Basic Python</vt:lpstr>
      <vt:lpstr>Coding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 – PS12</dc:title>
  <dc:creator>Dolav Nitay</dc:creator>
  <cp:lastModifiedBy>Yair Vaknin</cp:lastModifiedBy>
  <cp:revision>78</cp:revision>
  <dcterms:created xsi:type="dcterms:W3CDTF">2018-12-28T17:46:23Z</dcterms:created>
  <dcterms:modified xsi:type="dcterms:W3CDTF">2023-01-10T14:09:57Z</dcterms:modified>
</cp:coreProperties>
</file>