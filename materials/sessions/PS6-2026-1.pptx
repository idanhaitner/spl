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2b1cb8e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2b1cb8e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2b1cb8e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2b1cb8e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92b1cb8e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92b1cb8e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2b1cb8e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92b1cb8e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2b1cb8e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2b1cb8e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2b1cb8e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92b1cb8e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92b1cb8e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92b1cb8e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92b1cb8e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92b1cb8e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2b1cb8e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2b1cb8e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94120f9e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94120f9e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4120f9e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94120f9e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92b1cb8e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92b1cb8e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92b1cb8e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92b1cb8e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92b1cb8e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92b1cb8e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2b1cb8e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92b1cb8e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94120f9e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94120f9e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94120f9e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94120f9e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94120f9e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94120f9e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94120f9e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94120f9e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94120f9e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94120f9e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94120f9e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94120f9e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94120f9e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94120f9e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94120f9e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94120f9e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94120f9e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94120f9e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oracle.com/javase/8/docs/api/java/lang/Runnable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70525" y="760725"/>
            <a:ext cx="6390000" cy="1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dk2"/>
                </a:solidFill>
              </a:rPr>
              <a:t>SPL - PS6</a:t>
            </a:r>
            <a:endParaRPr sz="9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943525" y="2493225"/>
            <a:ext cx="3887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Threads and concurrency / </a:t>
            </a:r>
            <a:r>
              <a:rPr lang="en-GB" sz="1800">
                <a:solidFill>
                  <a:schemeClr val="dk2"/>
                </a:solidFill>
              </a:rPr>
              <a:t>safety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Threads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Threads in Java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Callback 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Concurrency &amp; Safety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Threads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555600"/>
            <a:ext cx="3948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OS &amp; CPU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195675" y="1389600"/>
            <a:ext cx="4745100" cy="3518400"/>
          </a:xfrm>
          <a:prstGeom prst="rect">
            <a:avLst/>
          </a:prstGeom>
        </p:spPr>
        <p:txBody>
          <a:bodyPr anchorCtr="0" anchor="t" bIns="91425" lIns="91425" spcFirstLastPara="1" rIns="91425" wrap="square" tIns="900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●"/>
            </a:pPr>
            <a:r>
              <a:rPr lang="en-GB" sz="1800">
                <a:solidFill>
                  <a:srgbClr val="404040"/>
                </a:solidFill>
              </a:rPr>
              <a:t>Up until now, all the programs we’ve seen were sequential.</a:t>
            </a:r>
            <a:br>
              <a:rPr lang="en-GB" sz="1800">
                <a:solidFill>
                  <a:srgbClr val="404040"/>
                </a:solidFill>
              </a:rPr>
            </a:br>
            <a:endParaRPr sz="1800">
              <a:solidFill>
                <a:srgbClr val="40404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●"/>
            </a:pPr>
            <a:r>
              <a:rPr lang="en-GB" sz="1800">
                <a:solidFill>
                  <a:srgbClr val="404040"/>
                </a:solidFill>
              </a:rPr>
              <a:t>To take advantage of multi-processor systems, the OS assigns different processes to different processors</a:t>
            </a:r>
            <a:br>
              <a:rPr lang="en-GB" sz="1800">
                <a:solidFill>
                  <a:srgbClr val="404040"/>
                </a:solidFill>
              </a:rPr>
            </a:br>
            <a:endParaRPr sz="1800">
              <a:solidFill>
                <a:srgbClr val="40404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404040"/>
              </a:buClr>
              <a:buSzPts val="1800"/>
              <a:buChar char="●"/>
            </a:pPr>
            <a:r>
              <a:rPr lang="en-GB" sz="1800">
                <a:solidFill>
                  <a:srgbClr val="404040"/>
                </a:solidFill>
              </a:rPr>
              <a:t>What if we had one big process that could benefit from multiple processors?</a:t>
            </a:r>
            <a:endParaRPr sz="1800">
              <a:solidFill>
                <a:srgbClr val="404040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518" y="628218"/>
            <a:ext cx="3897474" cy="146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4775" y="2640793"/>
            <a:ext cx="3553065" cy="2227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Threads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389600"/>
            <a:ext cx="4120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Threads are parts of a program which can run in parallel</a:t>
            </a: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Unlike processes, threads share the same memory space</a:t>
            </a: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Threads can be scheduled quicker and more efficiently</a:t>
            </a:r>
            <a:endParaRPr sz="1800"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26050"/>
            <a:ext cx="4407300" cy="3091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Threads</a:t>
            </a:r>
            <a:endParaRPr/>
          </a:p>
        </p:txBody>
      </p:sp>
      <p:sp>
        <p:nvSpPr>
          <p:cNvPr id="87" name="Google Shape;87;p18"/>
          <p:cNvSpPr txBox="1"/>
          <p:nvPr/>
        </p:nvSpPr>
        <p:spPr>
          <a:xfrm>
            <a:off x="431900" y="1020850"/>
            <a:ext cx="8078400" cy="3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To run a task in parallel using threads</a:t>
            </a:r>
            <a:br>
              <a:rPr lang="en-GB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Split the task into subtasks</a:t>
            </a:r>
            <a:br>
              <a:rPr lang="en-GB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Create threads</a:t>
            </a:r>
            <a:br>
              <a:rPr lang="en-GB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Assign each subtask to it’s own thread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150850"/>
            <a:ext cx="5955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Threads in </a:t>
            </a:r>
            <a:r>
              <a:rPr lang="en-GB">
                <a:solidFill>
                  <a:srgbClr val="FFFFFF"/>
                </a:solidFill>
              </a:rPr>
              <a:t>   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975" y="1549975"/>
            <a:ext cx="3296174" cy="18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Java Threads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389600"/>
            <a:ext cx="45963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Threads in Java can be created by extending the Thread class and </a:t>
            </a:r>
            <a:r>
              <a:rPr b="1" lang="en-GB" sz="1800"/>
              <a:t>overriding </a:t>
            </a:r>
            <a:r>
              <a:rPr lang="en-GB" sz="1800"/>
              <a:t>the </a:t>
            </a:r>
            <a:r>
              <a:rPr b="1" lang="en-GB" sz="1800"/>
              <a:t>run </a:t>
            </a:r>
            <a:r>
              <a:rPr lang="en-GB" sz="1800"/>
              <a:t>method</a:t>
            </a: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Threads can be run by creating an object and </a:t>
            </a:r>
            <a:r>
              <a:rPr b="1" lang="en-GB" sz="1800"/>
              <a:t>calling start </a:t>
            </a:r>
            <a:r>
              <a:rPr lang="en-GB" sz="1800"/>
              <a:t>method of the thread</a:t>
            </a: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This allocates a new thread and executes the code in it’s </a:t>
            </a:r>
            <a:r>
              <a:rPr b="1" lang="en-GB" sz="1800"/>
              <a:t>run </a:t>
            </a:r>
            <a:r>
              <a:rPr lang="en-GB" sz="1800"/>
              <a:t>method</a:t>
            </a:r>
            <a:endParaRPr sz="1800"/>
          </a:p>
        </p:txBody>
      </p:sp>
      <p:sp>
        <p:nvSpPr>
          <p:cNvPr id="100" name="Google Shape;100;p20"/>
          <p:cNvSpPr txBox="1"/>
          <p:nvPr/>
        </p:nvSpPr>
        <p:spPr>
          <a:xfrm>
            <a:off x="5536125" y="1114100"/>
            <a:ext cx="3420900" cy="176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PrimeThread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extends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Thread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long </a:t>
            </a:r>
            <a:r>
              <a:rPr lang="en-GB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minPrime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   PrimeThread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long minPrime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       this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.minPrime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minPrime;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public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run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    // compute primes larger than minPrime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. . .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5590125" y="3386475"/>
            <a:ext cx="2808000" cy="6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PrimeThread p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PrimeThread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143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Java Threads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389600"/>
            <a:ext cx="39336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Alternatively, you can implement the Runnable interface and override it’s run method</a:t>
            </a: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Create and instance and pass it to the constructor of a thread, then start as usual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" name="Google Shape;108;p21"/>
          <p:cNvSpPr txBox="1"/>
          <p:nvPr/>
        </p:nvSpPr>
        <p:spPr>
          <a:xfrm>
            <a:off x="4775400" y="525150"/>
            <a:ext cx="3872400" cy="2419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PrimeRun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implements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Runnable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long </a:t>
            </a:r>
            <a:r>
              <a:rPr lang="en-GB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minPrime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   PrimeRun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long minPrime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       this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.minPrime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minPrime;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public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run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    // compute primes larger than minPrime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. . .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4775400" y="3415925"/>
            <a:ext cx="3538500" cy="13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Main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public static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main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en-GB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	 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Runnable r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PrimeRun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(10);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for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10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Thread t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Thread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(r);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Java Threads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389600"/>
            <a:ext cx="4713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Recall: When an interface defines a single method, we can implement using lambda function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" name="Google Shape;116;p22"/>
          <p:cNvSpPr txBox="1"/>
          <p:nvPr/>
        </p:nvSpPr>
        <p:spPr>
          <a:xfrm>
            <a:off x="5212200" y="1311300"/>
            <a:ext cx="3617100" cy="197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static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main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args)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10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Runnable r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()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System.out.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(i);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for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j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j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9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j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System.out.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", "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};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Thread t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Thread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(r);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621000" y="2949675"/>
            <a:ext cx="3951000" cy="177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static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main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args)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10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Thread t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Thread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System.out.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(i);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for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j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j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9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j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System.out.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", "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};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Java Threads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41950" y="1311300"/>
            <a:ext cx="3403500" cy="30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When starting multiple threads, </a:t>
            </a:r>
            <a:r>
              <a:rPr lang="en-GB" sz="1800"/>
              <a:t>It is often desirable to wait for all of them to end</a:t>
            </a: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To do this, we can use the .join() method of the thread class</a:t>
            </a:r>
            <a:endParaRPr sz="1800"/>
          </a:p>
        </p:txBody>
      </p:sp>
      <p:sp>
        <p:nvSpPr>
          <p:cNvPr id="124" name="Google Shape;124;p23"/>
          <p:cNvSpPr txBox="1"/>
          <p:nvPr/>
        </p:nvSpPr>
        <p:spPr>
          <a:xfrm>
            <a:off x="3557100" y="405300"/>
            <a:ext cx="5465100" cy="43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static int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arrAverage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data,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numThreads)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InterruptedException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Thread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threads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 Thread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[numThreads];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long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partialSums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 long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[numThreads];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chunkSize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data.length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numThreads;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// Create &amp; start threads using lambdas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numThreads; i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index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start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chunkSize;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end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numThreads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1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data.length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start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chunkSize;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threads[i]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Thread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long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sum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for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j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start; j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end; j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sum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data[j];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partialSums[index]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sum;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});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threads[i].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// Join all threads and accumulate results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long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totalSum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numThreads; i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threads[i].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totalSum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partialSums[i];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double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average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totalSum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data.length;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average;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Executor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Another option is to use an executor service instead of directly </a:t>
            </a:r>
            <a:r>
              <a:rPr lang="en-GB" sz="1800"/>
              <a:t>managing</a:t>
            </a:r>
            <a:r>
              <a:rPr lang="en-GB" sz="1800"/>
              <a:t> threads</a:t>
            </a: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Threads can be reused until all tasks are completed</a:t>
            </a:r>
            <a:endParaRPr sz="1800"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000" y="1074875"/>
            <a:ext cx="5719499" cy="3394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Executor Service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389600"/>
            <a:ext cx="3864900" cy="3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rgbClr val="474747"/>
                </a:solidFill>
                <a:highlight>
                  <a:srgbClr val="FFFFFF"/>
                </a:highlight>
              </a:rPr>
              <a:t>Executor is an object that executes submitted </a:t>
            </a:r>
            <a:r>
              <a:rPr lang="en-GB" sz="1400">
                <a:solidFill>
                  <a:srgbClr val="4A6782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Runnable</a:t>
            </a:r>
            <a:r>
              <a:rPr lang="en-GB" sz="1400">
                <a:solidFill>
                  <a:srgbClr val="474747"/>
                </a:solidFill>
                <a:highlight>
                  <a:srgbClr val="FFFFFF"/>
                </a:highlight>
              </a:rPr>
              <a:t> tasks. </a:t>
            </a:r>
            <a:br>
              <a:rPr lang="en-GB" sz="1400">
                <a:solidFill>
                  <a:srgbClr val="474747"/>
                </a:solidFill>
                <a:highlight>
                  <a:srgbClr val="FFFFFF"/>
                </a:highlight>
              </a:rPr>
            </a:br>
            <a:endParaRPr sz="140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rgbClr val="474747"/>
                </a:solidFill>
                <a:highlight>
                  <a:srgbClr val="FFFFFF"/>
                </a:highlight>
              </a:rPr>
              <a:t>Executor interface provides a way of decoupling task submission from the mechanics of how each task will be run, including details of thread use, scheduling, etc.</a:t>
            </a:r>
            <a:br>
              <a:rPr lang="en-GB" sz="1400">
                <a:solidFill>
                  <a:srgbClr val="474747"/>
                </a:solidFill>
                <a:highlight>
                  <a:srgbClr val="FFFFFF"/>
                </a:highlight>
              </a:rPr>
            </a:br>
            <a:endParaRPr sz="1400"/>
          </a:p>
        </p:txBody>
      </p:sp>
      <p:sp>
        <p:nvSpPr>
          <p:cNvPr id="138" name="Google Shape;138;p25"/>
          <p:cNvSpPr txBox="1"/>
          <p:nvPr/>
        </p:nvSpPr>
        <p:spPr>
          <a:xfrm>
            <a:off x="4572000" y="95750"/>
            <a:ext cx="4476000" cy="385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SerialExecutor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implements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Executor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final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Queue&lt;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Runnable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tasks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ArrayDeque&lt;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Runnable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&gt;();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final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Executor executor;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Runnable active;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 SerialExecutor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(Executor </a:t>
            </a:r>
            <a:r>
              <a:rPr lang="en-GB" sz="8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executor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   this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.executor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executor;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public synchronized void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execute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final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Runnable </a:t>
            </a:r>
            <a:r>
              <a:rPr lang="en-GB" sz="8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tasks.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offer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Runnable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public void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run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try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r.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}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scheduleNext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if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(active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null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     scheduleNext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protected synchronized void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scheduleNext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if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((active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tasks.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poll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())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!=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null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executor.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execute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(active);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5105725" y="4102225"/>
            <a:ext cx="3155700" cy="61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Executor executor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SerialExecutor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executor.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submit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RunnableTask1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executor.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submit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RunnableTask2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());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486700" y="3772225"/>
            <a:ext cx="3773700" cy="9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ThreadPerTaskExecutor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implements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Executor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public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submit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(Runnable </a:t>
            </a:r>
            <a:r>
              <a:rPr lang="en-GB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new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Thread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(r).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474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Executor Service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1498125" y="1415425"/>
            <a:ext cx="6469200" cy="2630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static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main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args)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// Create an executor: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ExecutorService ex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Executors.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newFixedThreadPool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// Create several Runnables and execute them.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10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System.out.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"creating a new task: "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GB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 " "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ex.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execute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System.out.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(i);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for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j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j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9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j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System.out.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", "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};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ex.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shutdown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 </a:t>
            </a: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this causes the executor not to accept any more tasks, and to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// kill all its threads when all the submitted tasks are done. 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Callback functions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Callbacks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389600"/>
            <a:ext cx="80814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 callback function is a function that can be passed as an argument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 Java we cannot pass functions as arguments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We’ve seen a work </a:t>
            </a:r>
            <a:r>
              <a:rPr lang="en-GB" sz="1800"/>
              <a:t>around</a:t>
            </a:r>
            <a:r>
              <a:rPr lang="en-GB" sz="1800"/>
              <a:t> in using interfaces (Runnable)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Trivial implementation can be done using Java Callable interface</a:t>
            </a:r>
            <a:endParaRPr sz="1800"/>
          </a:p>
        </p:txBody>
      </p:sp>
      <p:sp>
        <p:nvSpPr>
          <p:cNvPr id="158" name="Google Shape;158;p28"/>
          <p:cNvSpPr txBox="1"/>
          <p:nvPr/>
        </p:nvSpPr>
        <p:spPr>
          <a:xfrm>
            <a:off x="1909950" y="3012025"/>
            <a:ext cx="4884900" cy="151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interface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Callable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/**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* Computes a result, or throws an exception if unable to do so.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*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*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@return</a:t>
            </a: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computed result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*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@throws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Exception</a:t>
            </a: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if unable to compute a result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*/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V 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call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Exception;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223600" y="384375"/>
            <a:ext cx="4899000" cy="159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class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CallbackDemo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static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g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(Runnable </a:t>
            </a:r>
            <a:r>
              <a:rPr lang="en-GB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cb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cb.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     </a:t>
            </a: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call the callback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public static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main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en-GB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       g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System.out.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"Callback called!"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3228675" y="2215325"/>
            <a:ext cx="5080500" cy="233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class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CallbackInterfaceDemo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interface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Callback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call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static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g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(Callback </a:t>
            </a:r>
            <a:r>
              <a:rPr lang="en-GB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cb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cb.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call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   </a:t>
            </a:r>
            <a:r>
              <a:rPr lang="en-GB" sz="9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invoke callback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public static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main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en-GB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       g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System.out.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"Callback called!"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Concurrency</a:t>
            </a:r>
            <a:r>
              <a:rPr lang="en-GB"/>
              <a:t> &amp; Safety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Shared Memory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1389600"/>
            <a:ext cx="3979200" cy="3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When multiple threads try to access the same piece of memory, </a:t>
            </a:r>
            <a:r>
              <a:rPr lang="en-GB" sz="1400"/>
              <a:t>various behaviours may arise</a:t>
            </a:r>
            <a:r>
              <a:rPr lang="en-GB" sz="1400"/>
              <a:t>, depending on the exact time each thread accesses the memory which causes </a:t>
            </a:r>
            <a:br>
              <a:rPr lang="en-GB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We want our programs to behave predictably and produce a correct output in timing scenario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Safety: invariants should be kept.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Correctness: the code should yield expected results.</a:t>
            </a:r>
            <a:endParaRPr sz="1400"/>
          </a:p>
        </p:txBody>
      </p:sp>
      <p:pic>
        <p:nvPicPr>
          <p:cNvPr id="176" name="Google Shape;1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250" y="1242600"/>
            <a:ext cx="4548301" cy="252771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1"/>
          <p:cNvSpPr/>
          <p:nvPr/>
        </p:nvSpPr>
        <p:spPr>
          <a:xfrm>
            <a:off x="3969450" y="286525"/>
            <a:ext cx="3193800" cy="656700"/>
          </a:xfrm>
          <a:prstGeom prst="wedgeRoundRectCallout">
            <a:avLst>
              <a:gd fmla="val -8426" name="adj1"/>
              <a:gd fmla="val 14368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What's wrong here?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Shared Resource</a:t>
            </a:r>
            <a:endParaRPr/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311700" y="1389600"/>
            <a:ext cx="71100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 shared resource (or memory) is every object which is visible (accessible) to more than one thread.</a:t>
            </a:r>
            <a:br>
              <a:rPr lang="en-GB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That includes global objects, class members. Does not include local function variables.</a:t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555600"/>
            <a:ext cx="3042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Counter example 😉</a:t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Consider the following class which implements a simple counter object</a:t>
            </a:r>
            <a:br>
              <a:rPr lang="en-GB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What would </a:t>
            </a:r>
            <a:r>
              <a:rPr lang="en-GB" sz="1400"/>
              <a:t>happen if two threads call </a:t>
            </a:r>
            <a:r>
              <a:rPr lang="en-GB" sz="1000">
                <a:solidFill>
                  <a:srgbClr val="37474F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cnt.</a:t>
            </a:r>
            <a:r>
              <a:rPr lang="en-GB" sz="1000">
                <a:solidFill>
                  <a:srgbClr val="9C27B0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increment</a:t>
            </a:r>
            <a:r>
              <a:rPr lang="en-GB" sz="1000">
                <a:solidFill>
                  <a:srgbClr val="37474F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GB" sz="1400"/>
              <a:t> at the same time?</a:t>
            </a:r>
            <a:r>
              <a:rPr lang="en-GB" sz="1400"/>
              <a:t> </a:t>
            </a:r>
            <a:endParaRPr sz="1400"/>
          </a:p>
        </p:txBody>
      </p:sp>
      <p:sp>
        <p:nvSpPr>
          <p:cNvPr id="190" name="Google Shape;190;p33"/>
          <p:cNvSpPr txBox="1"/>
          <p:nvPr/>
        </p:nvSpPr>
        <p:spPr>
          <a:xfrm>
            <a:off x="5772450" y="663900"/>
            <a:ext cx="2292300" cy="240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class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Counter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private int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count;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public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Counter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count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public void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increment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count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public int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getValue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count;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1" name="Google Shape;191;p33"/>
          <p:cNvSpPr txBox="1"/>
          <p:nvPr/>
        </p:nvSpPr>
        <p:spPr>
          <a:xfrm>
            <a:off x="4381750" y="3459275"/>
            <a:ext cx="2180400" cy="3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Counter cnt </a:t>
            </a:r>
            <a:r>
              <a:rPr lang="en-GB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Counter</a:t>
            </a:r>
            <a:r>
              <a:rPr lang="en-GB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Counter example </a:t>
            </a:r>
            <a:endParaRPr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311700" y="1389600"/>
            <a:ext cx="55026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The output of the program would be unpredictable</a:t>
            </a:r>
            <a:br>
              <a:rPr lang="en-GB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Consider what the increment method actually does:</a:t>
            </a:r>
            <a:br>
              <a:rPr lang="en-GB" sz="1400"/>
            </a:b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Read</a:t>
            </a:r>
            <a:r>
              <a:rPr lang="en-GB" sz="1400"/>
              <a:t> value of count from memory to register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Add</a:t>
            </a:r>
            <a:r>
              <a:rPr lang="en-GB" sz="1400"/>
              <a:t> 1 to register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 sz="1400"/>
              <a:t>Write</a:t>
            </a:r>
            <a:r>
              <a:rPr lang="en-GB" sz="1400"/>
              <a:t> value of count to from register to memory</a:t>
            </a:r>
            <a:br>
              <a:rPr lang="en-GB" sz="1400"/>
            </a:br>
            <a:endParaRPr sz="1400"/>
          </a:p>
        </p:txBody>
      </p:sp>
      <p:sp>
        <p:nvSpPr>
          <p:cNvPr id="198" name="Google Shape;198;p34"/>
          <p:cNvSpPr txBox="1"/>
          <p:nvPr/>
        </p:nvSpPr>
        <p:spPr>
          <a:xfrm>
            <a:off x="6010100" y="1425675"/>
            <a:ext cx="2515800" cy="72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void</a:t>
            </a:r>
            <a:r>
              <a:rPr lang="en-GB" sz="11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increment</a:t>
            </a:r>
            <a:r>
              <a:rPr lang="en-GB" sz="1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(){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count</a:t>
            </a:r>
            <a:r>
              <a:rPr lang="en-GB" sz="11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1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2000">
              <a:solidFill>
                <a:schemeClr val="dk2"/>
              </a:solidFill>
            </a:endParaRPr>
          </a:p>
        </p:txBody>
      </p:sp>
      <p:cxnSp>
        <p:nvCxnSpPr>
          <p:cNvPr id="199" name="Google Shape;199;p34"/>
          <p:cNvCxnSpPr/>
          <p:nvPr/>
        </p:nvCxnSpPr>
        <p:spPr>
          <a:xfrm flipH="1">
            <a:off x="4975850" y="1747125"/>
            <a:ext cx="1404600" cy="67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Counter example</a:t>
            </a:r>
            <a:endParaRPr/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311700" y="1858925"/>
            <a:ext cx="83052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>
                <a:solidFill>
                  <a:srgbClr val="FF0000"/>
                </a:solidFill>
              </a:rPr>
              <a:t>t</a:t>
            </a:r>
            <a:r>
              <a:rPr lang="en-GB">
                <a:solidFill>
                  <a:srgbClr val="FF0000"/>
                </a:solidFill>
              </a:rPr>
              <a:t>1</a:t>
            </a:r>
            <a:r>
              <a:rPr lang="en-GB"/>
              <a:t> reads count = </a:t>
            </a:r>
            <a:r>
              <a:rPr lang="en-GB">
                <a:solidFill>
                  <a:srgbClr val="0000FF"/>
                </a:solidFill>
              </a:rPr>
              <a:t>0</a:t>
            </a:r>
            <a:r>
              <a:rPr lang="en-GB"/>
              <a:t> to it’s local register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>
                <a:solidFill>
                  <a:srgbClr val="FF0000"/>
                </a:solidFill>
              </a:rPr>
              <a:t>t2</a:t>
            </a:r>
            <a:r>
              <a:rPr lang="en-GB"/>
              <a:t> reads count = </a:t>
            </a:r>
            <a:r>
              <a:rPr lang="en-GB">
                <a:solidFill>
                  <a:srgbClr val="0000FF"/>
                </a:solidFill>
              </a:rPr>
              <a:t>0</a:t>
            </a:r>
            <a:r>
              <a:rPr lang="en-GB"/>
              <a:t> to </a:t>
            </a:r>
            <a:r>
              <a:rPr lang="en-GB"/>
              <a:t>it’s </a:t>
            </a:r>
            <a:r>
              <a:rPr lang="en-GB"/>
              <a:t>local register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>
                <a:solidFill>
                  <a:srgbClr val="FF0000"/>
                </a:solidFill>
              </a:rPr>
              <a:t>t1</a:t>
            </a:r>
            <a:r>
              <a:rPr lang="en-GB"/>
              <a:t> adds </a:t>
            </a:r>
            <a:r>
              <a:rPr lang="en-GB">
                <a:solidFill>
                  <a:srgbClr val="0000FF"/>
                </a:solidFill>
              </a:rPr>
              <a:t>1</a:t>
            </a:r>
            <a:r>
              <a:rPr lang="en-GB"/>
              <a:t> to </a:t>
            </a:r>
            <a:r>
              <a:rPr lang="en-GB"/>
              <a:t>it’s </a:t>
            </a:r>
            <a:r>
              <a:rPr lang="en-GB"/>
              <a:t>local register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>
                <a:solidFill>
                  <a:srgbClr val="FF0000"/>
                </a:solidFill>
              </a:rPr>
              <a:t>t2</a:t>
            </a:r>
            <a:r>
              <a:rPr lang="en-GB"/>
              <a:t> adds </a:t>
            </a:r>
            <a:r>
              <a:rPr lang="en-GB">
                <a:solidFill>
                  <a:srgbClr val="0000FF"/>
                </a:solidFill>
              </a:rPr>
              <a:t>1</a:t>
            </a:r>
            <a:r>
              <a:rPr lang="en-GB"/>
              <a:t> to it’s local register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>
                <a:solidFill>
                  <a:srgbClr val="FF0000"/>
                </a:solidFill>
              </a:rPr>
              <a:t>t1</a:t>
            </a:r>
            <a:r>
              <a:rPr lang="en-GB"/>
              <a:t> writes count = </a:t>
            </a:r>
            <a:r>
              <a:rPr lang="en-GB">
                <a:solidFill>
                  <a:srgbClr val="0000FF"/>
                </a:solidFill>
              </a:rPr>
              <a:t>1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>
                <a:solidFill>
                  <a:srgbClr val="FF0000"/>
                </a:solidFill>
              </a:rPr>
              <a:t>t2</a:t>
            </a:r>
            <a:r>
              <a:rPr lang="en-GB"/>
              <a:t> writes count = </a:t>
            </a:r>
            <a:r>
              <a:rPr lang="en-GB">
                <a:solidFill>
                  <a:srgbClr val="0000FF"/>
                </a:solidFill>
              </a:rPr>
              <a:t>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Thus </a:t>
            </a:r>
            <a:r>
              <a:rPr lang="en-GB" sz="1000">
                <a:solidFill>
                  <a:srgbClr val="37474F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globalCounter.getValue() </a:t>
            </a:r>
            <a:r>
              <a:rPr lang="en-GB"/>
              <a:t> returns </a:t>
            </a:r>
            <a:r>
              <a:rPr lang="en-GB">
                <a:solidFill>
                  <a:srgbClr val="0000FF"/>
                </a:solidFill>
              </a:rPr>
              <a:t>1</a:t>
            </a:r>
            <a:r>
              <a:rPr lang="en-GB"/>
              <a:t>, </a:t>
            </a:r>
            <a:r>
              <a:rPr b="1" lang="en-GB" sz="1400">
                <a:solidFill>
                  <a:srgbClr val="FF0000"/>
                </a:solidFill>
              </a:rPr>
              <a:t>Wrong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 expect </a:t>
            </a:r>
            <a:r>
              <a:rPr lang="en-GB" sz="1000">
                <a:solidFill>
                  <a:srgbClr val="37474F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globalCounter.getValue() </a:t>
            </a:r>
            <a:r>
              <a:rPr lang="en-GB"/>
              <a:t> to return </a:t>
            </a:r>
            <a:r>
              <a:rPr lang="en-GB">
                <a:solidFill>
                  <a:srgbClr val="0000FF"/>
                </a:solidFill>
              </a:rPr>
              <a:t>2 </a:t>
            </a:r>
            <a:r>
              <a:rPr lang="en-GB"/>
              <a:t>since two threads called increment once.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Safe</a:t>
            </a:r>
            <a:r>
              <a:rPr lang="en-GB"/>
              <a:t>, but </a:t>
            </a:r>
            <a:r>
              <a:rPr b="1" lang="en-GB"/>
              <a:t>not correct</a:t>
            </a:r>
            <a:endParaRPr b="1"/>
          </a:p>
        </p:txBody>
      </p:sp>
      <p:sp>
        <p:nvSpPr>
          <p:cNvPr id="206" name="Google Shape;206;p35"/>
          <p:cNvSpPr txBox="1"/>
          <p:nvPr/>
        </p:nvSpPr>
        <p:spPr>
          <a:xfrm>
            <a:off x="4863950" y="587025"/>
            <a:ext cx="3648000" cy="123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Counter globalCounter </a:t>
            </a:r>
            <a:r>
              <a:rPr lang="en-GB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Counter</a:t>
            </a: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Runnable task </a:t>
            </a:r>
            <a:r>
              <a:rPr lang="en-GB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() </a:t>
            </a:r>
            <a:r>
              <a:rPr lang="en-GB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globalCounter.</a:t>
            </a:r>
            <a:r>
              <a:rPr lang="en-GB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increment</a:t>
            </a: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Thread t1 </a:t>
            </a:r>
            <a:r>
              <a:rPr lang="en-GB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Thread</a:t>
            </a: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(task);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Thread t2 </a:t>
            </a:r>
            <a:r>
              <a:rPr lang="en-GB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Thread</a:t>
            </a: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(task);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t1.</a:t>
            </a:r>
            <a:r>
              <a:rPr lang="en-GB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t2.</a:t>
            </a:r>
            <a:r>
              <a:rPr lang="en-GB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GB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555600"/>
            <a:ext cx="6865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Pitfalls when sharing </a:t>
            </a:r>
            <a:r>
              <a:rPr lang="en-GB"/>
              <a:t>resources</a:t>
            </a:r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389600"/>
            <a:ext cx="6949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As we’ve seen sharing </a:t>
            </a:r>
            <a:r>
              <a:rPr lang="en-GB" sz="1600"/>
              <a:t>resources</a:t>
            </a:r>
            <a:r>
              <a:rPr lang="en-GB" sz="1600"/>
              <a:t> between threads can be dangerous</a:t>
            </a:r>
            <a:br>
              <a:rPr lang="en-GB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Threads can interfere with each another’s memory, leading to unpredictable behaviour</a:t>
            </a:r>
            <a:br>
              <a:rPr lang="en-GB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In the next practical session, we will see how to avoid such pitfalls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Example</a:t>
            </a:r>
            <a:endParaRPr/>
          </a:p>
        </p:txBody>
      </p:sp>
      <p:sp>
        <p:nvSpPr>
          <p:cNvPr id="218" name="Google Shape;21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/>
              <a:t>Is this example of a multi-threaded function which computes the average of an array of integers safe and correct?</a:t>
            </a:r>
            <a:endParaRPr sz="1600"/>
          </a:p>
        </p:txBody>
      </p:sp>
      <p:sp>
        <p:nvSpPr>
          <p:cNvPr id="219" name="Google Shape;219;p37"/>
          <p:cNvSpPr txBox="1"/>
          <p:nvPr/>
        </p:nvSpPr>
        <p:spPr>
          <a:xfrm>
            <a:off x="3284550" y="370350"/>
            <a:ext cx="5465100" cy="43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static int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arrAverage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data,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numThreads)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InterruptedException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Thread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threads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 Thread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[numThreads];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long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800">
                <a:solidFill>
                  <a:srgbClr val="37474F"/>
                </a:solidFill>
                <a:highlight>
                  <a:srgbClr val="FFE599"/>
                </a:highlight>
                <a:latin typeface="Roboto Mono"/>
                <a:ea typeface="Roboto Mono"/>
                <a:cs typeface="Roboto Mono"/>
                <a:sym typeface="Roboto Mono"/>
              </a:rPr>
              <a:t>partialSums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 long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[numThreads];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chunkSize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data.length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numThreads;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// Create &amp; start threads using lambdas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numThreads; i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index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start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chunkSize;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end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numThreads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1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data.length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start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chunkSize;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threads[i]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Thread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(()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long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sum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for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j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start; j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end; j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sum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data[j];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n-GB" sz="800">
                <a:solidFill>
                  <a:srgbClr val="37474F"/>
                </a:solidFill>
                <a:highlight>
                  <a:srgbClr val="FFE599"/>
                </a:highlight>
                <a:latin typeface="Roboto Mono"/>
                <a:ea typeface="Roboto Mono"/>
                <a:cs typeface="Roboto Mono"/>
                <a:sym typeface="Roboto Mono"/>
              </a:rPr>
              <a:t>partialSums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[index]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sum;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});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threads[i].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// Join all threads and accumulate results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long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totalSum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i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numThreads; i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threads[i].</a:t>
            </a:r>
            <a:r>
              <a:rPr lang="en-GB" sz="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totalSum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+=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800">
                <a:solidFill>
                  <a:srgbClr val="37474F"/>
                </a:solidFill>
                <a:highlight>
                  <a:srgbClr val="FFE599"/>
                </a:highlight>
                <a:latin typeface="Roboto Mono"/>
                <a:ea typeface="Roboto Mono"/>
                <a:cs typeface="Roboto Mono"/>
                <a:sym typeface="Roboto Mono"/>
              </a:rPr>
              <a:t>partialSums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[i];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double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average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totalSum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data.length;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average;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