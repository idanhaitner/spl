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541" r:id="rId2"/>
    <p:sldId id="313" r:id="rId3"/>
    <p:sldId id="314" r:id="rId4"/>
    <p:sldId id="380" r:id="rId5"/>
    <p:sldId id="538" r:id="rId6"/>
    <p:sldId id="540" r:id="rId7"/>
    <p:sldId id="315" r:id="rId8"/>
    <p:sldId id="379" r:id="rId9"/>
    <p:sldId id="320" r:id="rId10"/>
    <p:sldId id="317" r:id="rId11"/>
    <p:sldId id="381" r:id="rId12"/>
    <p:sldId id="326" r:id="rId13"/>
    <p:sldId id="327" r:id="rId14"/>
    <p:sldId id="328" r:id="rId15"/>
    <p:sldId id="329" r:id="rId16"/>
    <p:sldId id="330" r:id="rId17"/>
    <p:sldId id="332" r:id="rId18"/>
    <p:sldId id="333" r:id="rId19"/>
    <p:sldId id="334" r:id="rId20"/>
    <p:sldId id="336" r:id="rId21"/>
    <p:sldId id="542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DF4412-FCF0-42E1-8325-068282B1BFF1}" v="1809" dt="2025-11-05T18:36:55.0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312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5" d="100"/>
          <a:sy n="65" d="100"/>
        </p:scale>
        <p:origin x="4052" y="64"/>
      </p:cViewPr>
      <p:guideLst/>
    </p:cSldViewPr>
  </p:notesViewPr>
  <p:gridSpacing cx="90001" cy="90001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l R." userId="03e9e69c0e8a7741" providerId="LiveId" clId="{012321CB-D30F-40A1-894C-E46D43B30E68}"/>
    <pc:docChg chg="undo redo custSel addSld delSld modSld sldOrd modMainMaster">
      <pc:chgData name="Tal R." userId="03e9e69c0e8a7741" providerId="LiveId" clId="{012321CB-D30F-40A1-894C-E46D43B30E68}" dt="2025-11-05T18:36:55.061" v="2740" actId="20577"/>
      <pc:docMkLst>
        <pc:docMk/>
      </pc:docMkLst>
      <pc:sldChg chg="delSp modSp mod ord modTransition modAnim">
        <pc:chgData name="Tal R." userId="03e9e69c0e8a7741" providerId="LiveId" clId="{012321CB-D30F-40A1-894C-E46D43B30E68}" dt="2025-11-01T21:39:21.146" v="2268"/>
        <pc:sldMkLst>
          <pc:docMk/>
          <pc:sldMk cId="1543306459" sldId="313"/>
        </pc:sldMkLst>
        <pc:spChg chg="mod">
          <ac:chgData name="Tal R." userId="03e9e69c0e8a7741" providerId="LiveId" clId="{012321CB-D30F-40A1-894C-E46D43B30E68}" dt="2025-11-01T20:43:33.062" v="224"/>
          <ac:spMkLst>
            <pc:docMk/>
            <pc:sldMk cId="1543306459" sldId="313"/>
            <ac:spMk id="3" creationId="{0B8B7BE8-971E-6D29-5F4A-683C063ED6F8}"/>
          </ac:spMkLst>
        </pc:spChg>
        <pc:spChg chg="mod">
          <ac:chgData name="Tal R." userId="03e9e69c0e8a7741" providerId="LiveId" clId="{012321CB-D30F-40A1-894C-E46D43B30E68}" dt="2025-11-01T21:00:44.516" v="1190" actId="115"/>
          <ac:spMkLst>
            <pc:docMk/>
            <pc:sldMk cId="1543306459" sldId="313"/>
            <ac:spMk id="6" creationId="{E3BAF7CA-BA55-B798-208E-F2A1754B3B2C}"/>
          </ac:spMkLst>
        </pc:spChg>
      </pc:sldChg>
      <pc:sldChg chg="delSp modSp mod modTransition modAnim">
        <pc:chgData name="Tal R." userId="03e9e69c0e8a7741" providerId="LiveId" clId="{012321CB-D30F-40A1-894C-E46D43B30E68}" dt="2025-11-05T18:36:55.061" v="2740" actId="20577"/>
        <pc:sldMkLst>
          <pc:docMk/>
          <pc:sldMk cId="435770309" sldId="314"/>
        </pc:sldMkLst>
        <pc:spChg chg="mod">
          <ac:chgData name="Tal R." userId="03e9e69c0e8a7741" providerId="LiveId" clId="{012321CB-D30F-40A1-894C-E46D43B30E68}" dt="2025-11-01T20:47:43.483" v="425" actId="6549"/>
          <ac:spMkLst>
            <pc:docMk/>
            <pc:sldMk cId="435770309" sldId="314"/>
            <ac:spMk id="3" creationId="{0B8B7BE8-971E-6D29-5F4A-683C063ED6F8}"/>
          </ac:spMkLst>
        </pc:spChg>
        <pc:spChg chg="mod">
          <ac:chgData name="Tal R." userId="03e9e69c0e8a7741" providerId="LiveId" clId="{012321CB-D30F-40A1-894C-E46D43B30E68}" dt="2025-11-05T18:36:55.061" v="2740" actId="20577"/>
          <ac:spMkLst>
            <pc:docMk/>
            <pc:sldMk cId="435770309" sldId="314"/>
            <ac:spMk id="6" creationId="{E3BAF7CA-BA55-B798-208E-F2A1754B3B2C}"/>
          </ac:spMkLst>
        </pc:spChg>
      </pc:sldChg>
      <pc:sldChg chg="delSp modSp mod modTransition modAnim">
        <pc:chgData name="Tal R." userId="03e9e69c0e8a7741" providerId="LiveId" clId="{012321CB-D30F-40A1-894C-E46D43B30E68}" dt="2025-11-01T21:39:21.146" v="2268"/>
        <pc:sldMkLst>
          <pc:docMk/>
          <pc:sldMk cId="3442259133" sldId="315"/>
        </pc:sldMkLst>
        <pc:spChg chg="mod">
          <ac:chgData name="Tal R." userId="03e9e69c0e8a7741" providerId="LiveId" clId="{012321CB-D30F-40A1-894C-E46D43B30E68}" dt="2025-11-01T20:53:35.308" v="747" actId="20577"/>
          <ac:spMkLst>
            <pc:docMk/>
            <pc:sldMk cId="3442259133" sldId="315"/>
            <ac:spMk id="3" creationId="{0B8B7BE8-971E-6D29-5F4A-683C063ED6F8}"/>
          </ac:spMkLst>
        </pc:spChg>
        <pc:spChg chg="mod">
          <ac:chgData name="Tal R." userId="03e9e69c0e8a7741" providerId="LiveId" clId="{012321CB-D30F-40A1-894C-E46D43B30E68}" dt="2025-11-01T21:35:29.499" v="2205" actId="14100"/>
          <ac:spMkLst>
            <pc:docMk/>
            <pc:sldMk cId="3442259133" sldId="315"/>
            <ac:spMk id="6" creationId="{E3BAF7CA-BA55-B798-208E-F2A1754B3B2C}"/>
          </ac:spMkLst>
        </pc:spChg>
      </pc:sldChg>
      <pc:sldChg chg="delSp modSp mod modTransition modAnim">
        <pc:chgData name="Tal R." userId="03e9e69c0e8a7741" providerId="LiveId" clId="{012321CB-D30F-40A1-894C-E46D43B30E68}" dt="2025-11-03T19:00:19.209" v="2682" actId="20577"/>
        <pc:sldMkLst>
          <pc:docMk/>
          <pc:sldMk cId="232357465" sldId="317"/>
        </pc:sldMkLst>
        <pc:spChg chg="mod">
          <ac:chgData name="Tal R." userId="03e9e69c0e8a7741" providerId="LiveId" clId="{012321CB-D30F-40A1-894C-E46D43B30E68}" dt="2025-11-01T21:09:13.337" v="1615" actId="20577"/>
          <ac:spMkLst>
            <pc:docMk/>
            <pc:sldMk cId="232357465" sldId="317"/>
            <ac:spMk id="3" creationId="{0B8B7BE8-971E-6D29-5F4A-683C063ED6F8}"/>
          </ac:spMkLst>
        </pc:spChg>
        <pc:spChg chg="mod">
          <ac:chgData name="Tal R." userId="03e9e69c0e8a7741" providerId="LiveId" clId="{012321CB-D30F-40A1-894C-E46D43B30E68}" dt="2025-11-03T19:00:19.209" v="2682" actId="20577"/>
          <ac:spMkLst>
            <pc:docMk/>
            <pc:sldMk cId="232357465" sldId="317"/>
            <ac:spMk id="6" creationId="{E3BAF7CA-BA55-B798-208E-F2A1754B3B2C}"/>
          </ac:spMkLst>
        </pc:spChg>
      </pc:sldChg>
      <pc:sldChg chg="delSp modSp mod modTransition modAnim">
        <pc:chgData name="Tal R." userId="03e9e69c0e8a7741" providerId="LiveId" clId="{012321CB-D30F-40A1-894C-E46D43B30E68}" dt="2025-11-01T21:39:21.146" v="2268"/>
        <pc:sldMkLst>
          <pc:docMk/>
          <pc:sldMk cId="327410582" sldId="320"/>
        </pc:sldMkLst>
        <pc:spChg chg="mod">
          <ac:chgData name="Tal R." userId="03e9e69c0e8a7741" providerId="LiveId" clId="{012321CB-D30F-40A1-894C-E46D43B30E68}" dt="2025-11-01T21:02:49.700" v="1241" actId="20577"/>
          <ac:spMkLst>
            <pc:docMk/>
            <pc:sldMk cId="327410582" sldId="320"/>
            <ac:spMk id="3" creationId="{0B8B7BE8-971E-6D29-5F4A-683C063ED6F8}"/>
          </ac:spMkLst>
        </pc:spChg>
        <pc:spChg chg="mod">
          <ac:chgData name="Tal R." userId="03e9e69c0e8a7741" providerId="LiveId" clId="{012321CB-D30F-40A1-894C-E46D43B30E68}" dt="2025-11-01T21:08:10.069" v="1589" actId="403"/>
          <ac:spMkLst>
            <pc:docMk/>
            <pc:sldMk cId="327410582" sldId="320"/>
            <ac:spMk id="6" creationId="{E3BAF7CA-BA55-B798-208E-F2A1754B3B2C}"/>
          </ac:spMkLst>
        </pc:spChg>
      </pc:sldChg>
      <pc:sldChg chg="add">
        <pc:chgData name="Tal R." userId="03e9e69c0e8a7741" providerId="LiveId" clId="{012321CB-D30F-40A1-894C-E46D43B30E68}" dt="2025-11-04T21:28:43.637" v="2684"/>
        <pc:sldMkLst>
          <pc:docMk/>
          <pc:sldMk cId="41358337" sldId="326"/>
        </pc:sldMkLst>
      </pc:sldChg>
      <pc:sldChg chg="add">
        <pc:chgData name="Tal R." userId="03e9e69c0e8a7741" providerId="LiveId" clId="{012321CB-D30F-40A1-894C-E46D43B30E68}" dt="2025-11-04T21:28:43.637" v="2684"/>
        <pc:sldMkLst>
          <pc:docMk/>
          <pc:sldMk cId="3825327986" sldId="327"/>
        </pc:sldMkLst>
      </pc:sldChg>
      <pc:sldChg chg="add">
        <pc:chgData name="Tal R." userId="03e9e69c0e8a7741" providerId="LiveId" clId="{012321CB-D30F-40A1-894C-E46D43B30E68}" dt="2025-11-04T21:28:43.637" v="2684"/>
        <pc:sldMkLst>
          <pc:docMk/>
          <pc:sldMk cId="3428029729" sldId="328"/>
        </pc:sldMkLst>
      </pc:sldChg>
      <pc:sldChg chg="add">
        <pc:chgData name="Tal R." userId="03e9e69c0e8a7741" providerId="LiveId" clId="{012321CB-D30F-40A1-894C-E46D43B30E68}" dt="2025-11-04T21:28:43.637" v="2684"/>
        <pc:sldMkLst>
          <pc:docMk/>
          <pc:sldMk cId="2230208608" sldId="329"/>
        </pc:sldMkLst>
      </pc:sldChg>
      <pc:sldChg chg="add">
        <pc:chgData name="Tal R." userId="03e9e69c0e8a7741" providerId="LiveId" clId="{012321CB-D30F-40A1-894C-E46D43B30E68}" dt="2025-11-04T21:28:43.637" v="2684"/>
        <pc:sldMkLst>
          <pc:docMk/>
          <pc:sldMk cId="2403235859" sldId="330"/>
        </pc:sldMkLst>
      </pc:sldChg>
      <pc:sldChg chg="add">
        <pc:chgData name="Tal R." userId="03e9e69c0e8a7741" providerId="LiveId" clId="{012321CB-D30F-40A1-894C-E46D43B30E68}" dt="2025-11-04T21:28:43.637" v="2684"/>
        <pc:sldMkLst>
          <pc:docMk/>
          <pc:sldMk cId="559762575" sldId="331"/>
        </pc:sldMkLst>
      </pc:sldChg>
      <pc:sldChg chg="delSp add modAnim">
        <pc:chgData name="Tal R." userId="03e9e69c0e8a7741" providerId="LiveId" clId="{012321CB-D30F-40A1-894C-E46D43B30E68}" dt="2025-11-05T07:03:27.360" v="2685" actId="478"/>
        <pc:sldMkLst>
          <pc:docMk/>
          <pc:sldMk cId="4223882447" sldId="332"/>
        </pc:sldMkLst>
        <pc:picChg chg="del">
          <ac:chgData name="Tal R." userId="03e9e69c0e8a7741" providerId="LiveId" clId="{012321CB-D30F-40A1-894C-E46D43B30E68}" dt="2025-11-05T07:03:27.360" v="2685" actId="478"/>
          <ac:picMkLst>
            <pc:docMk/>
            <pc:sldMk cId="4223882447" sldId="332"/>
            <ac:picMk id="5" creationId="{BABEC4AB-4693-3E8C-5F59-083E7AA8AE65}"/>
          </ac:picMkLst>
        </pc:picChg>
      </pc:sldChg>
      <pc:sldChg chg="add">
        <pc:chgData name="Tal R." userId="03e9e69c0e8a7741" providerId="LiveId" clId="{012321CB-D30F-40A1-894C-E46D43B30E68}" dt="2025-11-04T21:28:43.637" v="2684"/>
        <pc:sldMkLst>
          <pc:docMk/>
          <pc:sldMk cId="666348886" sldId="333"/>
        </pc:sldMkLst>
      </pc:sldChg>
      <pc:sldChg chg="add">
        <pc:chgData name="Tal R." userId="03e9e69c0e8a7741" providerId="LiveId" clId="{012321CB-D30F-40A1-894C-E46D43B30E68}" dt="2025-11-04T21:28:43.637" v="2684"/>
        <pc:sldMkLst>
          <pc:docMk/>
          <pc:sldMk cId="4277543014" sldId="334"/>
        </pc:sldMkLst>
      </pc:sldChg>
      <pc:sldChg chg="add">
        <pc:chgData name="Tal R." userId="03e9e69c0e8a7741" providerId="LiveId" clId="{012321CB-D30F-40A1-894C-E46D43B30E68}" dt="2025-11-04T21:28:43.637" v="2684"/>
        <pc:sldMkLst>
          <pc:docMk/>
          <pc:sldMk cId="2987626934" sldId="335"/>
        </pc:sldMkLst>
      </pc:sldChg>
      <pc:sldChg chg="add">
        <pc:chgData name="Tal R." userId="03e9e69c0e8a7741" providerId="LiveId" clId="{012321CB-D30F-40A1-894C-E46D43B30E68}" dt="2025-11-04T21:28:43.637" v="2684"/>
        <pc:sldMkLst>
          <pc:docMk/>
          <pc:sldMk cId="157337345" sldId="336"/>
        </pc:sldMkLst>
      </pc:sldChg>
      <pc:sldChg chg="modSp add mod modTransition">
        <pc:chgData name="Tal R." userId="03e9e69c0e8a7741" providerId="LiveId" clId="{012321CB-D30F-40A1-894C-E46D43B30E68}" dt="2025-11-01T21:39:21.146" v="2268"/>
        <pc:sldMkLst>
          <pc:docMk/>
          <pc:sldMk cId="3460395766" sldId="379"/>
        </pc:sldMkLst>
        <pc:spChg chg="mod">
          <ac:chgData name="Tal R." userId="03e9e69c0e8a7741" providerId="LiveId" clId="{012321CB-D30F-40A1-894C-E46D43B30E68}" dt="2025-11-01T21:33:59.321" v="2043" actId="21"/>
          <ac:spMkLst>
            <pc:docMk/>
            <pc:sldMk cId="3460395766" sldId="379"/>
            <ac:spMk id="6" creationId="{522EFD23-3D71-E646-367D-C9F8B6164F26}"/>
          </ac:spMkLst>
        </pc:spChg>
      </pc:sldChg>
      <pc:sldChg chg="modSp add mod modTransition modAnim">
        <pc:chgData name="Tal R." userId="03e9e69c0e8a7741" providerId="LiveId" clId="{012321CB-D30F-40A1-894C-E46D43B30E68}" dt="2025-11-05T18:35:46.882" v="2712" actId="20577"/>
        <pc:sldMkLst>
          <pc:docMk/>
          <pc:sldMk cId="3313068165" sldId="380"/>
        </pc:sldMkLst>
        <pc:spChg chg="mod">
          <ac:chgData name="Tal R." userId="03e9e69c0e8a7741" providerId="LiveId" clId="{012321CB-D30F-40A1-894C-E46D43B30E68}" dt="2025-11-05T18:35:46.882" v="2712" actId="20577"/>
          <ac:spMkLst>
            <pc:docMk/>
            <pc:sldMk cId="3313068165" sldId="380"/>
            <ac:spMk id="6" creationId="{83FE1E3A-61E7-BE09-D026-E9325BCDCF74}"/>
          </ac:spMkLst>
        </pc:spChg>
      </pc:sldChg>
      <pc:sldChg chg="modSp add mod modTransition">
        <pc:chgData name="Tal R." userId="03e9e69c0e8a7741" providerId="LiveId" clId="{012321CB-D30F-40A1-894C-E46D43B30E68}" dt="2025-11-03T18:59:39.440" v="2650" actId="947"/>
        <pc:sldMkLst>
          <pc:docMk/>
          <pc:sldMk cId="813024569" sldId="381"/>
        </pc:sldMkLst>
        <pc:spChg chg="mod">
          <ac:chgData name="Tal R." userId="03e9e69c0e8a7741" providerId="LiveId" clId="{012321CB-D30F-40A1-894C-E46D43B30E68}" dt="2025-11-03T18:59:39.440" v="2650" actId="947"/>
          <ac:spMkLst>
            <pc:docMk/>
            <pc:sldMk cId="813024569" sldId="381"/>
            <ac:spMk id="3" creationId="{CCB55367-B560-C919-B384-4333E6801C89}"/>
          </ac:spMkLst>
        </pc:spChg>
        <pc:spChg chg="mod">
          <ac:chgData name="Tal R." userId="03e9e69c0e8a7741" providerId="LiveId" clId="{012321CB-D30F-40A1-894C-E46D43B30E68}" dt="2025-11-01T21:43:07.082" v="2563" actId="14100"/>
          <ac:spMkLst>
            <pc:docMk/>
            <pc:sldMk cId="813024569" sldId="381"/>
            <ac:spMk id="6" creationId="{A6A5680F-1E79-DB17-216A-76606D3E9B30}"/>
          </ac:spMkLst>
        </pc:spChg>
      </pc:sldChg>
      <pc:sldChg chg="add modTransition setBg">
        <pc:chgData name="Tal R." userId="03e9e69c0e8a7741" providerId="LiveId" clId="{012321CB-D30F-40A1-894C-E46D43B30E68}" dt="2025-11-01T21:39:21.146" v="2268"/>
        <pc:sldMkLst>
          <pc:docMk/>
          <pc:sldMk cId="12696567" sldId="538"/>
        </pc:sldMkLst>
      </pc:sldChg>
      <pc:sldChg chg="add modTransition">
        <pc:chgData name="Tal R." userId="03e9e69c0e8a7741" providerId="LiveId" clId="{012321CB-D30F-40A1-894C-E46D43B30E68}" dt="2025-11-01T21:39:21.146" v="2268"/>
        <pc:sldMkLst>
          <pc:docMk/>
          <pc:sldMk cId="1024392022" sldId="540"/>
        </pc:sldMkLst>
      </pc:sldChg>
      <pc:sldChg chg="modSp new mod">
        <pc:chgData name="Tal R." userId="03e9e69c0e8a7741" providerId="LiveId" clId="{012321CB-D30F-40A1-894C-E46D43B30E68}" dt="2025-11-03T18:57:14.841" v="2648" actId="20577"/>
        <pc:sldMkLst>
          <pc:docMk/>
          <pc:sldMk cId="467981463" sldId="541"/>
        </pc:sldMkLst>
        <pc:spChg chg="mod">
          <ac:chgData name="Tal R." userId="03e9e69c0e8a7741" providerId="LiveId" clId="{012321CB-D30F-40A1-894C-E46D43B30E68}" dt="2025-11-03T18:57:14.841" v="2648" actId="20577"/>
          <ac:spMkLst>
            <pc:docMk/>
            <pc:sldMk cId="467981463" sldId="541"/>
            <ac:spMk id="2" creationId="{63C98D00-06F6-E602-6C47-76C2BA233264}"/>
          </ac:spMkLst>
        </pc:spChg>
      </pc:sldChg>
      <pc:sldChg chg="add">
        <pc:chgData name="Tal R." userId="03e9e69c0e8a7741" providerId="LiveId" clId="{012321CB-D30F-40A1-894C-E46D43B30E68}" dt="2025-11-05T07:04:42.932" v="2686"/>
        <pc:sldMkLst>
          <pc:docMk/>
          <pc:sldMk cId="182052163" sldId="542"/>
        </pc:sldMkLst>
      </pc:sldChg>
      <pc:sldMasterChg chg="delSp modSp mod addSldLayout modSldLayout">
        <pc:chgData name="Tal R." userId="03e9e69c0e8a7741" providerId="LiveId" clId="{012321CB-D30F-40A1-894C-E46D43B30E68}" dt="2025-11-03T18:56:04.852" v="2619" actId="21"/>
        <pc:sldMasterMkLst>
          <pc:docMk/>
          <pc:sldMasterMk cId="443307082" sldId="2147483648"/>
        </pc:sldMasterMkLst>
        <pc:spChg chg="mod">
          <ac:chgData name="Tal R." userId="03e9e69c0e8a7741" providerId="LiveId" clId="{012321CB-D30F-40A1-894C-E46D43B30E68}" dt="2025-11-01T20:34:14.649" v="138" actId="1076"/>
          <ac:spMkLst>
            <pc:docMk/>
            <pc:sldMasterMk cId="443307082" sldId="2147483648"/>
            <ac:spMk id="2" creationId="{2175CC09-1E32-D0CD-29D9-E2E1C1E1E15D}"/>
          </ac:spMkLst>
        </pc:spChg>
        <pc:sldLayoutChg chg="addSp delSp modSp mod">
          <pc:chgData name="Tal R." userId="03e9e69c0e8a7741" providerId="LiveId" clId="{012321CB-D30F-40A1-894C-E46D43B30E68}" dt="2025-11-03T18:56:04.852" v="2619" actId="21"/>
          <pc:sldLayoutMkLst>
            <pc:docMk/>
            <pc:sldMasterMk cId="443307082" sldId="2147483648"/>
            <pc:sldLayoutMk cId="197145588" sldId="2147483649"/>
          </pc:sldLayoutMkLst>
          <pc:spChg chg="add mod">
            <ac:chgData name="Tal R." userId="03e9e69c0e8a7741" providerId="LiveId" clId="{012321CB-D30F-40A1-894C-E46D43B30E68}" dt="2025-11-01T20:37:16.061" v="210" actId="1076"/>
            <ac:spMkLst>
              <pc:docMk/>
              <pc:sldMasterMk cId="443307082" sldId="2147483648"/>
              <pc:sldLayoutMk cId="197145588" sldId="2147483649"/>
              <ac:spMk id="2" creationId="{C63AC67B-A509-166B-C5CC-2EF767155503}"/>
            </ac:spMkLst>
          </pc:spChg>
          <pc:spChg chg="add mod">
            <ac:chgData name="Tal R." userId="03e9e69c0e8a7741" providerId="LiveId" clId="{012321CB-D30F-40A1-894C-E46D43B30E68}" dt="2025-11-03T18:56:04.852" v="2619" actId="21"/>
            <ac:spMkLst>
              <pc:docMk/>
              <pc:sldMasterMk cId="443307082" sldId="2147483648"/>
              <pc:sldLayoutMk cId="197145588" sldId="2147483649"/>
              <ac:spMk id="4" creationId="{75400D95-AE9F-826B-7C3A-A9F2F1391648}"/>
            </ac:spMkLst>
          </pc:spChg>
        </pc:sldLayoutChg>
        <pc:sldLayoutChg chg="addSp delSp mod">
          <pc:chgData name="Tal R." userId="03e9e69c0e8a7741" providerId="LiveId" clId="{012321CB-D30F-40A1-894C-E46D43B30E68}" dt="2025-11-01T20:32:49.183" v="131" actId="478"/>
          <pc:sldLayoutMkLst>
            <pc:docMk/>
            <pc:sldMasterMk cId="443307082" sldId="2147483648"/>
            <pc:sldLayoutMk cId="2285841394" sldId="214748365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86FBB33-3A7B-FD1A-B843-871C484E72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011B8-0A54-70FB-27EE-859898B6D4D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F6DF34-C585-4C12-B178-D0C47CBC4446}" type="datetimeFigureOut">
              <a:rPr lang="en-IL" smtClean="0"/>
              <a:t>11/05/2025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2E307D-D58C-B4B0-EA84-20C9CE18753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E60314-03A1-2682-2FD8-AF8F93F321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F66A7A-8D44-413F-979F-54C810EDD79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91194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E4470E-428A-49A2-9F21-2FC2656C022F}" type="datetimeFigureOut">
              <a:rPr lang="LID4096" smtClean="0"/>
              <a:t>11/05/2025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455DA9-2505-44F6-AA4C-A32366DA151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44179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BB9A7C-63FD-4ED9-905B-2734C803DF0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4852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455DA9-2505-44F6-AA4C-A32366DA151B}" type="slidenum">
              <a:rPr lang="LID4096" smtClean="0"/>
              <a:t>13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60711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3AC67B-A509-166B-C5CC-2EF767155503}"/>
              </a:ext>
            </a:extLst>
          </p:cNvPr>
          <p:cNvSpPr/>
          <p:nvPr userDrawn="1"/>
        </p:nvSpPr>
        <p:spPr>
          <a:xfrm>
            <a:off x="3304148" y="3338999"/>
            <a:ext cx="52453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5400" b="0" i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Calibri" panose="020F0502020204030204" pitchFamily="34" charset="0"/>
              </a:rPr>
              <a:t>קורס תכנות מערכות</a:t>
            </a:r>
            <a:endParaRPr lang="LID4096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CourseTitle" descr="Slide title in Hebrew">
            <a:extLst>
              <a:ext uri="{FF2B5EF4-FFF2-40B4-BE49-F238E27FC236}">
                <a16:creationId xmlns:a16="http://schemas.microsoft.com/office/drawing/2014/main" id="{75400D95-AE9F-826B-7C3A-A9F2F1391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959" y="549275"/>
            <a:ext cx="7830241" cy="2789724"/>
          </a:xfrm>
          <a:prstGeom prst="rect">
            <a:avLst/>
          </a:prstGeom>
        </p:spPr>
        <p:txBody>
          <a:bodyPr wrap="none" tIns="0" bIns="0">
            <a:normAutofit/>
          </a:bodyPr>
          <a:lstStyle>
            <a:lvl1pPr algn="r" rtl="1">
              <a:defRPr lang="he-IL" sz="9600" b="1" kern="1200" dirty="0">
                <a:ln w="12700">
                  <a:solidFill>
                    <a:srgbClr val="525252">
                      <a:alpha val="99000"/>
                    </a:srgbClr>
                  </a:solidFill>
                  <a:prstDash val="solid"/>
                </a:ln>
                <a:pattFill prst="narHorz">
                  <a:fgClr>
                    <a:schemeClr val="accent1"/>
                  </a:fgClr>
                  <a:bgClr>
                    <a:srgbClr val="DBDBDB"/>
                  </a:bgClr>
                </a:pattFill>
                <a:effectLst>
                  <a:innerShdw blurRad="177800">
                    <a:schemeClr val="bg1">
                      <a:lumMod val="50000"/>
                    </a:scheme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Rubik" pitchFamily="2" charset="-79"/>
              </a:defRPr>
            </a:lvl1pPr>
          </a:lstStyle>
          <a:p>
            <a:pPr lvl="0" algn="r" rtl="1"/>
            <a:endParaRPr lang="he-IL" sz="60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7145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HebrewTitle" descr="Slide title in Hebrew">
            <a:extLst>
              <a:ext uri="{FF2B5EF4-FFF2-40B4-BE49-F238E27FC236}">
                <a16:creationId xmlns:a16="http://schemas.microsoft.com/office/drawing/2014/main" id="{36E91B60-7897-7630-1583-F7AB58541E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1394" y="458966"/>
            <a:ext cx="7830241" cy="720009"/>
          </a:xfrm>
          <a:prstGeom prst="rect">
            <a:avLst/>
          </a:prstGeom>
        </p:spPr>
        <p:txBody>
          <a:bodyPr wrap="none" tIns="0" bIns="0">
            <a:normAutofit/>
          </a:bodyPr>
          <a:lstStyle>
            <a:lvl1pPr algn="r" rtl="1">
              <a:defRPr lang="he-IL" sz="6000" b="1" kern="1200" dirty="0">
                <a:ln w="12700">
                  <a:solidFill>
                    <a:srgbClr val="525252">
                      <a:alpha val="99000"/>
                    </a:srgbClr>
                  </a:solidFill>
                  <a:prstDash val="solid"/>
                </a:ln>
                <a:pattFill prst="narHorz">
                  <a:fgClr>
                    <a:schemeClr val="accent1"/>
                  </a:fgClr>
                  <a:bgClr>
                    <a:srgbClr val="DBDBDB"/>
                  </a:bgClr>
                </a:pattFill>
                <a:effectLst>
                  <a:innerShdw blurRad="177800">
                    <a:schemeClr val="bg1">
                      <a:lumMod val="50000"/>
                    </a:scheme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Rubik" pitchFamily="2" charset="-79"/>
              </a:defRPr>
            </a:lvl1pPr>
          </a:lstStyle>
          <a:p>
            <a:pPr marL="0" lvl="0" indent="0" algn="r" rtl="1">
              <a:spcBef>
                <a:spcPts val="0"/>
              </a:spcBef>
              <a:buNone/>
            </a:pPr>
            <a:r>
              <a:rPr lang="he-IL" dirty="0"/>
              <a:t>נושא השקופית</a:t>
            </a:r>
          </a:p>
        </p:txBody>
      </p:sp>
      <p:sp>
        <p:nvSpPr>
          <p:cNvPr id="5" name="!!Content">
            <a:extLst>
              <a:ext uri="{FF2B5EF4-FFF2-40B4-BE49-F238E27FC236}">
                <a16:creationId xmlns:a16="http://schemas.microsoft.com/office/drawing/2014/main" id="{A5F67D86-B813-2EB6-2AD8-530BF918B2A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81063" y="1719263"/>
            <a:ext cx="7831137" cy="48593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rtl="1">
              <a:buFont typeface="Arial" panose="020B0604020202020204" pitchFamily="34" charset="0"/>
              <a:buNone/>
              <a:defRPr>
                <a:latin typeface="Calibri" panose="020F0502020204030204" pitchFamily="34" charset="0"/>
                <a:cs typeface="Rubik" pitchFamily="2" charset="-79"/>
              </a:defRPr>
            </a:lvl1pPr>
          </a:lstStyle>
          <a:p>
            <a:pPr lvl="0"/>
            <a:r>
              <a:rPr lang="he-IL" dirty="0"/>
              <a:t>תוכן</a:t>
            </a:r>
            <a:endParaRPr lang="en-US" dirty="0"/>
          </a:p>
          <a:p>
            <a:pPr lvl="0"/>
            <a:r>
              <a:rPr lang="en-US" dirty="0"/>
              <a:t>content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285841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HebrewTitle" descr="Slide title in Hebrew">
            <a:extLst>
              <a:ext uri="{FF2B5EF4-FFF2-40B4-BE49-F238E27FC236}">
                <a16:creationId xmlns:a16="http://schemas.microsoft.com/office/drawing/2014/main" id="{36E91B60-7897-7630-1583-F7AB58541E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027" y="587140"/>
            <a:ext cx="7565457" cy="951719"/>
          </a:xfrm>
          <a:prstGeom prst="rect">
            <a:avLst/>
          </a:prstGeom>
        </p:spPr>
        <p:txBody>
          <a:bodyPr wrap="none" tIns="0" bIns="0">
            <a:normAutofit/>
          </a:bodyPr>
          <a:lstStyle>
            <a:lvl1pPr algn="r" rtl="1">
              <a:defRPr lang="he-IL" sz="6600" b="1" kern="1200" dirty="0">
                <a:ln w="12700">
                  <a:solidFill>
                    <a:srgbClr val="525252">
                      <a:alpha val="99000"/>
                    </a:srgbClr>
                  </a:solidFill>
                  <a:prstDash val="solid"/>
                </a:ln>
                <a:pattFill prst="narHorz">
                  <a:fgClr>
                    <a:schemeClr val="accent1"/>
                  </a:fgClr>
                  <a:bgClr>
                    <a:srgbClr val="DBDBDB"/>
                  </a:bgClr>
                </a:patt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r" rtl="1">
              <a:spcBef>
                <a:spcPts val="0"/>
              </a:spcBef>
              <a:buNone/>
            </a:pPr>
            <a:r>
              <a:rPr lang="he-IL" dirty="0"/>
              <a:t>נושא השקופית</a:t>
            </a:r>
          </a:p>
        </p:txBody>
      </p:sp>
    </p:spTree>
    <p:extLst>
      <p:ext uri="{BB962C8B-B14F-4D97-AF65-F5344CB8AC3E}">
        <p14:creationId xmlns:p14="http://schemas.microsoft.com/office/powerpoint/2010/main" val="4166417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HebrewTitle" descr="Slide title in Hebrew">
            <a:extLst>
              <a:ext uri="{FF2B5EF4-FFF2-40B4-BE49-F238E27FC236}">
                <a16:creationId xmlns:a16="http://schemas.microsoft.com/office/drawing/2014/main" id="{36E91B60-7897-7630-1583-F7AB58541E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1551" y="548969"/>
            <a:ext cx="7560450" cy="360031"/>
          </a:xfrm>
          <a:prstGeom prst="rect">
            <a:avLst/>
          </a:prstGeom>
        </p:spPr>
        <p:txBody>
          <a:bodyPr wrap="none" lIns="0" tIns="0" rIns="0" bIns="0" anchor="ctr" anchorCtr="0">
            <a:normAutofit/>
          </a:bodyPr>
          <a:lstStyle>
            <a:lvl1pPr algn="r" rtl="1">
              <a:defRPr lang="he-IL" sz="4800" b="1" kern="1200" dirty="0">
                <a:ln w="12700">
                  <a:solidFill>
                    <a:srgbClr val="525252">
                      <a:alpha val="99000"/>
                    </a:srgbClr>
                  </a:solidFill>
                  <a:prstDash val="solid"/>
                </a:ln>
                <a:pattFill prst="narHorz">
                  <a:fgClr>
                    <a:schemeClr val="accent1"/>
                  </a:fgClr>
                  <a:bgClr>
                    <a:srgbClr val="DBDBDB"/>
                  </a:bgClr>
                </a:patt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ubik" pitchFamily="2" charset="-79"/>
              </a:defRPr>
            </a:lvl1pPr>
          </a:lstStyle>
          <a:p>
            <a:pPr marL="0" lvl="0" indent="0" algn="r" rtl="1">
              <a:spcBef>
                <a:spcPts val="0"/>
              </a:spcBef>
              <a:buNone/>
            </a:pPr>
            <a:r>
              <a:rPr lang="he-IL" dirty="0"/>
              <a:t>נושא השקופית</a:t>
            </a:r>
          </a:p>
        </p:txBody>
      </p:sp>
      <p:sp>
        <p:nvSpPr>
          <p:cNvPr id="4" name="!!EnglishTitle" descr="Slide title in English">
            <a:extLst>
              <a:ext uri="{FF2B5EF4-FFF2-40B4-BE49-F238E27FC236}">
                <a16:creationId xmlns:a16="http://schemas.microsoft.com/office/drawing/2014/main" id="{9024D946-5CB0-6B61-F151-75C6C61D6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1551" y="909000"/>
            <a:ext cx="7560450" cy="360031"/>
          </a:xfrm>
          <a:prstGeom prst="rect">
            <a:avLst/>
          </a:prstGeom>
        </p:spPr>
        <p:txBody>
          <a:bodyPr wrap="none" lIns="0" tIns="0" rIns="0" bIns="0" anchor="b" anchorCtr="0">
            <a:normAutofit/>
          </a:bodyPr>
          <a:lstStyle>
            <a:lvl1pPr marL="0" indent="0" algn="r" rtl="0">
              <a:buNone/>
              <a:def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Print" panose="02000600000000000000" pitchFamily="2" charset="0"/>
              </a:defRPr>
            </a:lvl1pPr>
          </a:lstStyle>
          <a:p>
            <a:pPr lvl="0"/>
            <a:r>
              <a:rPr lang="en-US" dirty="0"/>
              <a:t>subject in lowercase </a:t>
            </a:r>
            <a:r>
              <a:rPr lang="en-US" dirty="0" err="1"/>
              <a:t>english</a:t>
            </a:r>
            <a:endParaRPr lang="en-US" dirty="0"/>
          </a:p>
        </p:txBody>
      </p:sp>
      <p:sp>
        <p:nvSpPr>
          <p:cNvPr id="5" name="!!Content">
            <a:extLst>
              <a:ext uri="{FF2B5EF4-FFF2-40B4-BE49-F238E27FC236}">
                <a16:creationId xmlns:a16="http://schemas.microsoft.com/office/drawing/2014/main" id="{A5F67D86-B813-2EB6-2AD8-530BF918B2A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71219" y="1485001"/>
            <a:ext cx="7560781" cy="50936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r" rtl="1">
              <a:buFont typeface="Arial" panose="020B0604020202020204" pitchFamily="34" charset="0"/>
              <a:buNone/>
              <a:defRPr>
                <a:latin typeface="Roboto" panose="02000000000000000000" pitchFamily="2" charset="0"/>
                <a:cs typeface="Rubik" pitchFamily="2" charset="-79"/>
              </a:defRPr>
            </a:lvl1pPr>
          </a:lstStyle>
          <a:p>
            <a:pPr lvl="0"/>
            <a:r>
              <a:rPr lang="he-IL" dirty="0"/>
              <a:t>תוכן</a:t>
            </a:r>
            <a:endParaRPr lang="en-US" dirty="0"/>
          </a:p>
          <a:p>
            <a:pPr lvl="0"/>
            <a:r>
              <a:rPr lang="en-US" dirty="0"/>
              <a:t>content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5227639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BlueRectangle">
            <a:extLst>
              <a:ext uri="{FF2B5EF4-FFF2-40B4-BE49-F238E27FC236}">
                <a16:creationId xmlns:a16="http://schemas.microsoft.com/office/drawing/2014/main" id="{C2DBB14B-EEC3-2DB0-F986-1D4CB3A9C521}"/>
              </a:ext>
            </a:extLst>
          </p:cNvPr>
          <p:cNvSpPr/>
          <p:nvPr userDrawn="1"/>
        </p:nvSpPr>
        <p:spPr bwMode="gray">
          <a:xfrm>
            <a:off x="8892048" y="0"/>
            <a:ext cx="251952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 sz="1800" dirty="0">
              <a:latin typeface="Calibri" panose="020F0502020204030204" pitchFamily="34" charset="0"/>
            </a:endParaRPr>
          </a:p>
        </p:txBody>
      </p:sp>
      <p:sp>
        <p:nvSpPr>
          <p:cNvPr id="8" name="LeftLightBlueRectangle">
            <a:extLst>
              <a:ext uri="{FF2B5EF4-FFF2-40B4-BE49-F238E27FC236}">
                <a16:creationId xmlns:a16="http://schemas.microsoft.com/office/drawing/2014/main" id="{36A35963-74BA-CFBC-ECAA-C9D962DD03BB}"/>
              </a:ext>
            </a:extLst>
          </p:cNvPr>
          <p:cNvSpPr/>
          <p:nvPr userDrawn="1"/>
        </p:nvSpPr>
        <p:spPr bwMode="ltGray">
          <a:xfrm>
            <a:off x="341950" y="0"/>
            <a:ext cx="3600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sz="1800" dirty="0">
              <a:latin typeface="Calibri" panose="020F0502020204030204" pitchFamily="34" charset="0"/>
            </a:endParaRPr>
          </a:p>
        </p:txBody>
      </p:sp>
      <p:sp>
        <p:nvSpPr>
          <p:cNvPr id="9" name="LeftBlueRectangle">
            <a:extLst>
              <a:ext uri="{FF2B5EF4-FFF2-40B4-BE49-F238E27FC236}">
                <a16:creationId xmlns:a16="http://schemas.microsoft.com/office/drawing/2014/main" id="{4F015265-AF27-200C-4895-6752E9BFE9A5}"/>
              </a:ext>
            </a:extLst>
          </p:cNvPr>
          <p:cNvSpPr/>
          <p:nvPr userDrawn="1"/>
        </p:nvSpPr>
        <p:spPr bwMode="gray">
          <a:xfrm>
            <a:off x="-4334" y="0"/>
            <a:ext cx="346287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sz="1800" dirty="0">
              <a:latin typeface="Calibri" panose="020F0502020204030204" pitchFamily="34" charset="0"/>
            </a:endParaRPr>
          </a:p>
        </p:txBody>
      </p:sp>
      <p:cxnSp>
        <p:nvCxnSpPr>
          <p:cNvPr id="10" name="VerticalLineMidLogo">
            <a:extLst>
              <a:ext uri="{FF2B5EF4-FFF2-40B4-BE49-F238E27FC236}">
                <a16:creationId xmlns:a16="http://schemas.microsoft.com/office/drawing/2014/main" id="{656F6BDD-33C7-67F9-B411-2DDC5AA97049}"/>
              </a:ext>
            </a:extLst>
          </p:cNvPr>
          <p:cNvCxnSpPr>
            <a:cxnSpLocks/>
          </p:cNvCxnSpPr>
          <p:nvPr userDrawn="1"/>
        </p:nvCxnSpPr>
        <p:spPr bwMode="white">
          <a:xfrm>
            <a:off x="34195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HorizontalLineAboveLogo">
            <a:extLst>
              <a:ext uri="{FF2B5EF4-FFF2-40B4-BE49-F238E27FC236}">
                <a16:creationId xmlns:a16="http://schemas.microsoft.com/office/drawing/2014/main" id="{8B92081E-31C5-CAF2-9A81-0FF4B3064B25}"/>
              </a:ext>
            </a:extLst>
          </p:cNvPr>
          <p:cNvCxnSpPr>
            <a:cxnSpLocks/>
          </p:cNvCxnSpPr>
          <p:nvPr userDrawn="1"/>
        </p:nvCxnSpPr>
        <p:spPr bwMode="white">
          <a:xfrm>
            <a:off x="-4774" y="548968"/>
            <a:ext cx="706729" cy="0"/>
          </a:xfrm>
          <a:prstGeom prst="line">
            <a:avLst/>
          </a:prstGeom>
          <a:blipFill>
            <a:blip r:embed="rId6"/>
            <a:stretch>
              <a:fillRect/>
            </a:stretch>
          </a:blipFill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HorizontalLineBelowLogo">
            <a:extLst>
              <a:ext uri="{FF2B5EF4-FFF2-40B4-BE49-F238E27FC236}">
                <a16:creationId xmlns:a16="http://schemas.microsoft.com/office/drawing/2014/main" id="{37FEAC9E-A90B-0495-D4E9-530C0C874AA0}"/>
              </a:ext>
            </a:extLst>
          </p:cNvPr>
          <p:cNvCxnSpPr>
            <a:cxnSpLocks/>
          </p:cNvCxnSpPr>
          <p:nvPr userDrawn="1"/>
        </p:nvCxnSpPr>
        <p:spPr bwMode="white">
          <a:xfrm>
            <a:off x="-4774" y="1549232"/>
            <a:ext cx="706729" cy="0"/>
          </a:xfrm>
          <a:prstGeom prst="line">
            <a:avLst/>
          </a:prstGeom>
          <a:blipFill>
            <a:blip r:embed="rId6"/>
            <a:stretch>
              <a:fillRect/>
            </a:stretch>
          </a:blipFill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175CC09-1E32-D0CD-29D9-E2E1C1E1E15D}"/>
              </a:ext>
            </a:extLst>
          </p:cNvPr>
          <p:cNvSpPr txBox="1"/>
          <p:nvPr userDrawn="1"/>
        </p:nvSpPr>
        <p:spPr>
          <a:xfrm>
            <a:off x="701955" y="6550223"/>
            <a:ext cx="8858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Tal Raveh</a:t>
            </a:r>
            <a:endParaRPr lang="en-IL" sz="1400" dirty="0"/>
          </a:p>
        </p:txBody>
      </p:sp>
    </p:spTree>
    <p:extLst>
      <p:ext uri="{BB962C8B-B14F-4D97-AF65-F5344CB8AC3E}">
        <p14:creationId xmlns:p14="http://schemas.microsoft.com/office/powerpoint/2010/main" val="443307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98D00-06F6-E602-6C47-76C2BA233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פרק א:</a:t>
            </a:r>
            <a:br>
              <a:rPr lang="he-IL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</a:br>
            <a:r>
              <a:rPr lang="he-IL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מודל הזיכרון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467981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B8B7BE8-971E-6D29-5F4A-683C063ED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C++</a:t>
            </a:r>
            <a:r>
              <a:rPr lang="he-IL" dirty="0"/>
              <a:t> לעומת שפות אחרות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BAF7CA-BA55-B798-208E-F2A1754B3B2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718981"/>
            <a:ext cx="7831137" cy="4859620"/>
          </a:xfrm>
        </p:spPr>
        <p:txBody>
          <a:bodyPr>
            <a:normAutofit/>
          </a:bodyPr>
          <a:lstStyle/>
          <a:p>
            <a:pPr fontAlgn="base"/>
            <a:r>
              <a:rPr lang="en-US" b="1" dirty="0"/>
              <a:t>Java, C#, Python</a:t>
            </a:r>
            <a:r>
              <a:rPr lang="he-IL" b="1" dirty="0"/>
              <a:t>: זיכרון מנוהל</a:t>
            </a:r>
            <a:endParaRPr lang="en-US" dirty="0"/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he-IL" dirty="0"/>
              <a:t>ניהול הזיכרון אוטומטי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dirty="0"/>
              <a:t>Garbage Collector</a:t>
            </a:r>
          </a:p>
          <a:p>
            <a:pPr fontAlgn="base"/>
            <a:r>
              <a:rPr lang="en-US" b="1" dirty="0"/>
              <a:t>C++</a:t>
            </a:r>
            <a:r>
              <a:rPr lang="he-IL" b="1" dirty="0"/>
              <a:t>: שליטה מלאה בזיכרון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he-IL" b="1" dirty="0"/>
              <a:t>המתכנת אחראי</a:t>
            </a:r>
            <a:r>
              <a:rPr lang="he-IL" dirty="0"/>
              <a:t> להקצאת ושחרור הזיכרון</a:t>
            </a:r>
          </a:p>
          <a:p>
            <a:pPr fontAlgn="base"/>
            <a:r>
              <a:rPr lang="he-IL" b="1" dirty="0"/>
              <a:t>אנלוגיית השכרת דירה:</a:t>
            </a:r>
            <a:endParaRPr lang="he-IL" dirty="0"/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dirty="0"/>
              <a:t>new</a:t>
            </a:r>
            <a:r>
              <a:rPr lang="he-IL" dirty="0"/>
              <a:t>: קבלת מפתח לדירה (הקצאת זיכרון)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dirty="0"/>
              <a:t>delete</a:t>
            </a:r>
            <a:r>
              <a:rPr lang="he-IL" dirty="0"/>
              <a:t>: החזרת המפתח (שחרור זיכרון)</a:t>
            </a:r>
          </a:p>
          <a:p>
            <a:r>
              <a:rPr lang="he-IL" b="1" u="sng" dirty="0"/>
              <a:t>זליגת זיכרון</a:t>
            </a:r>
            <a:r>
              <a:rPr lang="he-IL" b="1" dirty="0"/>
              <a:t>: </a:t>
            </a:r>
            <a:r>
              <a:rPr lang="he-IL" dirty="0"/>
              <a:t>כמו לאבד את המפתח...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43306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B8B7BE8-971E-6D29-5F4A-683C063ED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מבנה הזיכרון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BAF7CA-BA55-B798-208E-F2A1754B3B2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719416"/>
            <a:ext cx="7831137" cy="4589616"/>
          </a:xfrm>
        </p:spPr>
        <p:txBody>
          <a:bodyPr>
            <a:normAutofit/>
          </a:bodyPr>
          <a:lstStyle/>
          <a:p>
            <a:r>
              <a:rPr lang="he-IL" sz="3600" b="1" dirty="0"/>
              <a:t>ארבעה אזורים עיקריים:</a:t>
            </a:r>
          </a:p>
          <a:p>
            <a:endParaRPr lang="he-IL" sz="3600" b="1" dirty="0"/>
          </a:p>
          <a:p>
            <a:pPr fontAlgn="base"/>
            <a:r>
              <a:rPr lang="he-IL" b="1" dirty="0" err="1"/>
              <a:t>איזור</a:t>
            </a:r>
            <a:r>
              <a:rPr lang="he-IL" b="1" dirty="0"/>
              <a:t> הקוד (</a:t>
            </a:r>
            <a:r>
              <a:rPr lang="en-US" b="1" dirty="0"/>
              <a:t>text</a:t>
            </a:r>
            <a:r>
              <a:rPr lang="he-IL" b="1" dirty="0"/>
              <a:t>):</a:t>
            </a:r>
            <a:endParaRPr lang="en-US" dirty="0"/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he-IL" dirty="0"/>
              <a:t>מכיל את הקוד הבינארי (שפת מכונה) של התוכנית.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he-IL" dirty="0"/>
              <a:t>לקריאה בלבד</a:t>
            </a:r>
            <a:endParaRPr lang="en-US" dirty="0"/>
          </a:p>
          <a:p>
            <a:pPr fontAlgn="base"/>
            <a:r>
              <a:rPr lang="he-IL" b="1" dirty="0"/>
              <a:t>נתונים סטטיים / גלובליים (</a:t>
            </a:r>
            <a:r>
              <a:rPr lang="en-US" b="1"/>
              <a:t>data</a:t>
            </a:r>
            <a:r>
              <a:rPr lang="he-IL" b="1"/>
              <a:t>):</a:t>
            </a:r>
            <a:endParaRPr lang="en-US" dirty="0"/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he-IL" dirty="0"/>
              <a:t>גודל קבוע שנקבע מראש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he-IL" dirty="0"/>
              <a:t>משתנים שקיימים לאורך כל זמן הריצה של התוכנית</a:t>
            </a:r>
          </a:p>
        </p:txBody>
      </p:sp>
    </p:spTree>
    <p:extLst>
      <p:ext uri="{BB962C8B-B14F-4D97-AF65-F5344CB8AC3E}">
        <p14:creationId xmlns:p14="http://schemas.microsoft.com/office/powerpoint/2010/main" val="435770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1E1CC-1A4F-C14E-A718-6DF8662D4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5753FF2-2BC6-B881-DA7A-03260FD13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מבנה הזיכרון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FE1E3A-61E7-BE09-D026-E9325BCDCF7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2078985"/>
            <a:ext cx="7831137" cy="4319613"/>
          </a:xfrm>
        </p:spPr>
        <p:txBody>
          <a:bodyPr>
            <a:normAutofit/>
          </a:bodyPr>
          <a:lstStyle/>
          <a:p>
            <a:pPr fontAlgn="base"/>
            <a:r>
              <a:rPr lang="he-IL" b="1" dirty="0"/>
              <a:t>מחסנית (</a:t>
            </a:r>
            <a:r>
              <a:rPr lang="en-US" b="1" dirty="0"/>
              <a:t>stack</a:t>
            </a:r>
            <a:r>
              <a:rPr lang="he-IL" b="1" dirty="0"/>
              <a:t>):</a:t>
            </a:r>
            <a:endParaRPr lang="he-IL" dirty="0"/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he-IL" dirty="0"/>
              <a:t>משתנים מקומיים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he-IL" dirty="0"/>
              <a:t>מידע הנדרש לניהול קריאות לפונקציות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he-IL" dirty="0"/>
              <a:t>ניהול אוטומטי (</a:t>
            </a:r>
            <a:r>
              <a:rPr lang="en-US" dirty="0"/>
              <a:t>LIFO</a:t>
            </a:r>
            <a:r>
              <a:rPr lang="he-IL" dirty="0"/>
              <a:t>)</a:t>
            </a:r>
            <a:endParaRPr lang="en-US" dirty="0"/>
          </a:p>
          <a:p>
            <a:pPr fontAlgn="base"/>
            <a:r>
              <a:rPr lang="he-IL" b="1" dirty="0"/>
              <a:t>ערימה (</a:t>
            </a:r>
            <a:r>
              <a:rPr lang="en-US" b="1" dirty="0"/>
              <a:t>heap</a:t>
            </a:r>
            <a:r>
              <a:rPr lang="he-IL" b="1" dirty="0"/>
              <a:t>):</a:t>
            </a:r>
            <a:endParaRPr lang="he-IL" dirty="0"/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he-IL" dirty="0"/>
              <a:t>הקצאה דינאמית (ידנית)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he-IL" dirty="0"/>
              <a:t>משתנים שאינם תלויים בבלוק שבו נוצרו</a:t>
            </a:r>
          </a:p>
        </p:txBody>
      </p:sp>
    </p:spTree>
    <p:extLst>
      <p:ext uri="{BB962C8B-B14F-4D97-AF65-F5344CB8AC3E}">
        <p14:creationId xmlns:p14="http://schemas.microsoft.com/office/powerpoint/2010/main" val="3313068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Hebrew">
            <a:extLst>
              <a:ext uri="{FF2B5EF4-FFF2-40B4-BE49-F238E27FC236}">
                <a16:creationId xmlns:a16="http://schemas.microsoft.com/office/drawing/2014/main" id="{CEFE0636-3455-D785-CB5C-A448BDC61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027" y="548848"/>
            <a:ext cx="7565457" cy="99001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r" rtl="1"/>
            <a:r>
              <a:rPr lang="he-IL" dirty="0">
                <a:latin typeface="Calibri" panose="020F0502020204030204" pitchFamily="34" charset="0"/>
              </a:rPr>
              <a:t>מודל הזיכרון</a:t>
            </a: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BFCB856E-DAF1-3616-B86E-FD2497556B15}"/>
              </a:ext>
            </a:extLst>
          </p:cNvPr>
          <p:cNvSpPr/>
          <p:nvPr/>
        </p:nvSpPr>
        <p:spPr>
          <a:xfrm>
            <a:off x="971960" y="1628980"/>
            <a:ext cx="7560084" cy="4877246"/>
          </a:xfrm>
          <a:prstGeom prst="round2Diag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endParaRPr lang="en-US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163BDD-7383-8C6D-1B75-45DA2F1DBCF8}"/>
              </a:ext>
            </a:extLst>
          </p:cNvPr>
          <p:cNvSpPr/>
          <p:nvPr/>
        </p:nvSpPr>
        <p:spPr>
          <a:xfrm>
            <a:off x="4211996" y="2080909"/>
            <a:ext cx="3019134" cy="62967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מחסנית (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stack</a:t>
            </a: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05970D-103D-CC22-736B-0E73C4BF23DD}"/>
              </a:ext>
            </a:extLst>
          </p:cNvPr>
          <p:cNvSpPr/>
          <p:nvPr/>
        </p:nvSpPr>
        <p:spPr>
          <a:xfrm>
            <a:off x="4211996" y="4520621"/>
            <a:ext cx="3019134" cy="76100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ערימה (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heap</a:t>
            </a: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B87B63-8823-F753-5CF1-326488FF64DF}"/>
              </a:ext>
            </a:extLst>
          </p:cNvPr>
          <p:cNvSpPr/>
          <p:nvPr/>
        </p:nvSpPr>
        <p:spPr>
          <a:xfrm>
            <a:off x="4211996" y="5281623"/>
            <a:ext cx="3019134" cy="26707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משתנים לא מאותחלים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CAEFB5-0C75-5F4C-A831-C2802A84209D}"/>
              </a:ext>
            </a:extLst>
          </p:cNvPr>
          <p:cNvSpPr/>
          <p:nvPr/>
        </p:nvSpPr>
        <p:spPr>
          <a:xfrm>
            <a:off x="4211996" y="5548694"/>
            <a:ext cx="3019134" cy="26707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משתנים מאותחלים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 12">
            <a:hlinkClick r:id="" action="ppaction://macro?name=SimulateClick"/>
            <a:extLst>
              <a:ext uri="{FF2B5EF4-FFF2-40B4-BE49-F238E27FC236}">
                <a16:creationId xmlns:a16="http://schemas.microsoft.com/office/drawing/2014/main" id="{43BD6F05-955D-2287-2AFF-477C189A8426}"/>
              </a:ext>
            </a:extLst>
          </p:cNvPr>
          <p:cNvSpPr/>
          <p:nvPr/>
        </p:nvSpPr>
        <p:spPr>
          <a:xfrm>
            <a:off x="4211996" y="5824744"/>
            <a:ext cx="3019134" cy="26707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קוד התוכנית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FB030B-5B25-67B1-3B32-7FACE20B2C43}"/>
              </a:ext>
            </a:extLst>
          </p:cNvPr>
          <p:cNvSpPr/>
          <p:nvPr/>
        </p:nvSpPr>
        <p:spPr>
          <a:xfrm>
            <a:off x="4211996" y="2710580"/>
            <a:ext cx="3019134" cy="181004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E34C13C-C186-5001-D063-835E232D42EB}"/>
              </a:ext>
            </a:extLst>
          </p:cNvPr>
          <p:cNvSpPr/>
          <p:nvPr/>
        </p:nvSpPr>
        <p:spPr>
          <a:xfrm>
            <a:off x="3242689" y="5733385"/>
            <a:ext cx="958125" cy="3733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/>
            <a:r>
              <a:rPr lang="he-I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קבוע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3A83C2-82B9-901C-2A9E-0C5F11881F81}"/>
              </a:ext>
            </a:extLst>
          </p:cNvPr>
          <p:cNvSpPr/>
          <p:nvPr/>
        </p:nvSpPr>
        <p:spPr>
          <a:xfrm>
            <a:off x="3242651" y="5468637"/>
            <a:ext cx="958125" cy="3733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/>
            <a:r>
              <a:rPr lang="he-I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קבוע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96E6FC-9A97-4046-DDDB-9830183DD7AA}"/>
              </a:ext>
            </a:extLst>
          </p:cNvPr>
          <p:cNvSpPr/>
          <p:nvPr/>
        </p:nvSpPr>
        <p:spPr>
          <a:xfrm>
            <a:off x="3242689" y="5255400"/>
            <a:ext cx="958125" cy="3195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/>
            <a:r>
              <a:rPr lang="he-I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קבוע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DB87F7-EDB6-018C-6A4C-81A6A0732191}"/>
              </a:ext>
            </a:extLst>
          </p:cNvPr>
          <p:cNvSpPr/>
          <p:nvPr/>
        </p:nvSpPr>
        <p:spPr>
          <a:xfrm>
            <a:off x="3233544" y="4498565"/>
            <a:ext cx="958125" cy="7610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/>
            <a:r>
              <a:rPr lang="he-I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משתנה (מנוהל ידנית)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BA50CF9-1D94-AB50-1F1E-ED0F9996A0CB}"/>
              </a:ext>
            </a:extLst>
          </p:cNvPr>
          <p:cNvSpPr/>
          <p:nvPr/>
        </p:nvSpPr>
        <p:spPr>
          <a:xfrm>
            <a:off x="3242689" y="2097714"/>
            <a:ext cx="958125" cy="6128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/>
            <a:r>
              <a:rPr lang="he-I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משתנה (מנוהל אוטומטית)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28E56DE4-462A-86DB-CCAD-B7153380279B}"/>
              </a:ext>
            </a:extLst>
          </p:cNvPr>
          <p:cNvSpPr/>
          <p:nvPr/>
        </p:nvSpPr>
        <p:spPr>
          <a:xfrm>
            <a:off x="6583058" y="2368941"/>
            <a:ext cx="504056" cy="510408"/>
          </a:xfrm>
          <a:prstGeom prst="down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9B196E40-24AD-D7BB-4E58-49D2866F639B}"/>
              </a:ext>
            </a:extLst>
          </p:cNvPr>
          <p:cNvSpPr/>
          <p:nvPr/>
        </p:nvSpPr>
        <p:spPr>
          <a:xfrm rot="10800000">
            <a:off x="6583058" y="4368657"/>
            <a:ext cx="504056" cy="510408"/>
          </a:xfrm>
          <a:prstGeom prst="down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76A4E65-7F0F-B2F0-B99A-D13CA3D499AC}"/>
              </a:ext>
            </a:extLst>
          </p:cNvPr>
          <p:cNvSpPr/>
          <p:nvPr/>
        </p:nvSpPr>
        <p:spPr>
          <a:xfrm>
            <a:off x="7236881" y="5817167"/>
            <a:ext cx="1132361" cy="2632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rtl="1"/>
            <a:r>
              <a:rPr lang="he-I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קריאה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he-I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בלבד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B0FC32-3446-F391-4924-8DDA08F68ADB}"/>
              </a:ext>
            </a:extLst>
          </p:cNvPr>
          <p:cNvSpPr/>
          <p:nvPr/>
        </p:nvSpPr>
        <p:spPr>
          <a:xfrm>
            <a:off x="7239578" y="5547406"/>
            <a:ext cx="1132361" cy="2632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rtl="1"/>
            <a:r>
              <a:rPr lang="he-I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גם כתיבה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B6EEC75-6B5A-9B7B-92BF-643595BE306C}"/>
              </a:ext>
            </a:extLst>
          </p:cNvPr>
          <p:cNvSpPr/>
          <p:nvPr/>
        </p:nvSpPr>
        <p:spPr>
          <a:xfrm>
            <a:off x="7239578" y="5274862"/>
            <a:ext cx="1132361" cy="2632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rtl="1"/>
            <a:r>
              <a:rPr lang="he-I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גם כתיבה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3492217-3D99-E9CA-6C9C-485DF991DC09}"/>
              </a:ext>
            </a:extLst>
          </p:cNvPr>
          <p:cNvSpPr/>
          <p:nvPr/>
        </p:nvSpPr>
        <p:spPr>
          <a:xfrm>
            <a:off x="7262639" y="4715634"/>
            <a:ext cx="1042359" cy="3268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rtl="1"/>
            <a:r>
              <a:rPr lang="he-I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גם כתיבה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132BFC8-B07E-2D23-E106-80BC1A0169F1}"/>
              </a:ext>
            </a:extLst>
          </p:cNvPr>
          <p:cNvSpPr/>
          <p:nvPr/>
        </p:nvSpPr>
        <p:spPr>
          <a:xfrm>
            <a:off x="7262639" y="2182285"/>
            <a:ext cx="1042359" cy="3733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rtl="1"/>
            <a:r>
              <a:rPr lang="he-IL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גם כתיבה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FFD8135-EBDC-6213-1E26-E377DB217DE9}"/>
              </a:ext>
            </a:extLst>
          </p:cNvPr>
          <p:cNvGrpSpPr/>
          <p:nvPr/>
        </p:nvGrpSpPr>
        <p:grpSpPr>
          <a:xfrm>
            <a:off x="1293336" y="2082834"/>
            <a:ext cx="1987568" cy="4046196"/>
            <a:chOff x="6328848" y="2061131"/>
            <a:chExt cx="1987568" cy="4046196"/>
          </a:xfrm>
        </p:grpSpPr>
        <p:sp>
          <p:nvSpPr>
            <p:cNvPr id="28" name="Arrow: Up 27">
              <a:extLst>
                <a:ext uri="{FF2B5EF4-FFF2-40B4-BE49-F238E27FC236}">
                  <a16:creationId xmlns:a16="http://schemas.microsoft.com/office/drawing/2014/main" id="{085B72AE-423C-29EF-DB1F-17FB7E25424D}"/>
                </a:ext>
              </a:extLst>
            </p:cNvPr>
            <p:cNvSpPr/>
            <p:nvPr/>
          </p:nvSpPr>
          <p:spPr>
            <a:xfrm>
              <a:off x="6328848" y="2061131"/>
              <a:ext cx="1987568" cy="4008982"/>
            </a:xfrm>
            <a:prstGeom prst="upArrow">
              <a:avLst>
                <a:gd name="adj1" fmla="val 50000"/>
                <a:gd name="adj2" fmla="val 72588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alibri" panose="020F0502020204030204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FFB6AB1-8FFF-D630-5AE6-A70B70D6FFA2}"/>
                </a:ext>
              </a:extLst>
            </p:cNvPr>
            <p:cNvSpPr txBox="1"/>
            <p:nvPr/>
          </p:nvSpPr>
          <p:spPr>
            <a:xfrm>
              <a:off x="6693253" y="2597756"/>
              <a:ext cx="1262486" cy="5909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 indent="0" algn="ctr" defTabSz="1911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sz="3600" b="1" cap="none" spc="0">
                  <a:ln w="6350">
                    <a:solidFill>
                      <a:schemeClr val="accent5">
                        <a:lumMod val="75000"/>
                      </a:schemeClr>
                    </a:solidFill>
                    <a:prstDash val="solid"/>
                  </a:ln>
                  <a:solidFill>
                    <a:schemeClr val="accent5">
                      <a:lumMod val="40000"/>
                      <a:lumOff val="6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he-IL" sz="1800" dirty="0">
                  <a:ln w="12700">
                    <a:solidFill>
                      <a:schemeClr val="tx1"/>
                    </a:solidFill>
                    <a:prstDash val="solid"/>
                  </a:ln>
                  <a:noFill/>
                  <a:latin typeface="Calibri" panose="020F0502020204030204" pitchFamily="34" charset="0"/>
                  <a:cs typeface="Calibri" panose="020F0502020204030204" pitchFamily="34" charset="0"/>
                </a:rPr>
                <a:t>כתובות גבוהות</a:t>
              </a:r>
              <a:endParaRPr lang="en-US" sz="1800" dirty="0">
                <a:ln w="12700">
                  <a:solidFill>
                    <a:schemeClr val="tx1"/>
                  </a:solidFill>
                  <a:prstDash val="solid"/>
                </a:ln>
                <a:noFill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4201AD3-15D3-9831-8E51-0613AD044E44}"/>
                </a:ext>
              </a:extLst>
            </p:cNvPr>
            <p:cNvSpPr txBox="1"/>
            <p:nvPr/>
          </p:nvSpPr>
          <p:spPr>
            <a:xfrm>
              <a:off x="6657770" y="5516396"/>
              <a:ext cx="1329724" cy="5909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 indent="0" algn="ctr" defTabSz="1911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sz="3600" b="1" cap="none" spc="0">
                  <a:ln w="6350">
                    <a:solidFill>
                      <a:schemeClr val="accent5">
                        <a:lumMod val="75000"/>
                      </a:schemeClr>
                    </a:solidFill>
                    <a:prstDash val="solid"/>
                  </a:ln>
                  <a:solidFill>
                    <a:schemeClr val="accent5">
                      <a:lumMod val="40000"/>
                      <a:lumOff val="6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he-IL" sz="1800" dirty="0">
                  <a:ln w="12700">
                    <a:solidFill>
                      <a:schemeClr val="tx1"/>
                    </a:solidFill>
                    <a:prstDash val="solid"/>
                  </a:ln>
                  <a:noFill/>
                  <a:latin typeface="Calibri" panose="020F0502020204030204" pitchFamily="34" charset="0"/>
                  <a:cs typeface="Calibri" panose="020F0502020204030204" pitchFamily="34" charset="0"/>
                </a:rPr>
                <a:t>כתובות נמוכות</a:t>
              </a:r>
              <a:endParaRPr lang="en-US" sz="1800" dirty="0">
                <a:ln w="12700">
                  <a:solidFill>
                    <a:schemeClr val="tx1"/>
                  </a:solidFill>
                  <a:prstDash val="solid"/>
                </a:ln>
                <a:noFill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96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/>
      <p:bldP spid="16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B8475-45B2-934F-CCF5-7DF3C1310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027" y="548848"/>
            <a:ext cx="7565457" cy="99001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r" rtl="1"/>
            <a:r>
              <a:rPr lang="he-IL" dirty="0">
                <a:latin typeface="Calibri" panose="020F0502020204030204" pitchFamily="34" charset="0"/>
              </a:rPr>
              <a:t>מודל הזיכרון</a:t>
            </a: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65CF2CB9-DC2C-F1C2-13F1-387AA4C9A9F4}"/>
              </a:ext>
            </a:extLst>
          </p:cNvPr>
          <p:cNvSpPr/>
          <p:nvPr/>
        </p:nvSpPr>
        <p:spPr>
          <a:xfrm>
            <a:off x="971960" y="1628980"/>
            <a:ext cx="7560084" cy="4877246"/>
          </a:xfrm>
          <a:prstGeom prst="round2Diag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endParaRPr lang="en-US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7" name="!!program">
            <a:extLst>
              <a:ext uri="{FF2B5EF4-FFF2-40B4-BE49-F238E27FC236}">
                <a16:creationId xmlns:a16="http://schemas.microsoft.com/office/drawing/2014/main" id="{CFA46A5A-05DE-2BA1-D54D-87EEEA5CFE74}"/>
              </a:ext>
            </a:extLst>
          </p:cNvPr>
          <p:cNvGrpSpPr/>
          <p:nvPr/>
        </p:nvGrpSpPr>
        <p:grpSpPr>
          <a:xfrm>
            <a:off x="4211996" y="2080909"/>
            <a:ext cx="3019134" cy="4010906"/>
            <a:chOff x="4211996" y="2080909"/>
            <a:chExt cx="3019134" cy="4010906"/>
          </a:xfrm>
        </p:grpSpPr>
        <p:sp>
          <p:nvSpPr>
            <p:cNvPr id="8" name="!!stack">
              <a:extLst>
                <a:ext uri="{FF2B5EF4-FFF2-40B4-BE49-F238E27FC236}">
                  <a16:creationId xmlns:a16="http://schemas.microsoft.com/office/drawing/2014/main" id="{27705D9A-001B-4301-0472-DC4AD56E2968}"/>
                </a:ext>
              </a:extLst>
            </p:cNvPr>
            <p:cNvSpPr/>
            <p:nvPr/>
          </p:nvSpPr>
          <p:spPr>
            <a:xfrm>
              <a:off x="4211996" y="2080909"/>
              <a:ext cx="3019134" cy="629671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r>
                <a:rPr lang="he-IL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מחסנית (</a:t>
              </a:r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stack</a:t>
              </a:r>
              <a:r>
                <a:rPr lang="he-IL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)</a:t>
              </a:r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!!heap">
              <a:extLst>
                <a:ext uri="{FF2B5EF4-FFF2-40B4-BE49-F238E27FC236}">
                  <a16:creationId xmlns:a16="http://schemas.microsoft.com/office/drawing/2014/main" id="{1B408CE1-5D52-AD4E-0A47-3B221FE97D53}"/>
                </a:ext>
              </a:extLst>
            </p:cNvPr>
            <p:cNvSpPr/>
            <p:nvPr/>
          </p:nvSpPr>
          <p:spPr>
            <a:xfrm>
              <a:off x="4211996" y="4520621"/>
              <a:ext cx="3019134" cy="761002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r>
                <a:rPr lang="he-IL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ערימה (</a:t>
              </a:r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heap</a:t>
              </a:r>
              <a:r>
                <a:rPr lang="he-IL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)</a:t>
              </a:r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!!static">
              <a:extLst>
                <a:ext uri="{FF2B5EF4-FFF2-40B4-BE49-F238E27FC236}">
                  <a16:creationId xmlns:a16="http://schemas.microsoft.com/office/drawing/2014/main" id="{3233463A-6717-1A5B-1052-FB4B46AE5846}"/>
                </a:ext>
              </a:extLst>
            </p:cNvPr>
            <p:cNvSpPr/>
            <p:nvPr/>
          </p:nvSpPr>
          <p:spPr>
            <a:xfrm>
              <a:off x="4211996" y="5281623"/>
              <a:ext cx="3019134" cy="267071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r>
                <a:rPr lang="he-IL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משתנים לא מאותחלים</a:t>
              </a:r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!!const">
              <a:extLst>
                <a:ext uri="{FF2B5EF4-FFF2-40B4-BE49-F238E27FC236}">
                  <a16:creationId xmlns:a16="http://schemas.microsoft.com/office/drawing/2014/main" id="{A742D236-DE60-ADA0-6E96-DA03C1534B63}"/>
                </a:ext>
              </a:extLst>
            </p:cNvPr>
            <p:cNvSpPr/>
            <p:nvPr/>
          </p:nvSpPr>
          <p:spPr>
            <a:xfrm>
              <a:off x="4211996" y="5548694"/>
              <a:ext cx="3019134" cy="26707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r>
                <a:rPr lang="he-IL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משתנים מאותחלים</a:t>
              </a:r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4" name="!!prog">
              <a:extLst>
                <a:ext uri="{FF2B5EF4-FFF2-40B4-BE49-F238E27FC236}">
                  <a16:creationId xmlns:a16="http://schemas.microsoft.com/office/drawing/2014/main" id="{DFC96767-ACEE-57EA-A56E-DE30A4F9692F}"/>
                </a:ext>
              </a:extLst>
            </p:cNvPr>
            <p:cNvSpPr/>
            <p:nvPr/>
          </p:nvSpPr>
          <p:spPr>
            <a:xfrm>
              <a:off x="4211996" y="5824744"/>
              <a:ext cx="3019134" cy="26707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r>
                <a:rPr lang="he-IL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קוד התוכנית</a:t>
              </a:r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" name="!!free">
              <a:extLst>
                <a:ext uri="{FF2B5EF4-FFF2-40B4-BE49-F238E27FC236}">
                  <a16:creationId xmlns:a16="http://schemas.microsoft.com/office/drawing/2014/main" id="{C04A6F26-E318-5C73-6D66-FD1889FB1415}"/>
                </a:ext>
              </a:extLst>
            </p:cNvPr>
            <p:cNvSpPr/>
            <p:nvPr/>
          </p:nvSpPr>
          <p:spPr>
            <a:xfrm>
              <a:off x="4211996" y="2710580"/>
              <a:ext cx="3019134" cy="181004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" name="!!down">
              <a:extLst>
                <a:ext uri="{FF2B5EF4-FFF2-40B4-BE49-F238E27FC236}">
                  <a16:creationId xmlns:a16="http://schemas.microsoft.com/office/drawing/2014/main" id="{363799D3-8AD7-F47B-A7AD-793360DF6FA6}"/>
                </a:ext>
              </a:extLst>
            </p:cNvPr>
            <p:cNvSpPr/>
            <p:nvPr/>
          </p:nvSpPr>
          <p:spPr>
            <a:xfrm>
              <a:off x="6583058" y="2368941"/>
              <a:ext cx="504056" cy="510408"/>
            </a:xfrm>
            <a:prstGeom prst="downArrow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!!up">
              <a:extLst>
                <a:ext uri="{FF2B5EF4-FFF2-40B4-BE49-F238E27FC236}">
                  <a16:creationId xmlns:a16="http://schemas.microsoft.com/office/drawing/2014/main" id="{B738DE5E-AF52-6C7E-AC93-CCC59C330C01}"/>
                </a:ext>
              </a:extLst>
            </p:cNvPr>
            <p:cNvSpPr/>
            <p:nvPr/>
          </p:nvSpPr>
          <p:spPr>
            <a:xfrm rot="10800000">
              <a:off x="6583058" y="4368657"/>
              <a:ext cx="504056" cy="510408"/>
            </a:xfrm>
            <a:prstGeom prst="downArrow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1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422ACAA-CF16-5795-3EAA-533DF14670C7}"/>
              </a:ext>
            </a:extLst>
          </p:cNvPr>
          <p:cNvGrpSpPr/>
          <p:nvPr/>
        </p:nvGrpSpPr>
        <p:grpSpPr>
          <a:xfrm>
            <a:off x="1293336" y="2082834"/>
            <a:ext cx="1987568" cy="4046196"/>
            <a:chOff x="6328848" y="2061131"/>
            <a:chExt cx="1987568" cy="4046196"/>
          </a:xfrm>
        </p:grpSpPr>
        <p:sp>
          <p:nvSpPr>
            <p:cNvPr id="29" name="Arrow: Up 28">
              <a:extLst>
                <a:ext uri="{FF2B5EF4-FFF2-40B4-BE49-F238E27FC236}">
                  <a16:creationId xmlns:a16="http://schemas.microsoft.com/office/drawing/2014/main" id="{31E45598-ACDC-945E-F377-09CC84DA2F03}"/>
                </a:ext>
              </a:extLst>
            </p:cNvPr>
            <p:cNvSpPr/>
            <p:nvPr/>
          </p:nvSpPr>
          <p:spPr>
            <a:xfrm>
              <a:off x="6328848" y="2061131"/>
              <a:ext cx="1987568" cy="4008982"/>
            </a:xfrm>
            <a:prstGeom prst="upArrow">
              <a:avLst>
                <a:gd name="adj1" fmla="val 50000"/>
                <a:gd name="adj2" fmla="val 72588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alibri" panose="020F0502020204030204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820ED9A-E714-E19B-9D04-2342B3FC9BD2}"/>
                </a:ext>
              </a:extLst>
            </p:cNvPr>
            <p:cNvSpPr txBox="1"/>
            <p:nvPr/>
          </p:nvSpPr>
          <p:spPr>
            <a:xfrm>
              <a:off x="6693253" y="2597756"/>
              <a:ext cx="1262486" cy="5909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 indent="0" algn="ctr" defTabSz="1911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sz="3600" b="1" cap="none" spc="0">
                  <a:ln w="6350">
                    <a:solidFill>
                      <a:schemeClr val="accent5">
                        <a:lumMod val="75000"/>
                      </a:schemeClr>
                    </a:solidFill>
                    <a:prstDash val="solid"/>
                  </a:ln>
                  <a:solidFill>
                    <a:schemeClr val="accent5">
                      <a:lumMod val="40000"/>
                      <a:lumOff val="6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he-IL" sz="1800" dirty="0">
                  <a:ln w="12700">
                    <a:solidFill>
                      <a:schemeClr val="tx1"/>
                    </a:solidFill>
                    <a:prstDash val="solid"/>
                  </a:ln>
                  <a:noFill/>
                  <a:latin typeface="Calibri" panose="020F0502020204030204" pitchFamily="34" charset="0"/>
                  <a:cs typeface="Calibri" panose="020F0502020204030204" pitchFamily="34" charset="0"/>
                </a:rPr>
                <a:t>כתובות גבוהות</a:t>
              </a:r>
              <a:endParaRPr lang="en-US" sz="1800" dirty="0">
                <a:ln w="12700">
                  <a:solidFill>
                    <a:schemeClr val="tx1"/>
                  </a:solidFill>
                  <a:prstDash val="solid"/>
                </a:ln>
                <a:noFill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898A299-4742-3920-9B99-876BE0A18F98}"/>
                </a:ext>
              </a:extLst>
            </p:cNvPr>
            <p:cNvSpPr txBox="1"/>
            <p:nvPr/>
          </p:nvSpPr>
          <p:spPr>
            <a:xfrm>
              <a:off x="6657770" y="5516396"/>
              <a:ext cx="1329724" cy="5909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 indent="0" algn="ctr" defTabSz="1911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sz="3600" b="1" cap="none" spc="0">
                  <a:ln w="6350">
                    <a:solidFill>
                      <a:schemeClr val="accent5">
                        <a:lumMod val="75000"/>
                      </a:schemeClr>
                    </a:solidFill>
                    <a:prstDash val="solid"/>
                  </a:ln>
                  <a:solidFill>
                    <a:schemeClr val="accent5">
                      <a:lumMod val="40000"/>
                      <a:lumOff val="6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he-IL" sz="1800" dirty="0">
                  <a:ln w="12700">
                    <a:solidFill>
                      <a:schemeClr val="tx1"/>
                    </a:solidFill>
                    <a:prstDash val="solid"/>
                  </a:ln>
                  <a:noFill/>
                  <a:latin typeface="Calibri" panose="020F0502020204030204" pitchFamily="34" charset="0"/>
                  <a:cs typeface="Calibri" panose="020F0502020204030204" pitchFamily="34" charset="0"/>
                </a:rPr>
                <a:t>כתובות נמוכות</a:t>
              </a:r>
              <a:endParaRPr lang="en-US" sz="1800" dirty="0">
                <a:ln w="12700">
                  <a:solidFill>
                    <a:schemeClr val="tx1"/>
                  </a:solidFill>
                  <a:prstDash val="solid"/>
                </a:ln>
                <a:noFill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1CDC8F58-44E8-C88D-2490-86AAD74CBBB1}"/>
              </a:ext>
            </a:extLst>
          </p:cNvPr>
          <p:cNvSpPr/>
          <p:nvPr/>
        </p:nvSpPr>
        <p:spPr>
          <a:xfrm>
            <a:off x="7168560" y="2125510"/>
            <a:ext cx="1061316" cy="3882986"/>
          </a:xfrm>
          <a:prstGeom prst="rect">
            <a:avLst/>
          </a:prstGeom>
          <a:noFill/>
        </p:spPr>
        <p:txBody>
          <a:bodyPr vert="wordArtVert" wrap="none" lIns="91440" tIns="45720" rIns="91440" bIns="45720">
            <a:spAutoFit/>
          </a:bodyPr>
          <a:lstStyle/>
          <a:p>
            <a:pPr algn="ctr"/>
            <a:r>
              <a:rPr lang="he-IL" sz="48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cs typeface="Calibri" panose="020F0502020204030204" pitchFamily="34" charset="0"/>
              </a:rPr>
              <a:t>סגמנטים</a:t>
            </a:r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48" name="Right Brace 47">
            <a:extLst>
              <a:ext uri="{FF2B5EF4-FFF2-40B4-BE49-F238E27FC236}">
                <a16:creationId xmlns:a16="http://schemas.microsoft.com/office/drawing/2014/main" id="{635FC1FF-17EC-3AE4-0465-EE30BEF6F64D}"/>
              </a:ext>
            </a:extLst>
          </p:cNvPr>
          <p:cNvSpPr/>
          <p:nvPr/>
        </p:nvSpPr>
        <p:spPr>
          <a:xfrm>
            <a:off x="7317159" y="2090268"/>
            <a:ext cx="104160" cy="616420"/>
          </a:xfrm>
          <a:prstGeom prst="rightBrace">
            <a:avLst/>
          </a:prstGeom>
          <a:ln w="12700">
            <a:solidFill>
              <a:srgbClr val="27C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0" name="Right Brace 49">
            <a:extLst>
              <a:ext uri="{FF2B5EF4-FFF2-40B4-BE49-F238E27FC236}">
                <a16:creationId xmlns:a16="http://schemas.microsoft.com/office/drawing/2014/main" id="{445AEFE2-6DE3-F3D8-324A-964F493D8AB1}"/>
              </a:ext>
            </a:extLst>
          </p:cNvPr>
          <p:cNvSpPr/>
          <p:nvPr/>
        </p:nvSpPr>
        <p:spPr>
          <a:xfrm>
            <a:off x="7317159" y="2719387"/>
            <a:ext cx="104160" cy="1793876"/>
          </a:xfrm>
          <a:prstGeom prst="rightBrac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51" name="Right Brace 50">
            <a:extLst>
              <a:ext uri="{FF2B5EF4-FFF2-40B4-BE49-F238E27FC236}">
                <a16:creationId xmlns:a16="http://schemas.microsoft.com/office/drawing/2014/main" id="{FEDF51F8-68BD-A321-F50E-52B7D416FB5C}"/>
              </a:ext>
            </a:extLst>
          </p:cNvPr>
          <p:cNvSpPr/>
          <p:nvPr/>
        </p:nvSpPr>
        <p:spPr>
          <a:xfrm>
            <a:off x="7317159" y="4525963"/>
            <a:ext cx="104160" cy="750887"/>
          </a:xfrm>
          <a:prstGeom prst="rightBrace">
            <a:avLst/>
          </a:prstGeom>
          <a:ln w="12700">
            <a:solidFill>
              <a:srgbClr val="3E88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3" name="Right Brace 52">
            <a:extLst>
              <a:ext uri="{FF2B5EF4-FFF2-40B4-BE49-F238E27FC236}">
                <a16:creationId xmlns:a16="http://schemas.microsoft.com/office/drawing/2014/main" id="{523861C8-1733-C702-3955-D6C3D69BAB10}"/>
              </a:ext>
            </a:extLst>
          </p:cNvPr>
          <p:cNvSpPr/>
          <p:nvPr/>
        </p:nvSpPr>
        <p:spPr>
          <a:xfrm>
            <a:off x="7317159" y="5289551"/>
            <a:ext cx="104160" cy="250824"/>
          </a:xfrm>
          <a:prstGeom prst="rightBrace">
            <a:avLst/>
          </a:prstGeom>
          <a:ln w="12700">
            <a:solidFill>
              <a:srgbClr val="62A39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54" name="Right Brace 53">
            <a:extLst>
              <a:ext uri="{FF2B5EF4-FFF2-40B4-BE49-F238E27FC236}">
                <a16:creationId xmlns:a16="http://schemas.microsoft.com/office/drawing/2014/main" id="{5E72FABB-EF2B-C2EE-1BED-22FBFF3FB700}"/>
              </a:ext>
            </a:extLst>
          </p:cNvPr>
          <p:cNvSpPr/>
          <p:nvPr/>
        </p:nvSpPr>
        <p:spPr>
          <a:xfrm>
            <a:off x="7317159" y="5553075"/>
            <a:ext cx="104160" cy="261938"/>
          </a:xfrm>
          <a:prstGeom prst="rightBrace">
            <a:avLst/>
          </a:prstGeom>
          <a:ln w="12700">
            <a:solidFill>
              <a:srgbClr val="42BA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55" name="Right Brace 54">
            <a:extLst>
              <a:ext uri="{FF2B5EF4-FFF2-40B4-BE49-F238E27FC236}">
                <a16:creationId xmlns:a16="http://schemas.microsoft.com/office/drawing/2014/main" id="{86563A29-A096-533A-A3E1-98CDE081BE0B}"/>
              </a:ext>
            </a:extLst>
          </p:cNvPr>
          <p:cNvSpPr/>
          <p:nvPr/>
        </p:nvSpPr>
        <p:spPr>
          <a:xfrm>
            <a:off x="7317159" y="5827713"/>
            <a:ext cx="104160" cy="265113"/>
          </a:xfrm>
          <a:prstGeom prst="rightBrace">
            <a:avLst/>
          </a:prstGeom>
          <a:ln w="12700">
            <a:solidFill>
              <a:srgbClr val="2683C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024392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B8B7BE8-971E-6D29-5F4A-683C063ED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אזור המשתנים הסטטיים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BAF7CA-BA55-B798-208E-F2A1754B3B2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538979"/>
            <a:ext cx="7831137" cy="5039621"/>
          </a:xfrm>
        </p:spPr>
        <p:txBody>
          <a:bodyPr>
            <a:normAutofit fontScale="92500" lnSpcReduction="20000"/>
          </a:bodyPr>
          <a:lstStyle/>
          <a:p>
            <a:pPr fontAlgn="base"/>
            <a:r>
              <a:rPr lang="he-IL" dirty="0">
                <a:sym typeface="Wingdings" panose="05000000000000000000" pitchFamily="2" charset="2"/>
              </a:rPr>
              <a:t> </a:t>
            </a:r>
            <a:r>
              <a:rPr lang="he-IL" dirty="0"/>
              <a:t>אתחול ללא משתנים / פונקציות</a:t>
            </a:r>
          </a:p>
          <a:p>
            <a:pPr fontAlgn="base"/>
            <a:r>
              <a:rPr lang="he-IL" sz="2600" dirty="0"/>
              <a:t>(רק ערכים הניתנים לחישוב ע"י הקומפיילר)</a:t>
            </a:r>
            <a:endParaRPr lang="he-IL" sz="2600" b="1" dirty="0"/>
          </a:p>
          <a:p>
            <a:pPr fontAlgn="base"/>
            <a:endParaRPr lang="he-IL" b="1" dirty="0"/>
          </a:p>
          <a:p>
            <a:pPr fontAlgn="base"/>
            <a:r>
              <a:rPr lang="he-IL" b="1" dirty="0"/>
              <a:t>משתנה גלובלי:</a:t>
            </a:r>
          </a:p>
          <a:p>
            <a:pPr algn="l" rtl="0" fontAlgn="base"/>
            <a:r>
              <a:rPr lang="en-US" dirty="0"/>
              <a:t>int a = 1; // not in a function</a:t>
            </a:r>
            <a:endParaRPr lang="he-IL" dirty="0"/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he-IL" dirty="0"/>
              <a:t>קיים לכל אורך ריצת התוכנית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he-IL" dirty="0"/>
              <a:t>ניתן לגשת אליו מכל קובץ של התוכנית</a:t>
            </a:r>
          </a:p>
          <a:p>
            <a:pPr fontAlgn="base"/>
            <a:endParaRPr lang="he-IL" dirty="0"/>
          </a:p>
          <a:p>
            <a:pPr fontAlgn="base"/>
            <a:r>
              <a:rPr lang="he-IL" b="1" dirty="0"/>
              <a:t>משתנה גלובלי סטטי:</a:t>
            </a:r>
          </a:p>
          <a:p>
            <a:pPr algn="l" rtl="0" fontAlgn="base"/>
            <a:r>
              <a:rPr lang="en-US" dirty="0"/>
              <a:t>static int b = 2; // not in a function</a:t>
            </a:r>
            <a:endParaRPr lang="he-IL" dirty="0"/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he-IL" dirty="0"/>
              <a:t>קיים לכל אורך ריצת התוכנית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he-IL" dirty="0"/>
              <a:t>ניתן לגשת אליו רק מהקובץ בו הוא מוגדר</a:t>
            </a:r>
          </a:p>
        </p:txBody>
      </p:sp>
    </p:spTree>
    <p:extLst>
      <p:ext uri="{BB962C8B-B14F-4D97-AF65-F5344CB8AC3E}">
        <p14:creationId xmlns:p14="http://schemas.microsoft.com/office/powerpoint/2010/main" val="3442259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68BE9-9070-612B-7AFF-C50CEE79D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99C8D95-94C4-C2F9-1FAD-766216C08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אזור המשתנים הסטטיים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2EFD23-3D71-E646-367D-C9F8B6164F2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538979"/>
            <a:ext cx="7831137" cy="5039621"/>
          </a:xfrm>
        </p:spPr>
        <p:txBody>
          <a:bodyPr>
            <a:normAutofit/>
          </a:bodyPr>
          <a:lstStyle/>
          <a:p>
            <a:pPr fontAlgn="base"/>
            <a:r>
              <a:rPr lang="he-IL" b="1" dirty="0"/>
              <a:t>משתנה סטטי מקומי:</a:t>
            </a:r>
          </a:p>
          <a:p>
            <a:pPr algn="l" rtl="0" fontAlgn="base"/>
            <a:r>
              <a:rPr lang="en-US" dirty="0"/>
              <a:t>void function() {</a:t>
            </a:r>
          </a:p>
          <a:p>
            <a:pPr algn="l" rtl="0" fontAlgn="base"/>
            <a:r>
              <a:rPr lang="en-US" dirty="0"/>
              <a:t>   static int c = 3;</a:t>
            </a:r>
          </a:p>
          <a:p>
            <a:pPr algn="l" rtl="0" fontAlgn="base"/>
            <a:r>
              <a:rPr lang="en-US" dirty="0"/>
              <a:t>}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he-IL" dirty="0"/>
              <a:t>קיים לכל אורך ריצת התוכנית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he-IL" dirty="0"/>
              <a:t>ניתן לגשת אליו רק בפונקציה בה הוא מוגדר</a:t>
            </a:r>
            <a:endParaRPr lang="en-US" dirty="0"/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he-IL" dirty="0"/>
              <a:t>האתחול מתבצע רק פעם אחת</a:t>
            </a:r>
            <a:endParaRPr lang="en-US" dirty="0"/>
          </a:p>
          <a:p>
            <a:pPr marL="457200" indent="-457200" fontAlgn="base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395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B8B7BE8-971E-6D29-5F4A-683C063ED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ffectLst/>
              </a:rPr>
              <a:t>אזור המחסנית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BAF7CA-BA55-B798-208E-F2A1754B3B2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92500" lnSpcReduction="20000"/>
          </a:bodyPr>
          <a:lstStyle/>
          <a:p>
            <a:pPr fontAlgn="base"/>
            <a:r>
              <a:rPr lang="he-IL" dirty="0"/>
              <a:t>ניהול משתנים מקומיים וקריאות לפונקציות ב </a:t>
            </a:r>
            <a:r>
              <a:rPr lang="en-US" dirty="0"/>
              <a:t>LIFO</a:t>
            </a:r>
            <a:endParaRPr lang="he-IL" dirty="0"/>
          </a:p>
          <a:p>
            <a:pPr fontAlgn="base"/>
            <a:endParaRPr lang="he-IL" b="1" dirty="0"/>
          </a:p>
          <a:p>
            <a:pPr fontAlgn="base"/>
            <a:r>
              <a:rPr lang="he-IL" sz="3500" b="1" dirty="0"/>
              <a:t>מסגרת מחסנית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he-IL" dirty="0"/>
              <a:t>(</a:t>
            </a:r>
            <a:r>
              <a:rPr lang="en-US" dirty="0"/>
              <a:t>Stack Frame</a:t>
            </a:r>
            <a:r>
              <a:rPr lang="he-IL" dirty="0"/>
              <a:t> או </a:t>
            </a:r>
            <a:r>
              <a:rPr lang="en-US" dirty="0"/>
              <a:t>Activation Frame</a:t>
            </a:r>
            <a:r>
              <a:rPr lang="he-IL" dirty="0"/>
              <a:t>)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he-IL" dirty="0"/>
              <a:t>נדחפת למחסנית בכל קריאה לפונקציה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he-IL" dirty="0"/>
              <a:t>כתובת חזרה, פרמטרים שהועברו, המשתנים המקומיים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he-IL" b="1" dirty="0"/>
              <a:t>יתרון: </a:t>
            </a:r>
            <a:r>
              <a:rPr lang="he-IL" dirty="0"/>
              <a:t>ניהול אוטומטי, מהיר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he-IL" b="1" dirty="0"/>
              <a:t>חיסרון:</a:t>
            </a:r>
            <a:r>
              <a:rPr lang="he-IL" dirty="0"/>
              <a:t> שחרור אוטומטי בסיום הפונקציה</a:t>
            </a:r>
          </a:p>
          <a:p>
            <a:endParaRPr lang="he-IL" b="1" dirty="0"/>
          </a:p>
          <a:p>
            <a:r>
              <a:rPr lang="en-US" b="1" dirty="0"/>
              <a:t>Stack Overflow</a:t>
            </a:r>
            <a:r>
              <a:rPr lang="he-IL" b="1" dirty="0"/>
              <a:t>:</a:t>
            </a:r>
            <a:r>
              <a:rPr lang="he-IL" dirty="0"/>
              <a:t> מצב שבו המחסנית מתמלאת</a:t>
            </a:r>
          </a:p>
          <a:p>
            <a:r>
              <a:rPr lang="he-IL" dirty="0"/>
              <a:t>(למשל: ברקורסיה אינסופית)</a:t>
            </a:r>
          </a:p>
        </p:txBody>
      </p:sp>
    </p:spTree>
    <p:extLst>
      <p:ext uri="{BB962C8B-B14F-4D97-AF65-F5344CB8AC3E}">
        <p14:creationId xmlns:p14="http://schemas.microsoft.com/office/powerpoint/2010/main" val="327410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B8B7BE8-971E-6D29-5F4A-683C063ED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אזור הערימה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BAF7CA-BA55-B798-208E-F2A1754B3B2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he-IL" dirty="0"/>
              <a:t>הקצאה דינאמית, לא תחומה</a:t>
            </a:r>
          </a:p>
          <a:p>
            <a:pPr algn="l" rtl="0" fontAlgn="base"/>
            <a:r>
              <a:rPr lang="en-US" dirty="0"/>
              <a:t>int* pi = new int;</a:t>
            </a:r>
          </a:p>
          <a:p>
            <a:pPr algn="l" rtl="0" fontAlgn="base"/>
            <a:r>
              <a:rPr lang="en-US" dirty="0"/>
              <a:t>delete pi;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he-IL" dirty="0"/>
              <a:t>יתרון: אין שחרור אוטומטי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he-IL" dirty="0"/>
              <a:t>חיסרון:</a:t>
            </a:r>
            <a:r>
              <a:rPr lang="en-US" dirty="0"/>
              <a:t> </a:t>
            </a:r>
            <a:r>
              <a:rPr lang="he-IL" dirty="0"/>
              <a:t>איטי יותר מהמחסנית</a:t>
            </a:r>
            <a:br>
              <a:rPr lang="en-US" dirty="0"/>
            </a:br>
            <a:r>
              <a:rPr lang="he-IL" dirty="0"/>
              <a:t>(שירות של מערכת ההפעלה)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he-IL" dirty="0"/>
              <a:t>נדרש </a:t>
            </a:r>
            <a:r>
              <a:rPr lang="en-US" dirty="0"/>
              <a:t>book keeping</a:t>
            </a:r>
            <a:endParaRPr lang="he-IL" dirty="0"/>
          </a:p>
          <a:p>
            <a:pPr fontAlgn="base"/>
            <a:r>
              <a:rPr lang="he-IL" dirty="0"/>
              <a:t>הקצאת מערך:</a:t>
            </a:r>
          </a:p>
          <a:p>
            <a:pPr algn="l" rtl="0" fontAlgn="base"/>
            <a:r>
              <a:rPr lang="en-US" dirty="0"/>
              <a:t>int *pi = new int[10];</a:t>
            </a:r>
          </a:p>
          <a:p>
            <a:pPr algn="l" rtl="0" fontAlgn="base"/>
            <a:r>
              <a:rPr lang="en-US" dirty="0"/>
              <a:t>delete[] pi;</a:t>
            </a:r>
            <a:endParaRPr lang="he-IL" dirty="0"/>
          </a:p>
          <a:p>
            <a:pPr fontAlgn="base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32357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87296-74BB-1D6E-57EC-D2FB6611C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B55367-B560-C919-B384-4333E6801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spc="-150" dirty="0"/>
              <a:t>הקשר בין המחסנית </a:t>
            </a:r>
            <a:r>
              <a:rPr lang="he-IL" spc="-150" dirty="0" err="1"/>
              <a:t>לערימה</a:t>
            </a:r>
            <a:endParaRPr lang="en-US" spc="-15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A5680F-1E79-DB17-216A-76606D3E9B3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718981"/>
            <a:ext cx="7831137" cy="4859619"/>
          </a:xfrm>
        </p:spPr>
        <p:txBody>
          <a:bodyPr>
            <a:normAutofit lnSpcReduction="10000"/>
          </a:bodyPr>
          <a:lstStyle/>
          <a:p>
            <a:pPr algn="l" rtl="0" fontAlgn="base"/>
            <a:r>
              <a:rPr lang="en-US" dirty="0"/>
              <a:t>int *pi = new int[10];</a:t>
            </a:r>
            <a:endParaRPr lang="he-IL" dirty="0"/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dirty="0"/>
              <a:t>pi</a:t>
            </a:r>
            <a:r>
              <a:rPr lang="he-IL" dirty="0"/>
              <a:t> – במחסנית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dirty="0"/>
              <a:t>int[10]</a:t>
            </a:r>
            <a:r>
              <a:rPr lang="he-IL" dirty="0"/>
              <a:t> – בערימה</a:t>
            </a:r>
            <a:endParaRPr lang="en-US" dirty="0"/>
          </a:p>
          <a:p>
            <a:pPr fontAlgn="base"/>
            <a:endParaRPr lang="he-IL" dirty="0"/>
          </a:p>
          <a:p>
            <a:pPr algn="l" rtl="0" fontAlgn="base"/>
            <a:r>
              <a:rPr lang="en-US" dirty="0"/>
              <a:t>Student *</a:t>
            </a:r>
            <a:r>
              <a:rPr lang="en-US" dirty="0" err="1"/>
              <a:t>ps</a:t>
            </a:r>
            <a:r>
              <a:rPr lang="en-US" dirty="0"/>
              <a:t> = new Student(“Avi”);</a:t>
            </a:r>
          </a:p>
          <a:p>
            <a:pPr marL="457200" indent="-457200" algn="r" fontAlgn="base">
              <a:buFont typeface="Arial" panose="020B0604020202020204" pitchFamily="34" charset="0"/>
              <a:buChar char="•"/>
            </a:pPr>
            <a:r>
              <a:rPr lang="en-US" dirty="0" err="1"/>
              <a:t>ps</a:t>
            </a:r>
            <a:r>
              <a:rPr lang="he-IL" dirty="0"/>
              <a:t> – במחסנית</a:t>
            </a:r>
          </a:p>
          <a:p>
            <a:pPr marL="457200" indent="-457200" algn="r" fontAlgn="base">
              <a:buFont typeface="Arial" panose="020B0604020202020204" pitchFamily="34" charset="0"/>
              <a:buChar char="•"/>
            </a:pPr>
            <a:r>
              <a:rPr lang="en-US" dirty="0"/>
              <a:t>Student(“Avi”)</a:t>
            </a:r>
            <a:r>
              <a:rPr lang="he-IL" dirty="0"/>
              <a:t> – בערימה</a:t>
            </a:r>
            <a:endParaRPr lang="en-US" dirty="0"/>
          </a:p>
          <a:p>
            <a:pPr marL="457200" indent="-457200" algn="r" fontAlgn="base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 algn="r" fontAlgn="base">
              <a:buFont typeface="Arial" panose="020B0604020202020204" pitchFamily="34" charset="0"/>
              <a:buChar char="•"/>
            </a:pPr>
            <a:r>
              <a:rPr lang="he-IL" dirty="0"/>
              <a:t>האם יכולה להיות זליגת זיכרון מהמחסנית...?</a:t>
            </a:r>
          </a:p>
          <a:p>
            <a:pPr marL="457200" indent="-457200" algn="r" fontAlgn="base">
              <a:buFont typeface="Arial" panose="020B0604020202020204" pitchFamily="34" charset="0"/>
              <a:buChar char="•"/>
            </a:pPr>
            <a:r>
              <a:rPr lang="he-IL" dirty="0"/>
              <a:t>האם ב </a:t>
            </a:r>
            <a:r>
              <a:rPr lang="en-US" dirty="0"/>
              <a:t>Java</a:t>
            </a:r>
            <a:r>
              <a:rPr lang="he-IL" dirty="0"/>
              <a:t> יכולה להיות זליגת זיכרון...?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024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B830-6B85-669C-62FA-D57277E64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ארכיטקטורת פון נוימן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81883B-FC92-D643-E8B9-4B3045E3D4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000" dirty="0"/>
              <a:t>von </a:t>
            </a:r>
            <a:r>
              <a:rPr lang="en-US" sz="2000" dirty="0" err="1"/>
              <a:t>neumann</a:t>
            </a:r>
            <a:r>
              <a:rPr lang="en-US" sz="2000" dirty="0"/>
              <a:t> architecture</a:t>
            </a:r>
          </a:p>
        </p:txBody>
      </p:sp>
      <p:grpSp>
        <p:nvGrpSpPr>
          <p:cNvPr id="5" name="PicGroup">
            <a:extLst>
              <a:ext uri="{FF2B5EF4-FFF2-40B4-BE49-F238E27FC236}">
                <a16:creationId xmlns:a16="http://schemas.microsoft.com/office/drawing/2014/main" id="{11E587D8-B0F8-9618-FC0E-CDE76514A279}"/>
              </a:ext>
            </a:extLst>
          </p:cNvPr>
          <p:cNvGrpSpPr/>
          <p:nvPr/>
        </p:nvGrpSpPr>
        <p:grpSpPr>
          <a:xfrm>
            <a:off x="341953" y="909000"/>
            <a:ext cx="4819650" cy="6096000"/>
            <a:chOff x="611956" y="1088974"/>
            <a:chExt cx="4819650" cy="6096000"/>
          </a:xfrm>
        </p:grpSpPr>
        <p:pic>
          <p:nvPicPr>
            <p:cNvPr id="6" name="Pic">
              <a:extLst>
                <a:ext uri="{FF2B5EF4-FFF2-40B4-BE49-F238E27FC236}">
                  <a16:creationId xmlns:a16="http://schemas.microsoft.com/office/drawing/2014/main" id="{D9AD5DC3-F3B3-B11E-FDC3-60221A6B2F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D8EB9C"/>
                </a:clrFrom>
                <a:clrTo>
                  <a:srgbClr val="D8EB9C">
                    <a:alpha val="0"/>
                  </a:srgbClr>
                </a:clrTo>
              </a:clrChange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1956" y="1088974"/>
              <a:ext cx="4819650" cy="609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Name">
              <a:extLst>
                <a:ext uri="{FF2B5EF4-FFF2-40B4-BE49-F238E27FC236}">
                  <a16:creationId xmlns:a16="http://schemas.microsoft.com/office/drawing/2014/main" id="{F7C871F0-0729-B137-1070-81A678A72ADB}"/>
                </a:ext>
              </a:extLst>
            </p:cNvPr>
            <p:cNvSpPr txBox="1"/>
            <p:nvPr/>
          </p:nvSpPr>
          <p:spPr>
            <a:xfrm>
              <a:off x="1211300" y="5595787"/>
              <a:ext cx="3900706" cy="983248"/>
            </a:xfrm>
            <a:prstGeom prst="roundRect">
              <a:avLst/>
            </a:prstGeom>
            <a:noFill/>
            <a:ln>
              <a:noFill/>
            </a:ln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 prstMaterial="matte"/>
            </a:bodyPr>
            <a:lstStyle/>
            <a:p>
              <a:pPr algn="ctr">
                <a:lnSpc>
                  <a:spcPts val="3000"/>
                </a:lnSpc>
              </a:pPr>
              <a:r>
                <a:rPr lang="en-US" sz="4800" b="1" i="0" dirty="0">
                  <a:ln w="22225">
                    <a:solidFill>
                      <a:schemeClr val="bg1"/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effectLst>
                    <a:glow rad="228600">
                      <a:schemeClr val="bg1">
                        <a:alpha val="40000"/>
                      </a:schemeClr>
                    </a:glow>
                  </a:effectLst>
                  <a:latin typeface="Brush Script MT" panose="03060802040406070304" pitchFamily="66" charset="0"/>
                </a:rPr>
                <a:t>John von Neumann</a:t>
              </a:r>
              <a:br>
                <a:rPr lang="en-US" sz="4800" b="1" i="0" dirty="0">
                  <a:ln w="22225">
                    <a:solidFill>
                      <a:schemeClr val="bg1"/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effectLst>
                    <a:glow rad="228600">
                      <a:schemeClr val="bg1">
                        <a:alpha val="40000"/>
                      </a:schemeClr>
                    </a:glow>
                  </a:effectLst>
                  <a:latin typeface="Brush Script MT" panose="03060802040406070304" pitchFamily="66" charset="0"/>
                </a:rPr>
              </a:br>
              <a:r>
                <a:rPr lang="en-US" sz="3200" b="1" dirty="0">
                  <a:ln w="22225">
                    <a:solidFill>
                      <a:schemeClr val="bg1"/>
                    </a:solidFill>
                    <a:prstDash val="solid"/>
                  </a:ln>
                  <a:solidFill>
                    <a:schemeClr val="bg2">
                      <a:lumMod val="25000"/>
                    </a:schemeClr>
                  </a:solidFill>
                  <a:effectLst>
                    <a:glow rad="228600">
                      <a:schemeClr val="bg1">
                        <a:alpha val="40000"/>
                      </a:schemeClr>
                    </a:glow>
                  </a:effectLst>
                  <a:latin typeface="Brush Script MT" panose="03060802040406070304" pitchFamily="66" charset="0"/>
                </a:rPr>
                <a:t>(1903-1957)</a:t>
              </a:r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6F96A811-EA2E-F357-05A5-E08008C0464A}"/>
              </a:ext>
            </a:extLst>
          </p:cNvPr>
          <p:cNvSpPr/>
          <p:nvPr/>
        </p:nvSpPr>
        <p:spPr>
          <a:xfrm>
            <a:off x="975818" y="548969"/>
            <a:ext cx="746431" cy="746431"/>
          </a:xfrm>
          <a:prstGeom prst="ellipse">
            <a:avLst/>
          </a:prstGeom>
          <a:blipFill>
            <a:blip r:embed="rId3"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3583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B830-6B85-669C-62FA-D57277E64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ארכיטקטורת פון נוימן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81883B-FC92-D643-E8B9-4B3045E3D4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000" dirty="0"/>
              <a:t>von </a:t>
            </a:r>
            <a:r>
              <a:rPr lang="en-US" sz="2000" dirty="0" err="1"/>
              <a:t>neumann</a:t>
            </a:r>
            <a:r>
              <a:rPr lang="en-US" sz="2000" dirty="0"/>
              <a:t> architecture</a:t>
            </a:r>
          </a:p>
        </p:txBody>
      </p:sp>
      <p:pic>
        <p:nvPicPr>
          <p:cNvPr id="15" name="Picture1.1">
            <a:extLst>
              <a:ext uri="{FF2B5EF4-FFF2-40B4-BE49-F238E27FC236}">
                <a16:creationId xmlns:a16="http://schemas.microsoft.com/office/drawing/2014/main" id="{57B279FF-4D2E-E449-38D5-1626E55AC0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1044000" y="1724359"/>
            <a:ext cx="2952000" cy="4674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1.2">
            <a:extLst>
              <a:ext uri="{FF2B5EF4-FFF2-40B4-BE49-F238E27FC236}">
                <a16:creationId xmlns:a16="http://schemas.microsoft.com/office/drawing/2014/main" id="{63E91DFC-E024-94CA-4C50-9A0C4D5466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1044000" y="1724359"/>
            <a:ext cx="2952000" cy="4674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1.3">
            <a:extLst>
              <a:ext uri="{FF2B5EF4-FFF2-40B4-BE49-F238E27FC236}">
                <a16:creationId xmlns:a16="http://schemas.microsoft.com/office/drawing/2014/main" id="{3E2C1A5F-DC23-DF2B-DF33-A61328FBD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/>
        </p:blipFill>
        <p:spPr bwMode="auto">
          <a:xfrm>
            <a:off x="1044000" y="1724358"/>
            <a:ext cx="2952000" cy="4674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Memory">
            <a:extLst>
              <a:ext uri="{FF2B5EF4-FFF2-40B4-BE49-F238E27FC236}">
                <a16:creationId xmlns:a16="http://schemas.microsoft.com/office/drawing/2014/main" id="{DD04E0B3-FD74-E969-BEED-D5D9B8275758}"/>
              </a:ext>
            </a:extLst>
          </p:cNvPr>
          <p:cNvSpPr txBox="1"/>
          <p:nvPr/>
        </p:nvSpPr>
        <p:spPr>
          <a:xfrm>
            <a:off x="1456781" y="5661682"/>
            <a:ext cx="212429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ln w="12700">
                  <a:noFill/>
                  <a:prstDash val="solid"/>
                </a:ln>
                <a:effectLst>
                  <a:glow rad="139700">
                    <a:schemeClr val="bg1">
                      <a:alpha val="40000"/>
                    </a:schemeClr>
                  </a:glow>
                </a:effectLst>
                <a:latin typeface="Comic Sans MS" panose="030F0702030302020204" pitchFamily="66" charset="0"/>
              </a:rPr>
              <a:t>Memory</a:t>
            </a:r>
          </a:p>
        </p:txBody>
      </p:sp>
      <p:sp>
        <p:nvSpPr>
          <p:cNvPr id="19" name="BUS">
            <a:extLst>
              <a:ext uri="{FF2B5EF4-FFF2-40B4-BE49-F238E27FC236}">
                <a16:creationId xmlns:a16="http://schemas.microsoft.com/office/drawing/2014/main" id="{154B8104-329F-540B-B603-3D079B1941AF}"/>
              </a:ext>
            </a:extLst>
          </p:cNvPr>
          <p:cNvSpPr txBox="1">
            <a:spLocks/>
          </p:cNvSpPr>
          <p:nvPr/>
        </p:nvSpPr>
        <p:spPr>
          <a:xfrm>
            <a:off x="1904035" y="4596840"/>
            <a:ext cx="12426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ln w="12700">
                  <a:noFill/>
                  <a:prstDash val="solid"/>
                </a:ln>
                <a:solidFill>
                  <a:srgbClr val="D7E8D3"/>
                </a:solidFill>
                <a:effectLst/>
                <a:latin typeface="Comic Sans MS" panose="030F0702030302020204" pitchFamily="66" charset="0"/>
              </a:rPr>
              <a:t>BUS</a:t>
            </a:r>
          </a:p>
        </p:txBody>
      </p:sp>
      <p:sp>
        <p:nvSpPr>
          <p:cNvPr id="20" name="BUS">
            <a:extLst>
              <a:ext uri="{FF2B5EF4-FFF2-40B4-BE49-F238E27FC236}">
                <a16:creationId xmlns:a16="http://schemas.microsoft.com/office/drawing/2014/main" id="{4D6880B6-ECB7-4358-2854-F25114EFB221}"/>
              </a:ext>
            </a:extLst>
          </p:cNvPr>
          <p:cNvSpPr txBox="1"/>
          <p:nvPr/>
        </p:nvSpPr>
        <p:spPr>
          <a:xfrm>
            <a:off x="1904035" y="4596840"/>
            <a:ext cx="12426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ln w="12700">
                  <a:noFill/>
                  <a:prstDash val="solid"/>
                </a:ln>
                <a:effectLst>
                  <a:glow rad="139700">
                    <a:schemeClr val="bg1">
                      <a:alpha val="40000"/>
                    </a:schemeClr>
                  </a:glow>
                </a:effectLst>
                <a:latin typeface="Comic Sans MS" panose="030F0702030302020204" pitchFamily="66" charset="0"/>
              </a:rPr>
              <a:t>BUS</a:t>
            </a:r>
          </a:p>
        </p:txBody>
      </p:sp>
      <p:sp>
        <p:nvSpPr>
          <p:cNvPr id="21" name="CPU">
            <a:extLst>
              <a:ext uri="{FF2B5EF4-FFF2-40B4-BE49-F238E27FC236}">
                <a16:creationId xmlns:a16="http://schemas.microsoft.com/office/drawing/2014/main" id="{9736590B-987E-06C3-73C6-17059605CFA0}"/>
              </a:ext>
            </a:extLst>
          </p:cNvPr>
          <p:cNvSpPr txBox="1"/>
          <p:nvPr/>
        </p:nvSpPr>
        <p:spPr>
          <a:xfrm>
            <a:off x="1939282" y="2770585"/>
            <a:ext cx="11700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12700">
                  <a:noFill/>
                  <a:prstDash val="solid"/>
                </a:ln>
                <a:effectLst>
                  <a:glow rad="139700">
                    <a:schemeClr val="bg1">
                      <a:alpha val="40000"/>
                    </a:schemeClr>
                  </a:glow>
                </a:effectLst>
                <a:latin typeface="Comic Sans MS" panose="030F0702030302020204" pitchFamily="66" charset="0"/>
              </a:rPr>
              <a:t>CPU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88E496B-6AA6-0E22-A73E-6FEF32A8C8F0}"/>
              </a:ext>
            </a:extLst>
          </p:cNvPr>
          <p:cNvSpPr/>
          <p:nvPr/>
        </p:nvSpPr>
        <p:spPr>
          <a:xfrm>
            <a:off x="975818" y="548969"/>
            <a:ext cx="746431" cy="746431"/>
          </a:xfrm>
          <a:prstGeom prst="ellipse">
            <a:avLst/>
          </a:prstGeom>
          <a:blipFill>
            <a:blip r:embed="rId6"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LID4096"/>
          </a:p>
        </p:txBody>
      </p:sp>
      <p:sp>
        <p:nvSpPr>
          <p:cNvPr id="7" name="!!Content">
            <a:extLst>
              <a:ext uri="{FF2B5EF4-FFF2-40B4-BE49-F238E27FC236}">
                <a16:creationId xmlns:a16="http://schemas.microsoft.com/office/drawing/2014/main" id="{EFD7E223-25E8-081A-8022-AB327A8EFD3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819594" y="1719263"/>
            <a:ext cx="4680207" cy="485933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he-IL" dirty="0"/>
              <a:t>ארכיטקטורת פון נוימן מבוססת על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b="1" dirty="0"/>
              <a:t>יחידת עיבוד מרכזית </a:t>
            </a:r>
            <a:r>
              <a:rPr lang="he-IL" dirty="0"/>
              <a:t>(</a:t>
            </a:r>
            <a:r>
              <a:rPr lang="en-US" dirty="0"/>
              <a:t>CPU</a:t>
            </a:r>
            <a:r>
              <a:rPr lang="he-IL" dirty="0"/>
              <a:t>)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b="1" dirty="0"/>
              <a:t>ערוץ העברת נתונים </a:t>
            </a:r>
            <a:r>
              <a:rPr lang="he-IL" dirty="0"/>
              <a:t>(</a:t>
            </a:r>
            <a:r>
              <a:rPr lang="en-US" dirty="0"/>
              <a:t>BUS</a:t>
            </a:r>
            <a:r>
              <a:rPr lang="he-IL" dirty="0"/>
              <a:t>)</a:t>
            </a:r>
            <a:endParaRPr lang="en-US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b="1" dirty="0"/>
              <a:t>זיכרון</a:t>
            </a:r>
            <a:r>
              <a:rPr lang="he-IL" dirty="0"/>
              <a:t> (</a:t>
            </a:r>
            <a:r>
              <a:rPr lang="en-US" dirty="0"/>
              <a:t>RAM</a:t>
            </a:r>
            <a:r>
              <a:rPr lang="he-IL" dirty="0"/>
              <a:t>)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ç"/>
            </a:pPr>
            <a:r>
              <a:rPr lang="he-IL" dirty="0"/>
              <a:t>התוכנית (ה </a:t>
            </a:r>
            <a:r>
              <a:rPr lang="en-US" dirty="0"/>
              <a:t>“text”</a:t>
            </a:r>
            <a:r>
              <a:rPr lang="he-IL" dirty="0"/>
              <a:t>) והנתונים (ה </a:t>
            </a:r>
            <a:r>
              <a:rPr lang="en-US" dirty="0"/>
              <a:t>data</a:t>
            </a:r>
            <a:r>
              <a:rPr lang="he-IL" dirty="0"/>
              <a:t>)</a:t>
            </a:r>
            <a:r>
              <a:rPr lang="en-US" dirty="0"/>
              <a:t> </a:t>
            </a:r>
            <a:r>
              <a:rPr lang="he-IL" dirty="0"/>
              <a:t>נשמרים ב </a:t>
            </a:r>
            <a:r>
              <a:rPr lang="en-US" dirty="0"/>
              <a:t>RAM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825327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B830-6B85-669C-62FA-D57277E64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ארכיטקטורת פון נוימן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81883B-FC92-D643-E8B9-4B3045E3D4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000" dirty="0"/>
              <a:t>von </a:t>
            </a:r>
            <a:r>
              <a:rPr lang="en-US" sz="2000" dirty="0" err="1"/>
              <a:t>neumann</a:t>
            </a:r>
            <a:r>
              <a:rPr lang="en-US" sz="2000" dirty="0"/>
              <a:t> architecture</a:t>
            </a:r>
          </a:p>
        </p:txBody>
      </p:sp>
      <p:pic>
        <p:nvPicPr>
          <p:cNvPr id="4" name="Picture2.2">
            <a:extLst>
              <a:ext uri="{FF2B5EF4-FFF2-40B4-BE49-F238E27FC236}">
                <a16:creationId xmlns:a16="http://schemas.microsoft.com/office/drawing/2014/main" id="{69200206-50A2-A337-76AA-A8D4EC50F5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1044000" y="1722178"/>
            <a:ext cx="2952000" cy="4668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Memory">
            <a:extLst>
              <a:ext uri="{FF2B5EF4-FFF2-40B4-BE49-F238E27FC236}">
                <a16:creationId xmlns:a16="http://schemas.microsoft.com/office/drawing/2014/main" id="{1E9B94D1-5252-7AA6-3977-03430A4FFF37}"/>
              </a:ext>
            </a:extLst>
          </p:cNvPr>
          <p:cNvSpPr txBox="1"/>
          <p:nvPr/>
        </p:nvSpPr>
        <p:spPr>
          <a:xfrm>
            <a:off x="1456781" y="5661682"/>
            <a:ext cx="212429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ln w="12700">
                  <a:noFill/>
                  <a:prstDash val="solid"/>
                </a:ln>
                <a:effectLst>
                  <a:glow rad="139700">
                    <a:schemeClr val="bg1">
                      <a:alpha val="40000"/>
                    </a:schemeClr>
                  </a:glow>
                </a:effectLst>
                <a:latin typeface="Comic Sans MS" panose="030F0702030302020204" pitchFamily="66" charset="0"/>
              </a:rPr>
              <a:t>Memory</a:t>
            </a:r>
          </a:p>
        </p:txBody>
      </p:sp>
      <p:sp>
        <p:nvSpPr>
          <p:cNvPr id="9" name="BUS">
            <a:extLst>
              <a:ext uri="{FF2B5EF4-FFF2-40B4-BE49-F238E27FC236}">
                <a16:creationId xmlns:a16="http://schemas.microsoft.com/office/drawing/2014/main" id="{BEBC4CD6-76B4-BEB8-C7AC-023F7386396F}"/>
              </a:ext>
            </a:extLst>
          </p:cNvPr>
          <p:cNvSpPr txBox="1">
            <a:spLocks/>
          </p:cNvSpPr>
          <p:nvPr/>
        </p:nvSpPr>
        <p:spPr>
          <a:xfrm>
            <a:off x="1904035" y="4596840"/>
            <a:ext cx="12426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ln w="12700">
                  <a:noFill/>
                  <a:prstDash val="solid"/>
                </a:ln>
                <a:solidFill>
                  <a:srgbClr val="D7E8D3"/>
                </a:solidFill>
                <a:effectLst/>
                <a:latin typeface="Comic Sans MS" panose="030F0702030302020204" pitchFamily="66" charset="0"/>
              </a:rPr>
              <a:t>BUS</a:t>
            </a:r>
          </a:p>
        </p:txBody>
      </p:sp>
      <p:sp>
        <p:nvSpPr>
          <p:cNvPr id="10" name="BUS">
            <a:extLst>
              <a:ext uri="{FF2B5EF4-FFF2-40B4-BE49-F238E27FC236}">
                <a16:creationId xmlns:a16="http://schemas.microsoft.com/office/drawing/2014/main" id="{05D0257C-8725-5C6D-DD0C-0AF88789F990}"/>
              </a:ext>
            </a:extLst>
          </p:cNvPr>
          <p:cNvSpPr txBox="1"/>
          <p:nvPr/>
        </p:nvSpPr>
        <p:spPr>
          <a:xfrm>
            <a:off x="1904035" y="4596840"/>
            <a:ext cx="12426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ln w="12700">
                  <a:noFill/>
                  <a:prstDash val="solid"/>
                </a:ln>
                <a:effectLst>
                  <a:glow rad="139700">
                    <a:schemeClr val="bg1">
                      <a:alpha val="40000"/>
                    </a:schemeClr>
                  </a:glow>
                </a:effectLst>
                <a:latin typeface="Comic Sans MS" panose="030F0702030302020204" pitchFamily="66" charset="0"/>
              </a:rPr>
              <a:t>BUS</a:t>
            </a:r>
          </a:p>
        </p:txBody>
      </p:sp>
      <p:sp>
        <p:nvSpPr>
          <p:cNvPr id="11" name="CPU">
            <a:extLst>
              <a:ext uri="{FF2B5EF4-FFF2-40B4-BE49-F238E27FC236}">
                <a16:creationId xmlns:a16="http://schemas.microsoft.com/office/drawing/2014/main" id="{27E5C8D3-931B-9FB6-7789-FB786DD4548C}"/>
              </a:ext>
            </a:extLst>
          </p:cNvPr>
          <p:cNvSpPr txBox="1"/>
          <p:nvPr/>
        </p:nvSpPr>
        <p:spPr>
          <a:xfrm>
            <a:off x="1939282" y="2770585"/>
            <a:ext cx="11700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12700">
                  <a:noFill/>
                  <a:prstDash val="solid"/>
                </a:ln>
                <a:effectLst>
                  <a:glow rad="139700">
                    <a:schemeClr val="bg1">
                      <a:alpha val="40000"/>
                    </a:schemeClr>
                  </a:glow>
                </a:effectLst>
                <a:latin typeface="Comic Sans MS" panose="030F0702030302020204" pitchFamily="66" charset="0"/>
              </a:rPr>
              <a:t>CPU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AA25010-F071-8C13-D332-0292B9EC8091}"/>
              </a:ext>
            </a:extLst>
          </p:cNvPr>
          <p:cNvSpPr/>
          <p:nvPr/>
        </p:nvSpPr>
        <p:spPr>
          <a:xfrm>
            <a:off x="975818" y="548969"/>
            <a:ext cx="746431" cy="746431"/>
          </a:xfrm>
          <a:prstGeom prst="ellipse">
            <a:avLst/>
          </a:prstGeom>
          <a:blipFill>
            <a:blip r:embed="rId3"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LID4096"/>
          </a:p>
        </p:txBody>
      </p:sp>
      <p:sp>
        <p:nvSpPr>
          <p:cNvPr id="13" name="!!Content">
            <a:extLst>
              <a:ext uri="{FF2B5EF4-FFF2-40B4-BE49-F238E27FC236}">
                <a16:creationId xmlns:a16="http://schemas.microsoft.com/office/drawing/2014/main" id="{B005E1E4-7CB0-7275-9056-88D282D4AEC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819594" y="1719263"/>
            <a:ext cx="4680207" cy="485933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he-IL" dirty="0"/>
              <a:t>ארכיטקטורת פון נוימן מבוססת על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b="1" dirty="0"/>
              <a:t>יחידת עיבוד מרכזית </a:t>
            </a:r>
            <a:r>
              <a:rPr lang="he-IL" dirty="0"/>
              <a:t>(</a:t>
            </a:r>
            <a:r>
              <a:rPr lang="en-US" dirty="0"/>
              <a:t>CPU</a:t>
            </a:r>
            <a:r>
              <a:rPr lang="he-IL" dirty="0"/>
              <a:t>)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b="1" dirty="0"/>
              <a:t>ערוץ העברת נתונים </a:t>
            </a:r>
            <a:r>
              <a:rPr lang="he-IL" dirty="0"/>
              <a:t>(</a:t>
            </a:r>
            <a:r>
              <a:rPr lang="en-US" dirty="0"/>
              <a:t>BUS</a:t>
            </a:r>
            <a:r>
              <a:rPr lang="he-IL" dirty="0"/>
              <a:t>)</a:t>
            </a:r>
            <a:endParaRPr lang="en-US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b="1" dirty="0"/>
              <a:t>זיכרון</a:t>
            </a:r>
            <a:r>
              <a:rPr lang="he-IL" dirty="0"/>
              <a:t> (</a:t>
            </a:r>
            <a:r>
              <a:rPr lang="en-US" dirty="0"/>
              <a:t>RAM</a:t>
            </a:r>
            <a:r>
              <a:rPr lang="he-IL" dirty="0"/>
              <a:t>)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ç"/>
            </a:pPr>
            <a:r>
              <a:rPr lang="he-IL" dirty="0"/>
              <a:t>התוכנית (ה </a:t>
            </a:r>
            <a:r>
              <a:rPr lang="en-US" dirty="0"/>
              <a:t>“text”</a:t>
            </a:r>
            <a:r>
              <a:rPr lang="he-IL" dirty="0"/>
              <a:t>) והנתונים (ה </a:t>
            </a:r>
            <a:r>
              <a:rPr lang="en-US" dirty="0"/>
              <a:t>data</a:t>
            </a:r>
            <a:r>
              <a:rPr lang="he-IL" dirty="0"/>
              <a:t>)</a:t>
            </a:r>
            <a:r>
              <a:rPr lang="en-US" dirty="0"/>
              <a:t> </a:t>
            </a:r>
            <a:r>
              <a:rPr lang="he-IL" dirty="0"/>
              <a:t>נשמרים ב </a:t>
            </a:r>
            <a:r>
              <a:rPr lang="en-US" dirty="0"/>
              <a:t>RAM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428029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B830-6B85-669C-62FA-D57277E64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ארכיטקטורת פון נוימן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81883B-FC92-D643-E8B9-4B3045E3D4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000" dirty="0"/>
              <a:t>von </a:t>
            </a:r>
            <a:r>
              <a:rPr lang="en-US" sz="2000" dirty="0" err="1"/>
              <a:t>neumann</a:t>
            </a:r>
            <a:r>
              <a:rPr lang="en-US" sz="2000" dirty="0"/>
              <a:t> architecture</a:t>
            </a:r>
          </a:p>
        </p:txBody>
      </p:sp>
      <p:pic>
        <p:nvPicPr>
          <p:cNvPr id="4" name="Picture2.2">
            <a:extLst>
              <a:ext uri="{FF2B5EF4-FFF2-40B4-BE49-F238E27FC236}">
                <a16:creationId xmlns:a16="http://schemas.microsoft.com/office/drawing/2014/main" id="{C320C362-FA9A-B49C-058F-5D402A4924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1044000" y="1722179"/>
            <a:ext cx="2952000" cy="4668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!!Content">
            <a:extLst>
              <a:ext uri="{FF2B5EF4-FFF2-40B4-BE49-F238E27FC236}">
                <a16:creationId xmlns:a16="http://schemas.microsoft.com/office/drawing/2014/main" id="{E327EA59-3C5E-BDDF-F4B0-EE027005464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29593" y="1719263"/>
            <a:ext cx="4770207" cy="4859337"/>
          </a:xfrm>
        </p:spPr>
        <p:txBody>
          <a:bodyPr/>
          <a:lstStyle/>
          <a:p>
            <a:pPr marL="0" indent="0" algn="r" rt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he-IL" sz="2700" b="1" u="sng" dirty="0"/>
              <a:t>יחידת העיבוד המרכזית (מעבד)</a:t>
            </a:r>
            <a:endParaRPr lang="en-US" sz="2700" u="sng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he-IL" dirty="0"/>
              <a:t>המעבד עובד במחזורים של</a:t>
            </a:r>
            <a:br>
              <a:rPr lang="en-US" dirty="0"/>
            </a:br>
            <a:r>
              <a:rPr lang="he-IL" dirty="0"/>
              <a:t>"הֲבָאָה-פִּעְנוּחַ-בִּצּוּעַ"</a:t>
            </a:r>
            <a:br>
              <a:rPr lang="en-US" dirty="0"/>
            </a:br>
            <a:r>
              <a:rPr lang="he-IL" dirty="0"/>
              <a:t>(</a:t>
            </a:r>
            <a:r>
              <a:rPr lang="en-US" dirty="0"/>
              <a:t>fetch-decode-execute cycle</a:t>
            </a:r>
            <a:r>
              <a:rPr lang="he-IL" dirty="0"/>
              <a:t>):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e-IL" b="1" dirty="0"/>
              <a:t>הֲבָאָת</a:t>
            </a:r>
            <a:r>
              <a:rPr lang="he-IL" dirty="0"/>
              <a:t> הוראה מהזיכרון (</a:t>
            </a:r>
            <a:r>
              <a:rPr lang="en-US" dirty="0"/>
              <a:t>fetch</a:t>
            </a:r>
            <a:r>
              <a:rPr lang="he-IL" dirty="0"/>
              <a:t>)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e-IL" b="1" dirty="0"/>
              <a:t>פִּעְנוּחַ</a:t>
            </a:r>
            <a:r>
              <a:rPr lang="he-IL" dirty="0"/>
              <a:t> ההוראה (</a:t>
            </a:r>
            <a:r>
              <a:rPr lang="en-US" dirty="0"/>
              <a:t>decode</a:t>
            </a:r>
            <a:r>
              <a:rPr lang="he-IL" dirty="0"/>
              <a:t>)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e-IL" b="1" dirty="0"/>
              <a:t>בִּצּוּעַ</a:t>
            </a:r>
            <a:r>
              <a:rPr lang="he-IL" dirty="0"/>
              <a:t> ההוראה (</a:t>
            </a:r>
            <a:r>
              <a:rPr lang="en-US" dirty="0"/>
              <a:t>execute</a:t>
            </a:r>
            <a:r>
              <a:rPr lang="he-IL" dirty="0"/>
              <a:t>)</a:t>
            </a:r>
          </a:p>
        </p:txBody>
      </p:sp>
      <p:sp>
        <p:nvSpPr>
          <p:cNvPr id="9" name="Arrow: Circular 8">
            <a:extLst>
              <a:ext uri="{FF2B5EF4-FFF2-40B4-BE49-F238E27FC236}">
                <a16:creationId xmlns:a16="http://schemas.microsoft.com/office/drawing/2014/main" id="{1ED2AD67-0052-9ABE-D2DC-39F00705ADF4}"/>
              </a:ext>
            </a:extLst>
          </p:cNvPr>
          <p:cNvSpPr/>
          <p:nvPr/>
        </p:nvSpPr>
        <p:spPr>
          <a:xfrm>
            <a:off x="1682631" y="2256523"/>
            <a:ext cx="1674737" cy="1674737"/>
          </a:xfrm>
          <a:prstGeom prst="circularArrow">
            <a:avLst>
              <a:gd name="adj1" fmla="val 8249"/>
              <a:gd name="adj2" fmla="val 576157"/>
              <a:gd name="adj3" fmla="val 16856548"/>
              <a:gd name="adj4" fmla="val 12361075"/>
              <a:gd name="adj5" fmla="val 9624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-6758543"/>
              <a:satOff val="-17419"/>
              <a:lumOff val="-11765"/>
              <a:alphaOff val="0"/>
            </a:schemeClr>
          </a:fillRef>
          <a:effectRef idx="0">
            <a:schemeClr val="accent5">
              <a:hueOff val="-6758543"/>
              <a:satOff val="-17419"/>
              <a:lumOff val="-11765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sp>
        <p:nvSpPr>
          <p:cNvPr id="10" name="Arrow: Circular 9">
            <a:extLst>
              <a:ext uri="{FF2B5EF4-FFF2-40B4-BE49-F238E27FC236}">
                <a16:creationId xmlns:a16="http://schemas.microsoft.com/office/drawing/2014/main" id="{03B78DA0-BE6A-FDE1-24A6-B9C77893735B}"/>
              </a:ext>
            </a:extLst>
          </p:cNvPr>
          <p:cNvSpPr/>
          <p:nvPr/>
        </p:nvSpPr>
        <p:spPr>
          <a:xfrm>
            <a:off x="1682631" y="2256523"/>
            <a:ext cx="1674737" cy="1674737"/>
          </a:xfrm>
          <a:prstGeom prst="circularArrow">
            <a:avLst>
              <a:gd name="adj1" fmla="val 8249"/>
              <a:gd name="adj2" fmla="val 576157"/>
              <a:gd name="adj3" fmla="val 10171996"/>
              <a:gd name="adj4" fmla="val 4716712"/>
              <a:gd name="adj5" fmla="val 9624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-3379271"/>
              <a:satOff val="-8710"/>
              <a:lumOff val="-5883"/>
              <a:alphaOff val="0"/>
            </a:schemeClr>
          </a:fillRef>
          <a:effectRef idx="0">
            <a:schemeClr val="accent5">
              <a:hueOff val="-3379271"/>
              <a:satOff val="-8710"/>
              <a:lumOff val="-5883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sp>
        <p:nvSpPr>
          <p:cNvPr id="11" name="Arrow: Circular 10">
            <a:extLst>
              <a:ext uri="{FF2B5EF4-FFF2-40B4-BE49-F238E27FC236}">
                <a16:creationId xmlns:a16="http://schemas.microsoft.com/office/drawing/2014/main" id="{632F9E44-65A4-FA6E-FEBF-7BD931E9C1A6}"/>
              </a:ext>
            </a:extLst>
          </p:cNvPr>
          <p:cNvSpPr/>
          <p:nvPr/>
        </p:nvSpPr>
        <p:spPr>
          <a:xfrm>
            <a:off x="1682631" y="2256523"/>
            <a:ext cx="1674737" cy="1674737"/>
          </a:xfrm>
          <a:prstGeom prst="circularArrow">
            <a:avLst>
              <a:gd name="adj1" fmla="val 8249"/>
              <a:gd name="adj2" fmla="val 576157"/>
              <a:gd name="adj3" fmla="val 2963671"/>
              <a:gd name="adj4" fmla="val 19353077"/>
              <a:gd name="adj5" fmla="val 9624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sp>
        <p:nvSpPr>
          <p:cNvPr id="12" name="EXEC">
            <a:extLst>
              <a:ext uri="{FF2B5EF4-FFF2-40B4-BE49-F238E27FC236}">
                <a16:creationId xmlns:a16="http://schemas.microsoft.com/office/drawing/2014/main" id="{7FAA2F1A-55B5-EAAA-8501-F1EE2A080608}"/>
              </a:ext>
            </a:extLst>
          </p:cNvPr>
          <p:cNvSpPr/>
          <p:nvPr/>
        </p:nvSpPr>
        <p:spPr>
          <a:xfrm>
            <a:off x="2796693" y="2178273"/>
            <a:ext cx="704143" cy="704143"/>
          </a:xfrm>
          <a:custGeom>
            <a:avLst/>
            <a:gdLst>
              <a:gd name="connsiteX0" fmla="*/ 0 w 704143"/>
              <a:gd name="connsiteY0" fmla="*/ 0 h 704143"/>
              <a:gd name="connsiteX1" fmla="*/ 704143 w 704143"/>
              <a:gd name="connsiteY1" fmla="*/ 0 h 704143"/>
              <a:gd name="connsiteX2" fmla="*/ 704143 w 704143"/>
              <a:gd name="connsiteY2" fmla="*/ 704143 h 704143"/>
              <a:gd name="connsiteX3" fmla="*/ 0 w 704143"/>
              <a:gd name="connsiteY3" fmla="*/ 704143 h 704143"/>
              <a:gd name="connsiteX4" fmla="*/ 0 w 704143"/>
              <a:gd name="connsiteY4" fmla="*/ 0 h 70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143" h="704143">
                <a:moveTo>
                  <a:pt x="0" y="0"/>
                </a:moveTo>
                <a:lnTo>
                  <a:pt x="704143" y="0"/>
                </a:lnTo>
                <a:lnTo>
                  <a:pt x="704143" y="704143"/>
                </a:lnTo>
                <a:lnTo>
                  <a:pt x="0" y="70414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none" lIns="19050" tIns="19050" rIns="19050" bIns="19050" numCol="1" spcCol="1270" anchor="ctr" anchorCtr="0">
            <a:noAutofit/>
          </a:bodyPr>
          <a:lstStyle/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b="1" kern="1200" dirty="0">
                <a:ln w="19050">
                  <a:solidFill>
                    <a:schemeClr val="tx1"/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 rad="342900">
                    <a:schemeClr val="bg1">
                      <a:alpha val="17000"/>
                    </a:schemeClr>
                  </a:glow>
                </a:effectLst>
              </a:rPr>
              <a:t>EXEC</a:t>
            </a:r>
          </a:p>
        </p:txBody>
      </p:sp>
      <p:sp>
        <p:nvSpPr>
          <p:cNvPr id="13" name="DECODE">
            <a:extLst>
              <a:ext uri="{FF2B5EF4-FFF2-40B4-BE49-F238E27FC236}">
                <a16:creationId xmlns:a16="http://schemas.microsoft.com/office/drawing/2014/main" id="{B62168D0-D231-E405-E24D-42CAF710582D}"/>
              </a:ext>
            </a:extLst>
          </p:cNvPr>
          <p:cNvSpPr/>
          <p:nvPr/>
        </p:nvSpPr>
        <p:spPr>
          <a:xfrm>
            <a:off x="1551926" y="2641434"/>
            <a:ext cx="704143" cy="704143"/>
          </a:xfrm>
          <a:custGeom>
            <a:avLst/>
            <a:gdLst>
              <a:gd name="connsiteX0" fmla="*/ 0 w 704143"/>
              <a:gd name="connsiteY0" fmla="*/ 0 h 704143"/>
              <a:gd name="connsiteX1" fmla="*/ 704143 w 704143"/>
              <a:gd name="connsiteY1" fmla="*/ 0 h 704143"/>
              <a:gd name="connsiteX2" fmla="*/ 704143 w 704143"/>
              <a:gd name="connsiteY2" fmla="*/ 704143 h 704143"/>
              <a:gd name="connsiteX3" fmla="*/ 0 w 704143"/>
              <a:gd name="connsiteY3" fmla="*/ 704143 h 704143"/>
              <a:gd name="connsiteX4" fmla="*/ 0 w 704143"/>
              <a:gd name="connsiteY4" fmla="*/ 0 h 70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143" h="704143">
                <a:moveTo>
                  <a:pt x="0" y="0"/>
                </a:moveTo>
                <a:lnTo>
                  <a:pt x="704143" y="0"/>
                </a:lnTo>
                <a:lnTo>
                  <a:pt x="704143" y="704143"/>
                </a:lnTo>
                <a:lnTo>
                  <a:pt x="0" y="70414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none" lIns="19050" tIns="19050" rIns="19050" bIns="19050" numCol="1" spcCol="1270" anchor="ctr" anchorCtr="0">
            <a:noAutofit/>
          </a:bodyPr>
          <a:lstStyle/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b="1" kern="1200" dirty="0">
                <a:ln w="19050">
                  <a:solidFill>
                    <a:schemeClr val="tx1"/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 rad="342900">
                    <a:schemeClr val="bg1">
                      <a:alpha val="17000"/>
                    </a:schemeClr>
                  </a:glow>
                </a:effectLst>
              </a:rPr>
              <a:t>DECODE</a:t>
            </a:r>
          </a:p>
        </p:txBody>
      </p:sp>
      <p:sp>
        <p:nvSpPr>
          <p:cNvPr id="14" name="FETCH">
            <a:extLst>
              <a:ext uri="{FF2B5EF4-FFF2-40B4-BE49-F238E27FC236}">
                <a16:creationId xmlns:a16="http://schemas.microsoft.com/office/drawing/2014/main" id="{8458075A-D95E-4541-0D97-101CEE5A9DA9}"/>
              </a:ext>
            </a:extLst>
          </p:cNvPr>
          <p:cNvSpPr/>
          <p:nvPr/>
        </p:nvSpPr>
        <p:spPr>
          <a:xfrm>
            <a:off x="2018111" y="3429000"/>
            <a:ext cx="704143" cy="704143"/>
          </a:xfrm>
          <a:custGeom>
            <a:avLst/>
            <a:gdLst>
              <a:gd name="connsiteX0" fmla="*/ 0 w 704143"/>
              <a:gd name="connsiteY0" fmla="*/ 0 h 704143"/>
              <a:gd name="connsiteX1" fmla="*/ 704143 w 704143"/>
              <a:gd name="connsiteY1" fmla="*/ 0 h 704143"/>
              <a:gd name="connsiteX2" fmla="*/ 704143 w 704143"/>
              <a:gd name="connsiteY2" fmla="*/ 704143 h 704143"/>
              <a:gd name="connsiteX3" fmla="*/ 0 w 704143"/>
              <a:gd name="connsiteY3" fmla="*/ 704143 h 704143"/>
              <a:gd name="connsiteX4" fmla="*/ 0 w 704143"/>
              <a:gd name="connsiteY4" fmla="*/ 0 h 70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143" h="704143">
                <a:moveTo>
                  <a:pt x="0" y="0"/>
                </a:moveTo>
                <a:lnTo>
                  <a:pt x="704143" y="0"/>
                </a:lnTo>
                <a:lnTo>
                  <a:pt x="704143" y="704143"/>
                </a:lnTo>
                <a:lnTo>
                  <a:pt x="0" y="70414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none" lIns="19050" tIns="19050" rIns="19050" bIns="19050" numCol="1" spcCol="1270" anchor="ctr" anchorCtr="0">
            <a:noAutofit/>
          </a:bodyPr>
          <a:lstStyle/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b="1" kern="1200" dirty="0">
                <a:ln w="19050">
                  <a:solidFill>
                    <a:schemeClr val="tx1"/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 rad="342900">
                    <a:schemeClr val="bg1">
                      <a:alpha val="17000"/>
                    </a:schemeClr>
                  </a:glow>
                </a:effectLst>
              </a:rPr>
              <a:t>FETCH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5657E93-752D-D63D-5C16-CDAEA601FD05}"/>
              </a:ext>
            </a:extLst>
          </p:cNvPr>
          <p:cNvSpPr/>
          <p:nvPr/>
        </p:nvSpPr>
        <p:spPr>
          <a:xfrm>
            <a:off x="975818" y="548969"/>
            <a:ext cx="746431" cy="746431"/>
          </a:xfrm>
          <a:prstGeom prst="ellipse">
            <a:avLst/>
          </a:prstGeom>
          <a:blipFill>
            <a:blip r:embed="rId3"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LID4096"/>
          </a:p>
        </p:txBody>
      </p:sp>
      <p:sp>
        <p:nvSpPr>
          <p:cNvPr id="6" name="CPU">
            <a:extLst>
              <a:ext uri="{FF2B5EF4-FFF2-40B4-BE49-F238E27FC236}">
                <a16:creationId xmlns:a16="http://schemas.microsoft.com/office/drawing/2014/main" id="{315BE706-35F9-F920-8650-EEADB99042F6}"/>
              </a:ext>
            </a:extLst>
          </p:cNvPr>
          <p:cNvSpPr txBox="1"/>
          <p:nvPr/>
        </p:nvSpPr>
        <p:spPr>
          <a:xfrm>
            <a:off x="1939282" y="2770585"/>
            <a:ext cx="11700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12700">
                  <a:noFill/>
                  <a:prstDash val="solid"/>
                </a:ln>
                <a:effectLst>
                  <a:glow rad="139700">
                    <a:schemeClr val="bg1">
                      <a:alpha val="40000"/>
                    </a:schemeClr>
                  </a:glow>
                </a:effectLst>
                <a:latin typeface="Comic Sans MS" panose="030F0702030302020204" pitchFamily="66" charset="0"/>
              </a:rPr>
              <a:t>CPU</a:t>
            </a:r>
          </a:p>
        </p:txBody>
      </p:sp>
    </p:spTree>
    <p:extLst>
      <p:ext uri="{BB962C8B-B14F-4D97-AF65-F5344CB8AC3E}">
        <p14:creationId xmlns:p14="http://schemas.microsoft.com/office/powerpoint/2010/main" val="2230208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B830-6B85-669C-62FA-D57277E64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ארכיטקטורת פון נוימן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81883B-FC92-D643-E8B9-4B3045E3D4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000" dirty="0"/>
              <a:t>von </a:t>
            </a:r>
            <a:r>
              <a:rPr lang="en-US" sz="2000" dirty="0" err="1"/>
              <a:t>neumann</a:t>
            </a:r>
            <a:r>
              <a:rPr lang="en-US" sz="2000" dirty="0"/>
              <a:t> architecture</a:t>
            </a:r>
          </a:p>
        </p:txBody>
      </p:sp>
      <p:pic>
        <p:nvPicPr>
          <p:cNvPr id="4" name="Picture3.1">
            <a:extLst>
              <a:ext uri="{FF2B5EF4-FFF2-40B4-BE49-F238E27FC236}">
                <a16:creationId xmlns:a16="http://schemas.microsoft.com/office/drawing/2014/main" id="{9DCE324B-B600-2890-DE65-16BED58090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1044001" y="1722179"/>
            <a:ext cx="2952000" cy="4668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3.2">
            <a:extLst>
              <a:ext uri="{FF2B5EF4-FFF2-40B4-BE49-F238E27FC236}">
                <a16:creationId xmlns:a16="http://schemas.microsoft.com/office/drawing/2014/main" id="{AD1BC24C-DCD9-77F4-E6C6-4667177EBB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1044000" y="1722179"/>
            <a:ext cx="2952000" cy="4668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3.3">
            <a:extLst>
              <a:ext uri="{FF2B5EF4-FFF2-40B4-BE49-F238E27FC236}">
                <a16:creationId xmlns:a16="http://schemas.microsoft.com/office/drawing/2014/main" id="{9608192B-8F61-3375-3AD8-E5163E51B8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1044000" y="1722179"/>
            <a:ext cx="2952000" cy="4668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3.4">
            <a:extLst>
              <a:ext uri="{FF2B5EF4-FFF2-40B4-BE49-F238E27FC236}">
                <a16:creationId xmlns:a16="http://schemas.microsoft.com/office/drawing/2014/main" id="{F13C085B-8577-9AE9-EEEC-59C35609F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/>
        </p:blipFill>
        <p:spPr bwMode="auto">
          <a:xfrm>
            <a:off x="1044000" y="1722179"/>
            <a:ext cx="2952000" cy="4668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3.5">
            <a:extLst>
              <a:ext uri="{FF2B5EF4-FFF2-40B4-BE49-F238E27FC236}">
                <a16:creationId xmlns:a16="http://schemas.microsoft.com/office/drawing/2014/main" id="{3F3ED519-1C55-5248-7735-B139EF9E90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/>
        </p:blipFill>
        <p:spPr bwMode="auto">
          <a:xfrm>
            <a:off x="1044000" y="1722179"/>
            <a:ext cx="2952000" cy="4668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3.6">
            <a:extLst>
              <a:ext uri="{FF2B5EF4-FFF2-40B4-BE49-F238E27FC236}">
                <a16:creationId xmlns:a16="http://schemas.microsoft.com/office/drawing/2014/main" id="{88933110-1CAC-0728-91DC-287F9FE265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/>
          <a:stretch/>
        </p:blipFill>
        <p:spPr bwMode="auto">
          <a:xfrm>
            <a:off x="1044001" y="1722179"/>
            <a:ext cx="2951999" cy="4668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!!Content">
            <a:extLst>
              <a:ext uri="{FF2B5EF4-FFF2-40B4-BE49-F238E27FC236}">
                <a16:creationId xmlns:a16="http://schemas.microsoft.com/office/drawing/2014/main" id="{B4831637-37BA-5850-0D3F-D1DEEFDC3F8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089598" y="1719263"/>
            <a:ext cx="4410203" cy="4859337"/>
          </a:xfrm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he-IL" sz="3600" b="1" u="sng" dirty="0">
                <a:solidFill>
                  <a:srgbClr val="000000"/>
                </a:solidFill>
                <a:latin typeface="Roboto" panose="02000000000000000000" pitchFamily="2" charset="0"/>
              </a:rPr>
              <a:t>רכיבי המעבד</a:t>
            </a:r>
            <a:endParaRPr lang="en-US" sz="3600" b="1" u="sng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e-IL" sz="2400" b="1" dirty="0">
                <a:solidFill>
                  <a:srgbClr val="000000"/>
                </a:solidFill>
                <a:latin typeface="Roboto" panose="02000000000000000000" pitchFamily="2" charset="0"/>
                <a:cs typeface="Rubik" pitchFamily="2" charset="-79"/>
              </a:rPr>
              <a:t>יחידת</a:t>
            </a:r>
            <a:r>
              <a:rPr lang="he-IL" sz="2400" b="1" dirty="0">
                <a:solidFill>
                  <a:srgbClr val="000000"/>
                </a:solidFill>
                <a:latin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he-IL" sz="2400" b="1" dirty="0">
                <a:solidFill>
                  <a:srgbClr val="000000"/>
                </a:solidFill>
                <a:latin typeface="Roboto" panose="02000000000000000000" pitchFamily="2" charset="0"/>
                <a:cs typeface="Rubik" pitchFamily="2" charset="-79"/>
              </a:rPr>
              <a:t>הבקרה</a:t>
            </a:r>
            <a:br>
              <a:rPr lang="en-US" sz="2400" dirty="0">
                <a:solidFill>
                  <a:srgbClr val="000000"/>
                </a:solidFill>
                <a:latin typeface="Roboto" panose="02000000000000000000" pitchFamily="2" charset="0"/>
                <a:cs typeface="Rubik" pitchFamily="2" charset="-79"/>
              </a:rPr>
            </a:br>
            <a:r>
              <a:rPr lang="he-IL" sz="2400" dirty="0">
                <a:solidFill>
                  <a:srgbClr val="000000"/>
                </a:solidFill>
                <a:latin typeface="Roboto" panose="02000000000000000000" pitchFamily="2" charset="0"/>
                <a:cs typeface="Rubik" pitchFamily="2" charset="-79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Roboto" panose="02000000000000000000" pitchFamily="2" charset="0"/>
                <a:cs typeface="Rubik" pitchFamily="2" charset="-79"/>
              </a:rPr>
              <a:t>CU / Control Unit</a:t>
            </a:r>
            <a:r>
              <a:rPr lang="he-IL" sz="2400" dirty="0">
                <a:solidFill>
                  <a:srgbClr val="000000"/>
                </a:solidFill>
                <a:latin typeface="Roboto" panose="02000000000000000000" pitchFamily="2" charset="0"/>
                <a:cs typeface="Rubik" pitchFamily="2" charset="-79"/>
              </a:rPr>
              <a:t>)</a:t>
            </a:r>
            <a:endParaRPr lang="en-US" sz="2400" dirty="0">
              <a:solidFill>
                <a:srgbClr val="000000"/>
              </a:solidFill>
              <a:latin typeface="Roboto" panose="02000000000000000000" pitchFamily="2" charset="0"/>
              <a:cs typeface="Roboto" panose="02000000000000000000" pitchFamily="2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e-IL" sz="2400" b="1" dirty="0">
                <a:solidFill>
                  <a:srgbClr val="000000"/>
                </a:solidFill>
                <a:latin typeface="Roboto" panose="02000000000000000000" pitchFamily="2" charset="0"/>
              </a:rPr>
              <a:t>יחידת החישוב </a:t>
            </a:r>
            <a:r>
              <a:rPr lang="he-IL" sz="2400" dirty="0">
                <a:solidFill>
                  <a:srgbClr val="000000"/>
                </a:solidFill>
                <a:latin typeface="Roboto" panose="02000000000000000000" pitchFamily="2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Roboto" panose="02000000000000000000" pitchFamily="2" charset="0"/>
              </a:rPr>
              <a:t>ALU / </a:t>
            </a:r>
            <a:br>
              <a:rPr lang="en-US" sz="2400" dirty="0">
                <a:solidFill>
                  <a:srgbClr val="000000"/>
                </a:solidFill>
                <a:latin typeface="Roboto" panose="02000000000000000000" pitchFamily="2" charset="0"/>
              </a:rPr>
            </a:br>
            <a:r>
              <a:rPr lang="en-US" sz="2400" dirty="0">
                <a:solidFill>
                  <a:srgbClr val="000000"/>
                </a:solidFill>
                <a:latin typeface="Roboto" panose="02000000000000000000" pitchFamily="2" charset="0"/>
              </a:rPr>
              <a:t>Arithmetic Logic Unit</a:t>
            </a:r>
            <a:r>
              <a:rPr lang="he-IL" sz="2400" dirty="0">
                <a:solidFill>
                  <a:srgbClr val="000000"/>
                </a:solidFill>
                <a:latin typeface="Roboto" panose="02000000000000000000" pitchFamily="2" charset="0"/>
              </a:rPr>
              <a:t>)</a:t>
            </a:r>
            <a:endParaRPr lang="en-US" sz="24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e-IL" sz="2400" b="1" dirty="0">
                <a:solidFill>
                  <a:srgbClr val="000000"/>
                </a:solidFill>
                <a:latin typeface="Roboto" panose="02000000000000000000" pitchFamily="2" charset="0"/>
              </a:rPr>
              <a:t>אוֹגְרִים</a:t>
            </a:r>
            <a:r>
              <a:rPr lang="he-IL" sz="2400" dirty="0">
                <a:solidFill>
                  <a:srgbClr val="000000"/>
                </a:solidFill>
                <a:latin typeface="Roboto" panose="02000000000000000000" pitchFamily="2" charset="0"/>
              </a:rPr>
              <a:t> / רגיסטרים</a:t>
            </a:r>
            <a:br>
              <a:rPr lang="en-US" sz="2400" dirty="0">
                <a:solidFill>
                  <a:srgbClr val="000000"/>
                </a:solidFill>
                <a:latin typeface="Roboto" panose="02000000000000000000" pitchFamily="2" charset="0"/>
              </a:rPr>
            </a:br>
            <a:r>
              <a:rPr lang="he-IL" sz="2400" dirty="0">
                <a:solidFill>
                  <a:srgbClr val="000000"/>
                </a:solidFill>
                <a:latin typeface="Roboto" panose="02000000000000000000" pitchFamily="2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Roboto" panose="02000000000000000000" pitchFamily="2" charset="0"/>
              </a:rPr>
              <a:t>registers</a:t>
            </a:r>
            <a:r>
              <a:rPr lang="he-IL" sz="2400" dirty="0">
                <a:solidFill>
                  <a:srgbClr val="000000"/>
                </a:solidFill>
                <a:latin typeface="Roboto" panose="02000000000000000000" pitchFamily="2" charset="0"/>
              </a:rPr>
              <a:t>)</a:t>
            </a:r>
            <a:endParaRPr lang="en-US" sz="24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e-IL" sz="2400" b="1" dirty="0">
                <a:solidFill>
                  <a:srgbClr val="000000"/>
                </a:solidFill>
                <a:latin typeface="Roboto" panose="02000000000000000000" pitchFamily="2" charset="0"/>
              </a:rPr>
              <a:t>זיכרון מַטְמוֹן</a:t>
            </a:r>
            <a:br>
              <a:rPr lang="en-US" sz="2400" b="1" dirty="0">
                <a:solidFill>
                  <a:srgbClr val="000000"/>
                </a:solidFill>
                <a:latin typeface="Roboto" panose="02000000000000000000" pitchFamily="2" charset="0"/>
              </a:rPr>
            </a:br>
            <a:r>
              <a:rPr lang="he-IL" sz="2400" dirty="0">
                <a:solidFill>
                  <a:srgbClr val="000000"/>
                </a:solidFill>
                <a:latin typeface="Roboto" panose="02000000000000000000" pitchFamily="2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Roboto" panose="02000000000000000000" pitchFamily="2" charset="0"/>
              </a:rPr>
              <a:t>cache memory</a:t>
            </a:r>
            <a:r>
              <a:rPr lang="he-IL" sz="2400" dirty="0">
                <a:solidFill>
                  <a:srgbClr val="000000"/>
                </a:solidFill>
                <a:latin typeface="Roboto" panose="02000000000000000000" pitchFamily="2" charset="0"/>
              </a:rPr>
              <a:t>)</a:t>
            </a:r>
            <a:endParaRPr lang="en-US" sz="24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e-IL" sz="2400" b="1" dirty="0">
                <a:solidFill>
                  <a:srgbClr val="000000"/>
                </a:solidFill>
                <a:latin typeface="Roboto" panose="02000000000000000000" pitchFamily="2" charset="0"/>
              </a:rPr>
              <a:t>שעון</a:t>
            </a:r>
            <a:r>
              <a:rPr lang="he-IL" sz="2400" dirty="0">
                <a:solidFill>
                  <a:srgbClr val="000000"/>
                </a:solidFill>
                <a:latin typeface="Roboto" panose="02000000000000000000" pitchFamily="2" charset="0"/>
              </a:rPr>
              <a:t> (</a:t>
            </a:r>
            <a:r>
              <a:rPr lang="en-US" sz="2400" dirty="0">
                <a:solidFill>
                  <a:srgbClr val="000000"/>
                </a:solidFill>
                <a:latin typeface="Roboto" panose="02000000000000000000" pitchFamily="2" charset="0"/>
              </a:rPr>
              <a:t>clock</a:t>
            </a:r>
            <a:r>
              <a:rPr lang="he-IL" sz="2400" dirty="0">
                <a:solidFill>
                  <a:srgbClr val="000000"/>
                </a:solidFill>
                <a:latin typeface="Roboto" panose="02000000000000000000" pitchFamily="2" charset="0"/>
              </a:rPr>
              <a:t>)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4A78CB1-24B1-8F8C-9ADC-AC6B9C80783C}"/>
              </a:ext>
            </a:extLst>
          </p:cNvPr>
          <p:cNvSpPr/>
          <p:nvPr/>
        </p:nvSpPr>
        <p:spPr>
          <a:xfrm>
            <a:off x="975818" y="548969"/>
            <a:ext cx="746431" cy="746431"/>
          </a:xfrm>
          <a:prstGeom prst="ellipse">
            <a:avLst/>
          </a:prstGeom>
          <a:blipFill>
            <a:blip r:embed="rId8"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03235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756C78A1-1405-019D-9A76-118633FABD34}"/>
              </a:ext>
            </a:extLst>
          </p:cNvPr>
          <p:cNvSpPr/>
          <p:nvPr/>
        </p:nvSpPr>
        <p:spPr>
          <a:xfrm>
            <a:off x="975818" y="548969"/>
            <a:ext cx="746431" cy="746431"/>
          </a:xfrm>
          <a:prstGeom prst="ellipse">
            <a:avLst/>
          </a:prstGeom>
          <a:blipFill>
            <a:blip r:embed="rId2"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51B830-6B85-669C-62FA-D57277E64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ארכיטקטורת פון נוימן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81883B-FC92-D643-E8B9-4B3045E3D4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000" dirty="0"/>
              <a:t>von </a:t>
            </a:r>
            <a:r>
              <a:rPr lang="en-US" sz="2000" dirty="0" err="1"/>
              <a:t>neumann</a:t>
            </a:r>
            <a:r>
              <a:rPr lang="en-US" sz="2000" dirty="0"/>
              <a:t> architecture</a:t>
            </a:r>
          </a:p>
        </p:txBody>
      </p:sp>
      <p:pic>
        <p:nvPicPr>
          <p:cNvPr id="4" name="Picture3.3">
            <a:extLst>
              <a:ext uri="{FF2B5EF4-FFF2-40B4-BE49-F238E27FC236}">
                <a16:creationId xmlns:a16="http://schemas.microsoft.com/office/drawing/2014/main" id="{92782A72-286B-19CD-FF26-7CCA2DAC1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1062041" y="1722179"/>
            <a:ext cx="2947961" cy="4661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!!Content">
            <a:extLst>
              <a:ext uri="{FF2B5EF4-FFF2-40B4-BE49-F238E27FC236}">
                <a16:creationId xmlns:a16="http://schemas.microsoft.com/office/drawing/2014/main" id="{8F8BA7D8-7C74-2021-BEFC-E42DC4D282F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47634" y="1719263"/>
            <a:ext cx="4770207" cy="4859337"/>
          </a:xfrm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he-IL" sz="3200" b="1" u="sng" dirty="0">
                <a:solidFill>
                  <a:srgbClr val="000000"/>
                </a:solidFill>
                <a:latin typeface="Roboto" panose="02000000000000000000" pitchFamily="2" charset="0"/>
              </a:rPr>
              <a:t>יחידת הבקרה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he-IL" sz="2600" dirty="0">
                <a:solidFill>
                  <a:srgbClr val="000000"/>
                </a:solidFill>
                <a:latin typeface="Roboto" panose="02000000000000000000" pitchFamily="2" charset="0"/>
              </a:rPr>
              <a:t>(</a:t>
            </a:r>
            <a:r>
              <a:rPr lang="en-US" sz="2600" dirty="0">
                <a:solidFill>
                  <a:srgbClr val="000000"/>
                </a:solidFill>
                <a:latin typeface="Roboto" panose="02000000000000000000" pitchFamily="2" charset="0"/>
              </a:rPr>
              <a:t>CU / Control Unit</a:t>
            </a:r>
            <a:r>
              <a:rPr lang="he-IL" sz="2600" dirty="0">
                <a:solidFill>
                  <a:srgbClr val="000000"/>
                </a:solidFill>
                <a:latin typeface="Roboto" panose="02000000000000000000" pitchFamily="2" charset="0"/>
              </a:rPr>
              <a:t>)</a:t>
            </a:r>
            <a:endParaRPr lang="en-US" sz="2600" dirty="0"/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he-IL" sz="2300" b="1" dirty="0">
                <a:solidFill>
                  <a:srgbClr val="000000"/>
                </a:solidFill>
                <a:latin typeface="Roboto" panose="02000000000000000000" pitchFamily="2" charset="0"/>
                <a:cs typeface="Rubik" pitchFamily="2" charset="-79"/>
              </a:rPr>
              <a:t>מנהלת את זרימת הנתונים</a:t>
            </a:r>
            <a:endParaRPr lang="he-IL" sz="2300" dirty="0">
              <a:solidFill>
                <a:srgbClr val="000000"/>
              </a:solidFill>
              <a:latin typeface="Roboto" panose="02000000000000000000" pitchFamily="2" charset="0"/>
              <a:cs typeface="Rubik" pitchFamily="2" charset="-79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he-IL" sz="2300" dirty="0">
                <a:solidFill>
                  <a:srgbClr val="000000"/>
                </a:solidFill>
                <a:latin typeface="Roboto" panose="02000000000000000000" pitchFamily="2" charset="0"/>
                <a:cs typeface="Rubik" pitchFamily="2" charset="-79"/>
              </a:rPr>
              <a:t>היא ה"אחראית המבוגרת":</a:t>
            </a:r>
            <a:endParaRPr lang="en-US" sz="2300" dirty="0"/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e-IL" sz="2300" b="1" dirty="0">
                <a:solidFill>
                  <a:srgbClr val="000000"/>
                </a:solidFill>
                <a:latin typeface="Roboto" panose="02000000000000000000" pitchFamily="2" charset="0"/>
                <a:cs typeface="Rubik" pitchFamily="2" charset="-79"/>
              </a:rPr>
              <a:t>להביא </a:t>
            </a:r>
            <a:r>
              <a:rPr lang="he-IL" sz="2300" dirty="0">
                <a:solidFill>
                  <a:srgbClr val="000000"/>
                </a:solidFill>
                <a:latin typeface="Roboto" panose="02000000000000000000" pitchFamily="2" charset="0"/>
                <a:cs typeface="Rubik" pitchFamily="2" charset="-79"/>
              </a:rPr>
              <a:t>הוראה מהזיכרון</a:t>
            </a:r>
            <a:r>
              <a:rPr lang="en-US" sz="2300" dirty="0">
                <a:solidFill>
                  <a:srgbClr val="000000"/>
                </a:solidFill>
                <a:latin typeface="Roboto" panose="02000000000000000000" pitchFamily="2" charset="0"/>
                <a:cs typeface="Rubik" pitchFamily="2" charset="-79"/>
              </a:rPr>
              <a:t> </a:t>
            </a:r>
            <a:r>
              <a:rPr lang="he-IL" sz="2300" dirty="0">
                <a:solidFill>
                  <a:srgbClr val="000000"/>
                </a:solidFill>
                <a:latin typeface="Roboto" panose="02000000000000000000" pitchFamily="2" charset="0"/>
                <a:cs typeface="Roboto" panose="02000000000000000000" pitchFamily="2" charset="0"/>
              </a:rPr>
              <a:t>(</a:t>
            </a:r>
            <a:r>
              <a:rPr lang="en-US" sz="2300" dirty="0">
                <a:solidFill>
                  <a:srgbClr val="000000"/>
                </a:solidFill>
                <a:latin typeface="Roboto" panose="02000000000000000000" pitchFamily="2" charset="0"/>
                <a:cs typeface="Rubik" pitchFamily="2" charset="-79"/>
              </a:rPr>
              <a:t>fetch</a:t>
            </a:r>
            <a:r>
              <a:rPr lang="he-IL" sz="2300" dirty="0">
                <a:solidFill>
                  <a:srgbClr val="000000"/>
                </a:solidFill>
                <a:latin typeface="Roboto" panose="02000000000000000000" pitchFamily="2" charset="0"/>
                <a:cs typeface="Roboto" panose="02000000000000000000" pitchFamily="2" charset="0"/>
              </a:rPr>
              <a:t>)</a:t>
            </a:r>
            <a:endParaRPr lang="en-US" sz="2300" dirty="0">
              <a:solidFill>
                <a:srgbClr val="000000"/>
              </a:solidFill>
              <a:latin typeface="Roboto" panose="02000000000000000000" pitchFamily="2" charset="0"/>
              <a:cs typeface="Roboto" panose="02000000000000000000" pitchFamily="2" charset="0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e-IL" sz="2300" b="1" dirty="0">
                <a:solidFill>
                  <a:srgbClr val="000000"/>
                </a:solidFill>
                <a:latin typeface="Roboto" panose="02000000000000000000" pitchFamily="2" charset="0"/>
              </a:rPr>
              <a:t>לפענח </a:t>
            </a:r>
            <a:r>
              <a:rPr lang="he-IL" sz="2300" dirty="0">
                <a:solidFill>
                  <a:srgbClr val="000000"/>
                </a:solidFill>
                <a:latin typeface="Roboto" panose="02000000000000000000" pitchFamily="2" charset="0"/>
              </a:rPr>
              <a:t>את ההוראה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e-IL" sz="2300" b="1" dirty="0">
                <a:solidFill>
                  <a:srgbClr val="000000"/>
                </a:solidFill>
                <a:latin typeface="Roboto" panose="02000000000000000000" pitchFamily="2" charset="0"/>
              </a:rPr>
              <a:t>לבצע </a:t>
            </a:r>
            <a:r>
              <a:rPr lang="he-IL" sz="2300" dirty="0">
                <a:solidFill>
                  <a:srgbClr val="000000"/>
                </a:solidFill>
                <a:latin typeface="Roboto" panose="02000000000000000000" pitchFamily="2" charset="0"/>
              </a:rPr>
              <a:t>את ההוראה</a:t>
            </a:r>
            <a:br>
              <a:rPr lang="en-US" sz="2300" dirty="0">
                <a:solidFill>
                  <a:srgbClr val="000000"/>
                </a:solidFill>
                <a:latin typeface="Roboto" panose="02000000000000000000" pitchFamily="2" charset="0"/>
              </a:rPr>
            </a:br>
            <a:r>
              <a:rPr lang="he-IL" sz="2300" dirty="0">
                <a:solidFill>
                  <a:srgbClr val="000000"/>
                </a:solidFill>
                <a:latin typeface="Roboto" panose="02000000000000000000" pitchFamily="2" charset="0"/>
              </a:rPr>
              <a:t>(לפעמים בעזרת יחידות נוספות)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he-IL" sz="2300" dirty="0">
                <a:solidFill>
                  <a:srgbClr val="000000"/>
                </a:solidFill>
                <a:latin typeface="Roboto" panose="02000000000000000000" pitchFamily="2" charset="0"/>
                <a:sym typeface="Wingdings" panose="05000000000000000000" pitchFamily="2" charset="2"/>
              </a:rPr>
              <a:t> </a:t>
            </a:r>
            <a:r>
              <a:rPr lang="he-IL" sz="2300" dirty="0">
                <a:solidFill>
                  <a:srgbClr val="000000"/>
                </a:solidFill>
                <a:latin typeface="Roboto" panose="02000000000000000000" pitchFamily="2" charset="0"/>
              </a:rPr>
              <a:t>משתמשת</a:t>
            </a:r>
            <a:r>
              <a:rPr lang="en-US" sz="2300" dirty="0">
                <a:solidFill>
                  <a:srgbClr val="000000"/>
                </a:solidFill>
                <a:latin typeface="Roboto" panose="02000000000000000000" pitchFamily="2" charset="0"/>
              </a:rPr>
              <a:t> </a:t>
            </a:r>
            <a:r>
              <a:rPr lang="he-IL" sz="2300" b="1" dirty="0">
                <a:solidFill>
                  <a:srgbClr val="000000"/>
                </a:solidFill>
                <a:latin typeface="Roboto" panose="02000000000000000000" pitchFamily="2" charset="0"/>
              </a:rPr>
              <a:t>בשעון</a:t>
            </a:r>
            <a:r>
              <a:rPr lang="he-IL" sz="2300" dirty="0">
                <a:solidFill>
                  <a:srgbClr val="000000"/>
                </a:solidFill>
                <a:latin typeface="Roboto" panose="02000000000000000000" pitchFamily="2" charset="0"/>
              </a:rPr>
              <a:t> לצורך </a:t>
            </a:r>
            <a:r>
              <a:rPr lang="he-IL" sz="2300" b="1" dirty="0">
                <a:solidFill>
                  <a:srgbClr val="000000"/>
                </a:solidFill>
                <a:latin typeface="Roboto" panose="02000000000000000000" pitchFamily="2" charset="0"/>
              </a:rPr>
              <a:t>סנכרון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e-IL" sz="2300" dirty="0">
                <a:solidFill>
                  <a:srgbClr val="000000"/>
                </a:solidFill>
                <a:sym typeface="Wingdings" panose="05000000000000000000" pitchFamily="2" charset="2"/>
              </a:rPr>
              <a:t> </a:t>
            </a:r>
            <a:r>
              <a:rPr lang="he-IL" sz="2300" dirty="0">
                <a:solidFill>
                  <a:srgbClr val="000000"/>
                </a:solidFill>
              </a:rPr>
              <a:t>מטפלת בקלט ופלט באמצעות </a:t>
            </a:r>
            <a:r>
              <a:rPr lang="he-IL" sz="2300" b="1" dirty="0">
                <a:solidFill>
                  <a:srgbClr val="000000"/>
                </a:solidFill>
              </a:rPr>
              <a:t>פסיקות</a:t>
            </a:r>
            <a:endParaRPr lang="he-IL" sz="2300" b="1" dirty="0">
              <a:solidFill>
                <a:srgbClr val="000000"/>
              </a:solidFill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3882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B830-6B85-669C-62FA-D57277E64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ארכיטקטורת פון נוימן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81883B-FC92-D643-E8B9-4B3045E3D4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000" dirty="0"/>
              <a:t>von </a:t>
            </a:r>
            <a:r>
              <a:rPr lang="en-US" sz="2000" dirty="0" err="1"/>
              <a:t>neumann</a:t>
            </a:r>
            <a:r>
              <a:rPr lang="en-US" sz="2000" dirty="0"/>
              <a:t> architecture</a:t>
            </a:r>
          </a:p>
        </p:txBody>
      </p:sp>
      <p:sp>
        <p:nvSpPr>
          <p:cNvPr id="4" name="!!Content">
            <a:extLst>
              <a:ext uri="{FF2B5EF4-FFF2-40B4-BE49-F238E27FC236}">
                <a16:creationId xmlns:a16="http://schemas.microsoft.com/office/drawing/2014/main" id="{DB91D158-538E-870E-C61B-F1EE89BC842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819594" y="1719263"/>
            <a:ext cx="4680206" cy="4859337"/>
          </a:xfrm>
        </p:spPr>
        <p:txBody>
          <a:bodyPr/>
          <a:lstStyle/>
          <a:p>
            <a:pPr marL="0" indent="0" algn="r" rtl="1">
              <a:spcBef>
                <a:spcPts val="600"/>
              </a:spcBef>
              <a:spcAft>
                <a:spcPts val="600"/>
              </a:spcAft>
              <a:buNone/>
            </a:pPr>
            <a:r>
              <a:rPr lang="he-IL" sz="3200" b="1" u="sng" dirty="0"/>
              <a:t>יחידת החישוב</a:t>
            </a:r>
            <a:endParaRPr lang="en-US" sz="3200" b="1" u="sng" dirty="0"/>
          </a:p>
          <a:p>
            <a:pPr marL="0" indent="0" algn="r" rtl="1">
              <a:spcBef>
                <a:spcPts val="600"/>
              </a:spcBef>
              <a:spcAft>
                <a:spcPts val="600"/>
              </a:spcAft>
              <a:buNone/>
            </a:pPr>
            <a:r>
              <a:rPr lang="he-IL" sz="2400" dirty="0"/>
              <a:t>(</a:t>
            </a:r>
            <a:r>
              <a:rPr lang="en-US" sz="2400" dirty="0"/>
              <a:t>ALU / Arithmetic Logic Unit</a:t>
            </a:r>
            <a:r>
              <a:rPr lang="he-IL" sz="2400" dirty="0"/>
              <a:t>)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he-IL" sz="2400" dirty="0"/>
              <a:t>חישובים </a:t>
            </a:r>
            <a:r>
              <a:rPr lang="he-IL" sz="2400" b="1" dirty="0"/>
              <a:t>בשלמים</a:t>
            </a:r>
            <a:endParaRPr lang="he-IL" sz="2400" dirty="0"/>
          </a:p>
          <a:p>
            <a:pPr marL="342900" indent="-342900">
              <a:lnSpc>
                <a:spcPct val="7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e-IL" sz="2400" b="1" dirty="0"/>
              <a:t>חישובים אריתמטיים</a:t>
            </a:r>
          </a:p>
          <a:p>
            <a:pPr marL="342900" indent="-342900">
              <a:lnSpc>
                <a:spcPct val="7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e-IL" sz="2400" b="1" dirty="0"/>
              <a:t>חישובים לוגיים והשוואות</a:t>
            </a:r>
          </a:p>
          <a:p>
            <a:pPr marL="342900" indent="-342900">
              <a:lnSpc>
                <a:spcPct val="7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e-IL" sz="2400" b="1" dirty="0"/>
              <a:t>חישובים בביטים </a:t>
            </a:r>
            <a:r>
              <a:rPr lang="he-IL" sz="2400" dirty="0"/>
              <a:t>(</a:t>
            </a:r>
            <a:r>
              <a:rPr lang="en-US" sz="2400" dirty="0"/>
              <a:t>bitwise</a:t>
            </a:r>
            <a:r>
              <a:rPr lang="he-IL" sz="2400" dirty="0"/>
              <a:t>)</a:t>
            </a:r>
          </a:p>
          <a:p>
            <a:pPr marL="342900" indent="-342900">
              <a:lnSpc>
                <a:spcPct val="7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e-IL" sz="2400" b="1" dirty="0"/>
              <a:t>בדיקת חריגות </a:t>
            </a:r>
            <a:r>
              <a:rPr lang="he-IL" sz="2400" dirty="0"/>
              <a:t>(</a:t>
            </a:r>
            <a:r>
              <a:rPr lang="en-US" sz="2400" dirty="0"/>
              <a:t>overflow</a:t>
            </a:r>
            <a:r>
              <a:rPr lang="he-IL" sz="2400" dirty="0"/>
              <a:t>)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endParaRPr lang="he-IL" sz="2400" dirty="0"/>
          </a:p>
        </p:txBody>
      </p:sp>
      <p:pic>
        <p:nvPicPr>
          <p:cNvPr id="5" name="Picture3.3">
            <a:extLst>
              <a:ext uri="{FF2B5EF4-FFF2-40B4-BE49-F238E27FC236}">
                <a16:creationId xmlns:a16="http://schemas.microsoft.com/office/drawing/2014/main" id="{E98AAE6F-D4D1-B81B-5687-D8FD69EFD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1044000" y="1722179"/>
            <a:ext cx="2947960" cy="4661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DE71A3B3-C516-CE5C-5DEC-3B48DD8F3F1E}"/>
              </a:ext>
            </a:extLst>
          </p:cNvPr>
          <p:cNvSpPr/>
          <p:nvPr/>
        </p:nvSpPr>
        <p:spPr>
          <a:xfrm>
            <a:off x="975818" y="548969"/>
            <a:ext cx="746431" cy="746431"/>
          </a:xfrm>
          <a:prstGeom prst="ellipse">
            <a:avLst/>
          </a:prstGeom>
          <a:blipFill>
            <a:blip r:embed="rId3"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66348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B830-6B85-669C-62FA-D57277E64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ארכיטקטורת פון נוימן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81883B-FC92-D643-E8B9-4B3045E3D4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000" dirty="0"/>
              <a:t>von </a:t>
            </a:r>
            <a:r>
              <a:rPr lang="en-US" sz="2000" dirty="0" err="1"/>
              <a:t>neumann</a:t>
            </a:r>
            <a:r>
              <a:rPr lang="en-US" sz="2000" dirty="0"/>
              <a:t> architecture</a:t>
            </a:r>
          </a:p>
        </p:txBody>
      </p:sp>
      <p:sp>
        <p:nvSpPr>
          <p:cNvPr id="4" name="!!Content">
            <a:extLst>
              <a:ext uri="{FF2B5EF4-FFF2-40B4-BE49-F238E27FC236}">
                <a16:creationId xmlns:a16="http://schemas.microsoft.com/office/drawing/2014/main" id="{1A463982-44C7-D641-3732-4792FC31713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907579" y="1719263"/>
            <a:ext cx="4590205" cy="4859337"/>
          </a:xfrm>
        </p:spPr>
        <p:txBody>
          <a:bodyPr>
            <a:normAutofit lnSpcReduction="10000"/>
          </a:bodyPr>
          <a:lstStyle/>
          <a:p>
            <a:pPr marL="0" indent="0" algn="r" rtl="1">
              <a:spcBef>
                <a:spcPts val="600"/>
              </a:spcBef>
              <a:spcAft>
                <a:spcPts val="600"/>
              </a:spcAft>
              <a:buNone/>
            </a:pPr>
            <a:r>
              <a:rPr lang="he-IL" sz="3000" b="1" u="sng" dirty="0"/>
              <a:t>אוגרים / רגיסטרים</a:t>
            </a:r>
            <a:r>
              <a:rPr lang="he-IL" sz="3000" b="1" dirty="0"/>
              <a:t> </a:t>
            </a:r>
            <a:r>
              <a:rPr lang="he-IL" sz="2600" dirty="0"/>
              <a:t>(</a:t>
            </a:r>
            <a:r>
              <a:rPr lang="en-US" sz="2600" dirty="0"/>
              <a:t>registers</a:t>
            </a:r>
            <a:r>
              <a:rPr lang="he-IL" sz="2600" dirty="0"/>
              <a:t>)</a:t>
            </a:r>
            <a:endParaRPr lang="he-IL" sz="2200" dirty="0"/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he-IL" sz="2400" dirty="0"/>
              <a:t>אוגרים הם </a:t>
            </a:r>
            <a:r>
              <a:rPr lang="he-IL" sz="2400" b="1" dirty="0"/>
              <a:t>יחידות זיכרון מהירות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e-IL" sz="2400" dirty="0"/>
              <a:t>שמירת </a:t>
            </a:r>
            <a:r>
              <a:rPr lang="he-IL" sz="2400" b="1" dirty="0"/>
              <a:t>הוראות וביצוע פעולות</a:t>
            </a:r>
            <a:endParaRPr lang="he-IL" sz="2400" dirty="0"/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e-IL" sz="2400" dirty="0"/>
              <a:t>אוגרים </a:t>
            </a:r>
            <a:r>
              <a:rPr lang="he-IL" sz="2400" b="1" dirty="0"/>
              <a:t>לשימוש כללי</a:t>
            </a:r>
            <a:endParaRPr lang="he-IL" sz="2400" dirty="0"/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e-IL" sz="2400" b="1" dirty="0"/>
              <a:t>אוגרים ייעודיים</a:t>
            </a:r>
            <a:r>
              <a:rPr lang="he-IL" sz="2400" dirty="0"/>
              <a:t> (למשל </a:t>
            </a:r>
            <a:r>
              <a:rPr lang="en-US" sz="2400" dirty="0" err="1"/>
              <a:t>ip</a:t>
            </a:r>
            <a:r>
              <a:rPr lang="he-IL" sz="2400" dirty="0"/>
              <a:t>)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e-IL" sz="2400" dirty="0"/>
              <a:t>אוגרים משולבים (למשל </a:t>
            </a:r>
            <a:r>
              <a:rPr lang="en-US" sz="2400" dirty="0" err="1"/>
              <a:t>rsp</a:t>
            </a:r>
            <a:r>
              <a:rPr lang="he-IL" sz="2400" dirty="0"/>
              <a:t>)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he-IL" b="1" u="sng" dirty="0"/>
              <a:t>הוראות</a:t>
            </a:r>
            <a:r>
              <a:rPr lang="he-IL" dirty="0"/>
              <a:t> (</a:t>
            </a:r>
            <a:r>
              <a:rPr lang="en-US" sz="2400" dirty="0"/>
              <a:t>instructions</a:t>
            </a:r>
            <a:r>
              <a:rPr lang="he-IL" dirty="0"/>
              <a:t>)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e-IL" sz="2400" dirty="0"/>
              <a:t>כלליות – אוגרים כלליים</a:t>
            </a:r>
            <a:br>
              <a:rPr lang="en-US" sz="2400" dirty="0"/>
            </a:br>
            <a:r>
              <a:rPr lang="he-IL" sz="2400" dirty="0"/>
              <a:t>(</a:t>
            </a:r>
            <a:r>
              <a:rPr lang="en-US" sz="2400" dirty="0"/>
              <a:t>load, save</a:t>
            </a:r>
            <a:r>
              <a:rPr lang="he-IL" sz="2400" dirty="0"/>
              <a:t> וכו')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e-IL" sz="2400" dirty="0"/>
              <a:t>ייעודיות – אוגרים יעודיים</a:t>
            </a:r>
            <a:br>
              <a:rPr lang="en-US" sz="2400" dirty="0"/>
            </a:br>
            <a:r>
              <a:rPr lang="he-IL" sz="2400" dirty="0"/>
              <a:t>(למשל </a:t>
            </a:r>
            <a:r>
              <a:rPr lang="en-US" sz="2400" dirty="0"/>
              <a:t>push, pop, jump</a:t>
            </a:r>
            <a:r>
              <a:rPr lang="he-IL" sz="2400" dirty="0"/>
              <a:t>)</a:t>
            </a:r>
          </a:p>
        </p:txBody>
      </p:sp>
      <p:pic>
        <p:nvPicPr>
          <p:cNvPr id="5" name="Picture3.3">
            <a:extLst>
              <a:ext uri="{FF2B5EF4-FFF2-40B4-BE49-F238E27FC236}">
                <a16:creationId xmlns:a16="http://schemas.microsoft.com/office/drawing/2014/main" id="{03AF3BC7-57AD-03A5-386A-80FE50EDB9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1044000" y="1722179"/>
            <a:ext cx="2943927" cy="4661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7ACA8843-3117-E6D8-848B-159324BDBDA5}"/>
              </a:ext>
            </a:extLst>
          </p:cNvPr>
          <p:cNvSpPr/>
          <p:nvPr/>
        </p:nvSpPr>
        <p:spPr>
          <a:xfrm>
            <a:off x="975818" y="548969"/>
            <a:ext cx="746431" cy="746431"/>
          </a:xfrm>
          <a:prstGeom prst="ellipse">
            <a:avLst/>
          </a:prstGeom>
          <a:blipFill>
            <a:blip r:embed="rId3"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77543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B830-6B85-669C-62FA-D57277E64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ארכיטקטורת פון נוימן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81883B-FC92-D643-E8B9-4B3045E3D4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000" dirty="0"/>
              <a:t>von </a:t>
            </a:r>
            <a:r>
              <a:rPr lang="en-US" sz="2000" dirty="0" err="1"/>
              <a:t>neumann</a:t>
            </a:r>
            <a:r>
              <a:rPr lang="en-US" sz="2000" dirty="0"/>
              <a:t> architecture</a:t>
            </a:r>
          </a:p>
        </p:txBody>
      </p:sp>
      <p:pic>
        <p:nvPicPr>
          <p:cNvPr id="4" name="PictCache">
            <a:extLst>
              <a:ext uri="{FF2B5EF4-FFF2-40B4-BE49-F238E27FC236}">
                <a16:creationId xmlns:a16="http://schemas.microsoft.com/office/drawing/2014/main" id="{4588E0E7-15F6-D6AF-2858-07EE220507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1044000" y="1722180"/>
            <a:ext cx="2943927" cy="4661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Clock">
            <a:extLst>
              <a:ext uri="{FF2B5EF4-FFF2-40B4-BE49-F238E27FC236}">
                <a16:creationId xmlns:a16="http://schemas.microsoft.com/office/drawing/2014/main" id="{D61D3359-F755-C053-D227-35753ED5D4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1044000" y="1718851"/>
            <a:ext cx="2943927" cy="4661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!!Content">
            <a:extLst>
              <a:ext uri="{FF2B5EF4-FFF2-40B4-BE49-F238E27FC236}">
                <a16:creationId xmlns:a16="http://schemas.microsoft.com/office/drawing/2014/main" id="{83F2E8EA-89F0-E89A-231A-A03EBCA78A6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907579" y="1719263"/>
            <a:ext cx="4590205" cy="4859337"/>
          </a:xfrm>
        </p:spPr>
        <p:txBody>
          <a:bodyPr>
            <a:normAutofit/>
          </a:bodyPr>
          <a:lstStyle/>
          <a:p>
            <a:pPr marL="0" indent="0" algn="r" rtl="1">
              <a:spcBef>
                <a:spcPts val="600"/>
              </a:spcBef>
              <a:spcAft>
                <a:spcPts val="600"/>
              </a:spcAft>
              <a:buNone/>
            </a:pPr>
            <a:r>
              <a:rPr lang="he-IL" sz="2800" b="1" u="sng" dirty="0"/>
              <a:t>זיכרון מַטְמוֹן</a:t>
            </a:r>
            <a:r>
              <a:rPr lang="he-IL" sz="2800" b="1" dirty="0"/>
              <a:t> </a:t>
            </a:r>
            <a:r>
              <a:rPr lang="he-IL" sz="2800" dirty="0"/>
              <a:t>(</a:t>
            </a:r>
            <a:r>
              <a:rPr lang="en-US" sz="2800" dirty="0"/>
              <a:t>cache memory</a:t>
            </a:r>
            <a:r>
              <a:rPr lang="he-IL" sz="2800" dirty="0"/>
              <a:t>)</a:t>
            </a:r>
            <a:endParaRPr lang="he-IL" sz="2000" dirty="0"/>
          </a:p>
          <a:p>
            <a:pPr algn="r" rtl="1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he-IL" sz="2000" b="1" dirty="0">
                <a:solidFill>
                  <a:srgbClr val="000000"/>
                </a:solidFill>
                <a:effectLst/>
                <a:latin typeface="Roboto" panose="02000000000000000000" pitchFamily="2" charset="0"/>
                <a:cs typeface="Rubik" pitchFamily="2" charset="-79"/>
              </a:rPr>
              <a:t>בלוק זיכרון מהיר</a:t>
            </a:r>
            <a:br>
              <a:rPr lang="en-US" sz="2000" b="1" dirty="0">
                <a:solidFill>
                  <a:srgbClr val="000000"/>
                </a:solidFill>
                <a:effectLst/>
                <a:latin typeface="Roboto" panose="02000000000000000000" pitchFamily="2" charset="0"/>
                <a:cs typeface="Rubik" pitchFamily="2" charset="-79"/>
              </a:rPr>
            </a:br>
            <a:r>
              <a:rPr lang="he-IL" sz="2000" dirty="0">
                <a:solidFill>
                  <a:srgbClr val="000000"/>
                </a:solidFill>
                <a:effectLst/>
                <a:latin typeface="Roboto" panose="02000000000000000000" pitchFamily="2" charset="0"/>
                <a:cs typeface="Rubik" pitchFamily="2" charset="-79"/>
              </a:rPr>
              <a:t>(פחות מרגיסטרים אבל הרבה יותר מה </a:t>
            </a:r>
            <a:r>
              <a:rPr lang="en-US" sz="1600" dirty="0">
                <a:solidFill>
                  <a:srgbClr val="000000"/>
                </a:solidFill>
                <a:effectLst/>
                <a:latin typeface="Roboto" panose="02000000000000000000" pitchFamily="2" charset="0"/>
                <a:cs typeface="Rubik" pitchFamily="2" charset="-79"/>
              </a:rPr>
              <a:t>RAM</a:t>
            </a:r>
            <a:r>
              <a:rPr lang="he-IL" sz="2000" dirty="0">
                <a:solidFill>
                  <a:srgbClr val="000000"/>
                </a:solidFill>
                <a:effectLst/>
                <a:latin typeface="Roboto" panose="02000000000000000000" pitchFamily="2" charset="0"/>
                <a:cs typeface="Rubik" pitchFamily="2" charset="-79"/>
              </a:rPr>
              <a:t>).</a:t>
            </a:r>
          </a:p>
          <a:p>
            <a:pPr marL="342900" indent="-342900" algn="r" rtl="1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e-IL" sz="2000" b="1" dirty="0">
                <a:solidFill>
                  <a:srgbClr val="000000"/>
                </a:solidFill>
                <a:effectLst/>
                <a:latin typeface="Roboto" panose="02000000000000000000" pitchFamily="2" charset="0"/>
                <a:cs typeface="Rubik" pitchFamily="2" charset="-79"/>
              </a:rPr>
              <a:t>שיפור ביצועים </a:t>
            </a:r>
            <a:r>
              <a:rPr lang="he-IL" sz="2000" dirty="0">
                <a:solidFill>
                  <a:srgbClr val="000000"/>
                </a:solidFill>
                <a:effectLst/>
                <a:latin typeface="Roboto" panose="02000000000000000000" pitchFamily="2" charset="0"/>
                <a:cs typeface="Rubik" pitchFamily="2" charset="-79"/>
              </a:rPr>
              <a:t>- שמירה זמנית של נתונים והוראות בשימוש תדיר</a:t>
            </a:r>
          </a:p>
          <a:p>
            <a:pPr marL="342900" indent="-342900" algn="r" rtl="1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e-IL" sz="2000" dirty="0">
                <a:solidFill>
                  <a:srgbClr val="000000"/>
                </a:solidFill>
                <a:effectLst/>
                <a:latin typeface="Roboto" panose="02000000000000000000" pitchFamily="2" charset="0"/>
                <a:cs typeface="Rubik" pitchFamily="2" charset="-79"/>
              </a:rPr>
              <a:t>מחולק לרמות </a:t>
            </a:r>
            <a:r>
              <a:rPr lang="en-US" sz="1700" b="1" dirty="0">
                <a:solidFill>
                  <a:srgbClr val="000000"/>
                </a:solidFill>
                <a:effectLst/>
                <a:latin typeface="Roboto" panose="02000000000000000000" pitchFamily="2" charset="0"/>
                <a:cs typeface="Rubik" pitchFamily="2" charset="-79"/>
              </a:rPr>
              <a:t>L1/L2/L3</a:t>
            </a:r>
            <a:r>
              <a:rPr lang="he-IL" sz="1700" b="1" dirty="0">
                <a:solidFill>
                  <a:srgbClr val="000000"/>
                </a:solidFill>
                <a:effectLst/>
                <a:latin typeface="Roboto" panose="02000000000000000000" pitchFamily="2" charset="0"/>
                <a:cs typeface="Rubik" pitchFamily="2" charset="-79"/>
              </a:rPr>
              <a:t> - </a:t>
            </a:r>
            <a:r>
              <a:rPr lang="he-IL" sz="2000" dirty="0">
                <a:solidFill>
                  <a:srgbClr val="000000"/>
                </a:solidFill>
                <a:effectLst/>
                <a:latin typeface="Roboto" panose="02000000000000000000" pitchFamily="2" charset="0"/>
                <a:cs typeface="Rubik" pitchFamily="2" charset="-79"/>
              </a:rPr>
              <a:t>כל רמה </a:t>
            </a:r>
            <a:r>
              <a:rPr lang="he-IL" sz="2000" b="1" dirty="0">
                <a:solidFill>
                  <a:srgbClr val="000000"/>
                </a:solidFill>
                <a:effectLst/>
                <a:latin typeface="Roboto" panose="02000000000000000000" pitchFamily="2" charset="0"/>
                <a:cs typeface="Rubik" pitchFamily="2" charset="-79"/>
              </a:rPr>
              <a:t>יות</a:t>
            </a:r>
            <a:r>
              <a:rPr lang="he-IL" sz="2000" b="1" dirty="0">
                <a:solidFill>
                  <a:srgbClr val="000000"/>
                </a:solidFill>
                <a:latin typeface="Roboto" panose="02000000000000000000" pitchFamily="2" charset="0"/>
                <a:cs typeface="Rubik" pitchFamily="2" charset="-79"/>
              </a:rPr>
              <a:t>ר גדולה </a:t>
            </a:r>
            <a:r>
              <a:rPr lang="he-IL" sz="2000" dirty="0">
                <a:solidFill>
                  <a:srgbClr val="000000"/>
                </a:solidFill>
                <a:latin typeface="Roboto" panose="02000000000000000000" pitchFamily="2" charset="0"/>
                <a:cs typeface="Rubik" pitchFamily="2" charset="-79"/>
              </a:rPr>
              <a:t>מהרמה הקודמת אבל </a:t>
            </a:r>
            <a:r>
              <a:rPr lang="he-IL" sz="2000" b="1" dirty="0">
                <a:solidFill>
                  <a:srgbClr val="000000"/>
                </a:solidFill>
                <a:latin typeface="Roboto" panose="02000000000000000000" pitchFamily="2" charset="0"/>
                <a:cs typeface="Rubik" pitchFamily="2" charset="-79"/>
              </a:rPr>
              <a:t>פחות מהירה </a:t>
            </a:r>
            <a:r>
              <a:rPr lang="he-IL" sz="2000" dirty="0">
                <a:solidFill>
                  <a:srgbClr val="000000"/>
                </a:solidFill>
                <a:latin typeface="Roboto" panose="02000000000000000000" pitchFamily="2" charset="0"/>
                <a:cs typeface="Rubik" pitchFamily="2" charset="-79"/>
              </a:rPr>
              <a:t>(</a:t>
            </a:r>
            <a:r>
              <a:rPr lang="en-US" sz="1600" b="1" dirty="0">
                <a:solidFill>
                  <a:srgbClr val="000000"/>
                </a:solidFill>
                <a:latin typeface="Roboto" panose="02000000000000000000" pitchFamily="2" charset="0"/>
                <a:cs typeface="Rubik" pitchFamily="2" charset="-79"/>
              </a:rPr>
              <a:t>L1</a:t>
            </a:r>
            <a:r>
              <a:rPr lang="he-IL" sz="2000" dirty="0">
                <a:solidFill>
                  <a:srgbClr val="000000"/>
                </a:solidFill>
                <a:latin typeface="Roboto" panose="02000000000000000000" pitchFamily="2" charset="0"/>
                <a:cs typeface="Rubik" pitchFamily="2" charset="-79"/>
              </a:rPr>
              <a:t> הכי קטנה ומהירה)</a:t>
            </a:r>
          </a:p>
          <a:p>
            <a:pPr marL="0" marR="0" lvl="0" indent="0" algn="r" defTabSz="914415" rtl="1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e-IL" sz="2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+mn-ea"/>
                <a:cs typeface="Rubik"/>
              </a:rPr>
              <a:t>שעון </a:t>
            </a:r>
            <a:r>
              <a:rPr kumimoji="0" lang="he-I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+mn-ea"/>
                <a:cs typeface="Rubik"/>
              </a:rPr>
              <a:t>(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+mn-ea"/>
                <a:cs typeface="Rubik"/>
              </a:rPr>
              <a:t>clock</a:t>
            </a:r>
            <a:r>
              <a:rPr kumimoji="0" lang="he-I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+mn-ea"/>
                <a:cs typeface="Rubik"/>
              </a:rPr>
              <a:t>)</a:t>
            </a:r>
            <a:endParaRPr kumimoji="0" lang="he-IL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/>
              <a:ea typeface="+mn-ea"/>
              <a:cs typeface="Rubik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e-IL" sz="2000" dirty="0">
                <a:solidFill>
                  <a:srgbClr val="000000"/>
                </a:solidFill>
                <a:latin typeface="Roboto" panose="02000000000000000000" pitchFamily="2" charset="0"/>
                <a:cs typeface="Rubik" pitchFamily="2" charset="-79"/>
              </a:rPr>
              <a:t>משמש </a:t>
            </a:r>
            <a:r>
              <a:rPr lang="he-IL" sz="2000" b="1" dirty="0">
                <a:solidFill>
                  <a:srgbClr val="000000"/>
                </a:solidFill>
                <a:latin typeface="Roboto" panose="02000000000000000000" pitchFamily="2" charset="0"/>
                <a:cs typeface="Rubik" pitchFamily="2" charset="-79"/>
              </a:rPr>
              <a:t>לסנכרון</a:t>
            </a:r>
            <a:r>
              <a:rPr lang="he-IL" sz="2000" dirty="0">
                <a:solidFill>
                  <a:srgbClr val="000000"/>
                </a:solidFill>
                <a:latin typeface="Roboto" panose="02000000000000000000" pitchFamily="2" charset="0"/>
                <a:cs typeface="Rubik" pitchFamily="2" charset="-79"/>
              </a:rPr>
              <a:t> פעולות המחשב.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e-IL" sz="2000" dirty="0">
                <a:solidFill>
                  <a:srgbClr val="000000"/>
                </a:solidFill>
                <a:latin typeface="Roboto" panose="02000000000000000000" pitchFamily="2" charset="0"/>
                <a:cs typeface="Rubik" pitchFamily="2" charset="-79"/>
              </a:rPr>
              <a:t>קובע את </a:t>
            </a:r>
            <a:r>
              <a:rPr lang="he-IL" sz="2000" b="1" dirty="0">
                <a:solidFill>
                  <a:srgbClr val="000000"/>
                </a:solidFill>
                <a:latin typeface="Roboto" panose="02000000000000000000" pitchFamily="2" charset="0"/>
                <a:cs typeface="Rubik" pitchFamily="2" charset="-79"/>
              </a:rPr>
              <a:t>מהירות המעבד</a:t>
            </a:r>
            <a:br>
              <a:rPr lang="en-US" sz="2000" b="1" dirty="0">
                <a:solidFill>
                  <a:srgbClr val="000000"/>
                </a:solidFill>
                <a:latin typeface="Roboto" panose="02000000000000000000" pitchFamily="2" charset="0"/>
                <a:cs typeface="Rubik" pitchFamily="2" charset="-79"/>
              </a:rPr>
            </a:br>
            <a:r>
              <a:rPr lang="he-IL" sz="2000" dirty="0">
                <a:solidFill>
                  <a:srgbClr val="000000"/>
                </a:solidFill>
                <a:latin typeface="Roboto" panose="02000000000000000000" pitchFamily="2" charset="0"/>
                <a:cs typeface="Rubik" pitchFamily="2" charset="-79"/>
              </a:rPr>
              <a:t>(כמה פעולות המעבד יבצע בשנייה).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F417028-4742-F51B-1969-77E4B7D4847F}"/>
              </a:ext>
            </a:extLst>
          </p:cNvPr>
          <p:cNvSpPr/>
          <p:nvPr/>
        </p:nvSpPr>
        <p:spPr>
          <a:xfrm>
            <a:off x="975818" y="548969"/>
            <a:ext cx="746431" cy="746431"/>
          </a:xfrm>
          <a:prstGeom prst="ellipse">
            <a:avLst/>
          </a:prstGeom>
          <a:blipFill>
            <a:blip r:embed="rId4"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7337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E649D-58BE-F2DC-E244-2C7575D42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851A1F7-6CB9-4BD0-2EDD-C7322E419E7F}"/>
              </a:ext>
            </a:extLst>
          </p:cNvPr>
          <p:cNvSpPr/>
          <p:nvPr/>
        </p:nvSpPr>
        <p:spPr>
          <a:xfrm>
            <a:off x="975818" y="548969"/>
            <a:ext cx="746431" cy="746431"/>
          </a:xfrm>
          <a:prstGeom prst="ellipse">
            <a:avLst/>
          </a:prstGeom>
          <a:blipFill>
            <a:blip r:embed="rId2"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9A60D6-1626-EA83-DD5E-13C12013A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ארכיטקטורת פון נוימן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2C940A-F10E-8741-59BF-BBF4226E7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000" dirty="0"/>
              <a:t>von </a:t>
            </a:r>
            <a:r>
              <a:rPr lang="en-US" sz="2000" dirty="0" err="1"/>
              <a:t>neumann</a:t>
            </a:r>
            <a:r>
              <a:rPr lang="en-US" sz="2000" dirty="0"/>
              <a:t> architecture</a:t>
            </a:r>
          </a:p>
        </p:txBody>
      </p:sp>
      <p:pic>
        <p:nvPicPr>
          <p:cNvPr id="4" name="Picture3.3">
            <a:extLst>
              <a:ext uri="{FF2B5EF4-FFF2-40B4-BE49-F238E27FC236}">
                <a16:creationId xmlns:a16="http://schemas.microsoft.com/office/drawing/2014/main" id="{169756AB-D4A1-8A93-C134-4C1B2198D9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62783" y="1722179"/>
            <a:ext cx="2946476" cy="4661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!!Content">
            <a:extLst>
              <a:ext uri="{FF2B5EF4-FFF2-40B4-BE49-F238E27FC236}">
                <a16:creationId xmlns:a16="http://schemas.microsoft.com/office/drawing/2014/main" id="{75035461-C44E-FAEC-582C-02FD7474E1D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47634" y="1719263"/>
            <a:ext cx="4770207" cy="4859337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he-IL" sz="3200" b="1" u="sng" dirty="0">
                <a:solidFill>
                  <a:srgbClr val="000000"/>
                </a:solidFill>
                <a:latin typeface="Roboto" panose="02000000000000000000" pitchFamily="2" charset="0"/>
              </a:rPr>
              <a:t>סיכום יחידות זיכרון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e-IL" sz="3200" dirty="0"/>
              <a:t>רגיסטרים</a:t>
            </a:r>
            <a:endParaRPr lang="en-US" sz="3200" dirty="0"/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e-IL" sz="3200" dirty="0"/>
              <a:t>זיכרון המטמון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e-IL" sz="3200" dirty="0"/>
              <a:t>הזיכרון הראשי (</a:t>
            </a:r>
            <a:r>
              <a:rPr lang="en-US" dirty="0"/>
              <a:t>RAM</a:t>
            </a:r>
            <a:r>
              <a:rPr lang="he-IL" sz="3200" dirty="0"/>
              <a:t>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C37F97A-E00F-032A-D97C-4AC65E5F7576}"/>
              </a:ext>
            </a:extLst>
          </p:cNvPr>
          <p:cNvCxnSpPr>
            <a:cxnSpLocks/>
          </p:cNvCxnSpPr>
          <p:nvPr/>
        </p:nvCxnSpPr>
        <p:spPr>
          <a:xfrm flipH="1">
            <a:off x="2771980" y="2618992"/>
            <a:ext cx="3510039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  <a:effectLst>
            <a:glow rad="63500">
              <a:schemeClr val="bg1"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A38E3B7-90B0-B185-F0D7-E489B08B3CBE}"/>
              </a:ext>
            </a:extLst>
          </p:cNvPr>
          <p:cNvCxnSpPr>
            <a:cxnSpLocks/>
          </p:cNvCxnSpPr>
          <p:nvPr/>
        </p:nvCxnSpPr>
        <p:spPr>
          <a:xfrm flipH="1">
            <a:off x="3311986" y="3248998"/>
            <a:ext cx="2520028" cy="450005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  <a:effectLst>
            <a:glow rad="63500">
              <a:schemeClr val="bg1"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90389AF-4FE4-4992-CC0C-2D8DA44A768A}"/>
              </a:ext>
            </a:extLst>
          </p:cNvPr>
          <p:cNvCxnSpPr>
            <a:cxnSpLocks/>
          </p:cNvCxnSpPr>
          <p:nvPr/>
        </p:nvCxnSpPr>
        <p:spPr>
          <a:xfrm flipH="1">
            <a:off x="3491988" y="4239009"/>
            <a:ext cx="1080012" cy="1080012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  <a:effectLst>
            <a:glow rad="63500">
              <a:schemeClr val="bg1"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052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790</TotalTime>
  <Words>918</Words>
  <Application>Microsoft Office PowerPoint</Application>
  <PresentationFormat>On-screen Show (4:3)</PresentationFormat>
  <Paragraphs>201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Aptos</vt:lpstr>
      <vt:lpstr>Arial</vt:lpstr>
      <vt:lpstr>Brush Script MT</vt:lpstr>
      <vt:lpstr>Calibri</vt:lpstr>
      <vt:lpstr>Comic Sans MS</vt:lpstr>
      <vt:lpstr>Roboto</vt:lpstr>
      <vt:lpstr>Segoe Print</vt:lpstr>
      <vt:lpstr>Wingdings</vt:lpstr>
      <vt:lpstr>Office Theme</vt:lpstr>
      <vt:lpstr>פרק א: מודל הזיכרון</vt:lpstr>
      <vt:lpstr>C++ לעומת שפות אחרות</vt:lpstr>
      <vt:lpstr>מבנה הזיכרון</vt:lpstr>
      <vt:lpstr>מבנה הזיכרון</vt:lpstr>
      <vt:lpstr>מודל הזיכרון</vt:lpstr>
      <vt:lpstr>מודל הזיכרון</vt:lpstr>
      <vt:lpstr>אזור המשתנים הסטטיים</vt:lpstr>
      <vt:lpstr>אזור המשתנים הסטטיים</vt:lpstr>
      <vt:lpstr>אזור המחסנית</vt:lpstr>
      <vt:lpstr>אזור הערימה</vt:lpstr>
      <vt:lpstr>הקשר בין המחסנית לערימה</vt:lpstr>
      <vt:lpstr>ארכיטקטורת פון נוימן</vt:lpstr>
      <vt:lpstr>ארכיטקטורת פון נוימן</vt:lpstr>
      <vt:lpstr>ארכיטקטורת פון נוימן</vt:lpstr>
      <vt:lpstr>ארכיטקטורת פון נוימן</vt:lpstr>
      <vt:lpstr>ארכיטקטורת פון נוימן</vt:lpstr>
      <vt:lpstr>ארכיטקטורת פון נוימן</vt:lpstr>
      <vt:lpstr>ארכיטקטורת פון נוימן</vt:lpstr>
      <vt:lpstr>ארכיטקטורת פון נוימן</vt:lpstr>
      <vt:lpstr>ארכיטקטורת פון נוימן</vt:lpstr>
      <vt:lpstr>ארכיטקטורת פון נוימן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Tal R.</dc:creator>
  <cp:lastModifiedBy>Tal R.</cp:lastModifiedBy>
  <cp:revision>60</cp:revision>
  <dcterms:created xsi:type="dcterms:W3CDTF">2023-11-25T13:14:24Z</dcterms:created>
  <dcterms:modified xsi:type="dcterms:W3CDTF">2025-11-05T18:36:55Z</dcterms:modified>
</cp:coreProperties>
</file>